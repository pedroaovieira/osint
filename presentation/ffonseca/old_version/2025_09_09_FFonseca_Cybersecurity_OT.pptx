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38"/>
  </p:notesMasterIdLst>
  <p:sldIdLst>
    <p:sldId id="256" r:id="rId2"/>
    <p:sldId id="272" r:id="rId3"/>
    <p:sldId id="276" r:id="rId4"/>
    <p:sldId id="273" r:id="rId5"/>
    <p:sldId id="274" r:id="rId6"/>
    <p:sldId id="308" r:id="rId7"/>
    <p:sldId id="305" r:id="rId8"/>
    <p:sldId id="283" r:id="rId9"/>
    <p:sldId id="309" r:id="rId10"/>
    <p:sldId id="296" r:id="rId11"/>
    <p:sldId id="282" r:id="rId12"/>
    <p:sldId id="307" r:id="rId13"/>
    <p:sldId id="259" r:id="rId14"/>
    <p:sldId id="303" r:id="rId15"/>
    <p:sldId id="298" r:id="rId16"/>
    <p:sldId id="302" r:id="rId17"/>
    <p:sldId id="284" r:id="rId18"/>
    <p:sldId id="291" r:id="rId19"/>
    <p:sldId id="285" r:id="rId20"/>
    <p:sldId id="289" r:id="rId21"/>
    <p:sldId id="301" r:id="rId22"/>
    <p:sldId id="299" r:id="rId23"/>
    <p:sldId id="300" r:id="rId24"/>
    <p:sldId id="288" r:id="rId25"/>
    <p:sldId id="295" r:id="rId26"/>
    <p:sldId id="293" r:id="rId27"/>
    <p:sldId id="294" r:id="rId28"/>
    <p:sldId id="278" r:id="rId29"/>
    <p:sldId id="279" r:id="rId30"/>
    <p:sldId id="260" r:id="rId31"/>
    <p:sldId id="265" r:id="rId32"/>
    <p:sldId id="281" r:id="rId33"/>
    <p:sldId id="290" r:id="rId34"/>
    <p:sldId id="277" r:id="rId35"/>
    <p:sldId id="261" r:id="rId36"/>
    <p:sldId id="304" r:id="rId37"/>
  </p:sldIdLst>
  <p:sldSz cx="18288000" cy="10287000"/>
  <p:notesSz cx="6858000" cy="9926638"/>
  <p:embeddedFontLst>
    <p:embeddedFont>
      <p:font typeface="Aptos Narrow" panose="020B0004020202020204" pitchFamily="34" charset="0"/>
      <p:regular r:id="rId39"/>
      <p:bold r:id="rId40"/>
      <p:italic r:id="rId41"/>
      <p:boldItalic r:id="rId42"/>
    </p:embeddedFont>
    <p:embeddedFont>
      <p:font typeface="Century Schoolbook" panose="02040604050505020304" pitchFamily="18" charset="0"/>
      <p:regular r:id="rId43"/>
      <p:bold r:id="rId44"/>
      <p:italic r:id="rId45"/>
      <p:boldItalic r:id="rId46"/>
    </p:embeddedFont>
    <p:embeddedFont>
      <p:font typeface="Raleway" pitchFamily="2" charset="0"/>
      <p:regular r:id="rId47"/>
      <p:bold r:id="rId48"/>
      <p:italic r:id="rId49"/>
      <p:boldItalic r:id="rId50"/>
    </p:embeddedFont>
    <p:embeddedFont>
      <p:font typeface="Raleway Black" pitchFamily="2" charset="0"/>
      <p:bold r:id="rId51"/>
      <p:boldItalic r:id="rId52"/>
    </p:embeddedFont>
    <p:embeddedFont>
      <p:font typeface="Raleway Medium" pitchFamily="2" charset="0"/>
      <p:regular r:id="rId53"/>
      <p:bold r:id="rId54"/>
      <p:italic r:id="rId55"/>
      <p:boldItalic r:id="rId56"/>
    </p:embeddedFont>
    <p:embeddedFont>
      <p:font typeface="Raleway SemiBold" pitchFamily="2" charset="0"/>
      <p:regular r:id="rId57"/>
      <p:bold r:id="rId58"/>
      <p:italic r:id="rId59"/>
      <p:boldItalic r:id="rId60"/>
    </p:embeddedFont>
    <p:embeddedFont>
      <p:font typeface="Wingdings 2" panose="05020102010507070707" pitchFamily="18" charset="2"/>
      <p:regular r:id="rId6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2" roundtripDataSignature="AMtx7mgoZQwqf90pyMWgqjGzQRe+shkJ1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78814" autoAdjust="0"/>
  </p:normalViewPr>
  <p:slideViewPr>
    <p:cSldViewPr snapToGrid="0">
      <p:cViewPr varScale="1">
        <p:scale>
          <a:sx n="53" d="100"/>
          <a:sy n="53" d="100"/>
        </p:scale>
        <p:origin x="1842" y="2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font" Target="fonts/font20.fntdata"/><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2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font" Target="fonts/font16.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font" Target="fonts/font22.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98056"/>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98056"/>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428584"/>
            <a:ext cx="2971800" cy="49805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PT"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05880BC7-3183-9450-4ACE-F32F043053E4}"/>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FD3959C0-0F18-C3BC-E98D-67AFE99D8753}"/>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71C8C382-9D07-E405-9249-27BCFB11313C}"/>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37" name="Google Shape;137;p3:notes">
            <a:extLst>
              <a:ext uri="{FF2B5EF4-FFF2-40B4-BE49-F238E27FC236}">
                <a16:creationId xmlns:a16="http://schemas.microsoft.com/office/drawing/2014/main" id="{B9A87291-8BE8-06BF-0DFE-A11F8F48F318}"/>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a:t>
            </a:fld>
            <a:endParaRPr/>
          </a:p>
        </p:txBody>
      </p:sp>
    </p:spTree>
    <p:extLst>
      <p:ext uri="{BB962C8B-B14F-4D97-AF65-F5344CB8AC3E}">
        <p14:creationId xmlns:p14="http://schemas.microsoft.com/office/powerpoint/2010/main" val="1849207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88DB9608-777F-58B5-D427-73BF9A5FE10A}"/>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6CD0BE28-00A1-ABB0-FA06-26A4800ADDBC}"/>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481862E8-9E20-FBDF-0F66-C21F2FA05C44}"/>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37" name="Google Shape;137;p3:notes">
            <a:extLst>
              <a:ext uri="{FF2B5EF4-FFF2-40B4-BE49-F238E27FC236}">
                <a16:creationId xmlns:a16="http://schemas.microsoft.com/office/drawing/2014/main" id="{589A7C79-9582-96B0-A31B-32E94E72047F}"/>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a:t>
            </a:fld>
            <a:endParaRPr/>
          </a:p>
        </p:txBody>
      </p:sp>
    </p:spTree>
    <p:extLst>
      <p:ext uri="{BB962C8B-B14F-4D97-AF65-F5344CB8AC3E}">
        <p14:creationId xmlns:p14="http://schemas.microsoft.com/office/powerpoint/2010/main" val="3352830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CFB199D3-F518-B52A-535F-705E14300774}"/>
            </a:ext>
          </a:extLst>
        </p:cNvPr>
        <p:cNvGrpSpPr/>
        <p:nvPr/>
      </p:nvGrpSpPr>
      <p:grpSpPr>
        <a:xfrm>
          <a:off x="0" y="0"/>
          <a:ext cx="0" cy="0"/>
          <a:chOff x="0" y="0"/>
          <a:chExt cx="0" cy="0"/>
        </a:xfrm>
      </p:grpSpPr>
      <p:sp>
        <p:nvSpPr>
          <p:cNvPr id="96" name="Google Shape;96;p2:notes">
            <a:extLst>
              <a:ext uri="{FF2B5EF4-FFF2-40B4-BE49-F238E27FC236}">
                <a16:creationId xmlns:a16="http://schemas.microsoft.com/office/drawing/2014/main" id="{98D86FA7-33C8-3120-FC4D-552E1B0743B2}"/>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2:notes">
            <a:extLst>
              <a:ext uri="{FF2B5EF4-FFF2-40B4-BE49-F238E27FC236}">
                <a16:creationId xmlns:a16="http://schemas.microsoft.com/office/drawing/2014/main" id="{B908A86B-27BB-0AC4-0607-35217500BB89}"/>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3521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AFA50D0F-29B0-F973-76DE-0E06E9B0B106}"/>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5ADEA04D-67E5-4758-F096-43865E7B11EF}"/>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CFA71B5B-7B0A-792A-7BAD-0E392E2A5544}"/>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5900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5DCA61C7-EF67-D889-3FE1-7731844B4DDE}"/>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674B20A5-80D7-264E-A343-A2B0FB39E5DE}"/>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5:notes">
            <a:extLst>
              <a:ext uri="{FF2B5EF4-FFF2-40B4-BE49-F238E27FC236}">
                <a16:creationId xmlns:a16="http://schemas.microsoft.com/office/drawing/2014/main" id="{A639FF55-092E-8B48-1DCD-C9D3823D8B99}"/>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sz="1200" dirty="0">
                <a:solidFill>
                  <a:srgbClr val="101010"/>
                </a:solidFill>
                <a:latin typeface="Raleway"/>
                <a:ea typeface="Raleway"/>
                <a:cs typeface="Raleway"/>
                <a:sym typeface="Raleway"/>
              </a:rPr>
              <a:t>IT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sz="1200" dirty="0">
                <a:solidFill>
                  <a:srgbClr val="101010"/>
                </a:solidFill>
                <a:latin typeface="Raleway"/>
                <a:ea typeface="Raleway"/>
                <a:cs typeface="Raleway"/>
                <a:sym typeface="Raleway"/>
              </a:rPr>
              <a:t>Site de ecomerce, sistema de faturação</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sz="1200" dirty="0">
              <a:solidFill>
                <a:srgbClr val="101010"/>
              </a:solidFill>
              <a:latin typeface="Raleway"/>
              <a:ea typeface="Raleway"/>
              <a:cs typeface="Raleway"/>
              <a:sym typeface="Raleway"/>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sz="1200" dirty="0">
                <a:solidFill>
                  <a:srgbClr val="101010"/>
                </a:solidFill>
                <a:latin typeface="Raleway"/>
                <a:ea typeface="Raleway"/>
                <a:cs typeface="Raleway"/>
                <a:sym typeface="Raleway"/>
              </a:rPr>
              <a:t>OT</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1200" dirty="0">
                <a:solidFill>
                  <a:srgbClr val="101010"/>
                </a:solidFill>
                <a:latin typeface="Raleway"/>
                <a:ea typeface="Raleway"/>
                <a:cs typeface="Raleway"/>
                <a:sym typeface="Raleway"/>
              </a:rPr>
              <a:t>Sistemas de Controlo Industrial (ICS)</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1200" b="0" i="0" u="none" strike="noStrike" cap="none" noProof="0" dirty="0">
                <a:solidFill>
                  <a:srgbClr val="101010"/>
                </a:solidFill>
                <a:latin typeface="Raleway"/>
                <a:ea typeface="Raleway"/>
                <a:cs typeface="Raleway"/>
                <a:sym typeface="Raleway"/>
              </a:rPr>
              <a:t>Exemplos: SCADA, PL</a:t>
            </a:r>
            <a:r>
              <a:rPr lang="pt-BR" sz="1200" dirty="0">
                <a:solidFill>
                  <a:srgbClr val="101010"/>
                </a:solidFill>
                <a:latin typeface="Raleway"/>
                <a:ea typeface="Raleway"/>
                <a:cs typeface="Raleway"/>
                <a:sym typeface="Raleway"/>
              </a:rPr>
              <a:t>Cs, HMI, sensores e actuadores</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1200" b="0" i="0" u="none" strike="noStrike" cap="none" noProof="0" dirty="0">
                <a:solidFill>
                  <a:srgbClr val="101010"/>
                </a:solidFill>
                <a:latin typeface="Raleway"/>
                <a:ea typeface="Raleway"/>
                <a:cs typeface="Raleway"/>
                <a:sym typeface="Raleway"/>
              </a:rPr>
              <a:t>Ambientes: in</a:t>
            </a:r>
            <a:r>
              <a:rPr lang="pt-BR" sz="1200" dirty="0">
                <a:solidFill>
                  <a:srgbClr val="101010"/>
                </a:solidFill>
                <a:latin typeface="Raleway"/>
                <a:ea typeface="Raleway"/>
                <a:cs typeface="Raleway"/>
                <a:sym typeface="Raleway"/>
              </a:rPr>
              <a:t>dústria, energia, água, transporte</a:t>
            </a:r>
            <a:endParaRPr lang="pt-BR" sz="1200" b="0" i="0" u="none" strike="noStrike" cap="none" noProof="0" dirty="0">
              <a:solidFill>
                <a:srgbClr val="101010"/>
              </a:solidFill>
              <a:latin typeface="Raleway"/>
              <a:ea typeface="Raleway"/>
              <a:cs typeface="Raleway"/>
              <a:sym typeface="Raleway"/>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sz="1200" dirty="0">
              <a:solidFill>
                <a:srgbClr val="101010"/>
              </a:solidFill>
              <a:latin typeface="Raleway"/>
              <a:ea typeface="Raleway"/>
              <a:cs typeface="Raleway"/>
              <a:sym typeface="Raleway"/>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sz="1200" dirty="0">
                <a:solidFill>
                  <a:srgbClr val="101010"/>
                </a:solidFill>
                <a:latin typeface="Raleway"/>
                <a:ea typeface="Raleway"/>
                <a:cs typeface="Raleway"/>
                <a:sym typeface="Raleway"/>
              </a:rPr>
              <a:t>IoT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sz="1200" dirty="0">
                <a:solidFill>
                  <a:srgbClr val="101010"/>
                </a:solidFill>
                <a:latin typeface="Raleway"/>
                <a:ea typeface="Raleway"/>
                <a:cs typeface="Raleway"/>
                <a:sym typeface="Raleway"/>
              </a:rPr>
              <a:t>Exemplo: Um sensor industrial que mede a temperatura e envia os dados para a nuvem para análise preditiva</a:t>
            </a:r>
            <a:endParaRPr lang="pt-BR" sz="1200" b="0" i="0" u="none" strike="noStrike" cap="none" noProof="0" dirty="0">
              <a:solidFill>
                <a:srgbClr val="101010"/>
              </a:solidFill>
              <a:latin typeface="Raleway"/>
              <a:ea typeface="Raleway"/>
              <a:cs typeface="Raleway"/>
              <a:sym typeface="Raleway"/>
            </a:endParaRPr>
          </a:p>
          <a:p>
            <a:pPr marL="0" lvl="0" indent="0" algn="l" rtl="0">
              <a:lnSpc>
                <a:spcPct val="100000"/>
              </a:lnSpc>
              <a:spcBef>
                <a:spcPts val="0"/>
              </a:spcBef>
              <a:spcAft>
                <a:spcPts val="0"/>
              </a:spcAft>
              <a:buSzPts val="1400"/>
              <a:buNone/>
            </a:pPr>
            <a:endParaRPr lang="pt-BR" dirty="0"/>
          </a:p>
          <a:p>
            <a:pPr marL="0" lvl="0" indent="0" algn="l" rtl="0">
              <a:lnSpc>
                <a:spcPct val="100000"/>
              </a:lnSpc>
              <a:spcBef>
                <a:spcPts val="0"/>
              </a:spcBef>
              <a:spcAft>
                <a:spcPts val="0"/>
              </a:spcAft>
              <a:buSzPts val="1400"/>
              <a:buNone/>
            </a:pPr>
            <a:endParaRPr dirty="0"/>
          </a:p>
        </p:txBody>
      </p:sp>
      <p:sp>
        <p:nvSpPr>
          <p:cNvPr id="186" name="Google Shape;186;p5:notes">
            <a:extLst>
              <a:ext uri="{FF2B5EF4-FFF2-40B4-BE49-F238E27FC236}">
                <a16:creationId xmlns:a16="http://schemas.microsoft.com/office/drawing/2014/main" id="{E6BBB7B5-A31D-0093-86BB-E8E2F3D0DF1D}"/>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6</a:t>
            </a:fld>
            <a:endParaRPr/>
          </a:p>
        </p:txBody>
      </p:sp>
    </p:spTree>
    <p:extLst>
      <p:ext uri="{BB962C8B-B14F-4D97-AF65-F5344CB8AC3E}">
        <p14:creationId xmlns:p14="http://schemas.microsoft.com/office/powerpoint/2010/main" val="1145484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14D41C65-7DED-1DE4-506E-EA407E264759}"/>
            </a:ext>
          </a:extLst>
        </p:cNvPr>
        <p:cNvGrpSpPr/>
        <p:nvPr/>
      </p:nvGrpSpPr>
      <p:grpSpPr>
        <a:xfrm>
          <a:off x="0" y="0"/>
          <a:ext cx="0" cy="0"/>
          <a:chOff x="0" y="0"/>
          <a:chExt cx="0" cy="0"/>
        </a:xfrm>
      </p:grpSpPr>
      <p:sp>
        <p:nvSpPr>
          <p:cNvPr id="155" name="Google Shape;155;p4:notes">
            <a:extLst>
              <a:ext uri="{FF2B5EF4-FFF2-40B4-BE49-F238E27FC236}">
                <a16:creationId xmlns:a16="http://schemas.microsoft.com/office/drawing/2014/main" id="{9F83AFC9-E028-6FCA-FBEA-0AB1B6C2FDA7}"/>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4:notes">
            <a:extLst>
              <a:ext uri="{FF2B5EF4-FFF2-40B4-BE49-F238E27FC236}">
                <a16:creationId xmlns:a16="http://schemas.microsoft.com/office/drawing/2014/main" id="{64BE8D9D-9E87-38B8-43C6-861FE7765916}"/>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7" name="Google Shape;157;p4:notes">
            <a:extLst>
              <a:ext uri="{FF2B5EF4-FFF2-40B4-BE49-F238E27FC236}">
                <a16:creationId xmlns:a16="http://schemas.microsoft.com/office/drawing/2014/main" id="{F591B937-BD56-9407-7742-9E38FA8D2146}"/>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7</a:t>
            </a:fld>
            <a:endParaRPr/>
          </a:p>
        </p:txBody>
      </p:sp>
    </p:spTree>
    <p:extLst>
      <p:ext uri="{BB962C8B-B14F-4D97-AF65-F5344CB8AC3E}">
        <p14:creationId xmlns:p14="http://schemas.microsoft.com/office/powerpoint/2010/main" val="1454654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222DD9AF-D647-489A-6EBF-021A5167E36D}"/>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1FB1BE91-C2C4-8333-DE92-239D0B9F3651}"/>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E3E3266D-99D5-8225-A941-E9795F1CC8E8}"/>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6075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AD4AA7B5-21E4-BC51-A64F-3A3825769E63}"/>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FDD36C51-8CF8-6BD0-C1F3-24837926A6CD}"/>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5:notes">
            <a:extLst>
              <a:ext uri="{FF2B5EF4-FFF2-40B4-BE49-F238E27FC236}">
                <a16:creationId xmlns:a16="http://schemas.microsoft.com/office/drawing/2014/main" id="{7653EEE1-2B11-D502-0140-940DBFABFC8D}"/>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86" name="Google Shape;186;p5:notes">
            <a:extLst>
              <a:ext uri="{FF2B5EF4-FFF2-40B4-BE49-F238E27FC236}">
                <a16:creationId xmlns:a16="http://schemas.microsoft.com/office/drawing/2014/main" id="{B5BB4B64-4CF0-5172-0DD4-ED92A2EB14D5}"/>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9</a:t>
            </a:fld>
            <a:endParaRPr/>
          </a:p>
        </p:txBody>
      </p:sp>
    </p:spTree>
    <p:extLst>
      <p:ext uri="{BB962C8B-B14F-4D97-AF65-F5344CB8AC3E}">
        <p14:creationId xmlns:p14="http://schemas.microsoft.com/office/powerpoint/2010/main" val="2135081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C8DDFDA0-9E19-568E-447D-D4D353419FEB}"/>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1D885DE5-A548-884B-C40E-0129C918E0E4}"/>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85082772-EF6A-970A-5D94-A758A9653F2E}"/>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dirty="0"/>
              <a:t>https://www.itsecurity.pt/news/threats/ciberataques-aumentam-75-no-terceiro-trimestre-de-2024</a:t>
            </a:r>
            <a:endParaRPr dirty="0"/>
          </a:p>
          <a:p>
            <a:pPr marL="0" lvl="0" indent="0" algn="l" rtl="0">
              <a:lnSpc>
                <a:spcPct val="100000"/>
              </a:lnSpc>
              <a:spcBef>
                <a:spcPts val="0"/>
              </a:spcBef>
              <a:spcAft>
                <a:spcPts val="0"/>
              </a:spcAft>
              <a:buSzPts val="1400"/>
              <a:buNone/>
            </a:pPr>
            <a:r>
              <a:rPr lang="pt-PT" dirty="0"/>
              <a:t>https://www.knower.pt/ciberseguranca-em-portugal-desafios-e-solucoes-para-o-futuro/#</a:t>
            </a:r>
            <a:endParaRPr dirty="0"/>
          </a:p>
          <a:p>
            <a:pPr marL="0" lvl="0" indent="0" algn="l" rtl="0">
              <a:lnSpc>
                <a:spcPct val="100000"/>
              </a:lnSpc>
              <a:spcBef>
                <a:spcPts val="0"/>
              </a:spcBef>
              <a:spcAft>
                <a:spcPts val="0"/>
              </a:spcAft>
              <a:buSzPts val="1400"/>
              <a:buNone/>
            </a:pPr>
            <a:r>
              <a:rPr lang="pt-PT" dirty="0"/>
              <a:t>https://www.cncs.gov.pt/docs/rel-sociedade2023-observ-cncs-dig.pdf</a:t>
            </a:r>
            <a:endParaRPr dirty="0"/>
          </a:p>
          <a:p>
            <a:pPr marL="0" lvl="0" indent="0" algn="l" rtl="0">
              <a:lnSpc>
                <a:spcPct val="100000"/>
              </a:lnSpc>
              <a:spcBef>
                <a:spcPts val="0"/>
              </a:spcBef>
              <a:spcAft>
                <a:spcPts val="0"/>
              </a:spcAft>
              <a:buSzPts val="1400"/>
              <a:buNone/>
            </a:pPr>
            <a:r>
              <a:rPr lang="pt-PT" dirty="0"/>
              <a:t>https://www.cncs.gov.pt/docs/rel-sociedade2024-obcibercncs.pdf</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pt-PT" dirty="0"/>
              <a:t>O cenário de ameaças cibernéticas em Portugal tornou-se alarmante. Nos últimos 21 meses, foram registados mais de 9 000 incidentes, com picos de atividade particularmente preocupantes. Só no terceiro trimestre de 2024, cada empresa portuguesa sofreu, em média, mais de 2 000 ataques — um número que nos posiciona entre os três países europeus mais atacados.</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pt-PT" dirty="0"/>
              <a:t>As principais ameaças incluem campanhas sofisticadas de phishing, ataques de ransomware cada vez mais agressivos, engenharia social que explora fragilidades humanas, e exploração de vulnerabilidades técnicas ainda desconhecidas (zero-day). Estes ataques não escolhem setores: afetam desde pequenas empresas a operadores críticos de infraestrutura.</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pt-PT" dirty="0"/>
              <a:t>Um exemplo paradigmático é o ciberataque à Vodafone Portugal em 2022, que comprometeu o core da operação, afetando comunicações móveis, TV e serviços essenciais. Este evento destacou os riscos reais da cibercriminalidade, cujas consequências incluem não só perdas financeiras, mas também impacto reputacional e interrupção de serviços públicos.</a:t>
            </a:r>
            <a:endParaRPr dirty="0"/>
          </a:p>
        </p:txBody>
      </p:sp>
      <p:sp>
        <p:nvSpPr>
          <p:cNvPr id="358" name="Google Shape;358;p11:notes">
            <a:extLst>
              <a:ext uri="{FF2B5EF4-FFF2-40B4-BE49-F238E27FC236}">
                <a16:creationId xmlns:a16="http://schemas.microsoft.com/office/drawing/2014/main" id="{29B4B760-2FD4-595D-ACAB-197A7617C200}"/>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10</a:t>
            </a:fld>
            <a:endParaRPr/>
          </a:p>
        </p:txBody>
      </p:sp>
    </p:spTree>
    <p:extLst>
      <p:ext uri="{BB962C8B-B14F-4D97-AF65-F5344CB8AC3E}">
        <p14:creationId xmlns:p14="http://schemas.microsoft.com/office/powerpoint/2010/main" val="3780669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55FFEF2A-1681-DA2F-FD78-67114C57DCF5}"/>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D0F8CFB1-D9FF-E82E-F164-DED3E5C5940A}"/>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66E6F1EA-28E2-8B51-2089-1A177334767F}"/>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52671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B1BA2C41-B392-88A8-E721-8D1E00612756}"/>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9AB441BB-9847-B477-3BE9-250EB1ADED38}"/>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5:notes">
            <a:extLst>
              <a:ext uri="{FF2B5EF4-FFF2-40B4-BE49-F238E27FC236}">
                <a16:creationId xmlns:a16="http://schemas.microsoft.com/office/drawing/2014/main" id="{C7207FF1-27C5-B991-B682-D8D39B1C3E75}"/>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86" name="Google Shape;186;p5:notes">
            <a:extLst>
              <a:ext uri="{FF2B5EF4-FFF2-40B4-BE49-F238E27FC236}">
                <a16:creationId xmlns:a16="http://schemas.microsoft.com/office/drawing/2014/main" id="{D76C9618-41A6-BDE0-388C-427A70C28E5E}"/>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12</a:t>
            </a:fld>
            <a:endParaRPr/>
          </a:p>
        </p:txBody>
      </p:sp>
    </p:spTree>
    <p:extLst>
      <p:ext uri="{BB962C8B-B14F-4D97-AF65-F5344CB8AC3E}">
        <p14:creationId xmlns:p14="http://schemas.microsoft.com/office/powerpoint/2010/main" val="244692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4: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4:notes"/>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dirty="0"/>
              <a:t>Estatísticas - https://www.ransomware.live/</a:t>
            </a:r>
            <a:endParaRPr dirty="0"/>
          </a:p>
          <a:p>
            <a:pPr marL="0" lvl="0" indent="0" algn="l" rtl="0">
              <a:lnSpc>
                <a:spcPct val="100000"/>
              </a:lnSpc>
              <a:spcBef>
                <a:spcPts val="0"/>
              </a:spcBef>
              <a:spcAft>
                <a:spcPts val="0"/>
              </a:spcAft>
              <a:buSzPts val="1400"/>
              <a:buNone/>
            </a:pPr>
            <a:r>
              <a:rPr lang="pt-PT" dirty="0"/>
              <a:t>https://ransomwatch.telemetry.ltd/#/README</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pt-PT" sz="1200" dirty="0">
                <a:solidFill>
                  <a:schemeClr val="dk1"/>
                </a:solidFill>
                <a:latin typeface="Arial"/>
                <a:ea typeface="Arial"/>
                <a:cs typeface="Arial"/>
                <a:sym typeface="Arial"/>
              </a:rPr>
              <a:t>muitas empresas que escondem ataques</a:t>
            </a:r>
            <a:endParaRPr dirty="0"/>
          </a:p>
          <a:p>
            <a:pPr marL="0" lvl="0" indent="0" algn="l" rtl="0">
              <a:lnSpc>
                <a:spcPct val="100000"/>
              </a:lnSpc>
              <a:spcBef>
                <a:spcPts val="0"/>
              </a:spcBef>
              <a:spcAft>
                <a:spcPts val="0"/>
              </a:spcAft>
              <a:buSzPts val="1400"/>
              <a:buNone/>
            </a:pPr>
            <a:endParaRPr dirty="0"/>
          </a:p>
        </p:txBody>
      </p:sp>
      <p:sp>
        <p:nvSpPr>
          <p:cNvPr id="157" name="Google Shape;157;p4:notes"/>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4F19A099-9CB9-A35C-3C9E-88605F854224}"/>
            </a:ext>
          </a:extLst>
        </p:cNvPr>
        <p:cNvGrpSpPr/>
        <p:nvPr/>
      </p:nvGrpSpPr>
      <p:grpSpPr>
        <a:xfrm>
          <a:off x="0" y="0"/>
          <a:ext cx="0" cy="0"/>
          <a:chOff x="0" y="0"/>
          <a:chExt cx="0" cy="0"/>
        </a:xfrm>
      </p:grpSpPr>
      <p:sp>
        <p:nvSpPr>
          <p:cNvPr id="155" name="Google Shape;155;p4:notes">
            <a:extLst>
              <a:ext uri="{FF2B5EF4-FFF2-40B4-BE49-F238E27FC236}">
                <a16:creationId xmlns:a16="http://schemas.microsoft.com/office/drawing/2014/main" id="{02D16D6C-7350-DBAD-C275-B67B1975B0BF}"/>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4:notes">
            <a:extLst>
              <a:ext uri="{FF2B5EF4-FFF2-40B4-BE49-F238E27FC236}">
                <a16:creationId xmlns:a16="http://schemas.microsoft.com/office/drawing/2014/main" id="{0662AE2D-1A04-6051-01A9-3E54F659D385}"/>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7" name="Google Shape;157;p4:notes">
            <a:extLst>
              <a:ext uri="{FF2B5EF4-FFF2-40B4-BE49-F238E27FC236}">
                <a16:creationId xmlns:a16="http://schemas.microsoft.com/office/drawing/2014/main" id="{CEB5A47A-4609-CF5A-CC74-A9C73C285292}"/>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14</a:t>
            </a:fld>
            <a:endParaRPr/>
          </a:p>
        </p:txBody>
      </p:sp>
    </p:spTree>
    <p:extLst>
      <p:ext uri="{BB962C8B-B14F-4D97-AF65-F5344CB8AC3E}">
        <p14:creationId xmlns:p14="http://schemas.microsoft.com/office/powerpoint/2010/main" val="5285607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71BBAA96-C63A-A3CD-CD87-B203071BB13C}"/>
            </a:ext>
          </a:extLst>
        </p:cNvPr>
        <p:cNvGrpSpPr/>
        <p:nvPr/>
      </p:nvGrpSpPr>
      <p:grpSpPr>
        <a:xfrm>
          <a:off x="0" y="0"/>
          <a:ext cx="0" cy="0"/>
          <a:chOff x="0" y="0"/>
          <a:chExt cx="0" cy="0"/>
        </a:xfrm>
      </p:grpSpPr>
      <p:sp>
        <p:nvSpPr>
          <p:cNvPr id="155" name="Google Shape;155;p4:notes">
            <a:extLst>
              <a:ext uri="{FF2B5EF4-FFF2-40B4-BE49-F238E27FC236}">
                <a16:creationId xmlns:a16="http://schemas.microsoft.com/office/drawing/2014/main" id="{A42F7752-19B5-8C78-F759-DBA69D6164DB}"/>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4:notes">
            <a:extLst>
              <a:ext uri="{FF2B5EF4-FFF2-40B4-BE49-F238E27FC236}">
                <a16:creationId xmlns:a16="http://schemas.microsoft.com/office/drawing/2014/main" id="{FA9F0311-5D62-FE64-0634-211091126E4E}"/>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7" name="Google Shape;157;p4:notes">
            <a:extLst>
              <a:ext uri="{FF2B5EF4-FFF2-40B4-BE49-F238E27FC236}">
                <a16:creationId xmlns:a16="http://schemas.microsoft.com/office/drawing/2014/main" id="{E5385B9F-8FB4-CE4B-85E4-9D31DD523D7C}"/>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15</a:t>
            </a:fld>
            <a:endParaRPr/>
          </a:p>
        </p:txBody>
      </p:sp>
    </p:spTree>
    <p:extLst>
      <p:ext uri="{BB962C8B-B14F-4D97-AF65-F5344CB8AC3E}">
        <p14:creationId xmlns:p14="http://schemas.microsoft.com/office/powerpoint/2010/main" val="14525302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3416F678-E106-3377-4772-D8CF78A1085E}"/>
            </a:ext>
          </a:extLst>
        </p:cNvPr>
        <p:cNvGrpSpPr/>
        <p:nvPr/>
      </p:nvGrpSpPr>
      <p:grpSpPr>
        <a:xfrm>
          <a:off x="0" y="0"/>
          <a:ext cx="0" cy="0"/>
          <a:chOff x="0" y="0"/>
          <a:chExt cx="0" cy="0"/>
        </a:xfrm>
      </p:grpSpPr>
      <p:sp>
        <p:nvSpPr>
          <p:cNvPr id="155" name="Google Shape;155;p4:notes">
            <a:extLst>
              <a:ext uri="{FF2B5EF4-FFF2-40B4-BE49-F238E27FC236}">
                <a16:creationId xmlns:a16="http://schemas.microsoft.com/office/drawing/2014/main" id="{A74505DC-92C6-637C-9C4B-82634392BF40}"/>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4:notes">
            <a:extLst>
              <a:ext uri="{FF2B5EF4-FFF2-40B4-BE49-F238E27FC236}">
                <a16:creationId xmlns:a16="http://schemas.microsoft.com/office/drawing/2014/main" id="{E670FD0D-B594-41C7-28C8-FAA581CE4F71}"/>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7" name="Google Shape;157;p4:notes">
            <a:extLst>
              <a:ext uri="{FF2B5EF4-FFF2-40B4-BE49-F238E27FC236}">
                <a16:creationId xmlns:a16="http://schemas.microsoft.com/office/drawing/2014/main" id="{1E1FBF23-36B2-0EE6-8409-B0CA8C3A5439}"/>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16</a:t>
            </a:fld>
            <a:endParaRPr/>
          </a:p>
        </p:txBody>
      </p:sp>
    </p:spTree>
    <p:extLst>
      <p:ext uri="{BB962C8B-B14F-4D97-AF65-F5344CB8AC3E}">
        <p14:creationId xmlns:p14="http://schemas.microsoft.com/office/powerpoint/2010/main" val="2112729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8D0B0617-7A72-E33D-168D-781A7FD66E61}"/>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806FE518-1603-C303-5664-EA4C316E696D}"/>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148F5E05-612B-EE43-756F-7C0C5DCB2472}"/>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77577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98311199-0888-032A-985D-1406CC1F22EC}"/>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0B2E8DA0-0DAB-A0B1-D044-0B0954EA20E3}"/>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0BF6A62C-5C86-C037-7967-CFBB3D17A103}"/>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dirty="0"/>
              <a:t>https://exposure.shodan.io/#/PT</a:t>
            </a:r>
            <a:endParaRPr lang="pt-PT" sz="1200" b="0" i="0" u="none" strike="noStrike" cap="none" baseline="0" dirty="0">
              <a:solidFill>
                <a:schemeClr val="dk1"/>
              </a:solidFill>
              <a:latin typeface="Arial"/>
              <a:cs typeface="Arial"/>
              <a:sym typeface="Arial"/>
            </a:endParaRPr>
          </a:p>
          <a:p>
            <a:pPr marL="0" lvl="0" indent="0" algn="l" rtl="0">
              <a:lnSpc>
                <a:spcPct val="100000"/>
              </a:lnSpc>
              <a:spcBef>
                <a:spcPts val="0"/>
              </a:spcBef>
              <a:spcAft>
                <a:spcPts val="0"/>
              </a:spcAft>
              <a:buSzPts val="1400"/>
              <a:buNone/>
            </a:pPr>
            <a:endParaRPr lang="pt-PT" sz="1200" b="0" i="0" u="none" strike="noStrike" cap="none" baseline="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pt-PT" sz="1200" b="0" i="0" u="none" strike="noStrike" cap="none" baseline="0" dirty="0">
                <a:solidFill>
                  <a:schemeClr val="dk1"/>
                </a:solidFill>
                <a:latin typeface="Arial"/>
                <a:ea typeface="Arial"/>
                <a:cs typeface="Arial"/>
                <a:sym typeface="Arial"/>
              </a:rPr>
              <a:t>Ferramenta do Shodan mostra quantidade de dispositivos por país expostos online</a:t>
            </a:r>
            <a:endParaRPr dirty="0"/>
          </a:p>
        </p:txBody>
      </p:sp>
      <p:sp>
        <p:nvSpPr>
          <p:cNvPr id="358" name="Google Shape;358;p11:notes">
            <a:extLst>
              <a:ext uri="{FF2B5EF4-FFF2-40B4-BE49-F238E27FC236}">
                <a16:creationId xmlns:a16="http://schemas.microsoft.com/office/drawing/2014/main" id="{F9EF008E-FC16-E723-E99C-2FA4C119CA1D}"/>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18</a:t>
            </a:fld>
            <a:endParaRPr/>
          </a:p>
        </p:txBody>
      </p:sp>
    </p:spTree>
    <p:extLst>
      <p:ext uri="{BB962C8B-B14F-4D97-AF65-F5344CB8AC3E}">
        <p14:creationId xmlns:p14="http://schemas.microsoft.com/office/powerpoint/2010/main" val="16218772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3AB69EB4-23C2-8B59-B349-517DEEF472BA}"/>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58C63658-31E0-7CFB-7786-35D99EE18DF0}"/>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34B4ACAF-1A98-5E6E-836B-D57758F80F9B}"/>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https://images.shodan.io/?query=screenshot.label%3Awebcam+country%3Apt</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https://images.shodan.io/?query=winrest</a:t>
            </a:r>
          </a:p>
          <a:p>
            <a:pPr marL="0" lvl="0" indent="0" algn="l" rtl="0">
              <a:lnSpc>
                <a:spcPct val="100000"/>
              </a:lnSpc>
              <a:spcBef>
                <a:spcPts val="0"/>
              </a:spcBef>
              <a:spcAft>
                <a:spcPts val="0"/>
              </a:spcAft>
              <a:buSzPts val="1400"/>
              <a:buNone/>
            </a:pPr>
            <a:r>
              <a:rPr lang="en-US" dirty="0"/>
              <a:t>VNC – Authentication Disabled</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dirty="0"/>
          </a:p>
        </p:txBody>
      </p:sp>
      <p:sp>
        <p:nvSpPr>
          <p:cNvPr id="137" name="Google Shape;137;p3:notes">
            <a:extLst>
              <a:ext uri="{FF2B5EF4-FFF2-40B4-BE49-F238E27FC236}">
                <a16:creationId xmlns:a16="http://schemas.microsoft.com/office/drawing/2014/main" id="{196C360E-9181-FC5F-531F-A40366295790}"/>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19</a:t>
            </a:fld>
            <a:endParaRPr/>
          </a:p>
        </p:txBody>
      </p:sp>
    </p:spTree>
    <p:extLst>
      <p:ext uri="{BB962C8B-B14F-4D97-AF65-F5344CB8AC3E}">
        <p14:creationId xmlns:p14="http://schemas.microsoft.com/office/powerpoint/2010/main" val="4558226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23D0AA26-0692-816A-0408-FE0A38D62B44}"/>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5A9F76B1-7BFE-BE69-9D7B-66BDCE853EE0}"/>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2E84AA70-6EC9-AB96-3C99-51590160F939}"/>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https://images.shodan.io/?query=screenshot.label%3Awindows+xp</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https://www.shodan.io/host/78.92.33.237#3389</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https://images.shodan.io/?query=screenshot.label%3Awindows+ransomware</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https://images.shodan.io/?query=screenshot.label%3Awindows+country%3Apt+2003</a:t>
            </a:r>
          </a:p>
          <a:p>
            <a:pPr marL="0" lvl="0" indent="0" algn="l" rtl="0">
              <a:lnSpc>
                <a:spcPct val="100000"/>
              </a:lnSpc>
              <a:spcBef>
                <a:spcPts val="0"/>
              </a:spcBef>
              <a:spcAft>
                <a:spcPts val="0"/>
              </a:spcAft>
              <a:buSzPts val="1400"/>
              <a:buNone/>
            </a:pPr>
            <a:endParaRPr dirty="0"/>
          </a:p>
        </p:txBody>
      </p:sp>
      <p:sp>
        <p:nvSpPr>
          <p:cNvPr id="137" name="Google Shape;137;p3:notes">
            <a:extLst>
              <a:ext uri="{FF2B5EF4-FFF2-40B4-BE49-F238E27FC236}">
                <a16:creationId xmlns:a16="http://schemas.microsoft.com/office/drawing/2014/main" id="{7FA3FFC7-E219-67E6-3F10-5F3C93176470}"/>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20</a:t>
            </a:fld>
            <a:endParaRPr/>
          </a:p>
        </p:txBody>
      </p:sp>
    </p:spTree>
    <p:extLst>
      <p:ext uri="{BB962C8B-B14F-4D97-AF65-F5344CB8AC3E}">
        <p14:creationId xmlns:p14="http://schemas.microsoft.com/office/powerpoint/2010/main" val="8166407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B431A240-0465-74F6-9689-4CA967D2CAD8}"/>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51B4CC7A-90AF-3AD4-A3B0-432A189693F2}"/>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991E45B0-642F-435E-1B3F-F1E1A3902322}"/>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https://images.shodan.io/?query=screenshot.label%3Awindows+xp</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https://www.shodan.io/host/78.92.33.237#3389</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https://images.shodan.io/?query=screenshot.label%3Awindows+ransomware</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https://images.shodan.io/?query=screenshot.label%3Awindows+country%3Apt+2003</a:t>
            </a:r>
          </a:p>
          <a:p>
            <a:pPr marL="0" lvl="0" indent="0" algn="l" rtl="0">
              <a:lnSpc>
                <a:spcPct val="100000"/>
              </a:lnSpc>
              <a:spcBef>
                <a:spcPts val="0"/>
              </a:spcBef>
              <a:spcAft>
                <a:spcPts val="0"/>
              </a:spcAft>
              <a:buSzPts val="1400"/>
              <a:buNone/>
            </a:pPr>
            <a:endParaRPr dirty="0"/>
          </a:p>
        </p:txBody>
      </p:sp>
      <p:sp>
        <p:nvSpPr>
          <p:cNvPr id="137" name="Google Shape;137;p3:notes">
            <a:extLst>
              <a:ext uri="{FF2B5EF4-FFF2-40B4-BE49-F238E27FC236}">
                <a16:creationId xmlns:a16="http://schemas.microsoft.com/office/drawing/2014/main" id="{ABD1D39A-041F-EDA7-E888-152E52251A10}"/>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21</a:t>
            </a:fld>
            <a:endParaRPr/>
          </a:p>
        </p:txBody>
      </p:sp>
    </p:spTree>
    <p:extLst>
      <p:ext uri="{BB962C8B-B14F-4D97-AF65-F5344CB8AC3E}">
        <p14:creationId xmlns:p14="http://schemas.microsoft.com/office/powerpoint/2010/main" val="30158634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A05340BE-6086-5D2F-303B-DC07927EB82E}"/>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8FDD4C72-ADE7-EC46-1EDF-487CEE4C6C77}"/>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777251E7-D769-D31A-63CC-CF571FC02719}"/>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https://www.shodan.io/host/109.50.174.250#81</a:t>
            </a:r>
            <a:endParaRPr dirty="0"/>
          </a:p>
        </p:txBody>
      </p:sp>
      <p:sp>
        <p:nvSpPr>
          <p:cNvPr id="137" name="Google Shape;137;p3:notes">
            <a:extLst>
              <a:ext uri="{FF2B5EF4-FFF2-40B4-BE49-F238E27FC236}">
                <a16:creationId xmlns:a16="http://schemas.microsoft.com/office/drawing/2014/main" id="{342BC0C2-8460-7D42-A820-C4BB15071592}"/>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22</a:t>
            </a:fld>
            <a:endParaRPr/>
          </a:p>
        </p:txBody>
      </p:sp>
    </p:spTree>
    <p:extLst>
      <p:ext uri="{BB962C8B-B14F-4D97-AF65-F5344CB8AC3E}">
        <p14:creationId xmlns:p14="http://schemas.microsoft.com/office/powerpoint/2010/main" val="4449260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09FA87FC-692C-500C-02CE-547C55781905}"/>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36A38C4D-64E4-75DC-CC88-F69276AA6625}"/>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A48575C7-5B35-311D-96AB-778C69E16F72}"/>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https://www.shodan.io/search?query=contabilidade+port%3A445+country%3Apt</a:t>
            </a:r>
            <a:endParaRPr dirty="0"/>
          </a:p>
        </p:txBody>
      </p:sp>
      <p:sp>
        <p:nvSpPr>
          <p:cNvPr id="137" name="Google Shape;137;p3:notes">
            <a:extLst>
              <a:ext uri="{FF2B5EF4-FFF2-40B4-BE49-F238E27FC236}">
                <a16:creationId xmlns:a16="http://schemas.microsoft.com/office/drawing/2014/main" id="{C3FBE1FC-6951-539D-B135-32357199EAAB}"/>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23</a:t>
            </a:fld>
            <a:endParaRPr/>
          </a:p>
        </p:txBody>
      </p:sp>
    </p:spTree>
    <p:extLst>
      <p:ext uri="{BB962C8B-B14F-4D97-AF65-F5344CB8AC3E}">
        <p14:creationId xmlns:p14="http://schemas.microsoft.com/office/powerpoint/2010/main" val="10923578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B2BC3E1C-20A7-E2C8-965A-5B57CFDB8ED1}"/>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E926B0B6-833B-CBC6-C015-8CDBAC455CCF}"/>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EB43C9D0-6DD6-2361-9F83-7F8AABE8E802}"/>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https://images.shodan.io/?query=screenshot.label%3Aics</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https://www.shodan.io/search?query=%22Schneider+Electric+BMX%22+country%3Apt</a:t>
            </a:r>
            <a:endParaRPr dirty="0"/>
          </a:p>
        </p:txBody>
      </p:sp>
      <p:sp>
        <p:nvSpPr>
          <p:cNvPr id="137" name="Google Shape;137;p3:notes">
            <a:extLst>
              <a:ext uri="{FF2B5EF4-FFF2-40B4-BE49-F238E27FC236}">
                <a16:creationId xmlns:a16="http://schemas.microsoft.com/office/drawing/2014/main" id="{46BF7AB0-1CEA-52F0-C6F0-42559B5F5A55}"/>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24</a:t>
            </a:fld>
            <a:endParaRPr/>
          </a:p>
        </p:txBody>
      </p:sp>
    </p:spTree>
    <p:extLst>
      <p:ext uri="{BB962C8B-B14F-4D97-AF65-F5344CB8AC3E}">
        <p14:creationId xmlns:p14="http://schemas.microsoft.com/office/powerpoint/2010/main" val="34029894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9951B9D8-FA8A-AF74-0719-1206B0ECEF78}"/>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03D3B1F7-C2D2-314E-AD14-0F5AF6A6EAA7}"/>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948A60FB-0AB1-085B-AC76-5E6BD61FDE01}"/>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dirty="0"/>
              <a:t>https://www.shodan.io/explore/category/industrial-control-systems</a:t>
            </a:r>
            <a:endParaRPr dirty="0"/>
          </a:p>
        </p:txBody>
      </p:sp>
      <p:sp>
        <p:nvSpPr>
          <p:cNvPr id="358" name="Google Shape;358;p11:notes">
            <a:extLst>
              <a:ext uri="{FF2B5EF4-FFF2-40B4-BE49-F238E27FC236}">
                <a16:creationId xmlns:a16="http://schemas.microsoft.com/office/drawing/2014/main" id="{C01664CB-5ACD-5DE7-F112-F97651EFB911}"/>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25</a:t>
            </a:fld>
            <a:endParaRPr/>
          </a:p>
        </p:txBody>
      </p:sp>
    </p:spTree>
    <p:extLst>
      <p:ext uri="{BB962C8B-B14F-4D97-AF65-F5344CB8AC3E}">
        <p14:creationId xmlns:p14="http://schemas.microsoft.com/office/powerpoint/2010/main" val="11191043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384129E9-1DB1-BF62-6D17-DB35A26182B2}"/>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57B6ECAA-4C5D-3F71-7BD2-66E0E48F8B49}"/>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F513241F-7DFE-AB1E-601B-EB79595A2C67}"/>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dirty="0"/>
              <a:t>https://www.shodan.io/search?query=port%253A502+country%253Apt</a:t>
            </a:r>
            <a:endParaRPr dirty="0"/>
          </a:p>
        </p:txBody>
      </p:sp>
      <p:sp>
        <p:nvSpPr>
          <p:cNvPr id="358" name="Google Shape;358;p11:notes">
            <a:extLst>
              <a:ext uri="{FF2B5EF4-FFF2-40B4-BE49-F238E27FC236}">
                <a16:creationId xmlns:a16="http://schemas.microsoft.com/office/drawing/2014/main" id="{D6B746EC-BF7D-1F83-C56F-BEBB01E38FD3}"/>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26</a:t>
            </a:fld>
            <a:endParaRPr/>
          </a:p>
        </p:txBody>
      </p:sp>
    </p:spTree>
    <p:extLst>
      <p:ext uri="{BB962C8B-B14F-4D97-AF65-F5344CB8AC3E}">
        <p14:creationId xmlns:p14="http://schemas.microsoft.com/office/powerpoint/2010/main" val="2235223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2D294F21-1737-B81F-8808-E9CF8A00B7DB}"/>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A4B01593-9D4D-9ED3-3084-CD59C5027670}"/>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765D2CEC-0149-0A8A-5EDB-C6E700F48CC3}"/>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dirty="0"/>
              <a:t>https://www.shodan.io/host/93.102.241.68</a:t>
            </a:r>
            <a:endParaRPr dirty="0"/>
          </a:p>
        </p:txBody>
      </p:sp>
      <p:sp>
        <p:nvSpPr>
          <p:cNvPr id="358" name="Google Shape;358;p11:notes">
            <a:extLst>
              <a:ext uri="{FF2B5EF4-FFF2-40B4-BE49-F238E27FC236}">
                <a16:creationId xmlns:a16="http://schemas.microsoft.com/office/drawing/2014/main" id="{A713931A-E023-3365-1811-1AD95B4AEC47}"/>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27</a:t>
            </a:fld>
            <a:endParaRPr/>
          </a:p>
        </p:txBody>
      </p:sp>
    </p:spTree>
    <p:extLst>
      <p:ext uri="{BB962C8B-B14F-4D97-AF65-F5344CB8AC3E}">
        <p14:creationId xmlns:p14="http://schemas.microsoft.com/office/powerpoint/2010/main" val="35150615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29E19D8D-FC8D-2DB7-B3C9-4CBAF474DF60}"/>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96654156-828B-4E8C-1F6B-E35BD6D21040}"/>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32E37090-CE50-A2EF-CD66-C6580C99DED7}"/>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32841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3F377AA3-012F-C138-F1A8-8877170E337B}"/>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3682F6D9-91A7-8B35-B6C2-CBC9C56A8868}"/>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E1942DA3-F544-4BCF-50FB-02489845A27B}"/>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58" name="Google Shape;358;p11:notes">
            <a:extLst>
              <a:ext uri="{FF2B5EF4-FFF2-40B4-BE49-F238E27FC236}">
                <a16:creationId xmlns:a16="http://schemas.microsoft.com/office/drawing/2014/main" id="{B83DE5C9-CCB0-38AD-0D5B-D3FC58851BAB}"/>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29</a:t>
            </a:fld>
            <a:endParaRPr/>
          </a:p>
        </p:txBody>
      </p:sp>
    </p:spTree>
    <p:extLst>
      <p:ext uri="{BB962C8B-B14F-4D97-AF65-F5344CB8AC3E}">
        <p14:creationId xmlns:p14="http://schemas.microsoft.com/office/powerpoint/2010/main" val="40788435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5:notes"/>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a:t>O Cybersecurity Assessment é o ponto de partida essencial para qualquer organização que deseje compreender o seu nível real de exposição a ameaças digitais. Ao realizar uma avaliação exaustiva, conseguimos mapear as principais vulnerabilidades, identificar ameaças internas e externas, e criar um plano concreto para mitigação de riscos.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pt-PT"/>
              <a:t>Este serviço não se trata apenas de uma verificação técnica – é uma abordagem estratégica que permite alinhar a segurança digital aos objetivos do negócio, antecipando ataques e preparando respostas. Numa era de crescentes ciberataques e regulamentações exigentes, como a NIS2 ou o DORA, estar bem preparado não é opcional, é um requisito para a sustentabilidade da operação.</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pt-PT"/>
              <a:t>A nossa missão com esta apresentação é demonstrar como este serviço pode ser aplicado de forma prática, mensurável e com retorno imediato na maturidade da segurança da sua organização.</a:t>
            </a:r>
            <a:endParaRPr/>
          </a:p>
        </p:txBody>
      </p:sp>
      <p:sp>
        <p:nvSpPr>
          <p:cNvPr id="186" name="Google Shape;186;p5:notes"/>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9: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p9:notes"/>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dirty="0"/>
              <a:t>A realização de um Cybersecurity Assessment traz múltiplos benefícios estratégicos que vão muito além da segurança técnica. Em primeiro lugar, permite uma redução significativa do risco através da identificação precoce de vulnerabilidades e da aplicação de medidas corretivas antes que sejam exploradas. Este efeito preventivo traduz-se num aumento direto da resiliência organizacional.</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pt-PT" dirty="0"/>
              <a:t>Outro benefício essencial é o apoio à conformidade legal. Com a entrada em vigor de regulamentos como o DORA e a diretiva NIS2, a avaliação periódica da postura de segurança torna-se um requisito normativo. O nosso serviço é desenhado para alinhar-se totalmente com estas exigências, preparando a sua organização para auditorias e inspeções.</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pt-PT" dirty="0"/>
              <a:t>Por fim, existe o impacto reputacional. Empresas que demonstram proatividade em segurança são vistas como mais confiáveis por clientes, parceiros e investidores. A transparência e o rigor que um Cybersecurity Assessment oferece tornam-se um fator diferenciador no mercado atual.</a:t>
            </a:r>
            <a:endParaRPr dirty="0"/>
          </a:p>
        </p:txBody>
      </p:sp>
      <p:sp>
        <p:nvSpPr>
          <p:cNvPr id="309" name="Google Shape;309;p9:notes"/>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31</a:t>
            </a:fld>
            <a:endParaRPr/>
          </a:p>
        </p:txBody>
      </p:sp>
    </p:spTree>
    <p:extLst>
      <p:ext uri="{BB962C8B-B14F-4D97-AF65-F5344CB8AC3E}">
        <p14:creationId xmlns:p14="http://schemas.microsoft.com/office/powerpoint/2010/main" val="37451672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8C7AC162-7696-3A23-53CD-70039CC56442}"/>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5E9A1AEB-F659-104F-6831-58FC9743EA4E}"/>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8604327F-3C6B-AFF8-8833-70DBDD5A6604}"/>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a:t>https://www.itsecurity.pt/news/threats/ciberataques-aumentam-75-no-terceiro-trimestre-de-2024</a:t>
            </a:r>
            <a:endParaRPr/>
          </a:p>
          <a:p>
            <a:pPr marL="0" lvl="0" indent="0" algn="l" rtl="0">
              <a:lnSpc>
                <a:spcPct val="100000"/>
              </a:lnSpc>
              <a:spcBef>
                <a:spcPts val="0"/>
              </a:spcBef>
              <a:spcAft>
                <a:spcPts val="0"/>
              </a:spcAft>
              <a:buSzPts val="1400"/>
              <a:buNone/>
            </a:pPr>
            <a:r>
              <a:rPr lang="pt-PT"/>
              <a:t>https://www.knower.pt/ciberseguranca-em-portugal-desafios-e-solucoes-para-o-futuro/#</a:t>
            </a:r>
            <a:endParaRPr/>
          </a:p>
          <a:p>
            <a:pPr marL="0" lvl="0" indent="0" algn="l" rtl="0">
              <a:lnSpc>
                <a:spcPct val="100000"/>
              </a:lnSpc>
              <a:spcBef>
                <a:spcPts val="0"/>
              </a:spcBef>
              <a:spcAft>
                <a:spcPts val="0"/>
              </a:spcAft>
              <a:buSzPts val="1400"/>
              <a:buNone/>
            </a:pPr>
            <a:r>
              <a:rPr lang="pt-PT"/>
              <a:t>https://www.cncs.gov.pt/docs/rel-sociedade2023-observ-cncs-dig.pdf</a:t>
            </a:r>
            <a:endParaRPr/>
          </a:p>
          <a:p>
            <a:pPr marL="0" lvl="0" indent="0" algn="l" rtl="0">
              <a:lnSpc>
                <a:spcPct val="100000"/>
              </a:lnSpc>
              <a:spcBef>
                <a:spcPts val="0"/>
              </a:spcBef>
              <a:spcAft>
                <a:spcPts val="0"/>
              </a:spcAft>
              <a:buSzPts val="1400"/>
              <a:buNone/>
            </a:pPr>
            <a:r>
              <a:rPr lang="pt-PT"/>
              <a:t>https://www.cncs.gov.pt/docs/rel-sociedade2024-obcibercncs.pdf</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pt-PT"/>
              <a:t>O cenário de ameaças cibernéticas em Portugal tornou-se alarmante. Nos últimos 21 meses, foram registados mais de 9 000 incidentes, com picos de atividade particularmente preocupantes. Só no terceiro trimestre de 2024, cada empresa portuguesa sofreu, em média, mais de 2 000 ataques — um número que nos posiciona entre os três países europeus mais atacados.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pt-PT"/>
              <a:t>As principais ameaças incluem campanhas sofisticadas de phishing, ataques de ransomware cada vez mais agressivos, engenharia social que explora fragilidades humanas, e exploração de vulnerabilidades técnicas ainda desconhecidas (zero-day). Estes ataques não escolhem setores: afetam desde pequenas empresas a operadores críticos de infraestrutura.</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pt-PT"/>
              <a:t>Um exemplo paradigmático é o ciberataque à Vodafone Portugal em 2022, que comprometeu o core da operação, afetando comunicações móveis, TV e serviços essenciais. Este evento destacou os riscos reais da cibercriminalidade, cujas consequências incluem não só perdas financeiras, mas também impacto reputacional e interrupção de serviços públicos.</a:t>
            </a:r>
            <a:endParaRPr/>
          </a:p>
        </p:txBody>
      </p:sp>
      <p:sp>
        <p:nvSpPr>
          <p:cNvPr id="358" name="Google Shape;358;p11:notes">
            <a:extLst>
              <a:ext uri="{FF2B5EF4-FFF2-40B4-BE49-F238E27FC236}">
                <a16:creationId xmlns:a16="http://schemas.microsoft.com/office/drawing/2014/main" id="{7102E68D-66C7-D848-E364-F457AEA85C86}"/>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32</a:t>
            </a:fld>
            <a:endParaRPr/>
          </a:p>
        </p:txBody>
      </p:sp>
    </p:spTree>
    <p:extLst>
      <p:ext uri="{BB962C8B-B14F-4D97-AF65-F5344CB8AC3E}">
        <p14:creationId xmlns:p14="http://schemas.microsoft.com/office/powerpoint/2010/main" val="40696383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DBDA4B25-6396-554C-DAEE-BDF32DA87318}"/>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402EF600-99C2-70B3-2BC1-60237F7B525E}"/>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EA6B5A30-0149-57B6-FAB3-275D0E3B8BAD}"/>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39026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6FF6D0A4-44D4-B537-A8FF-3D0849E7910E}"/>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23EE3F3C-3EDE-1EAA-9CF2-5DDC2DE70537}"/>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0DEB2D42-F0F8-32A9-8122-118894340DA7}"/>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96602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6: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6:notes"/>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a:t>O Cybersecurity Assessment é o ponto de partida essencial para qualquer organização que deseje compreender o seu nível real de exposição a ameaças digitais. Ao realizar uma avaliação exaustiva, conseguimos mapear as principais vulnerabilidades, identificar ameaças internas e externas, e criar um plano concreto para mitigação de riscos.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pt-PT"/>
              <a:t>Este serviço não se trata apenas de uma verificação técnica – é uma abordagem estratégica que permite alinhar a segurança digital aos objetivos do negócio, antecipando ataques e preparando respostas. Numa era de crescentes ciberataques e regulamentações exigentes, como a NIS2 ou o DORA, estar bem preparado não é opcional, é um requisito para a sustentabilidade da operação.</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pt-PT"/>
              <a:t>A nossa missão com esta apresentação é demonstrar como este serviço pode ser aplicado de forma prática, mensurável e com retorno imediato na maturidade da segurança da sua organização.</a:t>
            </a:r>
            <a:endParaRPr/>
          </a:p>
        </p:txBody>
      </p:sp>
      <p:sp>
        <p:nvSpPr>
          <p:cNvPr id="215" name="Google Shape;215;p6:notes"/>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50B77785-0152-F01A-6F28-8BC5160A72B3}"/>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CA177EB0-A717-9E52-EA49-E5798F33AD92}"/>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718626C6-2120-3A46-5AB8-3CFB4713C64E}"/>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58" name="Google Shape;358;p11:notes">
            <a:extLst>
              <a:ext uri="{FF2B5EF4-FFF2-40B4-BE49-F238E27FC236}">
                <a16:creationId xmlns:a16="http://schemas.microsoft.com/office/drawing/2014/main" id="{2013212E-5C2D-195A-B79C-85291FBF298A}"/>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36</a:t>
            </a:fld>
            <a:endParaRPr/>
          </a:p>
        </p:txBody>
      </p:sp>
    </p:spTree>
    <p:extLst>
      <p:ext uri="{BB962C8B-B14F-4D97-AF65-F5344CB8AC3E}">
        <p14:creationId xmlns:p14="http://schemas.microsoft.com/office/powerpoint/2010/main" val="4025323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92808" y="1138428"/>
            <a:ext cx="14127480" cy="6062472"/>
          </a:xfrm>
        </p:spPr>
        <p:txBody>
          <a:bodyPr anchor="b">
            <a:normAutofit/>
          </a:bodyPr>
          <a:lstStyle>
            <a:lvl1pPr algn="l">
              <a:lnSpc>
                <a:spcPct val="85000"/>
              </a:lnSpc>
              <a:defRPr sz="108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892808" y="7200900"/>
            <a:ext cx="14127480" cy="2537460"/>
          </a:xfrm>
        </p:spPr>
        <p:txBody>
          <a:bodyPr>
            <a:normAutofit/>
          </a:bodyPr>
          <a:lstStyle>
            <a:lvl1pPr marL="0" indent="0" algn="l">
              <a:buNone/>
              <a:defRPr sz="3300" baseline="0">
                <a:solidFill>
                  <a:schemeClr val="tx1">
                    <a:lumMod val="75000"/>
                  </a:schemeClr>
                </a:solidFill>
              </a:defRPr>
            </a:lvl1pPr>
            <a:lvl2pPr marL="685800" indent="0" algn="ctr">
              <a:buNone/>
              <a:defRPr sz="3300"/>
            </a:lvl2pPr>
            <a:lvl3pPr marL="1371600" indent="0" algn="ctr">
              <a:buNone/>
              <a:defRPr sz="33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pPr marL="0" lvl="0" indent="0" algn="r" rtl="0">
              <a:spcBef>
                <a:spcPts val="0"/>
              </a:spcBef>
              <a:spcAft>
                <a:spcPts val="0"/>
              </a:spcAft>
              <a:buNone/>
            </a:pPr>
            <a:fld id="{00000000-1234-1234-1234-123412341234}" type="slidenum">
              <a:rPr lang="pt-PT" smtClean="0"/>
              <a:t>‹#›</a:t>
            </a:fld>
            <a:endParaRPr lang="pt-PT"/>
          </a:p>
        </p:txBody>
      </p:sp>
      <p:sp>
        <p:nvSpPr>
          <p:cNvPr id="7" name="Rectangle 6"/>
          <p:cNvSpPr/>
          <p:nvPr/>
        </p:nvSpPr>
        <p:spPr>
          <a:xfrm>
            <a:off x="0" y="0"/>
            <a:ext cx="685800"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70838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3529612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892808" y="1138428"/>
            <a:ext cx="14127480" cy="6062472"/>
          </a:xfrm>
        </p:spPr>
        <p:txBody>
          <a:bodyPr anchor="b">
            <a:normAutofit/>
          </a:bodyPr>
          <a:lstStyle>
            <a:lvl1pPr>
              <a:lnSpc>
                <a:spcPct val="85000"/>
              </a:lnSpc>
              <a:defRPr sz="10800" b="0"/>
            </a:lvl1pPr>
          </a:lstStyle>
          <a:p>
            <a:r>
              <a:rPr lang="en-US"/>
              <a:t>Click to edit Master title style</a:t>
            </a:r>
            <a:endParaRPr lang="en-US" dirty="0"/>
          </a:p>
        </p:txBody>
      </p:sp>
      <p:sp>
        <p:nvSpPr>
          <p:cNvPr id="3" name="Text Placeholder 2"/>
          <p:cNvSpPr>
            <a:spLocks noGrp="1"/>
          </p:cNvSpPr>
          <p:nvPr>
            <p:ph type="body" idx="1"/>
          </p:nvPr>
        </p:nvSpPr>
        <p:spPr>
          <a:xfrm>
            <a:off x="1892808" y="7200900"/>
            <a:ext cx="14127480" cy="2537460"/>
          </a:xfrm>
        </p:spPr>
        <p:txBody>
          <a:bodyPr anchor="t">
            <a:normAutofit/>
          </a:bodyPr>
          <a:lstStyle>
            <a:lvl1pPr marL="0" indent="0">
              <a:buNone/>
              <a:defRPr sz="3300">
                <a:solidFill>
                  <a:schemeClr val="tx1">
                    <a:lumMod val="65000"/>
                    <a:lumOff val="3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
        <p:nvSpPr>
          <p:cNvPr id="7" name="Rectangle 6"/>
          <p:cNvSpPr/>
          <p:nvPr/>
        </p:nvSpPr>
        <p:spPr>
          <a:xfrm>
            <a:off x="0" y="0"/>
            <a:ext cx="685800"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82390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892808" y="2743201"/>
            <a:ext cx="6720840" cy="6527006"/>
          </a:xfrm>
        </p:spPr>
        <p:txBody>
          <a:bodyPr/>
          <a:lstStyle>
            <a:lvl1pPr>
              <a:defRPr sz="2700"/>
            </a:lvl1pPr>
            <a:lvl2pPr>
              <a:defRPr sz="2400"/>
            </a:lvl2pPr>
            <a:lvl3pPr>
              <a:defRPr sz="21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189720" y="2743201"/>
            <a:ext cx="6720840" cy="6527006"/>
          </a:xfrm>
        </p:spPr>
        <p:txBody>
          <a:bodyPr/>
          <a:lstStyle>
            <a:lvl1pPr>
              <a:defRPr sz="2700"/>
            </a:lvl1pPr>
            <a:lvl2pPr>
              <a:defRPr sz="2400"/>
            </a:lvl2pPr>
            <a:lvl3pPr>
              <a:defRPr sz="21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373021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892808" y="2570483"/>
            <a:ext cx="6720840" cy="1097280"/>
          </a:xfrm>
        </p:spPr>
        <p:txBody>
          <a:bodyPr anchor="b">
            <a:normAutofit/>
          </a:bodyPr>
          <a:lstStyle>
            <a:lvl1pPr marL="0" indent="0">
              <a:spcBef>
                <a:spcPts val="0"/>
              </a:spcBef>
              <a:buNone/>
              <a:defRPr sz="3000" b="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892808" y="3761325"/>
            <a:ext cx="6720840" cy="5496975"/>
          </a:xfrm>
        </p:spPr>
        <p:txBody>
          <a:bodyPr/>
          <a:lstStyle>
            <a:lvl1pPr>
              <a:defRPr sz="2700"/>
            </a:lvl1pPr>
            <a:lvl2pPr>
              <a:defRPr sz="2400"/>
            </a:lvl2pPr>
            <a:lvl3pPr>
              <a:defRPr sz="21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189720" y="2570483"/>
            <a:ext cx="6720840" cy="1097280"/>
          </a:xfrm>
        </p:spPr>
        <p:txBody>
          <a:bodyPr anchor="b">
            <a:normAutofit/>
          </a:bodyPr>
          <a:lstStyle>
            <a:lvl1pPr marL="0" indent="0">
              <a:lnSpc>
                <a:spcPct val="95000"/>
              </a:lnSpc>
              <a:spcBef>
                <a:spcPts val="0"/>
              </a:spcBef>
              <a:buNone/>
              <a:defRPr lang="en-US" sz="3000" b="0" kern="1200" dirty="0">
                <a:solidFill>
                  <a:schemeClr val="tx2"/>
                </a:solidFill>
                <a:latin typeface="+mn-lt"/>
                <a:ea typeface="+mn-ea"/>
                <a:cs typeface="+mn-cs"/>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marL="0" lvl="0" indent="0" algn="l" defTabSz="1371600" rtl="0" eaLnBrk="1" latinLnBrk="0" hangingPunct="1">
              <a:lnSpc>
                <a:spcPct val="90000"/>
              </a:lnSpc>
              <a:spcBef>
                <a:spcPts val="3000"/>
              </a:spcBef>
              <a:buFontTx/>
              <a:buNone/>
            </a:pPr>
            <a:r>
              <a:rPr lang="en-US"/>
              <a:t>Click to edit Master text styles</a:t>
            </a:r>
          </a:p>
        </p:txBody>
      </p:sp>
      <p:sp>
        <p:nvSpPr>
          <p:cNvPr id="6" name="Content Placeholder 5"/>
          <p:cNvSpPr>
            <a:spLocks noGrp="1"/>
          </p:cNvSpPr>
          <p:nvPr>
            <p:ph sz="quarter" idx="4"/>
          </p:nvPr>
        </p:nvSpPr>
        <p:spPr>
          <a:xfrm>
            <a:off x="9189720" y="3761325"/>
            <a:ext cx="6720840" cy="5496975"/>
          </a:xfrm>
        </p:spPr>
        <p:txBody>
          <a:bodyPr/>
          <a:lstStyle>
            <a:lvl1pPr>
              <a:defRPr sz="2700"/>
            </a:lvl1pPr>
            <a:lvl2pPr>
              <a:defRPr sz="2400"/>
            </a:lvl2pPr>
            <a:lvl3pPr>
              <a:defRPr sz="21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1770808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1439556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2488942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61872" y="685801"/>
            <a:ext cx="4800600" cy="2400296"/>
          </a:xfrm>
        </p:spPr>
        <p:txBody>
          <a:bodyPr anchor="b">
            <a:normAutofit/>
          </a:bodyPr>
          <a:lstStyle>
            <a:lvl1pPr>
              <a:defRPr sz="4800" b="0" baseline="0"/>
            </a:lvl1pPr>
          </a:lstStyle>
          <a:p>
            <a:r>
              <a:rPr lang="en-US"/>
              <a:t>Click to edit Master title style</a:t>
            </a:r>
            <a:endParaRPr lang="en-US" dirty="0"/>
          </a:p>
        </p:txBody>
      </p:sp>
      <p:sp>
        <p:nvSpPr>
          <p:cNvPr id="3" name="Content Placeholder 2"/>
          <p:cNvSpPr>
            <a:spLocks noGrp="1"/>
          </p:cNvSpPr>
          <p:nvPr>
            <p:ph idx="1"/>
          </p:nvPr>
        </p:nvSpPr>
        <p:spPr>
          <a:xfrm>
            <a:off x="6756401" y="1028700"/>
            <a:ext cx="9118599" cy="8229600"/>
          </a:xfrm>
        </p:spPr>
        <p:txBody>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61872" y="3149602"/>
            <a:ext cx="4800600" cy="5715002"/>
          </a:xfrm>
        </p:spPr>
        <p:txBody>
          <a:bodyPr>
            <a:normAutofit/>
          </a:bodyPr>
          <a:lstStyle>
            <a:lvl1pPr marL="0" indent="0">
              <a:lnSpc>
                <a:spcPct val="114000"/>
              </a:lnSpc>
              <a:spcBef>
                <a:spcPts val="1200"/>
              </a:spcBef>
              <a:buNone/>
              <a:defRPr sz="195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599507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7658100"/>
            <a:ext cx="16939260" cy="26289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371600" y="7886700"/>
            <a:ext cx="14973300" cy="1371600"/>
          </a:xfrm>
        </p:spPr>
        <p:txBody>
          <a:bodyPr anchor="b">
            <a:normAutofit/>
          </a:bodyPr>
          <a:lstStyle>
            <a:lvl1pPr>
              <a:defRPr sz="42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6939260" cy="7693385"/>
          </a:xfrm>
          <a:solidFill>
            <a:schemeClr val="accent1"/>
          </a:solidFill>
        </p:spPr>
        <p:txBody>
          <a:bodyPr anchor="t"/>
          <a:lstStyle>
            <a:lvl1pPr marL="0" indent="0">
              <a:buNone/>
              <a:defRPr sz="4800">
                <a:solidFill>
                  <a:schemeClr val="bg1"/>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371600" y="9162884"/>
            <a:ext cx="14973300" cy="895517"/>
          </a:xfrm>
        </p:spPr>
        <p:txBody>
          <a:bodyPr>
            <a:normAutofit/>
          </a:bodyPr>
          <a:lstStyle>
            <a:lvl1pPr marL="0" indent="0">
              <a:lnSpc>
                <a:spcPct val="100000"/>
              </a:lnSpc>
              <a:spcBef>
                <a:spcPts val="1200"/>
              </a:spcBef>
              <a:buNone/>
              <a:defRPr sz="1950">
                <a:solidFill>
                  <a:schemeClr val="bg1">
                    <a:lumMod val="85000"/>
                  </a:schemeClr>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311933975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1663090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973050" y="571500"/>
            <a:ext cx="3714750" cy="8846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571500"/>
            <a:ext cx="11601450" cy="8846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3719713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6939260" y="0"/>
            <a:ext cx="1371600" cy="10287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892808" y="548640"/>
            <a:ext cx="14538960" cy="198834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892808" y="2743201"/>
            <a:ext cx="12893040" cy="65270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6196314" y="1497806"/>
            <a:ext cx="2857499" cy="547688"/>
          </a:xfrm>
          <a:prstGeom prst="rect">
            <a:avLst/>
          </a:prstGeom>
        </p:spPr>
        <p:txBody>
          <a:bodyPr vert="horz" lIns="91440" tIns="45720" rIns="91440" bIns="45720" rtlCol="0" anchor="ctr"/>
          <a:lstStyle>
            <a:lvl1pPr algn="r">
              <a:defRPr sz="1575" b="0">
                <a:solidFill>
                  <a:schemeClr val="tx2">
                    <a:lumMod val="20000"/>
                    <a:lumOff val="80000"/>
                  </a:schemeClr>
                </a:solidFill>
              </a:defRPr>
            </a:lvl1pPr>
          </a:lstStyle>
          <a:p>
            <a:endParaRPr lang="en-US"/>
          </a:p>
        </p:txBody>
      </p:sp>
      <p:sp>
        <p:nvSpPr>
          <p:cNvPr id="5" name="Footer Placeholder 4"/>
          <p:cNvSpPr>
            <a:spLocks noGrp="1"/>
          </p:cNvSpPr>
          <p:nvPr>
            <p:ph type="ftr" sz="quarter" idx="3"/>
          </p:nvPr>
        </p:nvSpPr>
        <p:spPr>
          <a:xfrm rot="16200000">
            <a:off x="14939012" y="6069806"/>
            <a:ext cx="5372100" cy="547688"/>
          </a:xfrm>
          <a:prstGeom prst="rect">
            <a:avLst/>
          </a:prstGeom>
        </p:spPr>
        <p:txBody>
          <a:bodyPr vert="horz" lIns="91440" tIns="45720" rIns="91440" bIns="45720" rtlCol="0" anchor="ctr"/>
          <a:lstStyle>
            <a:lvl1pPr algn="l">
              <a:defRPr sz="1575">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6939260" y="9258301"/>
            <a:ext cx="1371600" cy="890588"/>
          </a:xfrm>
          <a:prstGeom prst="rect">
            <a:avLst/>
          </a:prstGeom>
        </p:spPr>
        <p:txBody>
          <a:bodyPr vert="horz" lIns="45720" tIns="45720" rIns="45720" bIns="45720" rtlCol="0" anchor="ctr">
            <a:normAutofit/>
          </a:bodyPr>
          <a:lstStyle>
            <a:lvl1pPr algn="ctr">
              <a:defRPr sz="5400">
                <a:solidFill>
                  <a:schemeClr val="tx2">
                    <a:lumMod val="60000"/>
                    <a:lumOff val="40000"/>
                  </a:schemeClr>
                </a:solidFill>
              </a:defRPr>
            </a:lvl1p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19986082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1371600" rtl="0" eaLnBrk="1" latinLnBrk="0" hangingPunct="1">
        <a:lnSpc>
          <a:spcPct val="90000"/>
        </a:lnSpc>
        <a:spcBef>
          <a:spcPct val="0"/>
        </a:spcBef>
        <a:buNone/>
        <a:defRPr sz="6600" kern="1200" spc="-75" baseline="0">
          <a:solidFill>
            <a:schemeClr val="tx1"/>
          </a:solidFill>
          <a:latin typeface="+mj-lt"/>
          <a:ea typeface="+mj-ea"/>
          <a:cs typeface="+mj-cs"/>
        </a:defRPr>
      </a:lvl1pPr>
    </p:titleStyle>
    <p:bodyStyle>
      <a:lvl1pPr marL="274320" indent="-274320" algn="l" defTabSz="1371600" rtl="0" eaLnBrk="1" latinLnBrk="0" hangingPunct="1">
        <a:lnSpc>
          <a:spcPct val="95000"/>
        </a:lnSpc>
        <a:spcBef>
          <a:spcPts val="2100"/>
        </a:spcBef>
        <a:spcAft>
          <a:spcPts val="300"/>
        </a:spcAft>
        <a:buClr>
          <a:schemeClr val="accent1"/>
        </a:buClr>
        <a:buSzPct val="80000"/>
        <a:buFont typeface="Arial" pitchFamily="34" charset="0"/>
        <a:buChar char="•"/>
        <a:defRPr sz="2700" kern="1200" spc="15" baseline="0">
          <a:solidFill>
            <a:schemeClr val="tx1"/>
          </a:solidFill>
          <a:latin typeface="+mn-lt"/>
          <a:ea typeface="+mn-ea"/>
          <a:cs typeface="+mn-cs"/>
        </a:defRPr>
      </a:lvl1pPr>
      <a:lvl2pPr marL="68580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400" kern="1200">
          <a:solidFill>
            <a:schemeClr val="tx1">
              <a:lumMod val="85000"/>
              <a:lumOff val="15000"/>
            </a:schemeClr>
          </a:solidFill>
          <a:latin typeface="+mn-lt"/>
          <a:ea typeface="+mn-ea"/>
          <a:cs typeface="+mn-cs"/>
        </a:defRPr>
      </a:lvl2pPr>
      <a:lvl3pPr marL="109728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3pPr>
      <a:lvl4pPr marL="150876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4pPr>
      <a:lvl5pPr marL="192024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5pPr>
      <a:lvl6pPr marL="240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6pPr>
      <a:lvl7pPr marL="285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7pPr>
      <a:lvl8pPr marL="330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8pPr>
      <a:lvl9pPr marL="375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hyperlink" Target="https://www.linkedin.com/in/pedroaovieira/overlay/about-this-profile/"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2.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jp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hyperlink" Target="https://www.bleepingcomputer.com/news/security/russian-alcohol-retailer-winelab-closes-stores-after-ransomware-attack/" TargetMode="External"/><Relationship Id="rId3" Type="http://schemas.openxmlformats.org/officeDocument/2006/relationships/image" Target="../media/image1.jpg"/><Relationship Id="rId7" Type="http://schemas.openxmlformats.org/officeDocument/2006/relationships/hyperlink" Target="https://www.nbcnews.com/tech/security/illinois-hospital-links-closure-ransomware-attack-rcna85983"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hyperlink" Target="https://www.bitdefender.com/en-us/blog/hotforsecurity/us-college-set-to-permanently-close-after-157-years-following-ransomware-attack" TargetMode="External"/><Relationship Id="rId5" Type="http://schemas.openxmlformats.org/officeDocument/2006/relationships/hyperlink" Target="https://www.bbc.com/news/articles/cx2gx28815wo" TargetMode="External"/><Relationship Id="rId10" Type="http://schemas.openxmlformats.org/officeDocument/2006/relationships/hyperlink" Target="https://www.thetimes.co.uk/article/m-and-s-could-take-months-to-recover-from-cyberattack-claims-insider-dph8g5mcd" TargetMode="External"/><Relationship Id="rId4" Type="http://schemas.openxmlformats.org/officeDocument/2006/relationships/image" Target="../media/image2.png"/><Relationship Id="rId9" Type="http://schemas.openxmlformats.org/officeDocument/2006/relationships/hyperlink" Target="https://www.theguardian.com/business/2025/sep/05/jaguar-land-rover-staff-stay-home-cyberattack"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hyperlink" Target="https://www.ransomware.live/map/pt" TargetMode="Externa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hyperlink" Target="https://exposure.shodan.io/#/PT" TargetMode="Externa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27.jpg"/><Relationship Id="rId3" Type="http://schemas.openxmlformats.org/officeDocument/2006/relationships/image" Target="../media/image1.jpg"/><Relationship Id="rId7" Type="http://schemas.openxmlformats.org/officeDocument/2006/relationships/hyperlink" Target="https://www.shodan.io/host/109.220.78.55"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hyperlink" Target="https://images.shodan.io/?query=screenshot.label%3Awebcam+country%3Apt" TargetMode="External"/><Relationship Id="rId10" Type="http://schemas.openxmlformats.org/officeDocument/2006/relationships/image" Target="../media/image28.jpg"/><Relationship Id="rId4" Type="http://schemas.openxmlformats.org/officeDocument/2006/relationships/image" Target="../media/image2.png"/><Relationship Id="rId9" Type="http://schemas.openxmlformats.org/officeDocument/2006/relationships/hyperlink" Target="https://images.shodan.io/?query=winrest"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30.jpg"/><Relationship Id="rId3" Type="http://schemas.openxmlformats.org/officeDocument/2006/relationships/image" Target="../media/image1.jpg"/><Relationship Id="rId7" Type="http://schemas.openxmlformats.org/officeDocument/2006/relationships/hyperlink" Target="https://www.shodan.io/host/78.92.33.237"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9.jpg"/><Relationship Id="rId5" Type="http://schemas.openxmlformats.org/officeDocument/2006/relationships/hyperlink" Target="https://images.shodan.io/?query=screenshot.label%3Awindows+ransomware" TargetMode="External"/><Relationship Id="rId10" Type="http://schemas.openxmlformats.org/officeDocument/2006/relationships/image" Target="../media/image31.jpg"/><Relationship Id="rId4" Type="http://schemas.openxmlformats.org/officeDocument/2006/relationships/image" Target="../media/image2.png"/><Relationship Id="rId9" Type="http://schemas.openxmlformats.org/officeDocument/2006/relationships/hyperlink" Target="https://www.shodan.io/host/178.166.77.10"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jpg"/><Relationship Id="rId7" Type="http://schemas.openxmlformats.org/officeDocument/2006/relationships/hyperlink" Target="https://www.youtube.com/watch?v=rAMKgrzO9KQ"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9.jpg"/><Relationship Id="rId5" Type="http://schemas.openxmlformats.org/officeDocument/2006/relationships/hyperlink" Target="https://www.shodan.io/host/201.218.234.200" TargetMode="Externa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33.jpg"/><Relationship Id="rId5" Type="http://schemas.openxmlformats.org/officeDocument/2006/relationships/hyperlink" Target="https://www.shodan.io/host/109.50.174.250" TargetMode="Externa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jpg"/><Relationship Id="rId7"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hyperlink" Target="https://www.shodan.io/search?query=contabilidade+port%3A445+country%3Apt" TargetMode="External"/><Relationship Id="rId5" Type="http://schemas.openxmlformats.org/officeDocument/2006/relationships/image" Target="../media/image35.png"/><Relationship Id="rId4" Type="http://schemas.openxmlformats.org/officeDocument/2006/relationships/image" Target="../media/image2.png"/><Relationship Id="rId9" Type="http://schemas.openxmlformats.org/officeDocument/2006/relationships/image" Target="../media/image38.png"/></Relationships>
</file>

<file path=ppt/slides/_rels/slide24.xml.rels><?xml version="1.0" encoding="UTF-8" standalone="yes"?>
<Relationships xmlns="http://schemas.openxmlformats.org/package/2006/relationships"><Relationship Id="rId8" Type="http://schemas.openxmlformats.org/officeDocument/2006/relationships/image" Target="../media/image40.jpg"/><Relationship Id="rId13" Type="http://schemas.openxmlformats.org/officeDocument/2006/relationships/hyperlink" Target="https://www.shodan.io/host/87.103.32.156" TargetMode="External"/><Relationship Id="rId3" Type="http://schemas.openxmlformats.org/officeDocument/2006/relationships/image" Target="../media/image1.jpg"/><Relationship Id="rId7" Type="http://schemas.openxmlformats.org/officeDocument/2006/relationships/hyperlink" Target="https://www.shodan.io/host/96.46.120.181" TargetMode="External"/><Relationship Id="rId12" Type="http://schemas.openxmlformats.org/officeDocument/2006/relationships/image" Target="../media/image42.jp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39.jpg"/><Relationship Id="rId11" Type="http://schemas.openxmlformats.org/officeDocument/2006/relationships/hyperlink" Target="https://www.shodan.io/host/24.216.241.194" TargetMode="External"/><Relationship Id="rId5" Type="http://schemas.openxmlformats.org/officeDocument/2006/relationships/hyperlink" Target="https://www.shodan.io/host/177.67.72.118" TargetMode="External"/><Relationship Id="rId10" Type="http://schemas.openxmlformats.org/officeDocument/2006/relationships/image" Target="../media/image41.jpg"/><Relationship Id="rId4" Type="http://schemas.openxmlformats.org/officeDocument/2006/relationships/image" Target="../media/image2.png"/><Relationship Id="rId9" Type="http://schemas.openxmlformats.org/officeDocument/2006/relationships/hyperlink" Target="https://www.shodan.io/host/99.164.136.249" TargetMode="External"/><Relationship Id="rId14" Type="http://schemas.openxmlformats.org/officeDocument/2006/relationships/image" Target="../media/image43.jp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hyperlink" Target="https://www.shodan.io/explore/category/industrial-control-systems" TargetMode="Externa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jpg"/><Relationship Id="rId7"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hyperlink" Target="https://www.shodan.io/search?query=port%253A502+country%253Apt" TargetMode="External"/><Relationship Id="rId10" Type="http://schemas.openxmlformats.org/officeDocument/2006/relationships/image" Target="../media/image49.png"/><Relationship Id="rId4" Type="http://schemas.openxmlformats.org/officeDocument/2006/relationships/image" Target="../media/image2.png"/><Relationship Id="rId9" Type="http://schemas.openxmlformats.org/officeDocument/2006/relationships/image" Target="../media/image48.png"/></Relationships>
</file>

<file path=ppt/slides/_rels/slide2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jpg"/><Relationship Id="rId7"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hyperlink" Target="https://www.shodan.io/host/93.102.241.68" TargetMode="External"/><Relationship Id="rId11" Type="http://schemas.openxmlformats.org/officeDocument/2006/relationships/image" Target="../media/image55.png"/><Relationship Id="rId5" Type="http://schemas.openxmlformats.org/officeDocument/2006/relationships/image" Target="../media/image50.png"/><Relationship Id="rId10" Type="http://schemas.openxmlformats.org/officeDocument/2006/relationships/image" Target="../media/image54.png"/><Relationship Id="rId4" Type="http://schemas.openxmlformats.org/officeDocument/2006/relationships/image" Target="../media/image2.png"/><Relationship Id="rId9" Type="http://schemas.openxmlformats.org/officeDocument/2006/relationships/image" Target="../media/image53.pn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90" name="Google Shape;90;p1"/>
          <p:cNvSpPr/>
          <p:nvPr/>
        </p:nvSpPr>
        <p:spPr>
          <a:xfrm>
            <a:off x="-1676400" y="509921"/>
            <a:ext cx="4572000"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91" name="Google Shape;91;p1"/>
          <p:cNvSpPr txBox="1"/>
          <p:nvPr/>
        </p:nvSpPr>
        <p:spPr>
          <a:xfrm>
            <a:off x="2286000" y="2772938"/>
            <a:ext cx="13716000" cy="4919424"/>
          </a:xfrm>
          <a:prstGeom prst="rect">
            <a:avLst/>
          </a:prstGeom>
          <a:noFill/>
          <a:ln>
            <a:noFill/>
          </a:ln>
        </p:spPr>
        <p:txBody>
          <a:bodyPr spcFirstLastPara="1" wrap="square" lIns="0" tIns="0" rIns="0" bIns="0" anchor="t" anchorCtr="0">
            <a:spAutoFit/>
          </a:bodyPr>
          <a:lstStyle/>
          <a:p>
            <a:pPr marL="0" marR="0" lvl="0" indent="0" algn="ctr" rtl="0">
              <a:lnSpc>
                <a:spcPct val="111001"/>
              </a:lnSpc>
              <a:spcBef>
                <a:spcPts val="0"/>
              </a:spcBef>
              <a:spcAft>
                <a:spcPts val="0"/>
              </a:spcAft>
              <a:buClr>
                <a:srgbClr val="000000"/>
              </a:buClr>
              <a:buSzPts val="10099"/>
              <a:buFont typeface="Arial"/>
              <a:buNone/>
            </a:pPr>
            <a:r>
              <a:rPr lang="pt-PT" sz="9600" b="1" i="0" u="none" strike="noStrike" cap="none" noProof="0" dirty="0">
                <a:solidFill>
                  <a:srgbClr val="000000"/>
                </a:solidFill>
                <a:latin typeface="Raleway Black"/>
                <a:ea typeface="Raleway Black"/>
                <a:cs typeface="Raleway Black"/>
                <a:sym typeface="Raleway Black"/>
              </a:rPr>
              <a:t>Cibersegurança em Tecnologia Operacional (OT)</a:t>
            </a:r>
          </a:p>
        </p:txBody>
      </p:sp>
      <p:cxnSp>
        <p:nvCxnSpPr>
          <p:cNvPr id="92" name="Google Shape;92;p1"/>
          <p:cNvCxnSpPr/>
          <p:nvPr/>
        </p:nvCxnSpPr>
        <p:spPr>
          <a:xfrm>
            <a:off x="7389415" y="9267825"/>
            <a:ext cx="3509171" cy="0"/>
          </a:xfrm>
          <a:prstGeom prst="straightConnector1">
            <a:avLst/>
          </a:prstGeom>
          <a:noFill/>
          <a:ln w="19050" cap="flat" cmpd="sng">
            <a:solidFill>
              <a:srgbClr val="000000"/>
            </a:solidFill>
            <a:prstDash val="solid"/>
            <a:round/>
            <a:headEnd type="none" w="sm" len="sm"/>
            <a:tailEnd type="none" w="sm" len="sm"/>
          </a:ln>
        </p:spPr>
      </p:cxnSp>
      <p:sp>
        <p:nvSpPr>
          <p:cNvPr id="93" name="Google Shape;93;p1"/>
          <p:cNvSpPr txBox="1"/>
          <p:nvPr/>
        </p:nvSpPr>
        <p:spPr>
          <a:xfrm>
            <a:off x="6959518" y="8711536"/>
            <a:ext cx="4368964" cy="480131"/>
          </a:xfrm>
          <a:prstGeom prst="rect">
            <a:avLst/>
          </a:prstGeom>
          <a:noFill/>
          <a:ln>
            <a:noFill/>
          </a:ln>
        </p:spPr>
        <p:txBody>
          <a:bodyPr spcFirstLastPara="1" wrap="square" lIns="0" tIns="0" rIns="0" bIns="0" anchor="t" anchorCtr="0">
            <a:spAutoFit/>
          </a:bodyPr>
          <a:lstStyle/>
          <a:p>
            <a:pPr marL="0" marR="0" lvl="0" indent="0" algn="ctr" rtl="0">
              <a:lnSpc>
                <a:spcPct val="129791"/>
              </a:lnSpc>
              <a:spcBef>
                <a:spcPts val="0"/>
              </a:spcBef>
              <a:spcAft>
                <a:spcPts val="0"/>
              </a:spcAft>
              <a:buClr>
                <a:srgbClr val="000000"/>
              </a:buClr>
              <a:buSzPts val="2400"/>
              <a:buFont typeface="Arial"/>
              <a:buNone/>
            </a:pPr>
            <a:r>
              <a:rPr lang="pt-PT" sz="2400" b="1" i="0" u="none" strike="noStrike" cap="none" noProof="0" dirty="0">
                <a:solidFill>
                  <a:srgbClr val="000000"/>
                </a:solidFill>
                <a:latin typeface="Raleway SemiBold"/>
                <a:ea typeface="Raleway SemiBold"/>
                <a:cs typeface="Raleway SemiBold"/>
                <a:sym typeface="Raleway SemiBold"/>
              </a:rPr>
              <a:t>Aveiro - 23 outubro 2025</a:t>
            </a:r>
            <a:endParaRPr lang="pt-PT" sz="1400" b="0" i="0" u="none" strike="noStrike" cap="none" noProof="0"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063DDB6B-5046-79FD-A945-4DF8C9EEBAC8}"/>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F2446270-68D2-2EDC-A4D2-8005CD28DB59}"/>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B4879C4C-E6F4-8AE6-B302-578AE976A2AE}"/>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B2A70208-C88B-998A-ADAB-2C087666FF07}"/>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2" name="Google Shape;142;p3">
            <a:extLst>
              <a:ext uri="{FF2B5EF4-FFF2-40B4-BE49-F238E27FC236}">
                <a16:creationId xmlns:a16="http://schemas.microsoft.com/office/drawing/2014/main" id="{245239ED-1D7B-FB6E-FA66-8B9C7CCE7E74}"/>
              </a:ext>
            </a:extLst>
          </p:cNvPr>
          <p:cNvSpPr txBox="1"/>
          <p:nvPr/>
        </p:nvSpPr>
        <p:spPr>
          <a:xfrm>
            <a:off x="2747139" y="1058170"/>
            <a:ext cx="13272713" cy="1246495"/>
          </a:xfrm>
          <a:prstGeom prst="rect">
            <a:avLst/>
          </a:prstGeom>
          <a:noFill/>
          <a:ln>
            <a:noFill/>
          </a:ln>
        </p:spPr>
        <p:txBody>
          <a:bodyPr spcFirstLastPara="1" wrap="square" lIns="0" tIns="0" rIns="0" bIns="0" anchor="t" anchorCtr="0">
            <a:spAutoFit/>
          </a:bodyPr>
          <a:lstStyle/>
          <a:p>
            <a:pPr lvl="0">
              <a:lnSpc>
                <a:spcPct val="150000"/>
              </a:lnSpc>
              <a:buSzPts val="7500"/>
            </a:pPr>
            <a:r>
              <a:rPr lang="pt-PT" sz="5400" b="1" noProof="0" dirty="0">
                <a:latin typeface="Raleway Black"/>
                <a:ea typeface="Raleway Black"/>
                <a:cs typeface="Raleway Black"/>
                <a:sym typeface="Raleway Black"/>
              </a:rPr>
              <a:t>Aviso Legal &amp; Considerações Jurídicas</a:t>
            </a:r>
            <a:endParaRPr lang="pt-PT" sz="1000" b="0" i="0" u="none" strike="noStrike" cap="none" noProof="0" dirty="0">
              <a:solidFill>
                <a:srgbClr val="000000"/>
              </a:solidFill>
              <a:latin typeface="Arial"/>
              <a:ea typeface="Arial"/>
              <a:cs typeface="Arial"/>
              <a:sym typeface="Arial"/>
            </a:endParaRPr>
          </a:p>
        </p:txBody>
      </p:sp>
      <p:sp>
        <p:nvSpPr>
          <p:cNvPr id="144" name="Google Shape;144;p3">
            <a:extLst>
              <a:ext uri="{FF2B5EF4-FFF2-40B4-BE49-F238E27FC236}">
                <a16:creationId xmlns:a16="http://schemas.microsoft.com/office/drawing/2014/main" id="{7A89D7E6-3D55-B65C-0498-1FEF794085F5}"/>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dirty="0">
                <a:solidFill>
                  <a:srgbClr val="7F7F7F"/>
                </a:solidFill>
                <a:latin typeface="Raleway"/>
                <a:ea typeface="Arial"/>
                <a:cs typeface="Arial"/>
                <a:sym typeface="Raleway"/>
              </a:rPr>
              <a:t> </a:t>
            </a:r>
            <a:endParaRPr lang="pt-PT" sz="1400" b="0" i="0" u="none" strike="noStrike" cap="none" noProof="0" dirty="0">
              <a:solidFill>
                <a:srgbClr val="000000"/>
              </a:solidFill>
              <a:latin typeface="Arial"/>
              <a:ea typeface="Arial"/>
              <a:cs typeface="Arial"/>
              <a:sym typeface="Arial"/>
            </a:endParaRPr>
          </a:p>
        </p:txBody>
      </p:sp>
      <p:sp>
        <p:nvSpPr>
          <p:cNvPr id="16" name="Freeform: Shape 15">
            <a:extLst>
              <a:ext uri="{FF2B5EF4-FFF2-40B4-BE49-F238E27FC236}">
                <a16:creationId xmlns:a16="http://schemas.microsoft.com/office/drawing/2014/main" id="{78FD7850-3E0D-EA0D-1DE5-A38DF052A3F6}"/>
              </a:ext>
            </a:extLst>
          </p:cNvPr>
          <p:cNvSpPr/>
          <p:nvPr/>
        </p:nvSpPr>
        <p:spPr>
          <a:xfrm>
            <a:off x="2743200" y="3057359"/>
            <a:ext cx="10515600" cy="1117545"/>
          </a:xfrm>
          <a:custGeom>
            <a:avLst/>
            <a:gdLst>
              <a:gd name="connsiteX0" fmla="*/ 0 w 10515600"/>
              <a:gd name="connsiteY0" fmla="*/ 111755 h 1117545"/>
              <a:gd name="connsiteX1" fmla="*/ 111755 w 10515600"/>
              <a:gd name="connsiteY1" fmla="*/ 0 h 1117545"/>
              <a:gd name="connsiteX2" fmla="*/ 10403846 w 10515600"/>
              <a:gd name="connsiteY2" fmla="*/ 0 h 1117545"/>
              <a:gd name="connsiteX3" fmla="*/ 10515601 w 10515600"/>
              <a:gd name="connsiteY3" fmla="*/ 111755 h 1117545"/>
              <a:gd name="connsiteX4" fmla="*/ 10515600 w 10515600"/>
              <a:gd name="connsiteY4" fmla="*/ 1005791 h 1117545"/>
              <a:gd name="connsiteX5" fmla="*/ 10403845 w 10515600"/>
              <a:gd name="connsiteY5" fmla="*/ 1117546 h 1117545"/>
              <a:gd name="connsiteX6" fmla="*/ 111755 w 10515600"/>
              <a:gd name="connsiteY6" fmla="*/ 1117545 h 1117545"/>
              <a:gd name="connsiteX7" fmla="*/ 0 w 10515600"/>
              <a:gd name="connsiteY7" fmla="*/ 1005790 h 1117545"/>
              <a:gd name="connsiteX8" fmla="*/ 0 w 10515600"/>
              <a:gd name="connsiteY8" fmla="*/ 111755 h 111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5600" h="1117545">
                <a:moveTo>
                  <a:pt x="0" y="111755"/>
                </a:moveTo>
                <a:cubicBezTo>
                  <a:pt x="0" y="50034"/>
                  <a:pt x="50034" y="0"/>
                  <a:pt x="111755" y="0"/>
                </a:cubicBezTo>
                <a:lnTo>
                  <a:pt x="10403846" y="0"/>
                </a:lnTo>
                <a:cubicBezTo>
                  <a:pt x="10465567" y="0"/>
                  <a:pt x="10515601" y="50034"/>
                  <a:pt x="10515601" y="111755"/>
                </a:cubicBezTo>
                <a:cubicBezTo>
                  <a:pt x="10515601" y="409767"/>
                  <a:pt x="10515600" y="707779"/>
                  <a:pt x="10515600" y="1005791"/>
                </a:cubicBezTo>
                <a:cubicBezTo>
                  <a:pt x="10515600" y="1067512"/>
                  <a:pt x="10465566" y="1117546"/>
                  <a:pt x="10403845" y="1117546"/>
                </a:cubicBezTo>
                <a:lnTo>
                  <a:pt x="111755" y="1117545"/>
                </a:lnTo>
                <a:cubicBezTo>
                  <a:pt x="50034" y="1117545"/>
                  <a:pt x="0" y="1067511"/>
                  <a:pt x="0" y="1005790"/>
                </a:cubicBezTo>
                <a:lnTo>
                  <a:pt x="0" y="111755"/>
                </a:lnTo>
                <a:close/>
              </a:path>
            </a:pathLst>
          </a:custGeom>
          <a:solidFill>
            <a:schemeClr val="accent1">
              <a:lumMod val="20000"/>
              <a:lumOff val="80000"/>
              <a:alpha val="3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spcFirstLastPara="0" vert="horz" wrap="square" lIns="1645920" tIns="95250" rIns="95251" bIns="95250" numCol="1" spcCol="1270" rtlCol="0" anchor="ctr" anchorCtr="0">
            <a:noAutofit/>
          </a:bodyPr>
          <a:lstStyle/>
          <a:p>
            <a:pPr marL="0" marR="0" lvl="4" indent="0" algn="l" defTabSz="1111250" rtl="0">
              <a:lnSpc>
                <a:spcPct val="100000"/>
              </a:lnSpc>
              <a:spcBef>
                <a:spcPts val="0"/>
              </a:spcBef>
              <a:spcAft>
                <a:spcPts val="0"/>
              </a:spcAft>
              <a:buClr>
                <a:srgbClr val="000000"/>
              </a:buClr>
              <a:buFont typeface="Arial"/>
              <a:buNone/>
            </a:pPr>
            <a:r>
              <a:rPr lang="pt-PT" sz="2400" b="0" i="0" u="none" strike="noStrike" kern="1200" cap="none" noProof="0" dirty="0">
                <a:solidFill>
                  <a:schemeClr val="tx1"/>
                </a:solidFill>
                <a:latin typeface="+mn-lt"/>
                <a:ea typeface="+mn-ea"/>
                <a:cs typeface="+mn-cs"/>
                <a:sym typeface="Arial"/>
              </a:rPr>
              <a:t>A apresentação destina-se unicamente a fins educativos e de sensibilização</a:t>
            </a:r>
            <a:r>
              <a:rPr lang="pt-PT" sz="2500" b="0" i="0" u="none" strike="noStrike" kern="1200" cap="none" noProof="0" dirty="0">
                <a:solidFill>
                  <a:schemeClr val="tx1"/>
                </a:solidFill>
                <a:latin typeface="+mn-lt"/>
                <a:ea typeface="+mn-ea"/>
                <a:cs typeface="+mn-cs"/>
                <a:sym typeface="Arial"/>
              </a:rPr>
              <a:t>.</a:t>
            </a:r>
          </a:p>
        </p:txBody>
      </p:sp>
      <p:sp>
        <p:nvSpPr>
          <p:cNvPr id="17" name="Rectangle: Rounded Corners 16">
            <a:extLst>
              <a:ext uri="{FF2B5EF4-FFF2-40B4-BE49-F238E27FC236}">
                <a16:creationId xmlns:a16="http://schemas.microsoft.com/office/drawing/2014/main" id="{29606C49-879F-9C9F-7060-21448C9D2554}"/>
              </a:ext>
            </a:extLst>
          </p:cNvPr>
          <p:cNvSpPr/>
          <p:nvPr/>
        </p:nvSpPr>
        <p:spPr>
          <a:xfrm>
            <a:off x="3100781" y="3170284"/>
            <a:ext cx="920851" cy="914402"/>
          </a:xfrm>
          <a:prstGeom prst="roundRect">
            <a:avLst>
              <a:gd name="adj" fmla="val 10000"/>
            </a:avLst>
          </a:prstGeom>
          <a:blipFill>
            <a:blip r:embed="rId5"/>
            <a:stretch>
              <a:fillRect l="11651" t="-11366" r="11651" b="-11366"/>
            </a:stretch>
          </a:blipFill>
          <a:ln>
            <a:noFill/>
          </a:ln>
        </p:spPr>
        <p:style>
          <a:lnRef idx="2">
            <a:scrgbClr r="0" g="0" b="0"/>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pt-PT" noProof="0" dirty="0"/>
          </a:p>
        </p:txBody>
      </p:sp>
      <p:sp>
        <p:nvSpPr>
          <p:cNvPr id="18" name="Freeform: Shape 17">
            <a:extLst>
              <a:ext uri="{FF2B5EF4-FFF2-40B4-BE49-F238E27FC236}">
                <a16:creationId xmlns:a16="http://schemas.microsoft.com/office/drawing/2014/main" id="{C489E294-90F9-F675-2422-3A274338C5E8}"/>
              </a:ext>
            </a:extLst>
          </p:cNvPr>
          <p:cNvSpPr/>
          <p:nvPr/>
        </p:nvSpPr>
        <p:spPr>
          <a:xfrm>
            <a:off x="2743200" y="4458109"/>
            <a:ext cx="10515600" cy="1117545"/>
          </a:xfrm>
          <a:custGeom>
            <a:avLst/>
            <a:gdLst>
              <a:gd name="connsiteX0" fmla="*/ 0 w 10515600"/>
              <a:gd name="connsiteY0" fmla="*/ 111755 h 1117545"/>
              <a:gd name="connsiteX1" fmla="*/ 111755 w 10515600"/>
              <a:gd name="connsiteY1" fmla="*/ 0 h 1117545"/>
              <a:gd name="connsiteX2" fmla="*/ 10403846 w 10515600"/>
              <a:gd name="connsiteY2" fmla="*/ 0 h 1117545"/>
              <a:gd name="connsiteX3" fmla="*/ 10515601 w 10515600"/>
              <a:gd name="connsiteY3" fmla="*/ 111755 h 1117545"/>
              <a:gd name="connsiteX4" fmla="*/ 10515600 w 10515600"/>
              <a:gd name="connsiteY4" fmla="*/ 1005791 h 1117545"/>
              <a:gd name="connsiteX5" fmla="*/ 10403845 w 10515600"/>
              <a:gd name="connsiteY5" fmla="*/ 1117546 h 1117545"/>
              <a:gd name="connsiteX6" fmla="*/ 111755 w 10515600"/>
              <a:gd name="connsiteY6" fmla="*/ 1117545 h 1117545"/>
              <a:gd name="connsiteX7" fmla="*/ 0 w 10515600"/>
              <a:gd name="connsiteY7" fmla="*/ 1005790 h 1117545"/>
              <a:gd name="connsiteX8" fmla="*/ 0 w 10515600"/>
              <a:gd name="connsiteY8" fmla="*/ 111755 h 111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5600" h="1117545">
                <a:moveTo>
                  <a:pt x="0" y="111755"/>
                </a:moveTo>
                <a:cubicBezTo>
                  <a:pt x="0" y="50034"/>
                  <a:pt x="50034" y="0"/>
                  <a:pt x="111755" y="0"/>
                </a:cubicBezTo>
                <a:lnTo>
                  <a:pt x="10403846" y="0"/>
                </a:lnTo>
                <a:cubicBezTo>
                  <a:pt x="10465567" y="0"/>
                  <a:pt x="10515601" y="50034"/>
                  <a:pt x="10515601" y="111755"/>
                </a:cubicBezTo>
                <a:cubicBezTo>
                  <a:pt x="10515601" y="409767"/>
                  <a:pt x="10515600" y="707779"/>
                  <a:pt x="10515600" y="1005791"/>
                </a:cubicBezTo>
                <a:cubicBezTo>
                  <a:pt x="10515600" y="1067512"/>
                  <a:pt x="10465566" y="1117546"/>
                  <a:pt x="10403845" y="1117546"/>
                </a:cubicBezTo>
                <a:lnTo>
                  <a:pt x="111755" y="1117545"/>
                </a:lnTo>
                <a:cubicBezTo>
                  <a:pt x="50034" y="1117545"/>
                  <a:pt x="0" y="1067511"/>
                  <a:pt x="0" y="1005790"/>
                </a:cubicBezTo>
                <a:lnTo>
                  <a:pt x="0" y="111755"/>
                </a:lnTo>
                <a:close/>
              </a:path>
            </a:pathLst>
          </a:custGeom>
          <a:solidFill>
            <a:schemeClr val="accent1">
              <a:lumMod val="20000"/>
              <a:lumOff val="80000"/>
              <a:alpha val="3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spcFirstLastPara="0" vert="horz" wrap="square" lIns="1645920" tIns="95250" rIns="95251" bIns="95250" numCol="1" spcCol="1270" rtlCol="0" anchor="ctr" anchorCtr="0">
            <a:noAutofit/>
          </a:bodyPr>
          <a:lstStyle/>
          <a:p>
            <a:pPr defTabSz="1111250"/>
            <a:r>
              <a:rPr lang="pt-PT" sz="2400" kern="1200" noProof="0" dirty="0">
                <a:solidFill>
                  <a:schemeClr val="tx1"/>
                </a:solidFill>
              </a:rPr>
              <a:t>O conteúdo em direto pode ser imprevisível e potencialmente inadequado para alguns espectadores.</a:t>
            </a:r>
          </a:p>
        </p:txBody>
      </p:sp>
      <p:sp>
        <p:nvSpPr>
          <p:cNvPr id="19" name="Rectangle: Rounded Corners 18">
            <a:extLst>
              <a:ext uri="{FF2B5EF4-FFF2-40B4-BE49-F238E27FC236}">
                <a16:creationId xmlns:a16="http://schemas.microsoft.com/office/drawing/2014/main" id="{EF6491D7-E00B-D219-4663-02064CEA5BE9}"/>
              </a:ext>
            </a:extLst>
          </p:cNvPr>
          <p:cNvSpPr/>
          <p:nvPr/>
        </p:nvSpPr>
        <p:spPr>
          <a:xfrm>
            <a:off x="3100781" y="4571035"/>
            <a:ext cx="920851" cy="914402"/>
          </a:xfrm>
          <a:prstGeom prst="roundRect">
            <a:avLst>
              <a:gd name="adj" fmla="val 10000"/>
            </a:avLst>
          </a:prstGeom>
          <a:blipFill>
            <a:blip r:embed="rId6"/>
            <a:srcRect/>
            <a:stretch>
              <a:fillRect/>
            </a:stretch>
          </a:blipFill>
          <a:ln>
            <a:noFill/>
          </a:ln>
        </p:spPr>
        <p:style>
          <a:lnRef idx="2">
            <a:scrgbClr r="0" g="0" b="0"/>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pt-PT" noProof="0" dirty="0"/>
          </a:p>
        </p:txBody>
      </p:sp>
      <p:sp>
        <p:nvSpPr>
          <p:cNvPr id="20" name="Freeform: Shape 19">
            <a:extLst>
              <a:ext uri="{FF2B5EF4-FFF2-40B4-BE49-F238E27FC236}">
                <a16:creationId xmlns:a16="http://schemas.microsoft.com/office/drawing/2014/main" id="{D97E5F05-4528-F983-677A-3137BD36154A}"/>
              </a:ext>
            </a:extLst>
          </p:cNvPr>
          <p:cNvSpPr/>
          <p:nvPr/>
        </p:nvSpPr>
        <p:spPr>
          <a:xfrm>
            <a:off x="2743200" y="5858859"/>
            <a:ext cx="10515600" cy="1117545"/>
          </a:xfrm>
          <a:custGeom>
            <a:avLst/>
            <a:gdLst>
              <a:gd name="connsiteX0" fmla="*/ 0 w 10515600"/>
              <a:gd name="connsiteY0" fmla="*/ 111755 h 1117545"/>
              <a:gd name="connsiteX1" fmla="*/ 111755 w 10515600"/>
              <a:gd name="connsiteY1" fmla="*/ 0 h 1117545"/>
              <a:gd name="connsiteX2" fmla="*/ 10403846 w 10515600"/>
              <a:gd name="connsiteY2" fmla="*/ 0 h 1117545"/>
              <a:gd name="connsiteX3" fmla="*/ 10515601 w 10515600"/>
              <a:gd name="connsiteY3" fmla="*/ 111755 h 1117545"/>
              <a:gd name="connsiteX4" fmla="*/ 10515600 w 10515600"/>
              <a:gd name="connsiteY4" fmla="*/ 1005791 h 1117545"/>
              <a:gd name="connsiteX5" fmla="*/ 10403845 w 10515600"/>
              <a:gd name="connsiteY5" fmla="*/ 1117546 h 1117545"/>
              <a:gd name="connsiteX6" fmla="*/ 111755 w 10515600"/>
              <a:gd name="connsiteY6" fmla="*/ 1117545 h 1117545"/>
              <a:gd name="connsiteX7" fmla="*/ 0 w 10515600"/>
              <a:gd name="connsiteY7" fmla="*/ 1005790 h 1117545"/>
              <a:gd name="connsiteX8" fmla="*/ 0 w 10515600"/>
              <a:gd name="connsiteY8" fmla="*/ 111755 h 111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5600" h="1117545">
                <a:moveTo>
                  <a:pt x="0" y="111755"/>
                </a:moveTo>
                <a:cubicBezTo>
                  <a:pt x="0" y="50034"/>
                  <a:pt x="50034" y="0"/>
                  <a:pt x="111755" y="0"/>
                </a:cubicBezTo>
                <a:lnTo>
                  <a:pt x="10403846" y="0"/>
                </a:lnTo>
                <a:cubicBezTo>
                  <a:pt x="10465567" y="0"/>
                  <a:pt x="10515601" y="50034"/>
                  <a:pt x="10515601" y="111755"/>
                </a:cubicBezTo>
                <a:cubicBezTo>
                  <a:pt x="10515601" y="409767"/>
                  <a:pt x="10515600" y="707779"/>
                  <a:pt x="10515600" y="1005791"/>
                </a:cubicBezTo>
                <a:cubicBezTo>
                  <a:pt x="10515600" y="1067512"/>
                  <a:pt x="10465566" y="1117546"/>
                  <a:pt x="10403845" y="1117546"/>
                </a:cubicBezTo>
                <a:lnTo>
                  <a:pt x="111755" y="1117545"/>
                </a:lnTo>
                <a:cubicBezTo>
                  <a:pt x="50034" y="1117545"/>
                  <a:pt x="0" y="1067511"/>
                  <a:pt x="0" y="1005790"/>
                </a:cubicBezTo>
                <a:lnTo>
                  <a:pt x="0" y="111755"/>
                </a:lnTo>
                <a:close/>
              </a:path>
            </a:pathLst>
          </a:custGeom>
          <a:solidFill>
            <a:schemeClr val="accent1">
              <a:lumMod val="20000"/>
              <a:lumOff val="80000"/>
              <a:alpha val="3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spcFirstLastPara="0" vert="horz" wrap="square" lIns="1645920" tIns="95250" rIns="95251" bIns="95250" numCol="1" spcCol="1270" rtlCol="0" anchor="ctr" anchorCtr="0">
            <a:noAutofit/>
          </a:bodyPr>
          <a:lstStyle/>
          <a:p>
            <a:pPr defTabSz="1111250"/>
            <a:r>
              <a:rPr lang="pt-PT" sz="2400" kern="1200" noProof="0" dirty="0">
                <a:solidFill>
                  <a:schemeClr val="tx1"/>
                </a:solidFill>
              </a:rPr>
              <a:t>Os utilizadores devem verificar a legalidade, no seu país, das ferramentas e métodos apresentados.</a:t>
            </a:r>
          </a:p>
        </p:txBody>
      </p:sp>
      <p:sp>
        <p:nvSpPr>
          <p:cNvPr id="21" name="Rectangle: Rounded Corners 20">
            <a:extLst>
              <a:ext uri="{FF2B5EF4-FFF2-40B4-BE49-F238E27FC236}">
                <a16:creationId xmlns:a16="http://schemas.microsoft.com/office/drawing/2014/main" id="{E38D5FCB-E1CD-C537-1594-C8C87F16D3E0}"/>
              </a:ext>
            </a:extLst>
          </p:cNvPr>
          <p:cNvSpPr/>
          <p:nvPr/>
        </p:nvSpPr>
        <p:spPr>
          <a:xfrm>
            <a:off x="3100781" y="5971784"/>
            <a:ext cx="920851" cy="914402"/>
          </a:xfrm>
          <a:prstGeom prst="roundRect">
            <a:avLst>
              <a:gd name="adj" fmla="val 10000"/>
            </a:avLst>
          </a:prstGeom>
          <a:blipFill>
            <a:blip r:embed="rId7"/>
            <a:stretch>
              <a:fillRect/>
            </a:stretch>
          </a:blipFill>
          <a:ln>
            <a:noFill/>
          </a:ln>
        </p:spPr>
        <p:style>
          <a:lnRef idx="2">
            <a:scrgbClr r="0" g="0" b="0"/>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pt-PT" noProof="0" dirty="0"/>
          </a:p>
        </p:txBody>
      </p:sp>
      <p:sp>
        <p:nvSpPr>
          <p:cNvPr id="22" name="Freeform: Shape 21">
            <a:extLst>
              <a:ext uri="{FF2B5EF4-FFF2-40B4-BE49-F238E27FC236}">
                <a16:creationId xmlns:a16="http://schemas.microsoft.com/office/drawing/2014/main" id="{7D28FE25-4311-662A-49BF-135EB37D8B8A}"/>
              </a:ext>
            </a:extLst>
          </p:cNvPr>
          <p:cNvSpPr/>
          <p:nvPr/>
        </p:nvSpPr>
        <p:spPr>
          <a:xfrm>
            <a:off x="2743200" y="7259609"/>
            <a:ext cx="10515600" cy="1117545"/>
          </a:xfrm>
          <a:custGeom>
            <a:avLst/>
            <a:gdLst>
              <a:gd name="connsiteX0" fmla="*/ 0 w 10515600"/>
              <a:gd name="connsiteY0" fmla="*/ 111755 h 1117545"/>
              <a:gd name="connsiteX1" fmla="*/ 111755 w 10515600"/>
              <a:gd name="connsiteY1" fmla="*/ 0 h 1117545"/>
              <a:gd name="connsiteX2" fmla="*/ 10403846 w 10515600"/>
              <a:gd name="connsiteY2" fmla="*/ 0 h 1117545"/>
              <a:gd name="connsiteX3" fmla="*/ 10515601 w 10515600"/>
              <a:gd name="connsiteY3" fmla="*/ 111755 h 1117545"/>
              <a:gd name="connsiteX4" fmla="*/ 10515600 w 10515600"/>
              <a:gd name="connsiteY4" fmla="*/ 1005791 h 1117545"/>
              <a:gd name="connsiteX5" fmla="*/ 10403845 w 10515600"/>
              <a:gd name="connsiteY5" fmla="*/ 1117546 h 1117545"/>
              <a:gd name="connsiteX6" fmla="*/ 111755 w 10515600"/>
              <a:gd name="connsiteY6" fmla="*/ 1117545 h 1117545"/>
              <a:gd name="connsiteX7" fmla="*/ 0 w 10515600"/>
              <a:gd name="connsiteY7" fmla="*/ 1005790 h 1117545"/>
              <a:gd name="connsiteX8" fmla="*/ 0 w 10515600"/>
              <a:gd name="connsiteY8" fmla="*/ 111755 h 111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5600" h="1117545">
                <a:moveTo>
                  <a:pt x="0" y="111755"/>
                </a:moveTo>
                <a:cubicBezTo>
                  <a:pt x="0" y="50034"/>
                  <a:pt x="50034" y="0"/>
                  <a:pt x="111755" y="0"/>
                </a:cubicBezTo>
                <a:lnTo>
                  <a:pt x="10403846" y="0"/>
                </a:lnTo>
                <a:cubicBezTo>
                  <a:pt x="10465567" y="0"/>
                  <a:pt x="10515601" y="50034"/>
                  <a:pt x="10515601" y="111755"/>
                </a:cubicBezTo>
                <a:cubicBezTo>
                  <a:pt x="10515601" y="409767"/>
                  <a:pt x="10515600" y="707779"/>
                  <a:pt x="10515600" y="1005791"/>
                </a:cubicBezTo>
                <a:cubicBezTo>
                  <a:pt x="10515600" y="1067512"/>
                  <a:pt x="10465566" y="1117546"/>
                  <a:pt x="10403845" y="1117546"/>
                </a:cubicBezTo>
                <a:lnTo>
                  <a:pt x="111755" y="1117545"/>
                </a:lnTo>
                <a:cubicBezTo>
                  <a:pt x="50034" y="1117545"/>
                  <a:pt x="0" y="1067511"/>
                  <a:pt x="0" y="1005790"/>
                </a:cubicBezTo>
                <a:lnTo>
                  <a:pt x="0" y="111755"/>
                </a:lnTo>
                <a:close/>
              </a:path>
            </a:pathLst>
          </a:custGeom>
          <a:solidFill>
            <a:schemeClr val="accent1">
              <a:lumMod val="20000"/>
              <a:lumOff val="80000"/>
              <a:alpha val="3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spcFirstLastPara="0" vert="horz" wrap="square" lIns="1645920" tIns="95250" rIns="95251" bIns="95250" numCol="1" spcCol="1270" rtlCol="0" anchor="ctr" anchorCtr="0">
            <a:noAutofit/>
          </a:bodyPr>
          <a:lstStyle/>
          <a:p>
            <a:pPr defTabSz="1111250"/>
            <a:r>
              <a:rPr lang="pt-PT" sz="2400" kern="1200" noProof="0" dirty="0">
                <a:solidFill>
                  <a:schemeClr val="tx1"/>
                </a:solidFill>
              </a:rPr>
              <a:t>Esta apresentação </a:t>
            </a:r>
            <a:r>
              <a:rPr lang="pt-PT" sz="2400" u="sng" kern="1200" noProof="0" dirty="0">
                <a:solidFill>
                  <a:schemeClr val="tx1"/>
                </a:solidFill>
              </a:rPr>
              <a:t>não está relacionada</a:t>
            </a:r>
            <a:r>
              <a:rPr lang="pt-PT" sz="2400" kern="1200" noProof="0" dirty="0">
                <a:solidFill>
                  <a:schemeClr val="tx1"/>
                </a:solidFill>
              </a:rPr>
              <a:t> com o meu trabalho nem com o meu empregador.</a:t>
            </a:r>
          </a:p>
        </p:txBody>
      </p:sp>
      <p:sp>
        <p:nvSpPr>
          <p:cNvPr id="23" name="Rectangle: Rounded Corners 22">
            <a:extLst>
              <a:ext uri="{FF2B5EF4-FFF2-40B4-BE49-F238E27FC236}">
                <a16:creationId xmlns:a16="http://schemas.microsoft.com/office/drawing/2014/main" id="{2A643E74-FF72-9A9A-A51B-294951556FBB}"/>
              </a:ext>
            </a:extLst>
          </p:cNvPr>
          <p:cNvSpPr/>
          <p:nvPr/>
        </p:nvSpPr>
        <p:spPr>
          <a:xfrm>
            <a:off x="3100781" y="7372535"/>
            <a:ext cx="920851" cy="914402"/>
          </a:xfrm>
          <a:prstGeom prst="roundRect">
            <a:avLst>
              <a:gd name="adj" fmla="val 10000"/>
            </a:avLst>
          </a:prstGeom>
          <a:blipFill>
            <a:blip r:embed="rId8"/>
            <a:srcRect/>
            <a:stretch>
              <a:fillRect/>
            </a:stretch>
          </a:blipFill>
          <a:ln>
            <a:noFill/>
          </a:ln>
        </p:spPr>
        <p:style>
          <a:lnRef idx="2">
            <a:scrgbClr r="0" g="0" b="0"/>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pt-PT" noProof="0" dirty="0"/>
          </a:p>
        </p:txBody>
      </p:sp>
      <p:sp>
        <p:nvSpPr>
          <p:cNvPr id="3" name="Google Shape;108;p2">
            <a:extLst>
              <a:ext uri="{FF2B5EF4-FFF2-40B4-BE49-F238E27FC236}">
                <a16:creationId xmlns:a16="http://schemas.microsoft.com/office/drawing/2014/main" id="{9F601301-19AA-D547-2EB9-B044412D3884}"/>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4" name="TextBox 3">
            <a:extLst>
              <a:ext uri="{FF2B5EF4-FFF2-40B4-BE49-F238E27FC236}">
                <a16:creationId xmlns:a16="http://schemas.microsoft.com/office/drawing/2014/main" id="{2200F9F2-B5C7-EFFA-0539-DD90D37837BD}"/>
              </a:ext>
            </a:extLst>
          </p:cNvPr>
          <p:cNvSpPr txBox="1"/>
          <p:nvPr/>
        </p:nvSpPr>
        <p:spPr>
          <a:xfrm>
            <a:off x="11071264" y="8535559"/>
            <a:ext cx="2187536" cy="307648"/>
          </a:xfrm>
          <a:prstGeom prst="rect">
            <a:avLst/>
          </a:prstGeom>
          <a:noFill/>
        </p:spPr>
        <p:txBody>
          <a:bodyPr wrap="square">
            <a:spAutoFit/>
          </a:bodyPr>
          <a:lstStyle/>
          <a:p>
            <a:pPr algn="r"/>
            <a:r>
              <a:rPr lang="pt-PT" sz="1399" noProof="0" dirty="0"/>
              <a:t>imagens: Flaticon.com</a:t>
            </a:r>
          </a:p>
        </p:txBody>
      </p:sp>
      <p:pic>
        <p:nvPicPr>
          <p:cNvPr id="26" name="Picture 25">
            <a:extLst>
              <a:ext uri="{FF2B5EF4-FFF2-40B4-BE49-F238E27FC236}">
                <a16:creationId xmlns:a16="http://schemas.microsoft.com/office/drawing/2014/main" id="{DD0C6005-05B9-5DF5-78E1-F7B572DB0ABA}"/>
              </a:ext>
            </a:extLst>
          </p:cNvPr>
          <p:cNvPicPr>
            <a:picLocks noChangeAspect="1"/>
          </p:cNvPicPr>
          <p:nvPr/>
        </p:nvPicPr>
        <p:blipFill>
          <a:blip r:embed="rId9"/>
          <a:stretch>
            <a:fillRect/>
          </a:stretch>
        </p:blipFill>
        <p:spPr>
          <a:xfrm>
            <a:off x="13521831" y="3343109"/>
            <a:ext cx="3789122" cy="4805446"/>
          </a:xfrm>
          <a:prstGeom prst="rect">
            <a:avLst/>
          </a:prstGeom>
        </p:spPr>
      </p:pic>
    </p:spTree>
    <p:extLst>
      <p:ext uri="{BB962C8B-B14F-4D97-AF65-F5344CB8AC3E}">
        <p14:creationId xmlns:p14="http://schemas.microsoft.com/office/powerpoint/2010/main" val="2977448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214FC060-C656-0D55-608B-E5B0F773BA67}"/>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CC75E5D7-5F05-8A41-E3C9-35C1D2195824}"/>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085C9F58-5683-B8CC-BF1A-79B47E769A0E}"/>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6E52F558-FAE0-030F-5687-B769AB3C6F1E}"/>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2" name="Google Shape;142;p3">
            <a:extLst>
              <a:ext uri="{FF2B5EF4-FFF2-40B4-BE49-F238E27FC236}">
                <a16:creationId xmlns:a16="http://schemas.microsoft.com/office/drawing/2014/main" id="{596B5352-9EE7-DDED-F113-CD44ACE97356}"/>
              </a:ext>
            </a:extLst>
          </p:cNvPr>
          <p:cNvSpPr txBox="1"/>
          <p:nvPr/>
        </p:nvSpPr>
        <p:spPr>
          <a:xfrm>
            <a:off x="2747139" y="1058170"/>
            <a:ext cx="13272713" cy="1246495"/>
          </a:xfrm>
          <a:prstGeom prst="rect">
            <a:avLst/>
          </a:prstGeom>
          <a:noFill/>
          <a:ln>
            <a:noFill/>
          </a:ln>
        </p:spPr>
        <p:txBody>
          <a:bodyPr spcFirstLastPara="1" wrap="square" lIns="0" tIns="0" rIns="0" bIns="0" anchor="t" anchorCtr="0">
            <a:spAutoFit/>
          </a:bodyPr>
          <a:lstStyle/>
          <a:p>
            <a:pPr lvl="0">
              <a:lnSpc>
                <a:spcPct val="150000"/>
              </a:lnSpc>
              <a:buSzPts val="7500"/>
            </a:pPr>
            <a:r>
              <a:rPr lang="pt-PT" sz="5400" b="1" noProof="0" dirty="0">
                <a:latin typeface="Raleway Black"/>
                <a:ea typeface="Raleway Black"/>
                <a:cs typeface="Raleway Black"/>
                <a:sym typeface="Raleway Black"/>
              </a:rPr>
              <a:t>$whoami</a:t>
            </a:r>
          </a:p>
        </p:txBody>
      </p:sp>
      <p:sp>
        <p:nvSpPr>
          <p:cNvPr id="144" name="Google Shape;144;p3">
            <a:extLst>
              <a:ext uri="{FF2B5EF4-FFF2-40B4-BE49-F238E27FC236}">
                <a16:creationId xmlns:a16="http://schemas.microsoft.com/office/drawing/2014/main" id="{619D9C17-7943-0789-CBD0-E483AB8C9E07}"/>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dirty="0">
                <a:solidFill>
                  <a:srgbClr val="7F7F7F"/>
                </a:solidFill>
                <a:latin typeface="Raleway"/>
                <a:sym typeface="Raleway"/>
              </a:rPr>
              <a:t> </a:t>
            </a:r>
            <a:endParaRPr lang="pt-PT" sz="1400" b="0" i="0" u="none" strike="noStrike" cap="none" noProof="0" dirty="0">
              <a:solidFill>
                <a:srgbClr val="000000"/>
              </a:solidFill>
              <a:latin typeface="Arial"/>
              <a:ea typeface="Arial"/>
              <a:cs typeface="Arial"/>
              <a:sym typeface="Arial"/>
            </a:endParaRPr>
          </a:p>
        </p:txBody>
      </p:sp>
      <p:sp>
        <p:nvSpPr>
          <p:cNvPr id="3" name="Google Shape;108;p2">
            <a:extLst>
              <a:ext uri="{FF2B5EF4-FFF2-40B4-BE49-F238E27FC236}">
                <a16:creationId xmlns:a16="http://schemas.microsoft.com/office/drawing/2014/main" id="{B111BED9-9152-35E9-0AF7-DE5A84A0409A}"/>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2" name="Content Placeholder 2">
            <a:extLst>
              <a:ext uri="{FF2B5EF4-FFF2-40B4-BE49-F238E27FC236}">
                <a16:creationId xmlns:a16="http://schemas.microsoft.com/office/drawing/2014/main" id="{75BBBA0B-F5DB-7BFD-ED44-C8ED460F5E3F}"/>
              </a:ext>
            </a:extLst>
          </p:cNvPr>
          <p:cNvSpPr txBox="1">
            <a:spLocks/>
          </p:cNvSpPr>
          <p:nvPr/>
        </p:nvSpPr>
        <p:spPr>
          <a:xfrm>
            <a:off x="2743200" y="3454851"/>
            <a:ext cx="8758788" cy="507012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pt-PT" sz="4399" noProof="0" dirty="0"/>
              <a:t>👓 Pedro Vieira</a:t>
            </a:r>
            <a:endParaRPr lang="pt-PT" sz="4399" noProof="0" dirty="0">
              <a:hlinkClick r:id="rId5">
                <a:extLst>
                  <a:ext uri="{A12FA001-AC4F-418D-AE19-62706E023703}">
                    <ahyp:hlinkClr xmlns:ahyp="http://schemas.microsoft.com/office/drawing/2018/hyperlinkcolor" val="tx"/>
                  </a:ext>
                </a:extLst>
              </a:hlinkClick>
            </a:endParaRPr>
          </a:p>
          <a:p>
            <a:pPr marL="0" indent="0">
              <a:buNone/>
            </a:pPr>
            <a:endParaRPr lang="pt-PT" sz="4399" noProof="0" dirty="0"/>
          </a:p>
          <a:p>
            <a:pPr marL="0" indent="0">
              <a:buNone/>
            </a:pPr>
            <a:r>
              <a:rPr lang="pt-PT" sz="4000" noProof="0" dirty="0"/>
              <a:t>🔐 Engenheiro de Cibersegurança</a:t>
            </a:r>
          </a:p>
          <a:p>
            <a:pPr marL="0" indent="0">
              <a:buNone/>
            </a:pPr>
            <a:r>
              <a:rPr lang="pt-PT" sz="4000" noProof="0" dirty="0"/>
              <a:t>🕵️ Investigador </a:t>
            </a:r>
          </a:p>
          <a:p>
            <a:pPr marL="0" indent="0">
              <a:buNone/>
            </a:pPr>
            <a:r>
              <a:rPr lang="pt-PT" sz="4000" noProof="0" dirty="0"/>
              <a:t>✒️ Programador Full Stack</a:t>
            </a:r>
          </a:p>
          <a:p>
            <a:pPr marL="0" indent="0">
              <a:buNone/>
            </a:pPr>
            <a:r>
              <a:rPr lang="pt-PT" sz="4000" noProof="0" dirty="0"/>
              <a:t>👨‍🏫 Orador</a:t>
            </a:r>
          </a:p>
        </p:txBody>
      </p:sp>
      <p:pic>
        <p:nvPicPr>
          <p:cNvPr id="5" name="Picture 4">
            <a:extLst>
              <a:ext uri="{FF2B5EF4-FFF2-40B4-BE49-F238E27FC236}">
                <a16:creationId xmlns:a16="http://schemas.microsoft.com/office/drawing/2014/main" id="{CD2B6280-5D81-0E74-94BD-3C7AD1AA5538}"/>
              </a:ext>
            </a:extLst>
          </p:cNvPr>
          <p:cNvPicPr>
            <a:picLocks noChangeAspect="1"/>
          </p:cNvPicPr>
          <p:nvPr/>
        </p:nvPicPr>
        <p:blipFill>
          <a:blip r:embed="rId6"/>
          <a:stretch>
            <a:fillRect/>
          </a:stretch>
        </p:blipFill>
        <p:spPr>
          <a:xfrm>
            <a:off x="11501988" y="3454852"/>
            <a:ext cx="5056272" cy="5070126"/>
          </a:xfrm>
          <a:prstGeom prst="rect">
            <a:avLst/>
          </a:prstGeom>
        </p:spPr>
      </p:pic>
    </p:spTree>
    <p:extLst>
      <p:ext uri="{BB962C8B-B14F-4D97-AF65-F5344CB8AC3E}">
        <p14:creationId xmlns:p14="http://schemas.microsoft.com/office/powerpoint/2010/main" val="1004179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0E36A306-30A6-60DD-2CA0-630E59AE706D}"/>
            </a:ext>
          </a:extLst>
        </p:cNvPr>
        <p:cNvGrpSpPr/>
        <p:nvPr/>
      </p:nvGrpSpPr>
      <p:grpSpPr>
        <a:xfrm>
          <a:off x="0" y="0"/>
          <a:ext cx="0" cy="0"/>
          <a:chOff x="0" y="0"/>
          <a:chExt cx="0" cy="0"/>
        </a:xfrm>
      </p:grpSpPr>
      <p:sp>
        <p:nvSpPr>
          <p:cNvPr id="99" name="Google Shape;99;p2">
            <a:extLst>
              <a:ext uri="{FF2B5EF4-FFF2-40B4-BE49-F238E27FC236}">
                <a16:creationId xmlns:a16="http://schemas.microsoft.com/office/drawing/2014/main" id="{08E28E96-496B-B64B-D488-8CF82BFEF795}"/>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00" name="Google Shape;100;p2">
            <a:extLst>
              <a:ext uri="{FF2B5EF4-FFF2-40B4-BE49-F238E27FC236}">
                <a16:creationId xmlns:a16="http://schemas.microsoft.com/office/drawing/2014/main" id="{F2C18391-BC53-C08B-AD5F-06412906A53A}"/>
              </a:ext>
            </a:extLst>
          </p:cNvPr>
          <p:cNvCxnSpPr/>
          <p:nvPr/>
        </p:nvCxnSpPr>
        <p:spPr>
          <a:xfrm rot="10800000">
            <a:off x="7894711" y="1153515"/>
            <a:ext cx="0" cy="7190385"/>
          </a:xfrm>
          <a:prstGeom prst="straightConnector1">
            <a:avLst/>
          </a:prstGeom>
          <a:noFill/>
          <a:ln w="19050" cap="flat" cmpd="sng">
            <a:solidFill>
              <a:srgbClr val="000000"/>
            </a:solidFill>
            <a:prstDash val="solid"/>
            <a:round/>
            <a:headEnd type="none" w="sm" len="sm"/>
            <a:tailEnd type="none" w="sm" len="sm"/>
          </a:ln>
        </p:spPr>
      </p:cxnSp>
      <p:cxnSp>
        <p:nvCxnSpPr>
          <p:cNvPr id="101" name="Google Shape;101;p2">
            <a:extLst>
              <a:ext uri="{FF2B5EF4-FFF2-40B4-BE49-F238E27FC236}">
                <a16:creationId xmlns:a16="http://schemas.microsoft.com/office/drawing/2014/main" id="{5926FF33-47E2-0C5B-B25F-3C8EA18D5182}"/>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02" name="Google Shape;102;p2">
            <a:extLst>
              <a:ext uri="{FF2B5EF4-FFF2-40B4-BE49-F238E27FC236}">
                <a16:creationId xmlns:a16="http://schemas.microsoft.com/office/drawing/2014/main" id="{B40C125E-9A34-5E48-9947-2ECBE803BE7C}"/>
              </a:ext>
            </a:extLst>
          </p:cNvPr>
          <p:cNvSpPr txBox="1"/>
          <p:nvPr/>
        </p:nvSpPr>
        <p:spPr>
          <a:xfrm>
            <a:off x="1032768" y="1971300"/>
            <a:ext cx="6338834" cy="1064394"/>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499"/>
              <a:buFont typeface="Arial"/>
              <a:buNone/>
            </a:pPr>
            <a:r>
              <a:rPr lang="pt-PT" sz="7499" b="1" i="0" u="none" strike="noStrike" cap="none" noProof="0" dirty="0">
                <a:solidFill>
                  <a:srgbClr val="000000"/>
                </a:solidFill>
                <a:latin typeface="Raleway Black"/>
                <a:ea typeface="Raleway Black"/>
                <a:cs typeface="Raleway Black"/>
                <a:sym typeface="Raleway Black"/>
              </a:rPr>
              <a:t>Índice</a:t>
            </a:r>
            <a:endParaRPr lang="pt-PT" sz="1400" b="0" i="0" u="none" strike="noStrike" cap="none" noProof="0" dirty="0">
              <a:solidFill>
                <a:srgbClr val="000000"/>
              </a:solidFill>
              <a:latin typeface="Arial"/>
              <a:ea typeface="Arial"/>
              <a:cs typeface="Arial"/>
              <a:sym typeface="Arial"/>
            </a:endParaRPr>
          </a:p>
        </p:txBody>
      </p:sp>
      <p:grpSp>
        <p:nvGrpSpPr>
          <p:cNvPr id="103" name="Google Shape;103;p2">
            <a:extLst>
              <a:ext uri="{FF2B5EF4-FFF2-40B4-BE49-F238E27FC236}">
                <a16:creationId xmlns:a16="http://schemas.microsoft.com/office/drawing/2014/main" id="{9F3DF288-D3C8-BA6C-5BAE-74476801A1F0}"/>
              </a:ext>
            </a:extLst>
          </p:cNvPr>
          <p:cNvGrpSpPr/>
          <p:nvPr/>
        </p:nvGrpSpPr>
        <p:grpSpPr>
          <a:xfrm>
            <a:off x="7717061" y="2400377"/>
            <a:ext cx="6379937" cy="538417"/>
            <a:chOff x="7717061" y="1246862"/>
            <a:chExt cx="6379937" cy="538417"/>
          </a:xfrm>
        </p:grpSpPr>
        <p:sp>
          <p:nvSpPr>
            <p:cNvPr id="104" name="Google Shape;104;p2">
              <a:extLst>
                <a:ext uri="{FF2B5EF4-FFF2-40B4-BE49-F238E27FC236}">
                  <a16:creationId xmlns:a16="http://schemas.microsoft.com/office/drawing/2014/main" id="{2B496480-156E-99A5-7AFA-86869B03BFEC}"/>
                </a:ext>
              </a:extLst>
            </p:cNvPr>
            <p:cNvSpPr txBox="1"/>
            <p:nvPr/>
          </p:nvSpPr>
          <p:spPr>
            <a:xfrm>
              <a:off x="8418585" y="1246862"/>
              <a:ext cx="5678413" cy="538417"/>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IT, OT e IoT</a:t>
              </a:r>
              <a:endParaRPr lang="pt-PT" sz="1400" b="0" i="0" u="none" strike="noStrike" cap="none" noProof="0" dirty="0">
                <a:solidFill>
                  <a:srgbClr val="000000"/>
                </a:solidFill>
                <a:latin typeface="Arial"/>
                <a:ea typeface="Arial"/>
                <a:cs typeface="Arial"/>
                <a:sym typeface="Arial"/>
              </a:endParaRPr>
            </a:p>
          </p:txBody>
        </p:sp>
        <p:grpSp>
          <p:nvGrpSpPr>
            <p:cNvPr id="105" name="Google Shape;105;p2">
              <a:extLst>
                <a:ext uri="{FF2B5EF4-FFF2-40B4-BE49-F238E27FC236}">
                  <a16:creationId xmlns:a16="http://schemas.microsoft.com/office/drawing/2014/main" id="{D068EE66-346E-E9B4-5D2B-27A3589771B5}"/>
                </a:ext>
              </a:extLst>
            </p:cNvPr>
            <p:cNvGrpSpPr/>
            <p:nvPr/>
          </p:nvGrpSpPr>
          <p:grpSpPr>
            <a:xfrm>
              <a:off x="7717061" y="1304012"/>
              <a:ext cx="355300" cy="355300"/>
              <a:chOff x="0" y="0"/>
              <a:chExt cx="812800" cy="812800"/>
            </a:xfrm>
          </p:grpSpPr>
          <p:sp>
            <p:nvSpPr>
              <p:cNvPr id="106" name="Google Shape;106;p2">
                <a:extLst>
                  <a:ext uri="{FF2B5EF4-FFF2-40B4-BE49-F238E27FC236}">
                    <a16:creationId xmlns:a16="http://schemas.microsoft.com/office/drawing/2014/main" id="{A13E30CE-9BF7-C081-62A6-819DD74E21D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E6B3EA"/>
                  </a:gs>
                  <a:gs pos="100000">
                    <a:srgbClr val="D2F6F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07" name="Google Shape;107;p2">
                <a:extLst>
                  <a:ext uri="{FF2B5EF4-FFF2-40B4-BE49-F238E27FC236}">
                    <a16:creationId xmlns:a16="http://schemas.microsoft.com/office/drawing/2014/main" id="{4E4623F2-668F-0D9A-E917-57F31BE314D8}"/>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8777"/>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grpSp>
      <p:sp>
        <p:nvSpPr>
          <p:cNvPr id="108" name="Google Shape;108;p2">
            <a:extLst>
              <a:ext uri="{FF2B5EF4-FFF2-40B4-BE49-F238E27FC236}">
                <a16:creationId xmlns:a16="http://schemas.microsoft.com/office/drawing/2014/main" id="{60E77024-73D7-CB31-4BEB-0217BB41D541}"/>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4</a:t>
            </a:fld>
            <a:endParaRPr lang="pt-PT" sz="2041" b="1" i="0" u="none" strike="noStrike" cap="none" noProof="0" dirty="0">
              <a:solidFill>
                <a:srgbClr val="000000"/>
              </a:solidFill>
              <a:latin typeface="Raleway SemiBold"/>
              <a:ea typeface="Raleway SemiBold"/>
              <a:cs typeface="Raleway SemiBold"/>
              <a:sym typeface="Raleway SemiBold"/>
            </a:endParaRPr>
          </a:p>
        </p:txBody>
      </p:sp>
      <p:grpSp>
        <p:nvGrpSpPr>
          <p:cNvPr id="109" name="Google Shape;109;p2">
            <a:extLst>
              <a:ext uri="{FF2B5EF4-FFF2-40B4-BE49-F238E27FC236}">
                <a16:creationId xmlns:a16="http://schemas.microsoft.com/office/drawing/2014/main" id="{6AE0989F-0595-7D55-0EAC-DF5064F4F259}"/>
              </a:ext>
            </a:extLst>
          </p:cNvPr>
          <p:cNvGrpSpPr/>
          <p:nvPr/>
        </p:nvGrpSpPr>
        <p:grpSpPr>
          <a:xfrm>
            <a:off x="7717061" y="3258970"/>
            <a:ext cx="6379935" cy="538417"/>
            <a:chOff x="7717061" y="1246862"/>
            <a:chExt cx="6379935" cy="538417"/>
          </a:xfrm>
        </p:grpSpPr>
        <p:sp>
          <p:nvSpPr>
            <p:cNvPr id="110" name="Google Shape;110;p2">
              <a:extLst>
                <a:ext uri="{FF2B5EF4-FFF2-40B4-BE49-F238E27FC236}">
                  <a16:creationId xmlns:a16="http://schemas.microsoft.com/office/drawing/2014/main" id="{B719EF83-1E63-5616-9FE8-1B4FD8609EA5}"/>
                </a:ext>
              </a:extLst>
            </p:cNvPr>
            <p:cNvSpPr txBox="1"/>
            <p:nvPr/>
          </p:nvSpPr>
          <p:spPr>
            <a:xfrm>
              <a:off x="8418585" y="1246862"/>
              <a:ext cx="5678411" cy="538417"/>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Vulnerabilidades e Ameaças</a:t>
              </a:r>
              <a:endParaRPr lang="pt-PT" sz="1400" b="0" i="0" u="none" strike="noStrike" cap="none" noProof="0" dirty="0">
                <a:solidFill>
                  <a:srgbClr val="000000"/>
                </a:solidFill>
                <a:latin typeface="Arial"/>
                <a:ea typeface="Arial"/>
                <a:cs typeface="Arial"/>
                <a:sym typeface="Arial"/>
              </a:endParaRPr>
            </a:p>
          </p:txBody>
        </p:sp>
        <p:grpSp>
          <p:nvGrpSpPr>
            <p:cNvPr id="111" name="Google Shape;111;p2">
              <a:extLst>
                <a:ext uri="{FF2B5EF4-FFF2-40B4-BE49-F238E27FC236}">
                  <a16:creationId xmlns:a16="http://schemas.microsoft.com/office/drawing/2014/main" id="{6CDAF9AF-CE12-2B73-8C80-D0EF54A9634A}"/>
                </a:ext>
              </a:extLst>
            </p:cNvPr>
            <p:cNvGrpSpPr/>
            <p:nvPr/>
          </p:nvGrpSpPr>
          <p:grpSpPr>
            <a:xfrm>
              <a:off x="7717061" y="1304012"/>
              <a:ext cx="355300" cy="355300"/>
              <a:chOff x="0" y="0"/>
              <a:chExt cx="812800" cy="812800"/>
            </a:xfrm>
          </p:grpSpPr>
          <p:sp>
            <p:nvSpPr>
              <p:cNvPr id="112" name="Google Shape;112;p2">
                <a:extLst>
                  <a:ext uri="{FF2B5EF4-FFF2-40B4-BE49-F238E27FC236}">
                    <a16:creationId xmlns:a16="http://schemas.microsoft.com/office/drawing/2014/main" id="{6D30FCC7-D374-9311-FD16-7C305F91824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E6B3EA"/>
                  </a:gs>
                  <a:gs pos="100000">
                    <a:srgbClr val="D2F6F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38481BCD-8709-999D-86E7-11F591ED1A25}"/>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8777"/>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grpSp>
      <p:grpSp>
        <p:nvGrpSpPr>
          <p:cNvPr id="114" name="Google Shape;114;p2">
            <a:extLst>
              <a:ext uri="{FF2B5EF4-FFF2-40B4-BE49-F238E27FC236}">
                <a16:creationId xmlns:a16="http://schemas.microsoft.com/office/drawing/2014/main" id="{9E892F27-EDD9-CC6C-1213-4FA4E8AD045C}"/>
              </a:ext>
            </a:extLst>
          </p:cNvPr>
          <p:cNvGrpSpPr/>
          <p:nvPr/>
        </p:nvGrpSpPr>
        <p:grpSpPr>
          <a:xfrm>
            <a:off x="7717061" y="4116839"/>
            <a:ext cx="6379931" cy="538417"/>
            <a:chOff x="7717061" y="1246862"/>
            <a:chExt cx="6379931" cy="538417"/>
          </a:xfrm>
        </p:grpSpPr>
        <p:sp>
          <p:nvSpPr>
            <p:cNvPr id="115" name="Google Shape;115;p2">
              <a:extLst>
                <a:ext uri="{FF2B5EF4-FFF2-40B4-BE49-F238E27FC236}">
                  <a16:creationId xmlns:a16="http://schemas.microsoft.com/office/drawing/2014/main" id="{A3935DF8-50B2-A0BE-1976-B1A8D2D2CD74}"/>
                </a:ext>
              </a:extLst>
            </p:cNvPr>
            <p:cNvSpPr txBox="1"/>
            <p:nvPr/>
          </p:nvSpPr>
          <p:spPr>
            <a:xfrm>
              <a:off x="8418585" y="1246862"/>
              <a:ext cx="5678407" cy="538417"/>
            </a:xfrm>
            <a:prstGeom prst="rect">
              <a:avLst/>
            </a:prstGeom>
            <a:noFill/>
            <a:ln>
              <a:noFill/>
            </a:ln>
          </p:spPr>
          <p:txBody>
            <a:bodyPr spcFirstLastPara="1" wrap="square" lIns="0" tIns="0" rIns="0" bIns="0" anchor="t" anchorCtr="0">
              <a:spAutoFit/>
            </a:bodyPr>
            <a:lstStyle/>
            <a:p>
              <a:pPr lvl="0">
                <a:lnSpc>
                  <a:spcPct val="140016"/>
                </a:lnSpc>
                <a:buSzPts val="2499"/>
              </a:pPr>
              <a:r>
                <a:rPr lang="pt-PT" sz="2499" b="1" i="0" u="none" strike="noStrike" cap="none" noProof="0" dirty="0">
                  <a:solidFill>
                    <a:srgbClr val="101010"/>
                  </a:solidFill>
                  <a:latin typeface="Raleway"/>
                  <a:ea typeface="Raleway"/>
                  <a:cs typeface="Raleway"/>
                  <a:sym typeface="Raleway"/>
                </a:rPr>
                <a:t>Ransomware e </a:t>
              </a:r>
              <a:r>
                <a:rPr lang="pt-PT" sz="2499" b="1" dirty="0">
                  <a:solidFill>
                    <a:srgbClr val="101010"/>
                  </a:solidFill>
                  <a:latin typeface="Raleway"/>
                  <a:ea typeface="Raleway"/>
                  <a:cs typeface="Raleway"/>
                  <a:sym typeface="Raleway"/>
                </a:rPr>
                <a:t>Incidentes</a:t>
              </a:r>
              <a:endParaRPr lang="pt-PT" sz="2499" b="1" i="0" u="none" strike="noStrike" cap="none" noProof="0" dirty="0">
                <a:solidFill>
                  <a:srgbClr val="101010"/>
                </a:solidFill>
                <a:latin typeface="Raleway"/>
                <a:ea typeface="Raleway"/>
                <a:cs typeface="Raleway"/>
                <a:sym typeface="Raleway"/>
              </a:endParaRPr>
            </a:p>
          </p:txBody>
        </p:sp>
        <p:grpSp>
          <p:nvGrpSpPr>
            <p:cNvPr id="116" name="Google Shape;116;p2">
              <a:extLst>
                <a:ext uri="{FF2B5EF4-FFF2-40B4-BE49-F238E27FC236}">
                  <a16:creationId xmlns:a16="http://schemas.microsoft.com/office/drawing/2014/main" id="{2EA98F65-096D-5A0C-DED6-CE5B945C171B}"/>
                </a:ext>
              </a:extLst>
            </p:cNvPr>
            <p:cNvGrpSpPr/>
            <p:nvPr/>
          </p:nvGrpSpPr>
          <p:grpSpPr>
            <a:xfrm>
              <a:off x="7717061" y="1304012"/>
              <a:ext cx="355300" cy="355300"/>
              <a:chOff x="0" y="0"/>
              <a:chExt cx="812800" cy="812800"/>
            </a:xfrm>
          </p:grpSpPr>
          <p:sp>
            <p:nvSpPr>
              <p:cNvPr id="117" name="Google Shape;117;p2">
                <a:extLst>
                  <a:ext uri="{FF2B5EF4-FFF2-40B4-BE49-F238E27FC236}">
                    <a16:creationId xmlns:a16="http://schemas.microsoft.com/office/drawing/2014/main" id="{0184583C-F0B4-132F-5824-1499A8A87CA8}"/>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E6B3EA"/>
                  </a:gs>
                  <a:gs pos="100000">
                    <a:srgbClr val="D2F6F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18" name="Google Shape;118;p2">
                <a:extLst>
                  <a:ext uri="{FF2B5EF4-FFF2-40B4-BE49-F238E27FC236}">
                    <a16:creationId xmlns:a16="http://schemas.microsoft.com/office/drawing/2014/main" id="{132F49AA-3D01-B6E2-0FE4-253152D0E53F}"/>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8777"/>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grpSp>
      <p:grpSp>
        <p:nvGrpSpPr>
          <p:cNvPr id="119" name="Google Shape;119;p2">
            <a:extLst>
              <a:ext uri="{FF2B5EF4-FFF2-40B4-BE49-F238E27FC236}">
                <a16:creationId xmlns:a16="http://schemas.microsoft.com/office/drawing/2014/main" id="{C7654CA6-88CD-3DA0-AEFE-8A323238CB55}"/>
              </a:ext>
            </a:extLst>
          </p:cNvPr>
          <p:cNvGrpSpPr/>
          <p:nvPr/>
        </p:nvGrpSpPr>
        <p:grpSpPr>
          <a:xfrm>
            <a:off x="7717056" y="4950902"/>
            <a:ext cx="6379929" cy="538417"/>
            <a:chOff x="7717061" y="1246862"/>
            <a:chExt cx="6379929" cy="538417"/>
          </a:xfrm>
        </p:grpSpPr>
        <p:sp>
          <p:nvSpPr>
            <p:cNvPr id="120" name="Google Shape;120;p2">
              <a:extLst>
                <a:ext uri="{FF2B5EF4-FFF2-40B4-BE49-F238E27FC236}">
                  <a16:creationId xmlns:a16="http://schemas.microsoft.com/office/drawing/2014/main" id="{1825E3B0-86E7-77DF-0F82-4B5A16C14724}"/>
                </a:ext>
              </a:extLst>
            </p:cNvPr>
            <p:cNvSpPr txBox="1"/>
            <p:nvPr/>
          </p:nvSpPr>
          <p:spPr>
            <a:xfrm>
              <a:off x="8418585" y="1246862"/>
              <a:ext cx="5678405" cy="538417"/>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Visão do mundo IoT</a:t>
              </a:r>
            </a:p>
          </p:txBody>
        </p:sp>
        <p:grpSp>
          <p:nvGrpSpPr>
            <p:cNvPr id="121" name="Google Shape;121;p2">
              <a:extLst>
                <a:ext uri="{FF2B5EF4-FFF2-40B4-BE49-F238E27FC236}">
                  <a16:creationId xmlns:a16="http://schemas.microsoft.com/office/drawing/2014/main" id="{61A297B5-5B14-6262-4B84-9E2531A1D26D}"/>
                </a:ext>
              </a:extLst>
            </p:cNvPr>
            <p:cNvGrpSpPr/>
            <p:nvPr/>
          </p:nvGrpSpPr>
          <p:grpSpPr>
            <a:xfrm>
              <a:off x="7717061" y="1304012"/>
              <a:ext cx="355300" cy="355300"/>
              <a:chOff x="0" y="0"/>
              <a:chExt cx="812800" cy="812800"/>
            </a:xfrm>
          </p:grpSpPr>
          <p:sp>
            <p:nvSpPr>
              <p:cNvPr id="122" name="Google Shape;122;p2">
                <a:extLst>
                  <a:ext uri="{FF2B5EF4-FFF2-40B4-BE49-F238E27FC236}">
                    <a16:creationId xmlns:a16="http://schemas.microsoft.com/office/drawing/2014/main" id="{5BC31408-AC98-E9CC-FCF9-6DEBB60F4A2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E6B3EA"/>
                  </a:gs>
                  <a:gs pos="100000">
                    <a:srgbClr val="D2F6F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23" name="Google Shape;123;p2">
                <a:extLst>
                  <a:ext uri="{FF2B5EF4-FFF2-40B4-BE49-F238E27FC236}">
                    <a16:creationId xmlns:a16="http://schemas.microsoft.com/office/drawing/2014/main" id="{6ABA522F-F0E8-1547-8676-5D1D8F26AB7D}"/>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8777"/>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grpSp>
      <p:grpSp>
        <p:nvGrpSpPr>
          <p:cNvPr id="124" name="Google Shape;124;p2">
            <a:extLst>
              <a:ext uri="{FF2B5EF4-FFF2-40B4-BE49-F238E27FC236}">
                <a16:creationId xmlns:a16="http://schemas.microsoft.com/office/drawing/2014/main" id="{0D0283EA-D0AD-4EF6-2BA8-1239DE7138EE}"/>
              </a:ext>
            </a:extLst>
          </p:cNvPr>
          <p:cNvGrpSpPr/>
          <p:nvPr/>
        </p:nvGrpSpPr>
        <p:grpSpPr>
          <a:xfrm>
            <a:off x="7725084" y="5802489"/>
            <a:ext cx="6379929" cy="538417"/>
            <a:chOff x="7717061" y="1246862"/>
            <a:chExt cx="6379929" cy="538417"/>
          </a:xfrm>
        </p:grpSpPr>
        <p:sp>
          <p:nvSpPr>
            <p:cNvPr id="125" name="Google Shape;125;p2">
              <a:extLst>
                <a:ext uri="{FF2B5EF4-FFF2-40B4-BE49-F238E27FC236}">
                  <a16:creationId xmlns:a16="http://schemas.microsoft.com/office/drawing/2014/main" id="{467B2B4C-76F2-B46C-7111-7FCCD981CD38}"/>
                </a:ext>
              </a:extLst>
            </p:cNvPr>
            <p:cNvSpPr txBox="1"/>
            <p:nvPr/>
          </p:nvSpPr>
          <p:spPr>
            <a:xfrm>
              <a:off x="8418585" y="1246862"/>
              <a:ext cx="5678405" cy="538417"/>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Boas práticas e normas</a:t>
              </a:r>
            </a:p>
          </p:txBody>
        </p:sp>
        <p:grpSp>
          <p:nvGrpSpPr>
            <p:cNvPr id="126" name="Google Shape;126;p2">
              <a:extLst>
                <a:ext uri="{FF2B5EF4-FFF2-40B4-BE49-F238E27FC236}">
                  <a16:creationId xmlns:a16="http://schemas.microsoft.com/office/drawing/2014/main" id="{388496E6-06DB-5D3D-8712-FC396CBD3878}"/>
                </a:ext>
              </a:extLst>
            </p:cNvPr>
            <p:cNvGrpSpPr/>
            <p:nvPr/>
          </p:nvGrpSpPr>
          <p:grpSpPr>
            <a:xfrm>
              <a:off x="7717061" y="1304012"/>
              <a:ext cx="355300" cy="355300"/>
              <a:chOff x="0" y="0"/>
              <a:chExt cx="812800" cy="812800"/>
            </a:xfrm>
          </p:grpSpPr>
          <p:sp>
            <p:nvSpPr>
              <p:cNvPr id="127" name="Google Shape;127;p2">
                <a:extLst>
                  <a:ext uri="{FF2B5EF4-FFF2-40B4-BE49-F238E27FC236}">
                    <a16:creationId xmlns:a16="http://schemas.microsoft.com/office/drawing/2014/main" id="{C77401E1-1537-8FC5-BA4F-12FE6BEF193B}"/>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E6B3EA"/>
                  </a:gs>
                  <a:gs pos="100000">
                    <a:srgbClr val="D2F6F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28" name="Google Shape;128;p2">
                <a:extLst>
                  <a:ext uri="{FF2B5EF4-FFF2-40B4-BE49-F238E27FC236}">
                    <a16:creationId xmlns:a16="http://schemas.microsoft.com/office/drawing/2014/main" id="{A835ABCD-9B20-BD7A-9347-C972A3F948D8}"/>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8777"/>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grpSp>
      <p:grpSp>
        <p:nvGrpSpPr>
          <p:cNvPr id="129" name="Google Shape;129;p2">
            <a:extLst>
              <a:ext uri="{FF2B5EF4-FFF2-40B4-BE49-F238E27FC236}">
                <a16:creationId xmlns:a16="http://schemas.microsoft.com/office/drawing/2014/main" id="{857D81FC-AB65-A2E5-F739-057467CB768C}"/>
              </a:ext>
            </a:extLst>
          </p:cNvPr>
          <p:cNvGrpSpPr/>
          <p:nvPr/>
        </p:nvGrpSpPr>
        <p:grpSpPr>
          <a:xfrm>
            <a:off x="7717061" y="6707760"/>
            <a:ext cx="6379924" cy="412450"/>
            <a:chOff x="7717061" y="1246862"/>
            <a:chExt cx="6379924" cy="412450"/>
          </a:xfrm>
        </p:grpSpPr>
        <p:sp>
          <p:nvSpPr>
            <p:cNvPr id="130" name="Google Shape;130;p2">
              <a:extLst>
                <a:ext uri="{FF2B5EF4-FFF2-40B4-BE49-F238E27FC236}">
                  <a16:creationId xmlns:a16="http://schemas.microsoft.com/office/drawing/2014/main" id="{45A945F9-DF0B-A013-8EEE-1AECCB48E262}"/>
                </a:ext>
              </a:extLst>
            </p:cNvPr>
            <p:cNvSpPr txBox="1"/>
            <p:nvPr/>
          </p:nvSpPr>
          <p:spPr>
            <a:xfrm>
              <a:off x="8418585" y="1246862"/>
              <a:ext cx="5678400" cy="384600"/>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Conclusão</a:t>
              </a:r>
              <a:endParaRPr lang="pt-PT" sz="1400" b="0" i="0" u="none" strike="noStrike" cap="none" noProof="0" dirty="0">
                <a:solidFill>
                  <a:srgbClr val="000000"/>
                </a:solidFill>
                <a:latin typeface="Arial"/>
                <a:ea typeface="Arial"/>
                <a:cs typeface="Arial"/>
                <a:sym typeface="Arial"/>
              </a:endParaRPr>
            </a:p>
          </p:txBody>
        </p:sp>
        <p:grpSp>
          <p:nvGrpSpPr>
            <p:cNvPr id="131" name="Google Shape;131;p2">
              <a:extLst>
                <a:ext uri="{FF2B5EF4-FFF2-40B4-BE49-F238E27FC236}">
                  <a16:creationId xmlns:a16="http://schemas.microsoft.com/office/drawing/2014/main" id="{4CCC1C32-ED59-C235-F354-BA5B10A99566}"/>
                </a:ext>
              </a:extLst>
            </p:cNvPr>
            <p:cNvGrpSpPr/>
            <p:nvPr/>
          </p:nvGrpSpPr>
          <p:grpSpPr>
            <a:xfrm>
              <a:off x="7717061" y="1304012"/>
              <a:ext cx="355300" cy="355300"/>
              <a:chOff x="0" y="0"/>
              <a:chExt cx="812800" cy="812800"/>
            </a:xfrm>
          </p:grpSpPr>
          <p:sp>
            <p:nvSpPr>
              <p:cNvPr id="132" name="Google Shape;132;p2">
                <a:extLst>
                  <a:ext uri="{FF2B5EF4-FFF2-40B4-BE49-F238E27FC236}">
                    <a16:creationId xmlns:a16="http://schemas.microsoft.com/office/drawing/2014/main" id="{732560F5-CB2C-210F-12AA-4B1AEF2532DB}"/>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E6B3EA"/>
                  </a:gs>
                  <a:gs pos="100000">
                    <a:srgbClr val="D2F6F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33" name="Google Shape;133;p2">
                <a:extLst>
                  <a:ext uri="{FF2B5EF4-FFF2-40B4-BE49-F238E27FC236}">
                    <a16:creationId xmlns:a16="http://schemas.microsoft.com/office/drawing/2014/main" id="{10FEA646-E46A-DB22-8BA5-E586F45F82D9}"/>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8777"/>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1801875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B0A259B6-AFDD-5915-B436-36666E432F9B}"/>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36026C2C-6BE0-49C2-9818-B2FB6AFDD601}"/>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F068F4A2-A44C-F8B9-B30C-EFAEEAC1E1A8}"/>
              </a:ext>
            </a:extLst>
          </p:cNvPr>
          <p:cNvSpPr txBox="1"/>
          <p:nvPr/>
        </p:nvSpPr>
        <p:spPr>
          <a:xfrm>
            <a:off x="1195772" y="5243098"/>
            <a:ext cx="13021495" cy="1229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defRPr sz="6000" b="1" baseline="0">
                <a:solidFill>
                  <a:srgbClr val="101010"/>
                </a:solidFill>
                <a:latin typeface="Raleway" pitchFamily="2" charset="0"/>
              </a:defRPr>
            </a:lvl1pPr>
          </a:lstStyle>
          <a:p>
            <a:r>
              <a:rPr lang="pt-PT" noProof="0" dirty="0">
                <a:sym typeface="Raleway Black"/>
              </a:rPr>
              <a:t>IT, OT e IoT</a:t>
            </a:r>
          </a:p>
        </p:txBody>
      </p:sp>
      <p:cxnSp>
        <p:nvCxnSpPr>
          <p:cNvPr id="386" name="Google Shape;386;p28">
            <a:extLst>
              <a:ext uri="{FF2B5EF4-FFF2-40B4-BE49-F238E27FC236}">
                <a16:creationId xmlns:a16="http://schemas.microsoft.com/office/drawing/2014/main" id="{1E303F94-A36B-E709-F6C5-CD25FD5BFA25}"/>
              </a:ext>
            </a:extLst>
          </p:cNvPr>
          <p:cNvCxnSpPr/>
          <p:nvPr/>
        </p:nvCxnSpPr>
        <p:spPr>
          <a:xfrm>
            <a:off x="1195772" y="6472986"/>
            <a:ext cx="13021495" cy="0"/>
          </a:xfrm>
          <a:prstGeom prst="straightConnector1">
            <a:avLst/>
          </a:prstGeom>
          <a:noFill/>
          <a:ln w="19050" cap="flat" cmpd="sng">
            <a:solidFill>
              <a:srgbClr val="000000"/>
            </a:solidFill>
            <a:prstDash val="solid"/>
            <a:round/>
            <a:headEnd type="none" w="sm" len="sm"/>
            <a:tailEnd type="none" w="sm" len="sm"/>
          </a:ln>
        </p:spPr>
      </p:cxnSp>
    </p:spTree>
    <p:extLst>
      <p:ext uri="{BB962C8B-B14F-4D97-AF65-F5344CB8AC3E}">
        <p14:creationId xmlns:p14="http://schemas.microsoft.com/office/powerpoint/2010/main" val="1165271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25748883-05CF-48E9-2B48-D80491B04FEA}"/>
            </a:ext>
          </a:extLst>
        </p:cNvPr>
        <p:cNvGrpSpPr/>
        <p:nvPr/>
      </p:nvGrpSpPr>
      <p:grpSpPr>
        <a:xfrm>
          <a:off x="0" y="0"/>
          <a:ext cx="0" cy="0"/>
          <a:chOff x="0" y="0"/>
          <a:chExt cx="0" cy="0"/>
        </a:xfrm>
      </p:grpSpPr>
      <p:sp>
        <p:nvSpPr>
          <p:cNvPr id="188" name="Google Shape;188;p5">
            <a:extLst>
              <a:ext uri="{FF2B5EF4-FFF2-40B4-BE49-F238E27FC236}">
                <a16:creationId xmlns:a16="http://schemas.microsoft.com/office/drawing/2014/main" id="{5E1EAECE-BFB5-C70D-F8C7-713129C366FE}"/>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nvGrpSpPr>
          <p:cNvPr id="193" name="Google Shape;193;p5">
            <a:extLst>
              <a:ext uri="{FF2B5EF4-FFF2-40B4-BE49-F238E27FC236}">
                <a16:creationId xmlns:a16="http://schemas.microsoft.com/office/drawing/2014/main" id="{1BD5253C-80B1-2B90-0127-F2892717781A}"/>
              </a:ext>
            </a:extLst>
          </p:cNvPr>
          <p:cNvGrpSpPr/>
          <p:nvPr/>
        </p:nvGrpSpPr>
        <p:grpSpPr>
          <a:xfrm>
            <a:off x="1603015" y="3565097"/>
            <a:ext cx="4569185" cy="4157788"/>
            <a:chOff x="0" y="-47625"/>
            <a:chExt cx="1437753" cy="1940938"/>
          </a:xfrm>
        </p:grpSpPr>
        <p:sp>
          <p:nvSpPr>
            <p:cNvPr id="194" name="Google Shape;194;p5">
              <a:extLst>
                <a:ext uri="{FF2B5EF4-FFF2-40B4-BE49-F238E27FC236}">
                  <a16:creationId xmlns:a16="http://schemas.microsoft.com/office/drawing/2014/main" id="{682A72AD-F059-8D76-C1D8-737CAB1368DA}"/>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5" name="Google Shape;195;p5">
              <a:extLst>
                <a:ext uri="{FF2B5EF4-FFF2-40B4-BE49-F238E27FC236}">
                  <a16:creationId xmlns:a16="http://schemas.microsoft.com/office/drawing/2014/main" id="{5CC4CBAF-D2C4-EFAB-D9F0-1D49F0F94C7A}"/>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cxnSp>
        <p:nvCxnSpPr>
          <p:cNvPr id="189" name="Google Shape;189;p5">
            <a:extLst>
              <a:ext uri="{FF2B5EF4-FFF2-40B4-BE49-F238E27FC236}">
                <a16:creationId xmlns:a16="http://schemas.microsoft.com/office/drawing/2014/main" id="{52D47F13-B806-073D-148C-664533ECBD84}"/>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90" name="Google Shape;190;p5">
            <a:extLst>
              <a:ext uri="{FF2B5EF4-FFF2-40B4-BE49-F238E27FC236}">
                <a16:creationId xmlns:a16="http://schemas.microsoft.com/office/drawing/2014/main" id="{DD55C23C-BA99-1341-C365-F4070DFD3DBE}"/>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1" name="Google Shape;191;p5">
            <a:extLst>
              <a:ext uri="{FF2B5EF4-FFF2-40B4-BE49-F238E27FC236}">
                <a16:creationId xmlns:a16="http://schemas.microsoft.com/office/drawing/2014/main" id="{8A8AE000-D48F-E8DA-C378-D32BAF8EC5C3}"/>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499"/>
              <a:buFont typeface="Arial"/>
              <a:buNone/>
            </a:pPr>
            <a:r>
              <a:rPr lang="pt-PT" sz="7499" i="0" u="none" strike="noStrike" cap="none" noProof="0" dirty="0">
                <a:solidFill>
                  <a:srgbClr val="000000"/>
                </a:solidFill>
                <a:latin typeface="Raleway Black"/>
                <a:ea typeface="Raleway Black"/>
                <a:cs typeface="Raleway Black"/>
                <a:sym typeface="Raleway Black"/>
              </a:rPr>
              <a:t>IT, OT e IoT</a:t>
            </a:r>
          </a:p>
        </p:txBody>
      </p:sp>
      <p:sp>
        <p:nvSpPr>
          <p:cNvPr id="196" name="Google Shape;196;p5">
            <a:extLst>
              <a:ext uri="{FF2B5EF4-FFF2-40B4-BE49-F238E27FC236}">
                <a16:creationId xmlns:a16="http://schemas.microsoft.com/office/drawing/2014/main" id="{A3A52FF3-88B1-BF80-480A-66FAEB7F6008}"/>
              </a:ext>
            </a:extLst>
          </p:cNvPr>
          <p:cNvSpPr txBox="1"/>
          <p:nvPr/>
        </p:nvSpPr>
        <p:spPr>
          <a:xfrm>
            <a:off x="1603014" y="5168340"/>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IT</a:t>
            </a:r>
            <a:endParaRPr lang="pt-PT" sz="1400" b="0" i="0" u="none" strike="noStrike" cap="none" noProof="0" dirty="0">
              <a:solidFill>
                <a:srgbClr val="000000"/>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F0EDBD26-9B75-D3C4-9CF8-65F36CBBFD38}"/>
              </a:ext>
            </a:extLst>
          </p:cNvPr>
          <p:cNvSpPr txBox="1"/>
          <p:nvPr/>
        </p:nvSpPr>
        <p:spPr>
          <a:xfrm>
            <a:off x="1937822" y="5886458"/>
            <a:ext cx="4081977" cy="1378839"/>
          </a:xfrm>
          <a:prstGeom prst="rect">
            <a:avLst/>
          </a:prstGeom>
          <a:noFill/>
          <a:ln>
            <a:noFill/>
          </a:ln>
        </p:spPr>
        <p:txBody>
          <a:bodyPr spcFirstLastPara="1" wrap="square" lIns="0" tIns="0" rIns="0" bIns="0" anchor="t" anchorCtr="0">
            <a:spAutoFit/>
          </a:bodyPr>
          <a:lstStyle/>
          <a:p>
            <a:pPr lvl="0" algn="ctr">
              <a:lnSpc>
                <a:spcPct val="111950"/>
              </a:lnSpc>
              <a:buClr>
                <a:srgbClr val="000000"/>
              </a:buClr>
              <a:buSzPts val="2000"/>
            </a:pPr>
            <a:r>
              <a:rPr lang="pt-BR" sz="2000" b="1" dirty="0">
                <a:solidFill>
                  <a:srgbClr val="101010"/>
                </a:solidFill>
                <a:latin typeface="Raleway"/>
                <a:ea typeface="Raleway"/>
                <a:cs typeface="Raleway"/>
                <a:sym typeface="Raleway"/>
              </a:rPr>
              <a:t>Tecnologia da Informação</a:t>
            </a:r>
          </a:p>
          <a:p>
            <a:pPr lvl="0" algn="ctr">
              <a:lnSpc>
                <a:spcPct val="111950"/>
              </a:lnSpc>
              <a:buClr>
                <a:srgbClr val="000000"/>
              </a:buClr>
              <a:buSzPts val="2000"/>
            </a:pPr>
            <a:endParaRPr lang="pt-BR" sz="2000" dirty="0">
              <a:solidFill>
                <a:srgbClr val="101010"/>
              </a:solidFill>
              <a:latin typeface="Raleway"/>
              <a:ea typeface="Raleway"/>
              <a:cs typeface="Raleway"/>
              <a:sym typeface="Raleway"/>
            </a:endParaRPr>
          </a:p>
          <a:p>
            <a:pPr lvl="0" algn="ctr">
              <a:lnSpc>
                <a:spcPct val="111950"/>
              </a:lnSpc>
              <a:buClr>
                <a:srgbClr val="000000"/>
              </a:buClr>
              <a:buSzPts val="2000"/>
            </a:pPr>
            <a:r>
              <a:rPr lang="pt-BR" sz="2000" dirty="0">
                <a:solidFill>
                  <a:srgbClr val="101010"/>
                </a:solidFill>
                <a:latin typeface="Raleway"/>
                <a:ea typeface="Raleway"/>
                <a:cs typeface="Raleway"/>
                <a:sym typeface="Raleway"/>
              </a:rPr>
              <a:t>Lida </a:t>
            </a:r>
            <a:r>
              <a:rPr lang="pt-BR" sz="2000" b="0" i="0" u="none" strike="noStrike" cap="none" noProof="0" dirty="0">
                <a:solidFill>
                  <a:srgbClr val="101010"/>
                </a:solidFill>
                <a:latin typeface="Raleway"/>
                <a:ea typeface="Raleway"/>
                <a:cs typeface="Raleway"/>
                <a:sym typeface="Raleway"/>
              </a:rPr>
              <a:t>com dados e sistemas digitais</a:t>
            </a:r>
          </a:p>
        </p:txBody>
      </p:sp>
      <p:grpSp>
        <p:nvGrpSpPr>
          <p:cNvPr id="198" name="Google Shape;198;p5">
            <a:extLst>
              <a:ext uri="{FF2B5EF4-FFF2-40B4-BE49-F238E27FC236}">
                <a16:creationId xmlns:a16="http://schemas.microsoft.com/office/drawing/2014/main" id="{73C74687-1FA4-A0FF-8AB1-2F1366A5E8DC}"/>
              </a:ext>
            </a:extLst>
          </p:cNvPr>
          <p:cNvGrpSpPr/>
          <p:nvPr/>
        </p:nvGrpSpPr>
        <p:grpSpPr>
          <a:xfrm>
            <a:off x="6973295" y="3565097"/>
            <a:ext cx="4569185" cy="4157788"/>
            <a:chOff x="0" y="-47625"/>
            <a:chExt cx="1437753" cy="1940938"/>
          </a:xfrm>
        </p:grpSpPr>
        <p:sp>
          <p:nvSpPr>
            <p:cNvPr id="199" name="Google Shape;199;p5">
              <a:extLst>
                <a:ext uri="{FF2B5EF4-FFF2-40B4-BE49-F238E27FC236}">
                  <a16:creationId xmlns:a16="http://schemas.microsoft.com/office/drawing/2014/main" id="{C6168A41-2E1B-B66A-CEA6-750E7A4CF7D9}"/>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0" name="Google Shape;200;p5">
              <a:extLst>
                <a:ext uri="{FF2B5EF4-FFF2-40B4-BE49-F238E27FC236}">
                  <a16:creationId xmlns:a16="http://schemas.microsoft.com/office/drawing/2014/main" id="{45F673B7-F9ED-44D5-A001-993F24339221}"/>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1" name="Google Shape;201;p5">
            <a:extLst>
              <a:ext uri="{FF2B5EF4-FFF2-40B4-BE49-F238E27FC236}">
                <a16:creationId xmlns:a16="http://schemas.microsoft.com/office/drawing/2014/main" id="{D2489A6A-9DF1-AC36-6BBD-F708DE25EEE1}"/>
              </a:ext>
            </a:extLst>
          </p:cNvPr>
          <p:cNvSpPr txBox="1"/>
          <p:nvPr/>
        </p:nvSpPr>
        <p:spPr>
          <a:xfrm>
            <a:off x="6973294" y="5168340"/>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OT</a:t>
            </a:r>
            <a:endParaRPr lang="pt-PT" sz="1400" b="0" i="0" u="none" strike="noStrike" cap="none" noProof="0" dirty="0">
              <a:solidFill>
                <a:srgbClr val="000000"/>
              </a:solidFill>
              <a:latin typeface="Arial"/>
              <a:ea typeface="Arial"/>
              <a:cs typeface="Arial"/>
              <a:sym typeface="Arial"/>
            </a:endParaRPr>
          </a:p>
        </p:txBody>
      </p:sp>
      <p:sp>
        <p:nvSpPr>
          <p:cNvPr id="202" name="Google Shape;202;p5">
            <a:extLst>
              <a:ext uri="{FF2B5EF4-FFF2-40B4-BE49-F238E27FC236}">
                <a16:creationId xmlns:a16="http://schemas.microsoft.com/office/drawing/2014/main" id="{7F15CC33-D8AB-EFAF-1F03-522AB849E3A9}"/>
              </a:ext>
            </a:extLst>
          </p:cNvPr>
          <p:cNvSpPr txBox="1"/>
          <p:nvPr/>
        </p:nvSpPr>
        <p:spPr>
          <a:xfrm>
            <a:off x="7308102" y="5886458"/>
            <a:ext cx="4082100" cy="1034129"/>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BR" sz="2000" b="1" i="0" u="none" strike="noStrike" cap="none" noProof="0" dirty="0">
                <a:solidFill>
                  <a:srgbClr val="101010"/>
                </a:solidFill>
                <a:latin typeface="Raleway"/>
                <a:ea typeface="Raleway"/>
                <a:cs typeface="Raleway"/>
                <a:sym typeface="Raleway"/>
              </a:rPr>
              <a:t>Tecnologia Operacional</a:t>
            </a:r>
          </a:p>
          <a:p>
            <a:pPr marL="0" marR="0" lvl="0" indent="0" algn="ctr" rtl="0">
              <a:lnSpc>
                <a:spcPct val="111950"/>
              </a:lnSpc>
              <a:spcBef>
                <a:spcPts val="0"/>
              </a:spcBef>
              <a:spcAft>
                <a:spcPts val="0"/>
              </a:spcAft>
              <a:buClr>
                <a:srgbClr val="000000"/>
              </a:buClr>
              <a:buSzPts val="2000"/>
              <a:buFont typeface="Arial"/>
              <a:buNone/>
            </a:pPr>
            <a:endParaRPr lang="pt-BR" sz="2000" dirty="0">
              <a:solidFill>
                <a:srgbClr val="101010"/>
              </a:solidFill>
              <a:latin typeface="Raleway"/>
              <a:ea typeface="Raleway"/>
              <a:cs typeface="Raleway"/>
              <a:sym typeface="Raleway"/>
            </a:endParaRPr>
          </a:p>
          <a:p>
            <a:pPr marL="0" marR="0" lvl="0" indent="0" algn="ctr" rtl="0">
              <a:lnSpc>
                <a:spcPct val="111950"/>
              </a:lnSpc>
              <a:spcBef>
                <a:spcPts val="0"/>
              </a:spcBef>
              <a:spcAft>
                <a:spcPts val="0"/>
              </a:spcAft>
              <a:buClr>
                <a:srgbClr val="000000"/>
              </a:buClr>
              <a:buSzPts val="2000"/>
              <a:buFont typeface="Arial"/>
              <a:buNone/>
            </a:pPr>
            <a:r>
              <a:rPr lang="pt-BR" sz="2000" dirty="0">
                <a:solidFill>
                  <a:srgbClr val="101010"/>
                </a:solidFill>
                <a:latin typeface="Raleway"/>
                <a:ea typeface="Raleway"/>
                <a:cs typeface="Raleway"/>
                <a:sym typeface="Raleway"/>
              </a:rPr>
              <a:t>C</a:t>
            </a:r>
            <a:r>
              <a:rPr lang="pt-BR" sz="2000" b="0" i="0" u="none" strike="noStrike" cap="none" noProof="0" dirty="0">
                <a:solidFill>
                  <a:srgbClr val="101010"/>
                </a:solidFill>
                <a:latin typeface="Raleway"/>
                <a:ea typeface="Raleway"/>
                <a:cs typeface="Raleway"/>
                <a:sym typeface="Raleway"/>
              </a:rPr>
              <a:t>ontrola processos físicos</a:t>
            </a:r>
          </a:p>
        </p:txBody>
      </p:sp>
      <p:grpSp>
        <p:nvGrpSpPr>
          <p:cNvPr id="203" name="Google Shape;203;p5">
            <a:extLst>
              <a:ext uri="{FF2B5EF4-FFF2-40B4-BE49-F238E27FC236}">
                <a16:creationId xmlns:a16="http://schemas.microsoft.com/office/drawing/2014/main" id="{78FD60F8-33CA-8EDF-9063-F5F472CC9008}"/>
              </a:ext>
            </a:extLst>
          </p:cNvPr>
          <p:cNvGrpSpPr/>
          <p:nvPr/>
        </p:nvGrpSpPr>
        <p:grpSpPr>
          <a:xfrm>
            <a:off x="12343575" y="3565097"/>
            <a:ext cx="4569185" cy="4157788"/>
            <a:chOff x="0" y="-47625"/>
            <a:chExt cx="1437753" cy="1940938"/>
          </a:xfrm>
        </p:grpSpPr>
        <p:sp>
          <p:nvSpPr>
            <p:cNvPr id="204" name="Google Shape;204;p5">
              <a:extLst>
                <a:ext uri="{FF2B5EF4-FFF2-40B4-BE49-F238E27FC236}">
                  <a16:creationId xmlns:a16="http://schemas.microsoft.com/office/drawing/2014/main" id="{F2A93B2B-FF7E-B83B-9CF2-8AA033358784}"/>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5" name="Google Shape;205;p5">
              <a:extLst>
                <a:ext uri="{FF2B5EF4-FFF2-40B4-BE49-F238E27FC236}">
                  <a16:creationId xmlns:a16="http://schemas.microsoft.com/office/drawing/2014/main" id="{3D401257-83CD-FEF0-E41C-C99C497C8DF2}"/>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6" name="Google Shape;206;p5">
            <a:extLst>
              <a:ext uri="{FF2B5EF4-FFF2-40B4-BE49-F238E27FC236}">
                <a16:creationId xmlns:a16="http://schemas.microsoft.com/office/drawing/2014/main" id="{07F89976-E6F7-CFA4-4464-1EB8D706C757}"/>
              </a:ext>
            </a:extLst>
          </p:cNvPr>
          <p:cNvSpPr txBox="1"/>
          <p:nvPr/>
        </p:nvSpPr>
        <p:spPr>
          <a:xfrm>
            <a:off x="12343574" y="5168340"/>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IoT</a:t>
            </a:r>
            <a:endParaRPr lang="pt-PT" sz="1400" b="0" i="0" u="none" strike="noStrike" cap="none" noProof="0" dirty="0">
              <a:solidFill>
                <a:srgbClr val="000000"/>
              </a:solidFill>
              <a:latin typeface="Arial"/>
              <a:ea typeface="Arial"/>
              <a:cs typeface="Arial"/>
              <a:sym typeface="Arial"/>
            </a:endParaRPr>
          </a:p>
        </p:txBody>
      </p:sp>
      <p:sp>
        <p:nvSpPr>
          <p:cNvPr id="207" name="Google Shape;207;p5">
            <a:extLst>
              <a:ext uri="{FF2B5EF4-FFF2-40B4-BE49-F238E27FC236}">
                <a16:creationId xmlns:a16="http://schemas.microsoft.com/office/drawing/2014/main" id="{A9EAB2C9-B1E2-24F8-5E0F-202B36DFF6B4}"/>
              </a:ext>
            </a:extLst>
          </p:cNvPr>
          <p:cNvSpPr txBox="1"/>
          <p:nvPr/>
        </p:nvSpPr>
        <p:spPr>
          <a:xfrm>
            <a:off x="12678382" y="5886458"/>
            <a:ext cx="4082100" cy="1034129"/>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BR" sz="2000" b="1" dirty="0">
                <a:solidFill>
                  <a:srgbClr val="101010"/>
                </a:solidFill>
                <a:latin typeface="Raleway"/>
                <a:ea typeface="Raleway"/>
                <a:cs typeface="Raleway"/>
                <a:sym typeface="Raleway"/>
              </a:rPr>
              <a:t>Internet das Coisas</a:t>
            </a:r>
          </a:p>
          <a:p>
            <a:pPr marL="0" marR="0" lvl="0" indent="0" algn="ctr" rtl="0">
              <a:lnSpc>
                <a:spcPct val="111950"/>
              </a:lnSpc>
              <a:spcBef>
                <a:spcPts val="0"/>
              </a:spcBef>
              <a:spcAft>
                <a:spcPts val="0"/>
              </a:spcAft>
              <a:buClr>
                <a:srgbClr val="000000"/>
              </a:buClr>
              <a:buSzPts val="2000"/>
              <a:buFont typeface="Arial"/>
              <a:buNone/>
            </a:pPr>
            <a:endParaRPr lang="pt-BR" sz="2000" dirty="0">
              <a:solidFill>
                <a:srgbClr val="101010"/>
              </a:solidFill>
              <a:latin typeface="Raleway"/>
              <a:ea typeface="Raleway"/>
              <a:cs typeface="Raleway"/>
              <a:sym typeface="Raleway"/>
            </a:endParaRPr>
          </a:p>
          <a:p>
            <a:pPr marL="0" marR="0" lvl="0" indent="0" algn="ctr" rtl="0">
              <a:lnSpc>
                <a:spcPct val="111950"/>
              </a:lnSpc>
              <a:spcBef>
                <a:spcPts val="0"/>
              </a:spcBef>
              <a:spcAft>
                <a:spcPts val="0"/>
              </a:spcAft>
              <a:buClr>
                <a:srgbClr val="000000"/>
              </a:buClr>
              <a:buSzPts val="2000"/>
              <a:buFont typeface="Arial"/>
              <a:buNone/>
            </a:pPr>
            <a:r>
              <a:rPr lang="pt-BR" sz="2000" dirty="0">
                <a:solidFill>
                  <a:srgbClr val="101010"/>
                </a:solidFill>
                <a:latin typeface="Raleway"/>
                <a:ea typeface="Raleway"/>
                <a:cs typeface="Raleway"/>
                <a:sym typeface="Raleway"/>
              </a:rPr>
              <a:t>Convergência entre IT e OT</a:t>
            </a:r>
          </a:p>
        </p:txBody>
      </p:sp>
      <p:sp>
        <p:nvSpPr>
          <p:cNvPr id="211" name="Google Shape;211;p5">
            <a:extLst>
              <a:ext uri="{FF2B5EF4-FFF2-40B4-BE49-F238E27FC236}">
                <a16:creationId xmlns:a16="http://schemas.microsoft.com/office/drawing/2014/main" id="{380B8413-60F5-FC66-96C9-A794DCF07D1B}"/>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BR" sz="2800" b="0" i="0" u="none" strike="noStrike" cap="none" noProof="0" dirty="0">
                <a:solidFill>
                  <a:srgbClr val="7F7F7F"/>
                </a:solidFill>
                <a:latin typeface="Raleway"/>
                <a:ea typeface="Raleway"/>
                <a:cs typeface="Raleway"/>
                <a:sym typeface="Raleway"/>
              </a:rPr>
              <a:t>Convergência entre IT e OT na Internet das Coisas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7260026A-D98F-2E06-31B7-A26698832020}"/>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6</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3" name="Google Shape;207;p5">
            <a:extLst>
              <a:ext uri="{FF2B5EF4-FFF2-40B4-BE49-F238E27FC236}">
                <a16:creationId xmlns:a16="http://schemas.microsoft.com/office/drawing/2014/main" id="{8C9DF469-6065-A823-F59A-451A62C0BBE7}"/>
              </a:ext>
            </a:extLst>
          </p:cNvPr>
          <p:cNvSpPr txBox="1"/>
          <p:nvPr/>
        </p:nvSpPr>
        <p:spPr>
          <a:xfrm>
            <a:off x="11550409" y="8073811"/>
            <a:ext cx="6155509" cy="344710"/>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BR" sz="2000" dirty="0">
                <a:solidFill>
                  <a:srgbClr val="101010"/>
                </a:solidFill>
                <a:latin typeface="Raleway"/>
                <a:ea typeface="Raleway"/>
                <a:cs typeface="Raleway"/>
                <a:sym typeface="Raleway"/>
              </a:rPr>
              <a:t>Sabiam que o “S” em IoT significa segurança?</a:t>
            </a:r>
          </a:p>
        </p:txBody>
      </p:sp>
      <p:pic>
        <p:nvPicPr>
          <p:cNvPr id="5" name="Picture 4">
            <a:extLst>
              <a:ext uri="{FF2B5EF4-FFF2-40B4-BE49-F238E27FC236}">
                <a16:creationId xmlns:a16="http://schemas.microsoft.com/office/drawing/2014/main" id="{45903C49-A16C-8DC1-6431-5FDB04A15A07}"/>
              </a:ext>
            </a:extLst>
          </p:cNvPr>
          <p:cNvPicPr>
            <a:picLocks noChangeAspect="1"/>
          </p:cNvPicPr>
          <p:nvPr/>
        </p:nvPicPr>
        <p:blipFill>
          <a:blip r:embed="rId5"/>
          <a:stretch>
            <a:fillRect/>
          </a:stretch>
        </p:blipFill>
        <p:spPr>
          <a:xfrm>
            <a:off x="8781569" y="4210862"/>
            <a:ext cx="952633" cy="952633"/>
          </a:xfrm>
          <a:prstGeom prst="rect">
            <a:avLst/>
          </a:prstGeom>
        </p:spPr>
      </p:pic>
      <p:pic>
        <p:nvPicPr>
          <p:cNvPr id="13" name="Picture 12">
            <a:extLst>
              <a:ext uri="{FF2B5EF4-FFF2-40B4-BE49-F238E27FC236}">
                <a16:creationId xmlns:a16="http://schemas.microsoft.com/office/drawing/2014/main" id="{707D4D44-DD19-6F72-876C-514DB22026D9}"/>
              </a:ext>
            </a:extLst>
          </p:cNvPr>
          <p:cNvPicPr>
            <a:picLocks noChangeAspect="1"/>
          </p:cNvPicPr>
          <p:nvPr/>
        </p:nvPicPr>
        <p:blipFill>
          <a:blip r:embed="rId6"/>
          <a:stretch>
            <a:fillRect/>
          </a:stretch>
        </p:blipFill>
        <p:spPr>
          <a:xfrm>
            <a:off x="14151848" y="4209543"/>
            <a:ext cx="952633" cy="952633"/>
          </a:xfrm>
          <a:prstGeom prst="rect">
            <a:avLst/>
          </a:prstGeom>
        </p:spPr>
      </p:pic>
      <p:pic>
        <p:nvPicPr>
          <p:cNvPr id="16" name="Picture 15">
            <a:extLst>
              <a:ext uri="{FF2B5EF4-FFF2-40B4-BE49-F238E27FC236}">
                <a16:creationId xmlns:a16="http://schemas.microsoft.com/office/drawing/2014/main" id="{BA445832-9F55-6AF1-FFA6-6BB739048549}"/>
              </a:ext>
            </a:extLst>
          </p:cNvPr>
          <p:cNvPicPr>
            <a:picLocks noChangeAspect="1"/>
          </p:cNvPicPr>
          <p:nvPr/>
        </p:nvPicPr>
        <p:blipFill>
          <a:blip r:embed="rId7"/>
          <a:stretch>
            <a:fillRect/>
          </a:stretch>
        </p:blipFill>
        <p:spPr>
          <a:xfrm>
            <a:off x="3411288" y="4209543"/>
            <a:ext cx="952633" cy="952633"/>
          </a:xfrm>
          <a:prstGeom prst="rect">
            <a:avLst/>
          </a:prstGeom>
        </p:spPr>
      </p:pic>
    </p:spTree>
    <p:extLst>
      <p:ext uri="{BB962C8B-B14F-4D97-AF65-F5344CB8AC3E}">
        <p14:creationId xmlns:p14="http://schemas.microsoft.com/office/powerpoint/2010/main" val="1972012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5E3426D5-FF7B-42E1-674E-F76D91C447EA}"/>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33AFB6F9-C819-3BBE-3362-FF4EB17B2EE2}"/>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60" name="Google Shape;160;p4">
            <a:extLst>
              <a:ext uri="{FF2B5EF4-FFF2-40B4-BE49-F238E27FC236}">
                <a16:creationId xmlns:a16="http://schemas.microsoft.com/office/drawing/2014/main" id="{14295D65-7FAA-0456-C18D-1E8DB6BFFBE6}"/>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61" name="Google Shape;161;p4">
            <a:extLst>
              <a:ext uri="{FF2B5EF4-FFF2-40B4-BE49-F238E27FC236}">
                <a16:creationId xmlns:a16="http://schemas.microsoft.com/office/drawing/2014/main" id="{FE81C377-A30A-D18B-F648-255C4FF5983B}"/>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77" name="Google Shape;177;p4">
            <a:extLst>
              <a:ext uri="{FF2B5EF4-FFF2-40B4-BE49-F238E27FC236}">
                <a16:creationId xmlns:a16="http://schemas.microsoft.com/office/drawing/2014/main" id="{59579D94-B8CE-2E30-345A-EED274DAF20D}"/>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Prioridades e características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B4271AB7-1913-43A5-B146-A7E68B3AEF37}"/>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7</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3" name="Google Shape;142;p3">
            <a:extLst>
              <a:ext uri="{FF2B5EF4-FFF2-40B4-BE49-F238E27FC236}">
                <a16:creationId xmlns:a16="http://schemas.microsoft.com/office/drawing/2014/main" id="{46EBFB1D-6B72-FEF4-91EE-F4C98B03F31B}"/>
              </a:ext>
            </a:extLst>
          </p:cNvPr>
          <p:cNvSpPr txBox="1"/>
          <p:nvPr/>
        </p:nvSpPr>
        <p:spPr>
          <a:xfrm>
            <a:off x="2747139" y="1058170"/>
            <a:ext cx="13272713" cy="1229888"/>
          </a:xfrm>
          <a:prstGeom prst="rect">
            <a:avLst/>
          </a:prstGeom>
          <a:noFill/>
          <a:ln>
            <a:noFill/>
          </a:ln>
        </p:spPr>
        <p:txBody>
          <a:bodyPr spcFirstLastPara="1" wrap="square" lIns="0" tIns="0" rIns="0" bIns="0" anchor="t" anchorCtr="0">
            <a:spAutoFit/>
          </a:bodyPr>
          <a:lstStyle>
            <a:defPPr>
              <a:defRPr lang="en-US"/>
            </a:defPPr>
            <a:lvl1pPr marR="0" lvl="0" indent="0">
              <a:lnSpc>
                <a:spcPct val="111001"/>
              </a:lnSpc>
              <a:spcBef>
                <a:spcPts val="0"/>
              </a:spcBef>
              <a:spcAft>
                <a:spcPts val="0"/>
              </a:spcAft>
              <a:buClr>
                <a:srgbClr val="000000"/>
              </a:buClr>
              <a:buSzPts val="7499"/>
              <a:buFont typeface="Arial"/>
              <a:buNone/>
              <a:defRPr sz="7499" b="1" i="0" u="none" strike="noStrike" cap="none">
                <a:solidFill>
                  <a:srgbClr val="000000"/>
                </a:solidFill>
                <a:latin typeface="Raleway Black"/>
                <a:ea typeface="Raleway Black"/>
                <a:cs typeface="Raleway Black"/>
              </a:defRPr>
            </a:lvl1pPr>
          </a:lstStyle>
          <a:p>
            <a:r>
              <a:rPr lang="pt-BR" b="0" dirty="0">
                <a:sym typeface="Raleway Black"/>
              </a:rPr>
              <a:t>IT vs OT</a:t>
            </a:r>
          </a:p>
        </p:txBody>
      </p:sp>
      <p:graphicFrame>
        <p:nvGraphicFramePr>
          <p:cNvPr id="5" name="Table 4">
            <a:extLst>
              <a:ext uri="{FF2B5EF4-FFF2-40B4-BE49-F238E27FC236}">
                <a16:creationId xmlns:a16="http://schemas.microsoft.com/office/drawing/2014/main" id="{7885855D-423C-DFD8-8719-67C83E8370DC}"/>
              </a:ext>
            </a:extLst>
          </p:cNvPr>
          <p:cNvGraphicFramePr>
            <a:graphicFrameLocks noGrp="1"/>
          </p:cNvGraphicFramePr>
          <p:nvPr>
            <p:extLst>
              <p:ext uri="{D42A27DB-BD31-4B8C-83A1-F6EECF244321}">
                <p14:modId xmlns:p14="http://schemas.microsoft.com/office/powerpoint/2010/main" val="731451344"/>
              </p:ext>
            </p:extLst>
          </p:nvPr>
        </p:nvGraphicFramePr>
        <p:xfrm>
          <a:off x="2743200" y="3296003"/>
          <a:ext cx="13039182" cy="4890522"/>
        </p:xfrm>
        <a:graphic>
          <a:graphicData uri="http://schemas.openxmlformats.org/drawingml/2006/table">
            <a:tbl>
              <a:tblPr firstRow="1" bandRow="1">
                <a:tableStyleId>{5C22544A-7EE6-4342-B048-85BDC9FD1C3A}</a:tableStyleId>
              </a:tblPr>
              <a:tblGrid>
                <a:gridCol w="3449053">
                  <a:extLst>
                    <a:ext uri="{9D8B030D-6E8A-4147-A177-3AD203B41FA5}">
                      <a16:colId xmlns:a16="http://schemas.microsoft.com/office/drawing/2014/main" val="3072481838"/>
                    </a:ext>
                  </a:extLst>
                </a:gridCol>
                <a:gridCol w="4591861">
                  <a:extLst>
                    <a:ext uri="{9D8B030D-6E8A-4147-A177-3AD203B41FA5}">
                      <a16:colId xmlns:a16="http://schemas.microsoft.com/office/drawing/2014/main" val="1828807181"/>
                    </a:ext>
                  </a:extLst>
                </a:gridCol>
                <a:gridCol w="4998268">
                  <a:extLst>
                    <a:ext uri="{9D8B030D-6E8A-4147-A177-3AD203B41FA5}">
                      <a16:colId xmlns:a16="http://schemas.microsoft.com/office/drawing/2014/main" val="847604177"/>
                    </a:ext>
                  </a:extLst>
                </a:gridCol>
              </a:tblGrid>
              <a:tr h="815087">
                <a:tc>
                  <a:txBody>
                    <a:bodyPr/>
                    <a:lstStyle/>
                    <a:p>
                      <a:pPr lvl="0" algn="ctr" fontAlgn="b">
                        <a:buNone/>
                      </a:pPr>
                      <a:r>
                        <a:rPr lang="pt-PT" sz="2400" b="0" i="0" u="none" strike="noStrike" noProof="0" dirty="0">
                          <a:solidFill>
                            <a:srgbClr val="000000"/>
                          </a:solidFill>
                          <a:effectLst/>
                          <a:latin typeface="Aptos Narrow" panose="020B0004020202020204" pitchFamily="34" charset="0"/>
                        </a:rPr>
                        <a:t>  Característica</a:t>
                      </a:r>
                    </a:p>
                  </a:txBody>
                  <a:tcPr marL="9525" marR="9525" marT="9525" marB="0" anchor="ctr"/>
                </a:tc>
                <a:tc>
                  <a:txBody>
                    <a:bodyPr/>
                    <a:lstStyle/>
                    <a:p>
                      <a:pPr algn="ctr" fontAlgn="b">
                        <a:buNone/>
                      </a:pPr>
                      <a:r>
                        <a:rPr lang="pt-PT" sz="2400" b="0" i="0" u="none" strike="noStrike" noProof="0" dirty="0">
                          <a:solidFill>
                            <a:srgbClr val="000000"/>
                          </a:solidFill>
                          <a:effectLst/>
                          <a:latin typeface="Aptos Narrow" panose="020B0004020202020204" pitchFamily="34" charset="0"/>
                        </a:rPr>
                        <a:t>IT</a:t>
                      </a:r>
                    </a:p>
                  </a:txBody>
                  <a:tcPr marL="9525" marR="9525" marT="9525" marB="0" anchor="ctr"/>
                </a:tc>
                <a:tc>
                  <a:txBody>
                    <a:bodyPr/>
                    <a:lstStyle/>
                    <a:p>
                      <a:pPr algn="ctr" fontAlgn="b">
                        <a:buNone/>
                      </a:pPr>
                      <a:r>
                        <a:rPr lang="pt-PT" sz="2400" b="0" i="0" u="none" strike="noStrike" noProof="0" dirty="0">
                          <a:solidFill>
                            <a:srgbClr val="000000"/>
                          </a:solidFill>
                          <a:effectLst/>
                          <a:latin typeface="Aptos Narrow" panose="020B0004020202020204" pitchFamily="34" charset="0"/>
                        </a:rPr>
                        <a:t>OT</a:t>
                      </a:r>
                    </a:p>
                  </a:txBody>
                  <a:tcPr marL="9525" marR="9525" marT="9525" marB="0" anchor="ctr"/>
                </a:tc>
                <a:extLst>
                  <a:ext uri="{0D108BD9-81ED-4DB2-BD59-A6C34878D82A}">
                    <a16:rowId xmlns:a16="http://schemas.microsoft.com/office/drawing/2014/main" val="3233741522"/>
                  </a:ext>
                </a:extLst>
              </a:tr>
              <a:tr h="815087">
                <a:tc>
                  <a:txBody>
                    <a:bodyPr/>
                    <a:lstStyle/>
                    <a:p>
                      <a:pPr lvl="0"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Prioridade</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Confidencialidade</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Segurança física e operacional</a:t>
                      </a:r>
                    </a:p>
                  </a:txBody>
                  <a:tcPr marL="9525" marR="9525" marT="9525" marB="0" anchor="ctr"/>
                </a:tc>
                <a:extLst>
                  <a:ext uri="{0D108BD9-81ED-4DB2-BD59-A6C34878D82A}">
                    <a16:rowId xmlns:a16="http://schemas.microsoft.com/office/drawing/2014/main" val="2524468094"/>
                  </a:ext>
                </a:extLst>
              </a:tr>
              <a:tr h="815087">
                <a:tc>
                  <a:txBody>
                    <a:bodyPr/>
                    <a:lstStyle/>
                    <a:p>
                      <a:pPr lvl="0"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Disponibilidade</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Importante</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Essencial</a:t>
                      </a:r>
                    </a:p>
                  </a:txBody>
                  <a:tcPr marL="9525" marR="9525" marT="9525" marB="0" anchor="ctr"/>
                </a:tc>
                <a:extLst>
                  <a:ext uri="{0D108BD9-81ED-4DB2-BD59-A6C34878D82A}">
                    <a16:rowId xmlns:a16="http://schemas.microsoft.com/office/drawing/2014/main" val="123618730"/>
                  </a:ext>
                </a:extLst>
              </a:tr>
              <a:tr h="815087">
                <a:tc>
                  <a:txBody>
                    <a:bodyPr/>
                    <a:lstStyle/>
                    <a:p>
                      <a:pPr lvl="0"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Tempo de vida</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Curto (3-5 anos)</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Longo (15-30 anos)</a:t>
                      </a:r>
                    </a:p>
                  </a:txBody>
                  <a:tcPr marL="9525" marR="9525" marT="9525" marB="0" anchor="ctr"/>
                </a:tc>
                <a:extLst>
                  <a:ext uri="{0D108BD9-81ED-4DB2-BD59-A6C34878D82A}">
                    <a16:rowId xmlns:a16="http://schemas.microsoft.com/office/drawing/2014/main" val="1953252852"/>
                  </a:ext>
                </a:extLst>
              </a:tr>
              <a:tr h="815087">
                <a:tc>
                  <a:txBody>
                    <a:bodyPr/>
                    <a:lstStyle/>
                    <a:p>
                      <a:pPr lvl="0"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Atualizações</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Frequente</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Raro ou inexistente</a:t>
                      </a:r>
                    </a:p>
                  </a:txBody>
                  <a:tcPr marL="9525" marR="9525" marT="9525" marB="0" anchor="ctr"/>
                </a:tc>
                <a:extLst>
                  <a:ext uri="{0D108BD9-81ED-4DB2-BD59-A6C34878D82A}">
                    <a16:rowId xmlns:a16="http://schemas.microsoft.com/office/drawing/2014/main" val="2159244175"/>
                  </a:ext>
                </a:extLst>
              </a:tr>
              <a:tr h="815087">
                <a:tc>
                  <a:txBody>
                    <a:bodyPr/>
                    <a:lstStyle/>
                    <a:p>
                      <a:pPr lvl="0"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Tolerância a falhas</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Alta</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Mínima</a:t>
                      </a:r>
                    </a:p>
                  </a:txBody>
                  <a:tcPr marL="9525" marR="9525" marT="9525" marB="0" anchor="ctr"/>
                </a:tc>
                <a:extLst>
                  <a:ext uri="{0D108BD9-81ED-4DB2-BD59-A6C34878D82A}">
                    <a16:rowId xmlns:a16="http://schemas.microsoft.com/office/drawing/2014/main" val="854976388"/>
                  </a:ext>
                </a:extLst>
              </a:tr>
            </a:tbl>
          </a:graphicData>
        </a:graphic>
      </p:graphicFrame>
    </p:spTree>
    <p:extLst>
      <p:ext uri="{BB962C8B-B14F-4D97-AF65-F5344CB8AC3E}">
        <p14:creationId xmlns:p14="http://schemas.microsoft.com/office/powerpoint/2010/main" val="3564304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7E6920DD-F4F1-9504-3ACD-7797466DD5DD}"/>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146DF754-5EF7-75FF-9203-18776C9888F3}"/>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D5E6127E-7E0D-C342-29FF-0084AE099906}"/>
              </a:ext>
            </a:extLst>
          </p:cNvPr>
          <p:cNvSpPr txBox="1"/>
          <p:nvPr/>
        </p:nvSpPr>
        <p:spPr>
          <a:xfrm>
            <a:off x="1195772" y="5243098"/>
            <a:ext cx="13021495" cy="92333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algn="ctr">
              <a:defRPr sz="6000" b="1" baseline="0">
                <a:solidFill>
                  <a:srgbClr val="101010"/>
                </a:solidFill>
                <a:latin typeface="Raleway" pitchFamily="2" charset="0"/>
              </a:defRPr>
            </a:lvl1pPr>
          </a:lstStyle>
          <a:p>
            <a:r>
              <a:rPr lang="pt-PT" noProof="0" dirty="0">
                <a:sym typeface="Raleway Black"/>
              </a:rPr>
              <a:t>Vulnerabilidades e Ameaças</a:t>
            </a:r>
          </a:p>
        </p:txBody>
      </p:sp>
      <p:cxnSp>
        <p:nvCxnSpPr>
          <p:cNvPr id="386" name="Google Shape;386;p28">
            <a:extLst>
              <a:ext uri="{FF2B5EF4-FFF2-40B4-BE49-F238E27FC236}">
                <a16:creationId xmlns:a16="http://schemas.microsoft.com/office/drawing/2014/main" id="{CA783CD2-A4D0-D4B6-0804-95DF9492B28D}"/>
              </a:ext>
            </a:extLst>
          </p:cNvPr>
          <p:cNvCxnSpPr/>
          <p:nvPr/>
        </p:nvCxnSpPr>
        <p:spPr>
          <a:xfrm>
            <a:off x="1195772" y="6472986"/>
            <a:ext cx="13021495" cy="0"/>
          </a:xfrm>
          <a:prstGeom prst="straightConnector1">
            <a:avLst/>
          </a:prstGeom>
          <a:noFill/>
          <a:ln w="19050" cap="flat" cmpd="sng">
            <a:solidFill>
              <a:srgbClr val="000000"/>
            </a:solidFill>
            <a:prstDash val="solid"/>
            <a:round/>
            <a:headEnd type="none" w="sm" len="sm"/>
            <a:tailEnd type="none" w="sm" len="sm"/>
          </a:ln>
        </p:spPr>
      </p:cxnSp>
    </p:spTree>
    <p:extLst>
      <p:ext uri="{BB962C8B-B14F-4D97-AF65-F5344CB8AC3E}">
        <p14:creationId xmlns:p14="http://schemas.microsoft.com/office/powerpoint/2010/main" val="1969915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38186D1F-9B24-AF76-35B1-87EDDB992C9A}"/>
            </a:ext>
          </a:extLst>
        </p:cNvPr>
        <p:cNvGrpSpPr/>
        <p:nvPr/>
      </p:nvGrpSpPr>
      <p:grpSpPr>
        <a:xfrm>
          <a:off x="0" y="0"/>
          <a:ext cx="0" cy="0"/>
          <a:chOff x="0" y="0"/>
          <a:chExt cx="0" cy="0"/>
        </a:xfrm>
      </p:grpSpPr>
      <p:sp>
        <p:nvSpPr>
          <p:cNvPr id="188" name="Google Shape;188;p5">
            <a:extLst>
              <a:ext uri="{FF2B5EF4-FFF2-40B4-BE49-F238E27FC236}">
                <a16:creationId xmlns:a16="http://schemas.microsoft.com/office/drawing/2014/main" id="{5006D967-52E0-9916-CB2C-CCA133574CA0}"/>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nvGrpSpPr>
          <p:cNvPr id="193" name="Google Shape;193;p5">
            <a:extLst>
              <a:ext uri="{FF2B5EF4-FFF2-40B4-BE49-F238E27FC236}">
                <a16:creationId xmlns:a16="http://schemas.microsoft.com/office/drawing/2014/main" id="{BDA40289-158E-1616-EE40-3A7AFF8465AB}"/>
              </a:ext>
            </a:extLst>
          </p:cNvPr>
          <p:cNvGrpSpPr/>
          <p:nvPr/>
        </p:nvGrpSpPr>
        <p:grpSpPr>
          <a:xfrm>
            <a:off x="1603015" y="3565097"/>
            <a:ext cx="4569185" cy="4157788"/>
            <a:chOff x="0" y="-47625"/>
            <a:chExt cx="1437753" cy="1940938"/>
          </a:xfrm>
        </p:grpSpPr>
        <p:sp>
          <p:nvSpPr>
            <p:cNvPr id="194" name="Google Shape;194;p5">
              <a:extLst>
                <a:ext uri="{FF2B5EF4-FFF2-40B4-BE49-F238E27FC236}">
                  <a16:creationId xmlns:a16="http://schemas.microsoft.com/office/drawing/2014/main" id="{9DB4135C-D5D3-6B51-671D-A8CA64923B48}"/>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5" name="Google Shape;195;p5">
              <a:extLst>
                <a:ext uri="{FF2B5EF4-FFF2-40B4-BE49-F238E27FC236}">
                  <a16:creationId xmlns:a16="http://schemas.microsoft.com/office/drawing/2014/main" id="{78A96737-E85C-7F6C-38AE-42C75A81654C}"/>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cxnSp>
        <p:nvCxnSpPr>
          <p:cNvPr id="189" name="Google Shape;189;p5">
            <a:extLst>
              <a:ext uri="{FF2B5EF4-FFF2-40B4-BE49-F238E27FC236}">
                <a16:creationId xmlns:a16="http://schemas.microsoft.com/office/drawing/2014/main" id="{4C3CE785-7C64-1789-9BA9-C946E6576851}"/>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90" name="Google Shape;190;p5">
            <a:extLst>
              <a:ext uri="{FF2B5EF4-FFF2-40B4-BE49-F238E27FC236}">
                <a16:creationId xmlns:a16="http://schemas.microsoft.com/office/drawing/2014/main" id="{A5C7EA53-949A-D041-A777-5C6BBE375B1A}"/>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1" name="Google Shape;191;p5">
            <a:extLst>
              <a:ext uri="{FF2B5EF4-FFF2-40B4-BE49-F238E27FC236}">
                <a16:creationId xmlns:a16="http://schemas.microsoft.com/office/drawing/2014/main" id="{B5DD7725-A4DD-9CD6-87F4-756701B6CB80}"/>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499"/>
              <a:buFont typeface="Arial"/>
              <a:buNone/>
            </a:pPr>
            <a:r>
              <a:rPr lang="pt-PT" sz="7499" i="0" u="none" strike="noStrike" cap="none" noProof="0" dirty="0">
                <a:solidFill>
                  <a:srgbClr val="000000"/>
                </a:solidFill>
                <a:latin typeface="Raleway Black"/>
                <a:ea typeface="Raleway Black"/>
                <a:cs typeface="Raleway Black"/>
                <a:sym typeface="Raleway Black"/>
              </a:rPr>
              <a:t>Vulnerabilidades</a:t>
            </a:r>
          </a:p>
        </p:txBody>
      </p:sp>
      <p:sp>
        <p:nvSpPr>
          <p:cNvPr id="196" name="Google Shape;196;p5">
            <a:extLst>
              <a:ext uri="{FF2B5EF4-FFF2-40B4-BE49-F238E27FC236}">
                <a16:creationId xmlns:a16="http://schemas.microsoft.com/office/drawing/2014/main" id="{4F7F2413-6EB0-E942-1546-D17E71268CB4}"/>
              </a:ext>
            </a:extLst>
          </p:cNvPr>
          <p:cNvSpPr txBox="1"/>
          <p:nvPr/>
        </p:nvSpPr>
        <p:spPr>
          <a:xfrm>
            <a:off x="1603014" y="5168340"/>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Definição</a:t>
            </a:r>
            <a:endParaRPr lang="pt-PT" sz="1400" b="0" i="0" u="none" strike="noStrike" cap="none" noProof="0" dirty="0">
              <a:solidFill>
                <a:srgbClr val="000000"/>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336D7F8D-2B18-8564-D763-A53ACFB5D9FF}"/>
              </a:ext>
            </a:extLst>
          </p:cNvPr>
          <p:cNvSpPr txBox="1"/>
          <p:nvPr/>
        </p:nvSpPr>
        <p:spPr>
          <a:xfrm>
            <a:off x="1937822" y="5886458"/>
            <a:ext cx="4081977" cy="1723549"/>
          </a:xfrm>
          <a:prstGeom prst="rect">
            <a:avLst/>
          </a:prstGeom>
          <a:noFill/>
          <a:ln>
            <a:noFill/>
          </a:ln>
        </p:spPr>
        <p:txBody>
          <a:bodyPr spcFirstLastPara="1" wrap="square" lIns="0" tIns="0" rIns="0" bIns="0" anchor="t" anchorCtr="0">
            <a:spAutoFit/>
          </a:bodyPr>
          <a:lstStyle/>
          <a:p>
            <a:pPr lvl="0" algn="ctr">
              <a:lnSpc>
                <a:spcPct val="111950"/>
              </a:lnSpc>
              <a:buClr>
                <a:srgbClr val="000000"/>
              </a:buClr>
              <a:buSzPts val="2000"/>
            </a:pPr>
            <a:r>
              <a:rPr lang="pt-BR" sz="2000" dirty="0">
                <a:solidFill>
                  <a:srgbClr val="101010"/>
                </a:solidFill>
                <a:latin typeface="Raleway"/>
                <a:ea typeface="Raleway"/>
                <a:cs typeface="Raleway"/>
                <a:sym typeface="Raleway"/>
              </a:rPr>
              <a:t>Fraqueza em software ou hardware que pode ser explorada para comprometer confidencialidade, integridade ou disponibilidade.</a:t>
            </a:r>
            <a:endParaRPr lang="pt-BR" sz="2000" b="0" i="0" u="none" strike="noStrike" cap="none" noProof="0" dirty="0">
              <a:solidFill>
                <a:srgbClr val="101010"/>
              </a:solidFill>
              <a:latin typeface="Raleway"/>
              <a:ea typeface="Raleway"/>
              <a:cs typeface="Raleway"/>
              <a:sym typeface="Raleway"/>
            </a:endParaRPr>
          </a:p>
        </p:txBody>
      </p:sp>
      <p:grpSp>
        <p:nvGrpSpPr>
          <p:cNvPr id="198" name="Google Shape;198;p5">
            <a:extLst>
              <a:ext uri="{FF2B5EF4-FFF2-40B4-BE49-F238E27FC236}">
                <a16:creationId xmlns:a16="http://schemas.microsoft.com/office/drawing/2014/main" id="{F7383233-E6B7-13E9-7E59-2BEE0E306225}"/>
              </a:ext>
            </a:extLst>
          </p:cNvPr>
          <p:cNvGrpSpPr/>
          <p:nvPr/>
        </p:nvGrpSpPr>
        <p:grpSpPr>
          <a:xfrm>
            <a:off x="6973295" y="3565097"/>
            <a:ext cx="4569185" cy="4157788"/>
            <a:chOff x="0" y="-47625"/>
            <a:chExt cx="1437753" cy="1940938"/>
          </a:xfrm>
        </p:grpSpPr>
        <p:sp>
          <p:nvSpPr>
            <p:cNvPr id="199" name="Google Shape;199;p5">
              <a:extLst>
                <a:ext uri="{FF2B5EF4-FFF2-40B4-BE49-F238E27FC236}">
                  <a16:creationId xmlns:a16="http://schemas.microsoft.com/office/drawing/2014/main" id="{64228594-B034-5B29-F7ED-F6298ABB04E7}"/>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0" name="Google Shape;200;p5">
              <a:extLst>
                <a:ext uri="{FF2B5EF4-FFF2-40B4-BE49-F238E27FC236}">
                  <a16:creationId xmlns:a16="http://schemas.microsoft.com/office/drawing/2014/main" id="{0CE6479A-B0BC-9B99-3DCE-AC4D995D2E32}"/>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1" name="Google Shape;201;p5">
            <a:extLst>
              <a:ext uri="{FF2B5EF4-FFF2-40B4-BE49-F238E27FC236}">
                <a16:creationId xmlns:a16="http://schemas.microsoft.com/office/drawing/2014/main" id="{AD4FD85F-E67F-9686-A894-5ABEE9ADA8B9}"/>
              </a:ext>
            </a:extLst>
          </p:cNvPr>
          <p:cNvSpPr txBox="1"/>
          <p:nvPr/>
        </p:nvSpPr>
        <p:spPr>
          <a:xfrm>
            <a:off x="6973294" y="5168340"/>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Vulnerabilidade vs Incidente</a:t>
            </a:r>
            <a:endParaRPr lang="pt-PT" sz="1400" b="0" i="0" u="none" strike="noStrike" cap="none" noProof="0" dirty="0">
              <a:solidFill>
                <a:srgbClr val="000000"/>
              </a:solidFill>
              <a:latin typeface="Arial"/>
              <a:ea typeface="Arial"/>
              <a:cs typeface="Arial"/>
              <a:sym typeface="Arial"/>
            </a:endParaRPr>
          </a:p>
        </p:txBody>
      </p:sp>
      <p:sp>
        <p:nvSpPr>
          <p:cNvPr id="202" name="Google Shape;202;p5">
            <a:extLst>
              <a:ext uri="{FF2B5EF4-FFF2-40B4-BE49-F238E27FC236}">
                <a16:creationId xmlns:a16="http://schemas.microsoft.com/office/drawing/2014/main" id="{ED382F57-C87B-664E-C0DE-4E7D7F9B7B8F}"/>
              </a:ext>
            </a:extLst>
          </p:cNvPr>
          <p:cNvSpPr txBox="1"/>
          <p:nvPr/>
        </p:nvSpPr>
        <p:spPr>
          <a:xfrm>
            <a:off x="7308102" y="5886458"/>
            <a:ext cx="4082100" cy="1378839"/>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BR" sz="2000" b="0" i="0" u="none" strike="noStrike" cap="none" noProof="0" dirty="0">
                <a:solidFill>
                  <a:srgbClr val="101010"/>
                </a:solidFill>
                <a:latin typeface="Raleway"/>
                <a:ea typeface="Raleway"/>
                <a:cs typeface="Raleway"/>
                <a:sym typeface="Raleway"/>
              </a:rPr>
              <a:t>Uma vulnerabilidade é uma potencial falha; </a:t>
            </a:r>
          </a:p>
          <a:p>
            <a:pPr marL="0" marR="0" lvl="0" indent="0" algn="ctr" rtl="0">
              <a:lnSpc>
                <a:spcPct val="111950"/>
              </a:lnSpc>
              <a:spcBef>
                <a:spcPts val="0"/>
              </a:spcBef>
              <a:spcAft>
                <a:spcPts val="0"/>
              </a:spcAft>
              <a:buClr>
                <a:srgbClr val="000000"/>
              </a:buClr>
              <a:buSzPts val="2000"/>
              <a:buFont typeface="Arial"/>
              <a:buNone/>
            </a:pPr>
            <a:r>
              <a:rPr lang="pt-BR" sz="2000" dirty="0">
                <a:solidFill>
                  <a:srgbClr val="101010"/>
                </a:solidFill>
                <a:latin typeface="Raleway"/>
                <a:ea typeface="Raleway"/>
                <a:cs typeface="Raleway"/>
                <a:sym typeface="Raleway"/>
              </a:rPr>
              <a:t>U</a:t>
            </a:r>
            <a:r>
              <a:rPr lang="pt-BR" sz="2000" b="0" i="0" u="none" strike="noStrike" cap="none" noProof="0" dirty="0">
                <a:solidFill>
                  <a:srgbClr val="101010"/>
                </a:solidFill>
                <a:latin typeface="Raleway"/>
                <a:ea typeface="Raleway"/>
                <a:cs typeface="Raleway"/>
                <a:sym typeface="Raleway"/>
              </a:rPr>
              <a:t>m incidente ocorre quando ela é explorada.</a:t>
            </a:r>
          </a:p>
        </p:txBody>
      </p:sp>
      <p:grpSp>
        <p:nvGrpSpPr>
          <p:cNvPr id="203" name="Google Shape;203;p5">
            <a:extLst>
              <a:ext uri="{FF2B5EF4-FFF2-40B4-BE49-F238E27FC236}">
                <a16:creationId xmlns:a16="http://schemas.microsoft.com/office/drawing/2014/main" id="{2B3A0432-18AD-C7A7-E705-2D8CEC44AA61}"/>
              </a:ext>
            </a:extLst>
          </p:cNvPr>
          <p:cNvGrpSpPr/>
          <p:nvPr/>
        </p:nvGrpSpPr>
        <p:grpSpPr>
          <a:xfrm>
            <a:off x="12343575" y="3565097"/>
            <a:ext cx="4569185" cy="4157788"/>
            <a:chOff x="0" y="-47625"/>
            <a:chExt cx="1437753" cy="1940938"/>
          </a:xfrm>
        </p:grpSpPr>
        <p:sp>
          <p:nvSpPr>
            <p:cNvPr id="204" name="Google Shape;204;p5">
              <a:extLst>
                <a:ext uri="{FF2B5EF4-FFF2-40B4-BE49-F238E27FC236}">
                  <a16:creationId xmlns:a16="http://schemas.microsoft.com/office/drawing/2014/main" id="{045971DC-EDFB-5CE9-08D9-D1B3647BDD32}"/>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5" name="Google Shape;205;p5">
              <a:extLst>
                <a:ext uri="{FF2B5EF4-FFF2-40B4-BE49-F238E27FC236}">
                  <a16:creationId xmlns:a16="http://schemas.microsoft.com/office/drawing/2014/main" id="{111D994A-5B6C-831F-3E7C-F46E861303E8}"/>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6" name="Google Shape;206;p5">
            <a:extLst>
              <a:ext uri="{FF2B5EF4-FFF2-40B4-BE49-F238E27FC236}">
                <a16:creationId xmlns:a16="http://schemas.microsoft.com/office/drawing/2014/main" id="{DCE4A8D3-671C-0ED6-311C-4E09849E86F5}"/>
              </a:ext>
            </a:extLst>
          </p:cNvPr>
          <p:cNvSpPr txBox="1"/>
          <p:nvPr/>
        </p:nvSpPr>
        <p:spPr>
          <a:xfrm>
            <a:off x="12343574" y="5168340"/>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Exemplo prático</a:t>
            </a:r>
          </a:p>
        </p:txBody>
      </p:sp>
      <p:sp>
        <p:nvSpPr>
          <p:cNvPr id="207" name="Google Shape;207;p5">
            <a:extLst>
              <a:ext uri="{FF2B5EF4-FFF2-40B4-BE49-F238E27FC236}">
                <a16:creationId xmlns:a16="http://schemas.microsoft.com/office/drawing/2014/main" id="{C43020AF-C8D0-22D8-EA03-AACA6D8996C2}"/>
              </a:ext>
            </a:extLst>
          </p:cNvPr>
          <p:cNvSpPr txBox="1"/>
          <p:nvPr/>
        </p:nvSpPr>
        <p:spPr>
          <a:xfrm>
            <a:off x="12678382" y="5886458"/>
            <a:ext cx="4082100" cy="1378839"/>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BR" sz="2000" dirty="0">
                <a:solidFill>
                  <a:srgbClr val="101010"/>
                </a:solidFill>
                <a:latin typeface="Raleway"/>
                <a:ea typeface="Raleway"/>
                <a:cs typeface="Raleway"/>
                <a:sym typeface="Raleway"/>
              </a:rPr>
              <a:t>Porta aberta sem autenticação é uma vulnerabilidade; </a:t>
            </a:r>
          </a:p>
          <a:p>
            <a:pPr marL="0" marR="0" lvl="0" indent="0" algn="ctr" rtl="0">
              <a:lnSpc>
                <a:spcPct val="111950"/>
              </a:lnSpc>
              <a:spcBef>
                <a:spcPts val="0"/>
              </a:spcBef>
              <a:spcAft>
                <a:spcPts val="0"/>
              </a:spcAft>
              <a:buClr>
                <a:srgbClr val="000000"/>
              </a:buClr>
              <a:buSzPts val="2000"/>
              <a:buFont typeface="Arial"/>
              <a:buNone/>
            </a:pPr>
            <a:r>
              <a:rPr lang="pt-BR" sz="2000" dirty="0">
                <a:solidFill>
                  <a:srgbClr val="101010"/>
                </a:solidFill>
                <a:latin typeface="Raleway"/>
                <a:ea typeface="Raleway"/>
                <a:cs typeface="Raleway"/>
                <a:sym typeface="Raleway"/>
              </a:rPr>
              <a:t>Acesso indevido por essa porta é  um incidente.</a:t>
            </a:r>
          </a:p>
        </p:txBody>
      </p:sp>
      <p:sp>
        <p:nvSpPr>
          <p:cNvPr id="211" name="Google Shape;211;p5">
            <a:extLst>
              <a:ext uri="{FF2B5EF4-FFF2-40B4-BE49-F238E27FC236}">
                <a16:creationId xmlns:a16="http://schemas.microsoft.com/office/drawing/2014/main" id="{0319AE0E-6642-5682-BA77-DB67735AA29E}"/>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BR" sz="2800" b="0" i="0" u="none" strike="noStrike" cap="none" noProof="0" dirty="0">
                <a:solidFill>
                  <a:srgbClr val="7F7F7F"/>
                </a:solidFill>
                <a:latin typeface="Raleway"/>
                <a:ea typeface="Raleway"/>
                <a:cs typeface="Raleway"/>
                <a:sym typeface="Raleway"/>
              </a:rPr>
              <a:t>National Vulnerability Database – U.S. Department of Commerce</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AD4D9CE1-2C40-DC0D-535B-DB4B71D4345F}"/>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9</a:t>
            </a:fld>
            <a:endParaRPr lang="pt-PT" sz="2041" b="1" i="0" u="none" strike="noStrike" cap="none" noProof="0" dirty="0">
              <a:solidFill>
                <a:srgbClr val="000000"/>
              </a:solidFill>
              <a:latin typeface="Raleway SemiBold"/>
              <a:ea typeface="Raleway SemiBold"/>
              <a:cs typeface="Raleway SemiBold"/>
              <a:sym typeface="Raleway SemiBold"/>
            </a:endParaRPr>
          </a:p>
        </p:txBody>
      </p:sp>
      <p:pic>
        <p:nvPicPr>
          <p:cNvPr id="10" name="Google Shape;334;p9">
            <a:extLst>
              <a:ext uri="{FF2B5EF4-FFF2-40B4-BE49-F238E27FC236}">
                <a16:creationId xmlns:a16="http://schemas.microsoft.com/office/drawing/2014/main" id="{2C3E530B-C528-39C9-1C5A-82E882F94BCA}"/>
              </a:ext>
            </a:extLst>
          </p:cNvPr>
          <p:cNvPicPr preferRelativeResize="0"/>
          <p:nvPr/>
        </p:nvPicPr>
        <p:blipFill rotWithShape="1">
          <a:blip r:embed="rId5">
            <a:alphaModFix/>
          </a:blip>
          <a:srcRect/>
          <a:stretch/>
        </p:blipFill>
        <p:spPr>
          <a:xfrm>
            <a:off x="3411287" y="4102829"/>
            <a:ext cx="952633" cy="952633"/>
          </a:xfrm>
          <a:prstGeom prst="rect">
            <a:avLst/>
          </a:prstGeom>
          <a:noFill/>
          <a:ln>
            <a:noFill/>
          </a:ln>
        </p:spPr>
      </p:pic>
      <p:pic>
        <p:nvPicPr>
          <p:cNvPr id="5" name="Picture 4">
            <a:extLst>
              <a:ext uri="{FF2B5EF4-FFF2-40B4-BE49-F238E27FC236}">
                <a16:creationId xmlns:a16="http://schemas.microsoft.com/office/drawing/2014/main" id="{C3DA461C-A9F0-F607-F440-9B4996F9832C}"/>
              </a:ext>
            </a:extLst>
          </p:cNvPr>
          <p:cNvPicPr>
            <a:picLocks noChangeAspect="1"/>
          </p:cNvPicPr>
          <p:nvPr/>
        </p:nvPicPr>
        <p:blipFill>
          <a:blip r:embed="rId6"/>
          <a:stretch>
            <a:fillRect/>
          </a:stretch>
        </p:blipFill>
        <p:spPr>
          <a:xfrm>
            <a:off x="8781568" y="4210862"/>
            <a:ext cx="952633" cy="952633"/>
          </a:xfrm>
          <a:prstGeom prst="rect">
            <a:avLst/>
          </a:prstGeom>
        </p:spPr>
      </p:pic>
      <p:pic>
        <p:nvPicPr>
          <p:cNvPr id="8" name="Picture 7">
            <a:extLst>
              <a:ext uri="{FF2B5EF4-FFF2-40B4-BE49-F238E27FC236}">
                <a16:creationId xmlns:a16="http://schemas.microsoft.com/office/drawing/2014/main" id="{948137FF-E828-AF72-8AB5-2A2650B56442}"/>
              </a:ext>
            </a:extLst>
          </p:cNvPr>
          <p:cNvPicPr>
            <a:picLocks noChangeAspect="1"/>
          </p:cNvPicPr>
          <p:nvPr/>
        </p:nvPicPr>
        <p:blipFill>
          <a:blip r:embed="rId7"/>
          <a:stretch>
            <a:fillRect/>
          </a:stretch>
        </p:blipFill>
        <p:spPr>
          <a:xfrm>
            <a:off x="14151848" y="4209543"/>
            <a:ext cx="952633" cy="952633"/>
          </a:xfrm>
          <a:prstGeom prst="rect">
            <a:avLst/>
          </a:prstGeom>
        </p:spPr>
      </p:pic>
    </p:spTree>
    <p:extLst>
      <p:ext uri="{BB962C8B-B14F-4D97-AF65-F5344CB8AC3E}">
        <p14:creationId xmlns:p14="http://schemas.microsoft.com/office/powerpoint/2010/main" val="76033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738BE76E-84A0-9CCE-36F1-5A6F72AC1687}"/>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F88AFB3E-51C1-B776-74FD-4CF187D0A80C}"/>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DFC70F90-5B46-384A-A6B0-F33F7EA9B847}"/>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3" name="Google Shape;363;p11">
            <a:extLst>
              <a:ext uri="{FF2B5EF4-FFF2-40B4-BE49-F238E27FC236}">
                <a16:creationId xmlns:a16="http://schemas.microsoft.com/office/drawing/2014/main" id="{19188307-12F9-536B-98CA-1B9437F47554}"/>
              </a:ext>
            </a:extLst>
          </p:cNvPr>
          <p:cNvSpPr txBox="1"/>
          <p:nvPr/>
        </p:nvSpPr>
        <p:spPr>
          <a:xfrm>
            <a:off x="2747139" y="1058170"/>
            <a:ext cx="13272713" cy="1229888"/>
          </a:xfrm>
          <a:prstGeom prst="rect">
            <a:avLst/>
          </a:prstGeom>
          <a:noFill/>
          <a:ln>
            <a:noFill/>
          </a:ln>
        </p:spPr>
        <p:txBody>
          <a:bodyPr spcFirstLastPara="1" wrap="square" lIns="0" tIns="0" rIns="0" bIns="0" anchor="t" anchorCtr="0">
            <a:spAutoFit/>
          </a:bodyPr>
          <a:lstStyle>
            <a:defPPr>
              <a:defRPr lang="en-US"/>
            </a:defPPr>
            <a:lvl1pPr marR="0" lvl="0" indent="0">
              <a:lnSpc>
                <a:spcPct val="111001"/>
              </a:lnSpc>
              <a:spcBef>
                <a:spcPts val="0"/>
              </a:spcBef>
              <a:spcAft>
                <a:spcPts val="0"/>
              </a:spcAft>
              <a:buClr>
                <a:srgbClr val="000000"/>
              </a:buClr>
              <a:buSzPts val="7499"/>
              <a:buFont typeface="Arial"/>
              <a:buNone/>
              <a:defRPr sz="7499" b="1" i="0" u="none" strike="noStrike" cap="none">
                <a:solidFill>
                  <a:srgbClr val="000000"/>
                </a:solidFill>
                <a:latin typeface="Raleway Black"/>
                <a:ea typeface="Raleway Black"/>
                <a:cs typeface="Raleway Black"/>
              </a:defRPr>
            </a:lvl1pPr>
          </a:lstStyle>
          <a:p>
            <a:r>
              <a:rPr lang="pt-PT" b="0" dirty="0">
                <a:sym typeface="Raleway Black"/>
              </a:rPr>
              <a:t>Ameaças</a:t>
            </a:r>
            <a:endParaRPr lang="pt-PT" b="0" dirty="0"/>
          </a:p>
        </p:txBody>
      </p:sp>
      <p:sp>
        <p:nvSpPr>
          <p:cNvPr id="365" name="Google Shape;365;p11">
            <a:extLst>
              <a:ext uri="{FF2B5EF4-FFF2-40B4-BE49-F238E27FC236}">
                <a16:creationId xmlns:a16="http://schemas.microsoft.com/office/drawing/2014/main" id="{E5F3B40E-AD34-35C3-068D-1DE5B7BEB314}"/>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lvl="0">
              <a:lnSpc>
                <a:spcPct val="150000"/>
              </a:lnSpc>
              <a:buSzPts val="2800"/>
            </a:pPr>
            <a:r>
              <a:rPr lang="pt-PT" sz="2800" dirty="0">
                <a:solidFill>
                  <a:srgbClr val="7F7F7F"/>
                </a:solidFill>
                <a:latin typeface="Raleway"/>
                <a:ea typeface="Raleway"/>
                <a:cs typeface="Raleway"/>
                <a:sym typeface="Raleway"/>
              </a:rPr>
              <a:t>Impacto real e crescente da cibercriminalidade em Portugal</a:t>
            </a:r>
            <a:endParaRPr lang="pt-PT" dirty="0"/>
          </a:p>
        </p:txBody>
      </p:sp>
      <p:sp>
        <p:nvSpPr>
          <p:cNvPr id="366" name="Google Shape;366;p11">
            <a:extLst>
              <a:ext uri="{FF2B5EF4-FFF2-40B4-BE49-F238E27FC236}">
                <a16:creationId xmlns:a16="http://schemas.microsoft.com/office/drawing/2014/main" id="{51766524-D462-60B2-3EBC-C8045A22CD3D}"/>
              </a:ext>
            </a:extLst>
          </p:cNvPr>
          <p:cNvSpPr/>
          <p:nvPr/>
        </p:nvSpPr>
        <p:spPr>
          <a:xfrm>
            <a:off x="2578769" y="3695700"/>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ea typeface="Raleway Medium"/>
                <a:cs typeface="Raleway Medium"/>
                <a:sym typeface="Raleway Medium"/>
              </a:rPr>
              <a:t>Massificação de ataques</a:t>
            </a:r>
          </a:p>
        </p:txBody>
      </p:sp>
      <p:sp>
        <p:nvSpPr>
          <p:cNvPr id="368" name="Google Shape;368;p11">
            <a:extLst>
              <a:ext uri="{FF2B5EF4-FFF2-40B4-BE49-F238E27FC236}">
                <a16:creationId xmlns:a16="http://schemas.microsoft.com/office/drawing/2014/main" id="{F90A1438-D1E1-DCE1-63F0-417B4DF448C9}"/>
              </a:ext>
            </a:extLst>
          </p:cNvPr>
          <p:cNvSpPr txBox="1"/>
          <p:nvPr/>
        </p:nvSpPr>
        <p:spPr>
          <a:xfrm>
            <a:off x="6946229" y="3921013"/>
            <a:ext cx="8762999" cy="644151"/>
          </a:xfrm>
          <a:prstGeom prst="rect">
            <a:avLst/>
          </a:prstGeom>
          <a:noFill/>
          <a:ln>
            <a:noFill/>
          </a:ln>
        </p:spPr>
        <p:txBody>
          <a:bodyPr spcFirstLastPara="1" wrap="square" lIns="0" tIns="0" rIns="0" bIns="0" anchor="t" anchorCtr="0">
            <a:spAutoFit/>
          </a:bodyPr>
          <a:lstStyle/>
          <a:p>
            <a:pPr lvl="0" algn="just">
              <a:buSzPts val="2093"/>
            </a:pPr>
            <a:r>
              <a:rPr lang="pt-BR" sz="2093" noProof="0" dirty="0">
                <a:solidFill>
                  <a:srgbClr val="101010"/>
                </a:solidFill>
                <a:latin typeface="Raleway"/>
                <a:ea typeface="Raleway"/>
                <a:cs typeface="Raleway"/>
                <a:sym typeface="Raleway"/>
              </a:rPr>
              <a:t>Portugal registou mais de 9 000 incidentes em 21 meses, com 2 061 ataques/empresa em apenas 3 meses.</a:t>
            </a:r>
          </a:p>
        </p:txBody>
      </p:sp>
      <p:sp>
        <p:nvSpPr>
          <p:cNvPr id="371" name="Google Shape;371;p11">
            <a:extLst>
              <a:ext uri="{FF2B5EF4-FFF2-40B4-BE49-F238E27FC236}">
                <a16:creationId xmlns:a16="http://schemas.microsoft.com/office/drawing/2014/main" id="{0751A3E2-2FAA-2A23-4704-EF8478495BEF}"/>
              </a:ext>
            </a:extLst>
          </p:cNvPr>
          <p:cNvSpPr txBox="1"/>
          <p:nvPr/>
        </p:nvSpPr>
        <p:spPr>
          <a:xfrm>
            <a:off x="6946230" y="5484759"/>
            <a:ext cx="8762999" cy="644151"/>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Clr>
                <a:srgbClr val="000000"/>
              </a:buClr>
              <a:buSzPts val="2093"/>
              <a:buFont typeface="Arial"/>
              <a:buNone/>
            </a:pPr>
            <a:r>
              <a:rPr lang="pt-BR" sz="2093" b="0" i="0" u="none" strike="noStrike" cap="none" noProof="0" dirty="0">
                <a:solidFill>
                  <a:srgbClr val="101010"/>
                </a:solidFill>
                <a:latin typeface="Raleway"/>
                <a:ea typeface="Raleway"/>
                <a:cs typeface="Raleway"/>
                <a:sym typeface="Raleway"/>
              </a:rPr>
              <a:t>Phishing, ransomware, ataques de engenharia social e exploração de vulnerabilidades.</a:t>
            </a:r>
          </a:p>
        </p:txBody>
      </p:sp>
      <p:sp>
        <p:nvSpPr>
          <p:cNvPr id="372" name="Google Shape;372;p11">
            <a:extLst>
              <a:ext uri="{FF2B5EF4-FFF2-40B4-BE49-F238E27FC236}">
                <a16:creationId xmlns:a16="http://schemas.microsoft.com/office/drawing/2014/main" id="{A3518C22-1EC9-CCB2-7A97-E16AA7F3FC51}"/>
              </a:ext>
            </a:extLst>
          </p:cNvPr>
          <p:cNvSpPr/>
          <p:nvPr/>
        </p:nvSpPr>
        <p:spPr>
          <a:xfrm>
            <a:off x="2590801" y="6823192"/>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rPr>
              <a:t>Consequências reais</a:t>
            </a:r>
          </a:p>
        </p:txBody>
      </p:sp>
      <p:sp>
        <p:nvSpPr>
          <p:cNvPr id="374" name="Google Shape;374;p11">
            <a:extLst>
              <a:ext uri="{FF2B5EF4-FFF2-40B4-BE49-F238E27FC236}">
                <a16:creationId xmlns:a16="http://schemas.microsoft.com/office/drawing/2014/main" id="{D4CF69B4-E4C8-3C25-298B-EF1CDA9AEBE2}"/>
              </a:ext>
            </a:extLst>
          </p:cNvPr>
          <p:cNvSpPr txBox="1"/>
          <p:nvPr/>
        </p:nvSpPr>
        <p:spPr>
          <a:xfrm>
            <a:off x="6946230" y="6726430"/>
            <a:ext cx="8762999" cy="1288301"/>
          </a:xfrm>
          <a:prstGeom prst="rect">
            <a:avLst/>
          </a:prstGeom>
          <a:noFill/>
          <a:ln>
            <a:noFill/>
          </a:ln>
        </p:spPr>
        <p:txBody>
          <a:bodyPr spcFirstLastPara="1" wrap="square" lIns="0" tIns="0" rIns="0" bIns="0" anchor="t" anchorCtr="0">
            <a:spAutoFit/>
          </a:bodyPr>
          <a:lstStyle/>
          <a:p>
            <a:pPr marL="342900" marR="0" lvl="0" indent="-342900" algn="just" rtl="0">
              <a:spcBef>
                <a:spcPts val="0"/>
              </a:spcBef>
              <a:spcAft>
                <a:spcPts val="0"/>
              </a:spcAft>
              <a:buClr>
                <a:srgbClr val="000000"/>
              </a:buClr>
              <a:buSzPts val="2093"/>
              <a:buFont typeface="Arial" panose="020B0604020202020204" pitchFamily="34" charset="0"/>
              <a:buChar char="•"/>
            </a:pPr>
            <a:r>
              <a:rPr lang="pt-BR" sz="2093" b="0" i="0" u="none" strike="noStrike" cap="none" noProof="0" dirty="0">
                <a:solidFill>
                  <a:srgbClr val="101010"/>
                </a:solidFill>
                <a:latin typeface="Raleway"/>
                <a:ea typeface="Raleway"/>
                <a:cs typeface="Raleway"/>
                <a:sym typeface="Raleway"/>
              </a:rPr>
              <a:t>Interrupção de serviços críticos e quebra de produção</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2093" b="0" i="0" u="none" strike="noStrike" cap="none" noProof="0" dirty="0">
                <a:solidFill>
                  <a:srgbClr val="101010"/>
                </a:solidFill>
                <a:latin typeface="Raleway"/>
                <a:ea typeface="Raleway"/>
                <a:cs typeface="Raleway"/>
                <a:sym typeface="Raleway"/>
              </a:rPr>
              <a:t>Perda e divulgação de dados importantes de negócio</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2093" b="0" i="0" u="none" strike="noStrike" cap="none" noProof="0" dirty="0">
                <a:solidFill>
                  <a:srgbClr val="101010"/>
                </a:solidFill>
                <a:latin typeface="Raleway"/>
                <a:ea typeface="Raleway"/>
                <a:cs typeface="Raleway"/>
                <a:sym typeface="Raleway"/>
              </a:rPr>
              <a:t>Prejuízos financeiros, extorsão e risco de multas (RGPD)</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2093" b="0" i="0" u="none" strike="noStrike" cap="none" noProof="0" dirty="0">
                <a:solidFill>
                  <a:srgbClr val="101010"/>
                </a:solidFill>
                <a:latin typeface="Raleway"/>
                <a:ea typeface="Raleway"/>
                <a:cs typeface="Raleway"/>
                <a:sym typeface="Raleway"/>
              </a:rPr>
              <a:t>Danos operacionais e reputacionais massivos</a:t>
            </a:r>
          </a:p>
        </p:txBody>
      </p:sp>
      <p:cxnSp>
        <p:nvCxnSpPr>
          <p:cNvPr id="2" name="Google Shape;218;p6">
            <a:extLst>
              <a:ext uri="{FF2B5EF4-FFF2-40B4-BE49-F238E27FC236}">
                <a16:creationId xmlns:a16="http://schemas.microsoft.com/office/drawing/2014/main" id="{9F720CBB-2C34-9881-0B39-09D277256C96}"/>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9030A78D-359B-67A6-2F3C-BAAFAB9A59AF}"/>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10</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5" name="Google Shape;366;p11">
            <a:extLst>
              <a:ext uri="{FF2B5EF4-FFF2-40B4-BE49-F238E27FC236}">
                <a16:creationId xmlns:a16="http://schemas.microsoft.com/office/drawing/2014/main" id="{0DDA9FE1-B236-854B-4DF6-9E3FFC0FCDF2}"/>
              </a:ext>
            </a:extLst>
          </p:cNvPr>
          <p:cNvSpPr/>
          <p:nvPr/>
        </p:nvSpPr>
        <p:spPr>
          <a:xfrm>
            <a:off x="2578768" y="5259446"/>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sym typeface="Raleway Medium"/>
              </a:rPr>
              <a:t>Tipos de ameaça</a:t>
            </a:r>
          </a:p>
        </p:txBody>
      </p:sp>
    </p:spTree>
    <p:extLst>
      <p:ext uri="{BB962C8B-B14F-4D97-AF65-F5344CB8AC3E}">
        <p14:creationId xmlns:p14="http://schemas.microsoft.com/office/powerpoint/2010/main" val="1164610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2BFAE89F-D3E2-942D-472C-7560C654AFB8}"/>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B4F59922-3C44-BC31-B860-D4F99704E35D}"/>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9C6D1CC9-889F-93D4-79FF-95B8FABDB22D}"/>
              </a:ext>
            </a:extLst>
          </p:cNvPr>
          <p:cNvSpPr txBox="1"/>
          <p:nvPr/>
        </p:nvSpPr>
        <p:spPr>
          <a:xfrm>
            <a:off x="1195772" y="5243098"/>
            <a:ext cx="13021495" cy="923330"/>
          </a:xfrm>
          <a:prstGeom prst="rect">
            <a:avLst/>
          </a:prstGeom>
          <a:noFill/>
          <a:ln>
            <a:noFill/>
          </a:ln>
        </p:spPr>
        <p:txBody>
          <a:bodyPr spcFirstLastPara="1" wrap="square" lIns="0" tIns="0" rIns="0" bIns="0" anchor="t" anchorCtr="0">
            <a:spAutoFit/>
          </a:bodyPr>
          <a:lstStyle/>
          <a:p>
            <a:pPr algn="ctr" rtl="0"/>
            <a:r>
              <a:rPr lang="pt-PT" sz="6000" b="1" i="0" u="none" strike="noStrike" baseline="0" noProof="0" dirty="0">
                <a:solidFill>
                  <a:srgbClr val="101010"/>
                </a:solidFill>
                <a:latin typeface="Raleway" pitchFamily="2" charset="0"/>
              </a:rPr>
              <a:t>Ransomware e Incidentes</a:t>
            </a:r>
          </a:p>
        </p:txBody>
      </p:sp>
      <p:cxnSp>
        <p:nvCxnSpPr>
          <p:cNvPr id="386" name="Google Shape;386;p28">
            <a:extLst>
              <a:ext uri="{FF2B5EF4-FFF2-40B4-BE49-F238E27FC236}">
                <a16:creationId xmlns:a16="http://schemas.microsoft.com/office/drawing/2014/main" id="{12B80C27-30BA-4D84-B3D6-43D9AF092133}"/>
              </a:ext>
            </a:extLst>
          </p:cNvPr>
          <p:cNvCxnSpPr/>
          <p:nvPr/>
        </p:nvCxnSpPr>
        <p:spPr>
          <a:xfrm>
            <a:off x="1195772" y="6472986"/>
            <a:ext cx="13021495" cy="0"/>
          </a:xfrm>
          <a:prstGeom prst="straightConnector1">
            <a:avLst/>
          </a:prstGeom>
          <a:noFill/>
          <a:ln w="19050" cap="flat" cmpd="sng">
            <a:solidFill>
              <a:srgbClr val="000000"/>
            </a:solidFill>
            <a:prstDash val="solid"/>
            <a:round/>
            <a:headEnd type="none" w="sm" len="sm"/>
            <a:tailEnd type="none" w="sm" len="sm"/>
          </a:ln>
        </p:spPr>
      </p:cxnSp>
    </p:spTree>
    <p:extLst>
      <p:ext uri="{BB962C8B-B14F-4D97-AF65-F5344CB8AC3E}">
        <p14:creationId xmlns:p14="http://schemas.microsoft.com/office/powerpoint/2010/main" val="2890284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8B6D79E6-4C3B-F93B-A3A5-B44E94147426}"/>
            </a:ext>
          </a:extLst>
        </p:cNvPr>
        <p:cNvGrpSpPr/>
        <p:nvPr/>
      </p:nvGrpSpPr>
      <p:grpSpPr>
        <a:xfrm>
          <a:off x="0" y="0"/>
          <a:ext cx="0" cy="0"/>
          <a:chOff x="0" y="0"/>
          <a:chExt cx="0" cy="0"/>
        </a:xfrm>
      </p:grpSpPr>
      <p:sp>
        <p:nvSpPr>
          <p:cNvPr id="188" name="Google Shape;188;p5">
            <a:extLst>
              <a:ext uri="{FF2B5EF4-FFF2-40B4-BE49-F238E27FC236}">
                <a16:creationId xmlns:a16="http://schemas.microsoft.com/office/drawing/2014/main" id="{19BDADAC-B686-6344-3A9E-D95BB748B08D}"/>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nvGrpSpPr>
          <p:cNvPr id="193" name="Google Shape;193;p5">
            <a:extLst>
              <a:ext uri="{FF2B5EF4-FFF2-40B4-BE49-F238E27FC236}">
                <a16:creationId xmlns:a16="http://schemas.microsoft.com/office/drawing/2014/main" id="{4F649E48-252E-F092-3965-E233C2557083}"/>
              </a:ext>
            </a:extLst>
          </p:cNvPr>
          <p:cNvGrpSpPr/>
          <p:nvPr/>
        </p:nvGrpSpPr>
        <p:grpSpPr>
          <a:xfrm>
            <a:off x="1603015" y="3674825"/>
            <a:ext cx="4569185" cy="4157788"/>
            <a:chOff x="0" y="-47625"/>
            <a:chExt cx="1437753" cy="1940938"/>
          </a:xfrm>
        </p:grpSpPr>
        <p:sp>
          <p:nvSpPr>
            <p:cNvPr id="194" name="Google Shape;194;p5">
              <a:extLst>
                <a:ext uri="{FF2B5EF4-FFF2-40B4-BE49-F238E27FC236}">
                  <a16:creationId xmlns:a16="http://schemas.microsoft.com/office/drawing/2014/main" id="{347B74FE-1F27-E1E9-8D7C-5FF02C1E741A}"/>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5" name="Google Shape;195;p5">
              <a:extLst>
                <a:ext uri="{FF2B5EF4-FFF2-40B4-BE49-F238E27FC236}">
                  <a16:creationId xmlns:a16="http://schemas.microsoft.com/office/drawing/2014/main" id="{3EF8072C-7564-792E-2525-CBF72148F1C5}"/>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pic>
        <p:nvPicPr>
          <p:cNvPr id="6" name="Picture 5">
            <a:extLst>
              <a:ext uri="{FF2B5EF4-FFF2-40B4-BE49-F238E27FC236}">
                <a16:creationId xmlns:a16="http://schemas.microsoft.com/office/drawing/2014/main" id="{384359BF-3801-193C-919B-10DEC9F62921}"/>
              </a:ext>
            </a:extLst>
          </p:cNvPr>
          <p:cNvPicPr>
            <a:picLocks noChangeAspect="1"/>
          </p:cNvPicPr>
          <p:nvPr/>
        </p:nvPicPr>
        <p:blipFill>
          <a:blip r:embed="rId4"/>
          <a:stretch>
            <a:fillRect/>
          </a:stretch>
        </p:blipFill>
        <p:spPr>
          <a:xfrm>
            <a:off x="3411288" y="4217252"/>
            <a:ext cx="952633" cy="952633"/>
          </a:xfrm>
          <a:prstGeom prst="rect">
            <a:avLst/>
          </a:prstGeom>
        </p:spPr>
      </p:pic>
      <p:cxnSp>
        <p:nvCxnSpPr>
          <p:cNvPr id="189" name="Google Shape;189;p5">
            <a:extLst>
              <a:ext uri="{FF2B5EF4-FFF2-40B4-BE49-F238E27FC236}">
                <a16:creationId xmlns:a16="http://schemas.microsoft.com/office/drawing/2014/main" id="{35112076-AF04-1837-7E94-F56C0C315336}"/>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90" name="Google Shape;190;p5">
            <a:extLst>
              <a:ext uri="{FF2B5EF4-FFF2-40B4-BE49-F238E27FC236}">
                <a16:creationId xmlns:a16="http://schemas.microsoft.com/office/drawing/2014/main" id="{C826B81C-BEA4-C0D8-1934-5E3ECCC17872}"/>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1" name="Google Shape;191;p5">
            <a:extLst>
              <a:ext uri="{FF2B5EF4-FFF2-40B4-BE49-F238E27FC236}">
                <a16:creationId xmlns:a16="http://schemas.microsoft.com/office/drawing/2014/main" id="{C3E70860-E1B0-550A-126C-F7C79D16A829}"/>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499"/>
              <a:buFont typeface="Arial"/>
              <a:buNone/>
            </a:pPr>
            <a:r>
              <a:rPr lang="pt-PT" sz="7499" dirty="0">
                <a:solidFill>
                  <a:srgbClr val="000000"/>
                </a:solidFill>
                <a:latin typeface="Raleway Black"/>
                <a:sym typeface="Raleway Black"/>
              </a:rPr>
              <a:t>Efeitos</a:t>
            </a:r>
            <a:r>
              <a:rPr lang="pt-PT" sz="7499" i="0" u="none" strike="noStrike" cap="none" noProof="0" dirty="0">
                <a:solidFill>
                  <a:srgbClr val="000000"/>
                </a:solidFill>
                <a:latin typeface="Raleway Black"/>
                <a:ea typeface="Raleway Black"/>
                <a:cs typeface="Raleway Black"/>
                <a:sym typeface="Raleway Black"/>
              </a:rPr>
              <a:t> do Ransomware</a:t>
            </a:r>
            <a:endParaRPr lang="pt-PT" sz="1400" i="0" u="none" strike="noStrike" cap="none" noProof="0" dirty="0">
              <a:solidFill>
                <a:srgbClr val="000000"/>
              </a:solidFill>
              <a:latin typeface="Arial"/>
              <a:ea typeface="Arial"/>
              <a:cs typeface="Arial"/>
              <a:sym typeface="Arial"/>
            </a:endParaRPr>
          </a:p>
        </p:txBody>
      </p:sp>
      <p:sp>
        <p:nvSpPr>
          <p:cNvPr id="196" name="Google Shape;196;p5">
            <a:extLst>
              <a:ext uri="{FF2B5EF4-FFF2-40B4-BE49-F238E27FC236}">
                <a16:creationId xmlns:a16="http://schemas.microsoft.com/office/drawing/2014/main" id="{77D0D9AE-C7C9-603F-F858-7CD16B7C83A2}"/>
              </a:ext>
            </a:extLst>
          </p:cNvPr>
          <p:cNvSpPr txBox="1"/>
          <p:nvPr/>
        </p:nvSpPr>
        <p:spPr>
          <a:xfrm>
            <a:off x="1603014" y="5278068"/>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Interrupção da produção</a:t>
            </a:r>
            <a:endParaRPr lang="pt-PT" sz="1400" b="0" i="0" u="none" strike="noStrike" cap="none" noProof="0" dirty="0">
              <a:solidFill>
                <a:srgbClr val="000000"/>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6EAB9332-F681-EA0A-3BEC-C91FA92AE78C}"/>
              </a:ext>
            </a:extLst>
          </p:cNvPr>
          <p:cNvSpPr txBox="1"/>
          <p:nvPr/>
        </p:nvSpPr>
        <p:spPr>
          <a:xfrm>
            <a:off x="1937822" y="5996186"/>
            <a:ext cx="4081977" cy="1034129"/>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Ataques podem paralisar fábricas, afetar o abastecimento de energia ou água.</a:t>
            </a:r>
            <a:endParaRPr lang="pt-PT" sz="1400" b="0" i="0" u="none" strike="noStrike" cap="none" noProof="0" dirty="0">
              <a:solidFill>
                <a:srgbClr val="000000"/>
              </a:solidFill>
              <a:latin typeface="Arial"/>
              <a:ea typeface="Arial"/>
              <a:cs typeface="Arial"/>
              <a:sym typeface="Arial"/>
            </a:endParaRPr>
          </a:p>
        </p:txBody>
      </p:sp>
      <p:grpSp>
        <p:nvGrpSpPr>
          <p:cNvPr id="198" name="Google Shape;198;p5">
            <a:extLst>
              <a:ext uri="{FF2B5EF4-FFF2-40B4-BE49-F238E27FC236}">
                <a16:creationId xmlns:a16="http://schemas.microsoft.com/office/drawing/2014/main" id="{6B98F085-5819-2808-D568-28A4B2D119F8}"/>
              </a:ext>
            </a:extLst>
          </p:cNvPr>
          <p:cNvGrpSpPr/>
          <p:nvPr/>
        </p:nvGrpSpPr>
        <p:grpSpPr>
          <a:xfrm>
            <a:off x="6973295" y="3674825"/>
            <a:ext cx="4569185" cy="4157788"/>
            <a:chOff x="0" y="-47625"/>
            <a:chExt cx="1437753" cy="1940938"/>
          </a:xfrm>
        </p:grpSpPr>
        <p:sp>
          <p:nvSpPr>
            <p:cNvPr id="199" name="Google Shape;199;p5">
              <a:extLst>
                <a:ext uri="{FF2B5EF4-FFF2-40B4-BE49-F238E27FC236}">
                  <a16:creationId xmlns:a16="http://schemas.microsoft.com/office/drawing/2014/main" id="{C4BF668F-C13D-4BAD-E2D9-D6B623A3E401}"/>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0" name="Google Shape;200;p5">
              <a:extLst>
                <a:ext uri="{FF2B5EF4-FFF2-40B4-BE49-F238E27FC236}">
                  <a16:creationId xmlns:a16="http://schemas.microsoft.com/office/drawing/2014/main" id="{46225A80-7FA2-0CB2-76CA-ADFBEB3445DB}"/>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1" name="Google Shape;201;p5">
            <a:extLst>
              <a:ext uri="{FF2B5EF4-FFF2-40B4-BE49-F238E27FC236}">
                <a16:creationId xmlns:a16="http://schemas.microsoft.com/office/drawing/2014/main" id="{54A35823-540D-B957-999E-28B1E2E26EC9}"/>
              </a:ext>
            </a:extLst>
          </p:cNvPr>
          <p:cNvSpPr txBox="1"/>
          <p:nvPr/>
        </p:nvSpPr>
        <p:spPr>
          <a:xfrm>
            <a:off x="6973294" y="5278068"/>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Prejuízos financeiros</a:t>
            </a:r>
            <a:endParaRPr lang="pt-PT" sz="1400" b="0" i="0" u="none" strike="noStrike" cap="none" noProof="0" dirty="0">
              <a:solidFill>
                <a:srgbClr val="000000"/>
              </a:solidFill>
              <a:latin typeface="Arial"/>
              <a:ea typeface="Arial"/>
              <a:cs typeface="Arial"/>
              <a:sym typeface="Arial"/>
            </a:endParaRPr>
          </a:p>
        </p:txBody>
      </p:sp>
      <p:sp>
        <p:nvSpPr>
          <p:cNvPr id="202" name="Google Shape;202;p5">
            <a:extLst>
              <a:ext uri="{FF2B5EF4-FFF2-40B4-BE49-F238E27FC236}">
                <a16:creationId xmlns:a16="http://schemas.microsoft.com/office/drawing/2014/main" id="{C3A7F304-B8BA-1CBB-F976-A893DD8BA7B9}"/>
              </a:ext>
            </a:extLst>
          </p:cNvPr>
          <p:cNvSpPr txBox="1"/>
          <p:nvPr/>
        </p:nvSpPr>
        <p:spPr>
          <a:xfrm>
            <a:off x="7308102" y="5996186"/>
            <a:ext cx="4082100" cy="1034129"/>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Perdas com inatividade, resgate, recuperação de sistemas e multas  podem ser pesadas</a:t>
            </a:r>
          </a:p>
        </p:txBody>
      </p:sp>
      <p:grpSp>
        <p:nvGrpSpPr>
          <p:cNvPr id="203" name="Google Shape;203;p5">
            <a:extLst>
              <a:ext uri="{FF2B5EF4-FFF2-40B4-BE49-F238E27FC236}">
                <a16:creationId xmlns:a16="http://schemas.microsoft.com/office/drawing/2014/main" id="{E85073CA-BEEA-71F0-9CB9-85D63F8A4A63}"/>
              </a:ext>
            </a:extLst>
          </p:cNvPr>
          <p:cNvGrpSpPr/>
          <p:nvPr/>
        </p:nvGrpSpPr>
        <p:grpSpPr>
          <a:xfrm>
            <a:off x="12343575" y="3674825"/>
            <a:ext cx="4569185" cy="4157788"/>
            <a:chOff x="0" y="-47625"/>
            <a:chExt cx="1437753" cy="1940938"/>
          </a:xfrm>
        </p:grpSpPr>
        <p:sp>
          <p:nvSpPr>
            <p:cNvPr id="204" name="Google Shape;204;p5">
              <a:extLst>
                <a:ext uri="{FF2B5EF4-FFF2-40B4-BE49-F238E27FC236}">
                  <a16:creationId xmlns:a16="http://schemas.microsoft.com/office/drawing/2014/main" id="{6F29A07F-D7F7-2131-9729-8F698888D9D9}"/>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5" name="Google Shape;205;p5">
              <a:extLst>
                <a:ext uri="{FF2B5EF4-FFF2-40B4-BE49-F238E27FC236}">
                  <a16:creationId xmlns:a16="http://schemas.microsoft.com/office/drawing/2014/main" id="{C571D9C2-377D-9829-580B-62BFDD6E2AD5}"/>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6" name="Google Shape;206;p5">
            <a:extLst>
              <a:ext uri="{FF2B5EF4-FFF2-40B4-BE49-F238E27FC236}">
                <a16:creationId xmlns:a16="http://schemas.microsoft.com/office/drawing/2014/main" id="{F33DCB15-E1E7-AFDF-DEEF-CB96B0D5325E}"/>
              </a:ext>
            </a:extLst>
          </p:cNvPr>
          <p:cNvSpPr txBox="1"/>
          <p:nvPr/>
        </p:nvSpPr>
        <p:spPr>
          <a:xfrm>
            <a:off x="12343574" y="5278068"/>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Perda de confiança</a:t>
            </a:r>
            <a:endParaRPr lang="pt-PT" sz="1400" b="0" i="0" u="none" strike="noStrike" cap="none" noProof="0" dirty="0">
              <a:solidFill>
                <a:srgbClr val="000000"/>
              </a:solidFill>
              <a:latin typeface="Arial"/>
              <a:ea typeface="Arial"/>
              <a:cs typeface="Arial"/>
              <a:sym typeface="Arial"/>
            </a:endParaRPr>
          </a:p>
        </p:txBody>
      </p:sp>
      <p:sp>
        <p:nvSpPr>
          <p:cNvPr id="207" name="Google Shape;207;p5">
            <a:extLst>
              <a:ext uri="{FF2B5EF4-FFF2-40B4-BE49-F238E27FC236}">
                <a16:creationId xmlns:a16="http://schemas.microsoft.com/office/drawing/2014/main" id="{F74B2102-8000-212D-98DF-87376BFE913E}"/>
              </a:ext>
            </a:extLst>
          </p:cNvPr>
          <p:cNvSpPr txBox="1"/>
          <p:nvPr/>
        </p:nvSpPr>
        <p:spPr>
          <a:xfrm>
            <a:off x="12678382" y="5996186"/>
            <a:ext cx="4082100" cy="1378839"/>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Clientes e parceiros podem duvidar da capacidade da empresa de proteger os seus dados e processos</a:t>
            </a:r>
          </a:p>
        </p:txBody>
      </p:sp>
      <p:sp>
        <p:nvSpPr>
          <p:cNvPr id="211" name="Google Shape;211;p5">
            <a:extLst>
              <a:ext uri="{FF2B5EF4-FFF2-40B4-BE49-F238E27FC236}">
                <a16:creationId xmlns:a16="http://schemas.microsoft.com/office/drawing/2014/main" id="{798F6327-0137-8872-98DC-45443484283D}"/>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Consequências operacionais e reputacionais severas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AED571FC-BD5A-328B-CF6E-D382F8BDC6E2}"/>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12</a:t>
            </a:fld>
            <a:endParaRPr lang="pt-PT" sz="2041" b="1" i="0" u="none" strike="noStrike" cap="none" noProof="0" dirty="0">
              <a:solidFill>
                <a:srgbClr val="000000"/>
              </a:solidFill>
              <a:latin typeface="Raleway SemiBold"/>
              <a:ea typeface="Raleway SemiBold"/>
              <a:cs typeface="Raleway SemiBold"/>
              <a:sym typeface="Raleway SemiBold"/>
            </a:endParaRPr>
          </a:p>
        </p:txBody>
      </p:sp>
      <p:pic>
        <p:nvPicPr>
          <p:cNvPr id="9" name="Picture 8">
            <a:extLst>
              <a:ext uri="{FF2B5EF4-FFF2-40B4-BE49-F238E27FC236}">
                <a16:creationId xmlns:a16="http://schemas.microsoft.com/office/drawing/2014/main" id="{88313DF3-90A9-E1F1-DDB3-7BE8E6F18FD5}"/>
              </a:ext>
            </a:extLst>
          </p:cNvPr>
          <p:cNvPicPr>
            <a:picLocks noChangeAspect="1"/>
          </p:cNvPicPr>
          <p:nvPr/>
        </p:nvPicPr>
        <p:blipFill>
          <a:blip r:embed="rId6"/>
          <a:stretch>
            <a:fillRect/>
          </a:stretch>
        </p:blipFill>
        <p:spPr>
          <a:xfrm>
            <a:off x="8781569" y="4218570"/>
            <a:ext cx="952633" cy="952633"/>
          </a:xfrm>
          <a:prstGeom prst="rect">
            <a:avLst/>
          </a:prstGeom>
        </p:spPr>
      </p:pic>
      <p:pic>
        <p:nvPicPr>
          <p:cNvPr id="12" name="Picture 11">
            <a:extLst>
              <a:ext uri="{FF2B5EF4-FFF2-40B4-BE49-F238E27FC236}">
                <a16:creationId xmlns:a16="http://schemas.microsoft.com/office/drawing/2014/main" id="{9D893F5E-1C8A-7E93-F801-124AB678F78E}"/>
              </a:ext>
            </a:extLst>
          </p:cNvPr>
          <p:cNvPicPr>
            <a:picLocks noChangeAspect="1"/>
          </p:cNvPicPr>
          <p:nvPr/>
        </p:nvPicPr>
        <p:blipFill>
          <a:blip r:embed="rId7"/>
          <a:stretch>
            <a:fillRect/>
          </a:stretch>
        </p:blipFill>
        <p:spPr>
          <a:xfrm>
            <a:off x="14151848" y="4217251"/>
            <a:ext cx="952633" cy="952633"/>
          </a:xfrm>
          <a:prstGeom prst="rect">
            <a:avLst/>
          </a:prstGeom>
        </p:spPr>
      </p:pic>
    </p:spTree>
    <p:extLst>
      <p:ext uri="{BB962C8B-B14F-4D97-AF65-F5344CB8AC3E}">
        <p14:creationId xmlns:p14="http://schemas.microsoft.com/office/powerpoint/2010/main" val="1238923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60" name="Google Shape;160;p4"/>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61" name="Google Shape;161;p4"/>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nvGrpSpPr>
          <p:cNvPr id="164" name="Google Shape;164;p4"/>
          <p:cNvGrpSpPr/>
          <p:nvPr/>
        </p:nvGrpSpPr>
        <p:grpSpPr>
          <a:xfrm>
            <a:off x="1603015" y="3674825"/>
            <a:ext cx="4569185" cy="4157788"/>
            <a:chOff x="0" y="-47625"/>
            <a:chExt cx="1437753" cy="1940938"/>
          </a:xfrm>
        </p:grpSpPr>
        <p:sp>
          <p:nvSpPr>
            <p:cNvPr id="165" name="Google Shape;165;p4"/>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66" name="Google Shape;166;p4"/>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167" name="Google Shape;167;p4"/>
          <p:cNvSpPr txBox="1"/>
          <p:nvPr/>
        </p:nvSpPr>
        <p:spPr>
          <a:xfrm>
            <a:off x="1603014" y="5097953"/>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Estatísticas globais</a:t>
            </a:r>
            <a:endParaRPr lang="pt-PT" sz="1400" b="0" i="0" u="none" strike="noStrike" cap="none" noProof="0" dirty="0">
              <a:solidFill>
                <a:srgbClr val="000000"/>
              </a:solidFill>
              <a:latin typeface="Arial"/>
              <a:ea typeface="Arial"/>
              <a:cs typeface="Arial"/>
              <a:sym typeface="Arial"/>
            </a:endParaRPr>
          </a:p>
        </p:txBody>
      </p:sp>
      <p:grpSp>
        <p:nvGrpSpPr>
          <p:cNvPr id="168" name="Google Shape;168;p4"/>
          <p:cNvGrpSpPr/>
          <p:nvPr/>
        </p:nvGrpSpPr>
        <p:grpSpPr>
          <a:xfrm>
            <a:off x="6973295" y="3674825"/>
            <a:ext cx="4569185" cy="4157788"/>
            <a:chOff x="0" y="-47625"/>
            <a:chExt cx="1437753" cy="1940938"/>
          </a:xfrm>
        </p:grpSpPr>
        <p:sp>
          <p:nvSpPr>
            <p:cNvPr id="169" name="Google Shape;169;p4"/>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70" name="Google Shape;170;p4"/>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171" name="Google Shape;171;p4"/>
          <p:cNvSpPr txBox="1"/>
          <p:nvPr/>
        </p:nvSpPr>
        <p:spPr>
          <a:xfrm>
            <a:off x="6973294" y="5097953"/>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Tendência de crescimento</a:t>
            </a:r>
            <a:endParaRPr lang="pt-PT" sz="1400" b="0" i="0" u="none" strike="noStrike" cap="none" noProof="0" dirty="0">
              <a:solidFill>
                <a:srgbClr val="000000"/>
              </a:solidFill>
              <a:latin typeface="Arial"/>
              <a:ea typeface="Arial"/>
              <a:cs typeface="Arial"/>
              <a:sym typeface="Arial"/>
            </a:endParaRPr>
          </a:p>
        </p:txBody>
      </p:sp>
      <p:sp>
        <p:nvSpPr>
          <p:cNvPr id="172" name="Google Shape;172;p4"/>
          <p:cNvSpPr txBox="1"/>
          <p:nvPr/>
        </p:nvSpPr>
        <p:spPr>
          <a:xfrm>
            <a:off x="7512656" y="5700177"/>
            <a:ext cx="3733800" cy="1677447"/>
          </a:xfrm>
          <a:prstGeom prst="rect">
            <a:avLst/>
          </a:prstGeom>
          <a:noFill/>
          <a:ln>
            <a:noFill/>
          </a:ln>
        </p:spPr>
        <p:txBody>
          <a:bodyPr spcFirstLastPara="1" wrap="square" lIns="0" tIns="0" rIns="0" bIns="0" anchor="t" anchorCtr="0">
            <a:spAutoFit/>
          </a:bodyPr>
          <a:lstStyle/>
          <a:p>
            <a:pPr marL="0" marR="0" lvl="0" indent="0" algn="ctr" rtl="0">
              <a:lnSpc>
                <a:spcPct val="124388"/>
              </a:lnSpc>
              <a:spcBef>
                <a:spcPts val="0"/>
              </a:spcBef>
              <a:spcAft>
                <a:spcPts val="0"/>
              </a:spcAft>
              <a:buClr>
                <a:srgbClr val="000000"/>
              </a:buClr>
              <a:buSzPts val="1800"/>
              <a:buFont typeface="Arial"/>
              <a:buNone/>
            </a:pPr>
            <a:r>
              <a:rPr lang="pt-PT" sz="1800" b="0" i="0" u="none" strike="noStrike" cap="none" noProof="0" dirty="0">
                <a:solidFill>
                  <a:srgbClr val="101010"/>
                </a:solidFill>
                <a:latin typeface="Raleway"/>
                <a:ea typeface="Raleway"/>
                <a:cs typeface="Raleway"/>
                <a:sym typeface="Raleway"/>
              </a:rPr>
              <a:t>O ransomware tem crescido de forma preocupante. Com lucros elevados e baixa probabilidade de punição, muitos cibercriminosos continuam no ativo e a ameaça continuará a aumentar.</a:t>
            </a:r>
          </a:p>
        </p:txBody>
      </p:sp>
      <p:grpSp>
        <p:nvGrpSpPr>
          <p:cNvPr id="173" name="Google Shape;173;p4"/>
          <p:cNvGrpSpPr/>
          <p:nvPr/>
        </p:nvGrpSpPr>
        <p:grpSpPr>
          <a:xfrm>
            <a:off x="12343575" y="3674825"/>
            <a:ext cx="4569185" cy="4157788"/>
            <a:chOff x="0" y="-47625"/>
            <a:chExt cx="1437753" cy="1940938"/>
          </a:xfrm>
        </p:grpSpPr>
        <p:sp>
          <p:nvSpPr>
            <p:cNvPr id="174" name="Google Shape;174;p4"/>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75" name="Google Shape;175;p4"/>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176" name="Google Shape;176;p4"/>
          <p:cNvSpPr txBox="1"/>
          <p:nvPr/>
        </p:nvSpPr>
        <p:spPr>
          <a:xfrm>
            <a:off x="12343574" y="5194938"/>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41 empresas afetadas</a:t>
            </a:r>
            <a:endParaRPr lang="pt-PT" sz="1400" b="0" i="0" u="none" strike="noStrike" cap="none" noProof="0" dirty="0">
              <a:solidFill>
                <a:srgbClr val="000000"/>
              </a:solidFill>
              <a:latin typeface="Arial"/>
              <a:ea typeface="Arial"/>
              <a:cs typeface="Arial"/>
              <a:sym typeface="Arial"/>
            </a:endParaRPr>
          </a:p>
        </p:txBody>
      </p:sp>
      <p:sp>
        <p:nvSpPr>
          <p:cNvPr id="177" name="Google Shape;177;p4"/>
          <p:cNvSpPr txBox="1"/>
          <p:nvPr/>
        </p:nvSpPr>
        <p:spPr>
          <a:xfrm>
            <a:off x="2743200" y="2210695"/>
            <a:ext cx="13272713" cy="5706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Ransomware - Estatísticas globais e o panorama português</a:t>
            </a:r>
            <a:endParaRPr lang="pt-PT" sz="1400" b="0" i="0" u="none" strike="noStrike" cap="none" noProof="0" dirty="0">
              <a:solidFill>
                <a:srgbClr val="000000"/>
              </a:solidFill>
              <a:latin typeface="Arial"/>
              <a:ea typeface="Arial"/>
              <a:cs typeface="Arial"/>
              <a:sym typeface="Arial"/>
            </a:endParaRPr>
          </a:p>
        </p:txBody>
      </p:sp>
      <p:pic>
        <p:nvPicPr>
          <p:cNvPr id="178" name="Google Shape;178;p4"/>
          <p:cNvPicPr preferRelativeResize="0"/>
          <p:nvPr/>
        </p:nvPicPr>
        <p:blipFill rotWithShape="1">
          <a:blip r:embed="rId5">
            <a:alphaModFix/>
          </a:blip>
          <a:srcRect/>
          <a:stretch/>
        </p:blipFill>
        <p:spPr>
          <a:xfrm>
            <a:off x="13993077" y="4112064"/>
            <a:ext cx="1270177" cy="952633"/>
          </a:xfrm>
          <a:prstGeom prst="rect">
            <a:avLst/>
          </a:prstGeom>
          <a:noFill/>
          <a:ln>
            <a:noFill/>
          </a:ln>
        </p:spPr>
      </p:pic>
      <p:pic>
        <p:nvPicPr>
          <p:cNvPr id="179" name="Google Shape;179;p4"/>
          <p:cNvPicPr preferRelativeResize="0"/>
          <p:nvPr/>
        </p:nvPicPr>
        <p:blipFill rotWithShape="1">
          <a:blip r:embed="rId6">
            <a:alphaModFix/>
          </a:blip>
          <a:srcRect/>
          <a:stretch/>
        </p:blipFill>
        <p:spPr>
          <a:xfrm>
            <a:off x="2037156" y="5838421"/>
            <a:ext cx="3700898" cy="1242351"/>
          </a:xfrm>
          <a:prstGeom prst="rect">
            <a:avLst/>
          </a:prstGeom>
          <a:noFill/>
          <a:ln>
            <a:noFill/>
          </a:ln>
        </p:spPr>
      </p:pic>
      <p:pic>
        <p:nvPicPr>
          <p:cNvPr id="180" name="Google Shape;180;p4"/>
          <p:cNvPicPr preferRelativeResize="0"/>
          <p:nvPr/>
        </p:nvPicPr>
        <p:blipFill rotWithShape="1">
          <a:blip r:embed="rId7">
            <a:alphaModFix/>
          </a:blip>
          <a:srcRect/>
          <a:stretch/>
        </p:blipFill>
        <p:spPr>
          <a:xfrm>
            <a:off x="12485813" y="5756584"/>
            <a:ext cx="4284703" cy="1876513"/>
          </a:xfrm>
          <a:prstGeom prst="rect">
            <a:avLst/>
          </a:prstGeom>
          <a:noFill/>
          <a:ln>
            <a:noFill/>
          </a:ln>
        </p:spPr>
      </p:pic>
      <p:pic>
        <p:nvPicPr>
          <p:cNvPr id="181" name="Google Shape;181;p4"/>
          <p:cNvPicPr preferRelativeResize="0"/>
          <p:nvPr/>
        </p:nvPicPr>
        <p:blipFill rotWithShape="1">
          <a:blip r:embed="rId8">
            <a:alphaModFix/>
          </a:blip>
          <a:srcRect/>
          <a:stretch/>
        </p:blipFill>
        <p:spPr>
          <a:xfrm>
            <a:off x="8781569" y="4005151"/>
            <a:ext cx="952633" cy="952633"/>
          </a:xfrm>
          <a:prstGeom prst="rect">
            <a:avLst/>
          </a:prstGeom>
          <a:noFill/>
          <a:ln>
            <a:noFill/>
          </a:ln>
        </p:spPr>
      </p:pic>
      <p:pic>
        <p:nvPicPr>
          <p:cNvPr id="182" name="Google Shape;182;p4"/>
          <p:cNvPicPr preferRelativeResize="0"/>
          <p:nvPr/>
        </p:nvPicPr>
        <p:blipFill rotWithShape="1">
          <a:blip r:embed="rId9">
            <a:alphaModFix/>
          </a:blip>
          <a:srcRect/>
          <a:stretch/>
        </p:blipFill>
        <p:spPr>
          <a:xfrm>
            <a:off x="3411288" y="4145320"/>
            <a:ext cx="952633" cy="952633"/>
          </a:xfrm>
          <a:prstGeom prst="rect">
            <a:avLst/>
          </a:prstGeom>
          <a:noFill/>
          <a:ln>
            <a:noFill/>
          </a:ln>
        </p:spPr>
      </p:pic>
      <p:sp>
        <p:nvSpPr>
          <p:cNvPr id="2" name="Google Shape;108;p2">
            <a:extLst>
              <a:ext uri="{FF2B5EF4-FFF2-40B4-BE49-F238E27FC236}">
                <a16:creationId xmlns:a16="http://schemas.microsoft.com/office/drawing/2014/main" id="{884230E7-09BC-30BD-E911-65ACA6FF44D2}"/>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13</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4" name="Google Shape;142;p3">
            <a:extLst>
              <a:ext uri="{FF2B5EF4-FFF2-40B4-BE49-F238E27FC236}">
                <a16:creationId xmlns:a16="http://schemas.microsoft.com/office/drawing/2014/main" id="{A95E7659-3532-4765-D342-BBBD4C660E28}"/>
              </a:ext>
            </a:extLst>
          </p:cNvPr>
          <p:cNvSpPr txBox="1"/>
          <p:nvPr/>
        </p:nvSpPr>
        <p:spPr>
          <a:xfrm>
            <a:off x="2747139" y="1058170"/>
            <a:ext cx="13272713" cy="1281120"/>
          </a:xfrm>
          <a:prstGeom prst="rect">
            <a:avLst/>
          </a:prstGeom>
          <a:noFill/>
          <a:ln>
            <a:noFill/>
          </a:ln>
        </p:spPr>
        <p:txBody>
          <a:bodyPr spcFirstLastPara="1" wrap="square" lIns="0" tIns="0" rIns="0" bIns="0" anchor="t" anchorCtr="0">
            <a:spAutoFit/>
          </a:bodyPr>
          <a:lstStyle/>
          <a:p>
            <a:pPr lvl="0">
              <a:lnSpc>
                <a:spcPct val="110986"/>
              </a:lnSpc>
              <a:buClr>
                <a:srgbClr val="000000"/>
              </a:buClr>
              <a:buSzPts val="7500"/>
            </a:pPr>
            <a:r>
              <a:rPr lang="pt-BR" sz="7500" b="1" dirty="0">
                <a:solidFill>
                  <a:srgbClr val="000000"/>
                </a:solidFill>
                <a:latin typeface="Raleway Black"/>
                <a:ea typeface="Raleway Black"/>
                <a:cs typeface="Raleway Black"/>
                <a:sym typeface="Raleway Black"/>
              </a:rPr>
              <a:t>Estatísticas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04864ECF-1D7E-CED3-76C4-B156027201D8}"/>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FFC3C551-7D00-E933-030D-28A19B975157}"/>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60" name="Google Shape;160;p4">
            <a:extLst>
              <a:ext uri="{FF2B5EF4-FFF2-40B4-BE49-F238E27FC236}">
                <a16:creationId xmlns:a16="http://schemas.microsoft.com/office/drawing/2014/main" id="{78F70A4B-29AF-3696-4059-859297D5D9AE}"/>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61" name="Google Shape;161;p4">
            <a:extLst>
              <a:ext uri="{FF2B5EF4-FFF2-40B4-BE49-F238E27FC236}">
                <a16:creationId xmlns:a16="http://schemas.microsoft.com/office/drawing/2014/main" id="{323A37C7-6A07-AA7F-2F67-192D5ABE28A5}"/>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77" name="Google Shape;177;p4">
            <a:extLst>
              <a:ext uri="{FF2B5EF4-FFF2-40B4-BE49-F238E27FC236}">
                <a16:creationId xmlns:a16="http://schemas.microsoft.com/office/drawing/2014/main" id="{5BA9C208-A5F5-0C33-5D6D-63D0F669E5D6}"/>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Ransomware </a:t>
            </a:r>
            <a:r>
              <a:rPr lang="pt-PT" sz="2800" dirty="0">
                <a:solidFill>
                  <a:srgbClr val="7F7F7F"/>
                </a:solidFill>
                <a:latin typeface="Raleway"/>
                <a:ea typeface="Raleway"/>
                <a:cs typeface="Raleway"/>
                <a:sym typeface="Raleway"/>
              </a:rPr>
              <a:t>no mundo</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6BD8CBD2-D2AD-DFCC-AE6F-7564802DE2B3}"/>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14</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3" name="Google Shape;142;p3">
            <a:extLst>
              <a:ext uri="{FF2B5EF4-FFF2-40B4-BE49-F238E27FC236}">
                <a16:creationId xmlns:a16="http://schemas.microsoft.com/office/drawing/2014/main" id="{01173848-0730-4D8B-AD39-5D870F7BB065}"/>
              </a:ext>
            </a:extLst>
          </p:cNvPr>
          <p:cNvSpPr txBox="1"/>
          <p:nvPr/>
        </p:nvSpPr>
        <p:spPr>
          <a:xfrm>
            <a:off x="2747139" y="1058170"/>
            <a:ext cx="13272713" cy="1024896"/>
          </a:xfrm>
          <a:prstGeom prst="rect">
            <a:avLst/>
          </a:prstGeom>
          <a:noFill/>
          <a:ln>
            <a:noFill/>
          </a:ln>
        </p:spPr>
        <p:txBody>
          <a:bodyPr spcFirstLastPara="1" wrap="square" lIns="0" tIns="0" rIns="0" bIns="0" anchor="t" anchorCtr="0">
            <a:spAutoFit/>
          </a:bodyPr>
          <a:lstStyle/>
          <a:p>
            <a:pPr lvl="0">
              <a:lnSpc>
                <a:spcPct val="110986"/>
              </a:lnSpc>
              <a:buClr>
                <a:srgbClr val="000000"/>
              </a:buClr>
              <a:buSzPts val="7500"/>
            </a:pPr>
            <a:r>
              <a:rPr lang="pt-BR" sz="6000" b="1" dirty="0">
                <a:solidFill>
                  <a:srgbClr val="000000"/>
                </a:solidFill>
                <a:latin typeface="Raleway Black"/>
                <a:sym typeface="Raleway Black"/>
              </a:rPr>
              <a:t>Incidentes com impacto elevado</a:t>
            </a:r>
            <a:endParaRPr lang="pt-BR" sz="5400" b="1" dirty="0">
              <a:solidFill>
                <a:srgbClr val="000000"/>
              </a:solidFill>
              <a:latin typeface="Raleway Black"/>
              <a:ea typeface="Raleway Black"/>
              <a:cs typeface="Raleway Black"/>
              <a:sym typeface="Raleway Black"/>
            </a:endParaRPr>
          </a:p>
        </p:txBody>
      </p:sp>
      <p:graphicFrame>
        <p:nvGraphicFramePr>
          <p:cNvPr id="5" name="Table 4">
            <a:extLst>
              <a:ext uri="{FF2B5EF4-FFF2-40B4-BE49-F238E27FC236}">
                <a16:creationId xmlns:a16="http://schemas.microsoft.com/office/drawing/2014/main" id="{081BE890-1B7D-2720-0449-6DEE4B0F08CA}"/>
              </a:ext>
            </a:extLst>
          </p:cNvPr>
          <p:cNvGraphicFramePr>
            <a:graphicFrameLocks noGrp="1"/>
          </p:cNvGraphicFramePr>
          <p:nvPr>
            <p:extLst>
              <p:ext uri="{D42A27DB-BD31-4B8C-83A1-F6EECF244321}">
                <p14:modId xmlns:p14="http://schemas.microsoft.com/office/powerpoint/2010/main" val="3054558714"/>
              </p:ext>
            </p:extLst>
          </p:nvPr>
        </p:nvGraphicFramePr>
        <p:xfrm>
          <a:off x="2743200" y="2948531"/>
          <a:ext cx="13833838" cy="5705609"/>
        </p:xfrm>
        <a:graphic>
          <a:graphicData uri="http://schemas.openxmlformats.org/drawingml/2006/table">
            <a:tbl>
              <a:tblPr firstRow="1" bandRow="1">
                <a:tableStyleId>{5C22544A-7EE6-4342-B048-85BDC9FD1C3A}</a:tableStyleId>
              </a:tblPr>
              <a:tblGrid>
                <a:gridCol w="3449053">
                  <a:extLst>
                    <a:ext uri="{9D8B030D-6E8A-4147-A177-3AD203B41FA5}">
                      <a16:colId xmlns:a16="http://schemas.microsoft.com/office/drawing/2014/main" val="3072481838"/>
                    </a:ext>
                  </a:extLst>
                </a:gridCol>
                <a:gridCol w="2231023">
                  <a:extLst>
                    <a:ext uri="{9D8B030D-6E8A-4147-A177-3AD203B41FA5}">
                      <a16:colId xmlns:a16="http://schemas.microsoft.com/office/drawing/2014/main" val="1828807181"/>
                    </a:ext>
                  </a:extLst>
                </a:gridCol>
                <a:gridCol w="7359106">
                  <a:extLst>
                    <a:ext uri="{9D8B030D-6E8A-4147-A177-3AD203B41FA5}">
                      <a16:colId xmlns:a16="http://schemas.microsoft.com/office/drawing/2014/main" val="847604177"/>
                    </a:ext>
                  </a:extLst>
                </a:gridCol>
                <a:gridCol w="794656">
                  <a:extLst>
                    <a:ext uri="{9D8B030D-6E8A-4147-A177-3AD203B41FA5}">
                      <a16:colId xmlns:a16="http://schemas.microsoft.com/office/drawing/2014/main" val="2078809658"/>
                    </a:ext>
                  </a:extLst>
                </a:gridCol>
              </a:tblGrid>
              <a:tr h="815087">
                <a:tc>
                  <a:txBody>
                    <a:bodyPr/>
                    <a:lstStyle/>
                    <a:p>
                      <a:pPr lvl="0" algn="l" fontAlgn="b">
                        <a:buNone/>
                      </a:pPr>
                      <a:r>
                        <a:rPr lang="pt-PT" sz="2400" b="0" i="0" u="none" strike="noStrike" noProof="0" dirty="0">
                          <a:solidFill>
                            <a:srgbClr val="000000"/>
                          </a:solidFill>
                          <a:effectLst/>
                          <a:latin typeface="Aptos Narrow" panose="020B0004020202020204" pitchFamily="34" charset="0"/>
                        </a:rPr>
                        <a:t>  Sector</a:t>
                      </a:r>
                    </a:p>
                  </a:txBody>
                  <a:tcPr marL="9525" marR="9525" marT="9525" marB="0" anchor="ctr"/>
                </a:tc>
                <a:tc>
                  <a:txBody>
                    <a:bodyPr/>
                    <a:lstStyle/>
                    <a:p>
                      <a:pPr algn="ctr" fontAlgn="b">
                        <a:buNone/>
                      </a:pPr>
                      <a:r>
                        <a:rPr lang="pt-PT" sz="2400" b="0" i="0" u="none" strike="noStrike" noProof="0" dirty="0">
                          <a:solidFill>
                            <a:srgbClr val="000000"/>
                          </a:solidFill>
                          <a:effectLst/>
                          <a:latin typeface="Aptos Narrow" panose="020B0004020202020204" pitchFamily="34" charset="0"/>
                        </a:rPr>
                        <a:t>Organização</a:t>
                      </a:r>
                    </a:p>
                  </a:txBody>
                  <a:tcPr marL="9525" marR="9525" marT="9525" marB="0" anchor="ctr"/>
                </a:tc>
                <a:tc>
                  <a:txBody>
                    <a:bodyPr/>
                    <a:lstStyle/>
                    <a:p>
                      <a:pPr algn="l" fontAlgn="b">
                        <a:buNone/>
                      </a:pPr>
                      <a:r>
                        <a:rPr lang="pt-PT" sz="2400" b="0" i="0" u="none" strike="noStrike" noProof="0" dirty="0">
                          <a:solidFill>
                            <a:srgbClr val="000000"/>
                          </a:solidFill>
                          <a:effectLst/>
                          <a:latin typeface="Aptos Narrow" panose="020B0004020202020204" pitchFamily="34" charset="0"/>
                        </a:rPr>
                        <a:t>  Resultado / Impacto</a:t>
                      </a:r>
                    </a:p>
                  </a:txBody>
                  <a:tcPr marL="9525" marR="9525" marT="9525" marB="0" anchor="ctr"/>
                </a:tc>
                <a:tc>
                  <a:txBody>
                    <a:bodyPr/>
                    <a:lstStyle/>
                    <a:p>
                      <a:pPr algn="l" fontAlgn="b">
                        <a:buNone/>
                      </a:pPr>
                      <a:endParaRPr lang="pt-PT" sz="24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233741522"/>
                  </a:ext>
                </a:extLst>
              </a:tr>
              <a:tr h="815087">
                <a:tc>
                  <a:txBody>
                    <a:bodyPr/>
                    <a:lstStyle/>
                    <a:p>
                      <a:pPr lvl="0"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Logística/Transportes</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KNP</a:t>
                      </a:r>
                    </a:p>
                  </a:txBody>
                  <a:tcPr marL="9525" marR="9525" marT="9525" marB="0" anchor="ctr"/>
                </a:tc>
                <a:tc>
                  <a:txBody>
                    <a:bodyPr/>
                    <a:lstStyle/>
                    <a:p>
                      <a:pPr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Empresa com 158 anos encerrou. 700 empregos perdidos.</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hlinkClick r:id="rId5"/>
                        </a:rPr>
                        <a:t>link</a:t>
                      </a:r>
                      <a:endParaRPr lang="pt-PT" sz="2400" b="0" i="0" u="none" strike="noStrike" cap="none" noProof="0" dirty="0">
                        <a:solidFill>
                          <a:srgbClr val="000000"/>
                        </a:solidFill>
                        <a:effectLst/>
                        <a:latin typeface="Aptos Narrow" panose="020B0004020202020204" pitchFamily="34" charset="0"/>
                        <a:ea typeface="+mn-ea"/>
                        <a:cs typeface="+mn-cs"/>
                        <a:sym typeface="Arial"/>
                      </a:endParaRPr>
                    </a:p>
                  </a:txBody>
                  <a:tcPr marL="9525" marR="9525" marT="9525" marB="0" anchor="ctr"/>
                </a:tc>
                <a:extLst>
                  <a:ext uri="{0D108BD9-81ED-4DB2-BD59-A6C34878D82A}">
                    <a16:rowId xmlns:a16="http://schemas.microsoft.com/office/drawing/2014/main" val="2524468094"/>
                  </a:ext>
                </a:extLst>
              </a:tr>
              <a:tr h="815087">
                <a:tc>
                  <a:txBody>
                    <a:bodyPr/>
                    <a:lstStyle/>
                    <a:p>
                      <a:pPr lvl="0"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Educação</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Lincoln College</a:t>
                      </a:r>
                    </a:p>
                  </a:txBody>
                  <a:tcPr marL="9525" marR="9525" marT="9525" marB="0" anchor="ctr"/>
                </a:tc>
                <a:tc>
                  <a:txBody>
                    <a:bodyPr/>
                    <a:lstStyle/>
                    <a:p>
                      <a:pPr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Universidade com 157 anos encerrou.</a:t>
                      </a: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pt-PT" sz="2400" b="0" i="0" u="none" strike="noStrike" cap="none" noProof="0" dirty="0">
                          <a:solidFill>
                            <a:srgbClr val="000000"/>
                          </a:solidFill>
                          <a:effectLst/>
                          <a:latin typeface="Aptos Narrow" panose="020B0004020202020204" pitchFamily="34" charset="0"/>
                          <a:ea typeface="+mn-ea"/>
                          <a:cs typeface="+mn-cs"/>
                          <a:sym typeface="Arial"/>
                          <a:hlinkClick r:id="rId6"/>
                        </a:rPr>
                        <a:t>link</a:t>
                      </a:r>
                      <a:endParaRPr lang="pt-PT" sz="2400" b="0" i="0" u="none" strike="noStrike" cap="none" noProof="0" dirty="0">
                        <a:solidFill>
                          <a:srgbClr val="000000"/>
                        </a:solidFill>
                        <a:effectLst/>
                        <a:latin typeface="Aptos Narrow" panose="020B0004020202020204" pitchFamily="34" charset="0"/>
                        <a:ea typeface="+mn-ea"/>
                        <a:cs typeface="+mn-cs"/>
                        <a:sym typeface="Arial"/>
                      </a:endParaRPr>
                    </a:p>
                  </a:txBody>
                  <a:tcPr marL="9525" marR="9525" marT="9525" marB="0" anchor="ctr"/>
                </a:tc>
                <a:extLst>
                  <a:ext uri="{0D108BD9-81ED-4DB2-BD59-A6C34878D82A}">
                    <a16:rowId xmlns:a16="http://schemas.microsoft.com/office/drawing/2014/main" val="1432163501"/>
                  </a:ext>
                </a:extLst>
              </a:tr>
              <a:tr h="815087">
                <a:tc>
                  <a:txBody>
                    <a:bodyPr/>
                    <a:lstStyle/>
                    <a:p>
                      <a:pPr lvl="0"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Saúde</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SMP Health</a:t>
                      </a:r>
                    </a:p>
                  </a:txBody>
                  <a:tcPr marL="9525" marR="9525" marT="9525" marB="0" anchor="ctr"/>
                </a:tc>
                <a:tc>
                  <a:txBody>
                    <a:bodyPr/>
                    <a:lstStyle/>
                    <a:p>
                      <a:pPr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Encerramento do hospital.</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hlinkClick r:id="rId7"/>
                        </a:rPr>
                        <a:t>link</a:t>
                      </a:r>
                      <a:endParaRPr lang="pt-PT" sz="2400" b="0" i="0" u="none" strike="noStrike" cap="none" noProof="0" dirty="0">
                        <a:solidFill>
                          <a:srgbClr val="000000"/>
                        </a:solidFill>
                        <a:effectLst/>
                        <a:latin typeface="Aptos Narrow" panose="020B0004020202020204" pitchFamily="34" charset="0"/>
                        <a:ea typeface="+mn-ea"/>
                        <a:cs typeface="+mn-cs"/>
                        <a:sym typeface="Arial"/>
                      </a:endParaRPr>
                    </a:p>
                  </a:txBody>
                  <a:tcPr marL="9525" marR="9525" marT="9525" marB="0" anchor="ctr"/>
                </a:tc>
                <a:extLst>
                  <a:ext uri="{0D108BD9-81ED-4DB2-BD59-A6C34878D82A}">
                    <a16:rowId xmlns:a16="http://schemas.microsoft.com/office/drawing/2014/main" val="2621837498"/>
                  </a:ext>
                </a:extLst>
              </a:tr>
              <a:tr h="815087">
                <a:tc>
                  <a:txBody>
                    <a:bodyPr/>
                    <a:lstStyle/>
                    <a:p>
                      <a:pPr lvl="0"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Retalho</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WineLab</a:t>
                      </a:r>
                    </a:p>
                  </a:txBody>
                  <a:tcPr marL="9525" marR="9525" marT="9525" marB="0" anchor="ctr"/>
                </a:tc>
                <a:tc>
                  <a:txBody>
                    <a:bodyPr/>
                    <a:lstStyle/>
                    <a:p>
                      <a:pPr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Mais de 2000 lojas encerradas vários dias.</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hlinkClick r:id="rId8"/>
                        </a:rPr>
                        <a:t>link</a:t>
                      </a:r>
                      <a:endParaRPr lang="pt-PT" sz="2400" b="0" i="0" u="none" strike="noStrike" cap="none" noProof="0" dirty="0">
                        <a:solidFill>
                          <a:srgbClr val="000000"/>
                        </a:solidFill>
                        <a:effectLst/>
                        <a:latin typeface="Aptos Narrow" panose="020B0004020202020204" pitchFamily="34" charset="0"/>
                        <a:ea typeface="+mn-ea"/>
                        <a:cs typeface="+mn-cs"/>
                        <a:sym typeface="Arial"/>
                      </a:endParaRPr>
                    </a:p>
                  </a:txBody>
                  <a:tcPr marL="9525" marR="9525" marT="9525" marB="0" anchor="ctr"/>
                </a:tc>
                <a:extLst>
                  <a:ext uri="{0D108BD9-81ED-4DB2-BD59-A6C34878D82A}">
                    <a16:rowId xmlns:a16="http://schemas.microsoft.com/office/drawing/2014/main" val="2346807090"/>
                  </a:ext>
                </a:extLst>
              </a:tr>
              <a:tr h="815087">
                <a:tc>
                  <a:txBody>
                    <a:bodyPr/>
                    <a:lstStyle/>
                    <a:p>
                      <a:pPr lvl="0"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Automóvel</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JLR</a:t>
                      </a:r>
                    </a:p>
                  </a:txBody>
                  <a:tcPr marL="9525" marR="9525" marT="9525" marB="0" anchor="ctr"/>
                </a:tc>
                <a:tc>
                  <a:txBody>
                    <a:bodyPr/>
                    <a:lstStyle/>
                    <a:p>
                      <a:pPr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Produção interrompida.</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hlinkClick r:id="rId9"/>
                        </a:rPr>
                        <a:t>link</a:t>
                      </a:r>
                      <a:endParaRPr lang="pt-PT" sz="2400" b="0" i="0" u="none" strike="noStrike" cap="none" noProof="0" dirty="0">
                        <a:solidFill>
                          <a:srgbClr val="000000"/>
                        </a:solidFill>
                        <a:effectLst/>
                        <a:latin typeface="Aptos Narrow" panose="020B0004020202020204" pitchFamily="34" charset="0"/>
                        <a:ea typeface="+mn-ea"/>
                        <a:cs typeface="+mn-cs"/>
                        <a:sym typeface="Arial"/>
                      </a:endParaRPr>
                    </a:p>
                  </a:txBody>
                  <a:tcPr marL="9525" marR="9525" marT="9525" marB="0" anchor="ctr"/>
                </a:tc>
                <a:extLst>
                  <a:ext uri="{0D108BD9-81ED-4DB2-BD59-A6C34878D82A}">
                    <a16:rowId xmlns:a16="http://schemas.microsoft.com/office/drawing/2014/main" val="123618730"/>
                  </a:ext>
                </a:extLst>
              </a:tr>
              <a:tr h="815087">
                <a:tc>
                  <a:txBody>
                    <a:bodyPr/>
                    <a:lstStyle/>
                    <a:p>
                      <a:pPr lvl="0"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Retalho</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M&amp;S</a:t>
                      </a:r>
                    </a:p>
                  </a:txBody>
                  <a:tcPr marL="9525" marR="9525" marT="9525" marB="0" anchor="ctr"/>
                </a:tc>
                <a:tc>
                  <a:txBody>
                    <a:bodyPr/>
                    <a:lstStyle/>
                    <a:p>
                      <a:pPr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Vendas on-line interrompidas vários meses.</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hlinkClick r:id="rId10"/>
                        </a:rPr>
                        <a:t>link</a:t>
                      </a:r>
                      <a:endParaRPr lang="pt-PT" sz="2400" b="0" i="0" u="none" strike="noStrike" cap="none" noProof="0" dirty="0">
                        <a:solidFill>
                          <a:srgbClr val="000000"/>
                        </a:solidFill>
                        <a:effectLst/>
                        <a:latin typeface="Aptos Narrow" panose="020B0004020202020204" pitchFamily="34" charset="0"/>
                        <a:ea typeface="+mn-ea"/>
                        <a:cs typeface="+mn-cs"/>
                        <a:sym typeface="Arial"/>
                      </a:endParaRPr>
                    </a:p>
                  </a:txBody>
                  <a:tcPr marL="9525" marR="9525" marT="9525" marB="0" anchor="ctr"/>
                </a:tc>
                <a:extLst>
                  <a:ext uri="{0D108BD9-81ED-4DB2-BD59-A6C34878D82A}">
                    <a16:rowId xmlns:a16="http://schemas.microsoft.com/office/drawing/2014/main" val="1953252852"/>
                  </a:ext>
                </a:extLst>
              </a:tr>
            </a:tbl>
          </a:graphicData>
        </a:graphic>
      </p:graphicFrame>
    </p:spTree>
    <p:extLst>
      <p:ext uri="{BB962C8B-B14F-4D97-AF65-F5344CB8AC3E}">
        <p14:creationId xmlns:p14="http://schemas.microsoft.com/office/powerpoint/2010/main" val="2423343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44207207-2A5A-E867-2AC6-FB0DB80BF09F}"/>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15C38BB0-3E33-7369-7494-E6CD5B879995}"/>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60" name="Google Shape;160;p4">
            <a:extLst>
              <a:ext uri="{FF2B5EF4-FFF2-40B4-BE49-F238E27FC236}">
                <a16:creationId xmlns:a16="http://schemas.microsoft.com/office/drawing/2014/main" id="{F12CA416-CA5D-A85C-F611-773BD6F55591}"/>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61" name="Google Shape;161;p4">
            <a:extLst>
              <a:ext uri="{FF2B5EF4-FFF2-40B4-BE49-F238E27FC236}">
                <a16:creationId xmlns:a16="http://schemas.microsoft.com/office/drawing/2014/main" id="{EB3A1708-9A8C-9F88-00AC-38E4AD3FFD8B}"/>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77" name="Google Shape;177;p4">
            <a:extLst>
              <a:ext uri="{FF2B5EF4-FFF2-40B4-BE49-F238E27FC236}">
                <a16:creationId xmlns:a16="http://schemas.microsoft.com/office/drawing/2014/main" id="{2394BEB5-CB2B-A00A-5C95-AF674D954B5A}"/>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Ransomware – </a:t>
            </a:r>
            <a:r>
              <a:rPr lang="pt-PT" sz="2800" dirty="0">
                <a:solidFill>
                  <a:srgbClr val="7F7F7F"/>
                </a:solidFill>
                <a:latin typeface="Raleway"/>
                <a:ea typeface="Raleway"/>
                <a:cs typeface="Raleway"/>
                <a:sym typeface="Raleway"/>
              </a:rPr>
              <a:t>Ú</a:t>
            </a:r>
            <a:r>
              <a:rPr lang="pt-PT" sz="2800" b="0" i="0" u="none" strike="noStrike" cap="none" noProof="0" dirty="0">
                <a:solidFill>
                  <a:srgbClr val="7F7F7F"/>
                </a:solidFill>
                <a:latin typeface="Raleway"/>
                <a:ea typeface="Raleway"/>
                <a:cs typeface="Raleway"/>
                <a:sym typeface="Raleway"/>
              </a:rPr>
              <a:t>ltimas empresas atacadas em Portugal</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59F1F4F7-4516-AF95-DE20-596A76037EC8}"/>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15</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3" name="Google Shape;142;p3">
            <a:extLst>
              <a:ext uri="{FF2B5EF4-FFF2-40B4-BE49-F238E27FC236}">
                <a16:creationId xmlns:a16="http://schemas.microsoft.com/office/drawing/2014/main" id="{DE4F3FB4-2A17-8067-B40E-1B97504DF916}"/>
              </a:ext>
            </a:extLst>
          </p:cNvPr>
          <p:cNvSpPr txBox="1"/>
          <p:nvPr/>
        </p:nvSpPr>
        <p:spPr>
          <a:xfrm>
            <a:off x="2747139" y="1058170"/>
            <a:ext cx="13272713" cy="1229888"/>
          </a:xfrm>
          <a:prstGeom prst="rect">
            <a:avLst/>
          </a:prstGeom>
          <a:noFill/>
          <a:ln>
            <a:noFill/>
          </a:ln>
        </p:spPr>
        <p:txBody>
          <a:bodyPr spcFirstLastPara="1" wrap="square" lIns="0" tIns="0" rIns="0" bIns="0" anchor="t" anchorCtr="0">
            <a:spAutoFit/>
          </a:bodyPr>
          <a:lstStyle/>
          <a:p>
            <a:pPr lvl="0">
              <a:lnSpc>
                <a:spcPct val="110986"/>
              </a:lnSpc>
              <a:buClr>
                <a:srgbClr val="000000"/>
              </a:buClr>
              <a:buSzPts val="7500"/>
            </a:pPr>
            <a:r>
              <a:rPr lang="pt-BR" sz="7200" b="1" dirty="0">
                <a:solidFill>
                  <a:srgbClr val="000000"/>
                </a:solidFill>
                <a:latin typeface="Raleway Black"/>
                <a:ea typeface="Raleway Black"/>
                <a:cs typeface="Raleway Black"/>
                <a:sym typeface="Raleway Black"/>
              </a:rPr>
              <a:t>Ransomware em Portugal</a:t>
            </a:r>
          </a:p>
        </p:txBody>
      </p:sp>
      <p:pic>
        <p:nvPicPr>
          <p:cNvPr id="5" name="Picture 4">
            <a:hlinkClick r:id="rId5"/>
            <a:extLst>
              <a:ext uri="{FF2B5EF4-FFF2-40B4-BE49-F238E27FC236}">
                <a16:creationId xmlns:a16="http://schemas.microsoft.com/office/drawing/2014/main" id="{60BAAE60-4382-D3F5-5529-5CE42F16328B}"/>
              </a:ext>
            </a:extLst>
          </p:cNvPr>
          <p:cNvPicPr>
            <a:picLocks noChangeAspect="1"/>
          </p:cNvPicPr>
          <p:nvPr/>
        </p:nvPicPr>
        <p:blipFill>
          <a:blip r:embed="rId6"/>
          <a:stretch>
            <a:fillRect/>
          </a:stretch>
        </p:blipFill>
        <p:spPr>
          <a:xfrm>
            <a:off x="2743200" y="3139998"/>
            <a:ext cx="12193590" cy="5368373"/>
          </a:xfrm>
          <a:prstGeom prst="rect">
            <a:avLst/>
          </a:prstGeom>
          <a:ln w="63500">
            <a:solidFill>
              <a:schemeClr val="accent2"/>
            </a:solidFill>
          </a:ln>
        </p:spPr>
      </p:pic>
    </p:spTree>
    <p:extLst>
      <p:ext uri="{BB962C8B-B14F-4D97-AF65-F5344CB8AC3E}">
        <p14:creationId xmlns:p14="http://schemas.microsoft.com/office/powerpoint/2010/main" val="3070662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B259F05-1C43-2632-91E6-F76A3CBBA26F}"/>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8F83697F-244B-8330-3170-F9CA707BB9B9}"/>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60" name="Google Shape;160;p4">
            <a:extLst>
              <a:ext uri="{FF2B5EF4-FFF2-40B4-BE49-F238E27FC236}">
                <a16:creationId xmlns:a16="http://schemas.microsoft.com/office/drawing/2014/main" id="{4FA03F17-5A15-1BA8-8A1C-9F6640CEE90E}"/>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61" name="Google Shape;161;p4">
            <a:extLst>
              <a:ext uri="{FF2B5EF4-FFF2-40B4-BE49-F238E27FC236}">
                <a16:creationId xmlns:a16="http://schemas.microsoft.com/office/drawing/2014/main" id="{4642AAC0-9674-F003-F3F8-2BB74A4B16F6}"/>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77" name="Google Shape;177;p4">
            <a:extLst>
              <a:ext uri="{FF2B5EF4-FFF2-40B4-BE49-F238E27FC236}">
                <a16:creationId xmlns:a16="http://schemas.microsoft.com/office/drawing/2014/main" id="{B265E017-A806-1E14-A99E-12853FBAB3A5}"/>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Ransomware – Caso Global Media Group</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6108AC7D-F3CA-22A7-568B-5BE675B48D6C}"/>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16</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3" name="Google Shape;142;p3">
            <a:extLst>
              <a:ext uri="{FF2B5EF4-FFF2-40B4-BE49-F238E27FC236}">
                <a16:creationId xmlns:a16="http://schemas.microsoft.com/office/drawing/2014/main" id="{21831676-BF15-75AD-05DB-E6D2F71B5BFC}"/>
              </a:ext>
            </a:extLst>
          </p:cNvPr>
          <p:cNvSpPr txBox="1"/>
          <p:nvPr/>
        </p:nvSpPr>
        <p:spPr>
          <a:xfrm>
            <a:off x="2747139" y="1058170"/>
            <a:ext cx="13272713" cy="1229888"/>
          </a:xfrm>
          <a:prstGeom prst="rect">
            <a:avLst/>
          </a:prstGeom>
          <a:noFill/>
          <a:ln>
            <a:noFill/>
          </a:ln>
        </p:spPr>
        <p:txBody>
          <a:bodyPr spcFirstLastPara="1" wrap="square" lIns="0" tIns="0" rIns="0" bIns="0" anchor="t" anchorCtr="0">
            <a:spAutoFit/>
          </a:bodyPr>
          <a:lstStyle/>
          <a:p>
            <a:pPr lvl="0">
              <a:lnSpc>
                <a:spcPct val="110986"/>
              </a:lnSpc>
              <a:buClr>
                <a:srgbClr val="000000"/>
              </a:buClr>
              <a:buSzPts val="7500"/>
            </a:pPr>
            <a:r>
              <a:rPr lang="pt-BR" sz="7200" b="1" dirty="0">
                <a:solidFill>
                  <a:srgbClr val="000000"/>
                </a:solidFill>
                <a:latin typeface="Raleway Black"/>
                <a:ea typeface="Raleway Black"/>
                <a:cs typeface="Raleway Black"/>
                <a:sym typeface="Raleway Black"/>
              </a:rPr>
              <a:t>Ransomware em Portugal</a:t>
            </a:r>
          </a:p>
        </p:txBody>
      </p:sp>
      <p:pic>
        <p:nvPicPr>
          <p:cNvPr id="6" name="Picture 5">
            <a:extLst>
              <a:ext uri="{FF2B5EF4-FFF2-40B4-BE49-F238E27FC236}">
                <a16:creationId xmlns:a16="http://schemas.microsoft.com/office/drawing/2014/main" id="{CC7014BD-BC49-5F25-BE2A-AC2AC37AA586}"/>
              </a:ext>
            </a:extLst>
          </p:cNvPr>
          <p:cNvPicPr>
            <a:picLocks noChangeAspect="1"/>
          </p:cNvPicPr>
          <p:nvPr/>
        </p:nvPicPr>
        <p:blipFill>
          <a:blip r:embed="rId5"/>
          <a:stretch>
            <a:fillRect/>
          </a:stretch>
        </p:blipFill>
        <p:spPr>
          <a:xfrm>
            <a:off x="2743200" y="4066687"/>
            <a:ext cx="7113672" cy="3500506"/>
          </a:xfrm>
          <a:prstGeom prst="rect">
            <a:avLst/>
          </a:prstGeom>
        </p:spPr>
      </p:pic>
      <p:pic>
        <p:nvPicPr>
          <p:cNvPr id="8" name="Picture 7">
            <a:extLst>
              <a:ext uri="{FF2B5EF4-FFF2-40B4-BE49-F238E27FC236}">
                <a16:creationId xmlns:a16="http://schemas.microsoft.com/office/drawing/2014/main" id="{7C004E96-1531-FF2A-6A89-39210F58D28C}"/>
              </a:ext>
            </a:extLst>
          </p:cNvPr>
          <p:cNvPicPr>
            <a:picLocks noChangeAspect="1"/>
          </p:cNvPicPr>
          <p:nvPr/>
        </p:nvPicPr>
        <p:blipFill>
          <a:blip r:embed="rId6"/>
          <a:stretch>
            <a:fillRect/>
          </a:stretch>
        </p:blipFill>
        <p:spPr>
          <a:xfrm>
            <a:off x="9979265" y="4066687"/>
            <a:ext cx="6971720" cy="3500506"/>
          </a:xfrm>
          <a:prstGeom prst="rect">
            <a:avLst/>
          </a:prstGeom>
        </p:spPr>
      </p:pic>
    </p:spTree>
    <p:extLst>
      <p:ext uri="{BB962C8B-B14F-4D97-AF65-F5344CB8AC3E}">
        <p14:creationId xmlns:p14="http://schemas.microsoft.com/office/powerpoint/2010/main" val="4184221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4305B95A-D422-938A-085E-6D9311681884}"/>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CE6E8C26-DF78-BF8B-11EB-6401B29B639A}"/>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F2D4730A-28EA-F35F-1B9F-BEC0B7AADE3D}"/>
              </a:ext>
            </a:extLst>
          </p:cNvPr>
          <p:cNvSpPr txBox="1"/>
          <p:nvPr/>
        </p:nvSpPr>
        <p:spPr>
          <a:xfrm>
            <a:off x="1195772" y="5243098"/>
            <a:ext cx="13021495" cy="92333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defRPr sz="6000" b="1" baseline="0">
                <a:solidFill>
                  <a:srgbClr val="101010"/>
                </a:solidFill>
                <a:latin typeface="Raleway" pitchFamily="2" charset="0"/>
              </a:defRPr>
            </a:lvl1pPr>
          </a:lstStyle>
          <a:p>
            <a:r>
              <a:rPr lang="pt-PT" sz="5400" noProof="0" dirty="0">
                <a:sym typeface="Raleway Black"/>
              </a:rPr>
              <a:t>Visão d</a:t>
            </a:r>
            <a:r>
              <a:rPr lang="pt-PT" noProof="0" dirty="0">
                <a:sym typeface="Raleway Black"/>
              </a:rPr>
              <a:t>o mundo IoT</a:t>
            </a:r>
          </a:p>
        </p:txBody>
      </p:sp>
      <p:cxnSp>
        <p:nvCxnSpPr>
          <p:cNvPr id="386" name="Google Shape;386;p28">
            <a:extLst>
              <a:ext uri="{FF2B5EF4-FFF2-40B4-BE49-F238E27FC236}">
                <a16:creationId xmlns:a16="http://schemas.microsoft.com/office/drawing/2014/main" id="{3DD22FA0-6FE6-E55E-9F2B-F242288A7494}"/>
              </a:ext>
            </a:extLst>
          </p:cNvPr>
          <p:cNvCxnSpPr/>
          <p:nvPr/>
        </p:nvCxnSpPr>
        <p:spPr>
          <a:xfrm>
            <a:off x="1195772" y="6472986"/>
            <a:ext cx="13021495" cy="0"/>
          </a:xfrm>
          <a:prstGeom prst="straightConnector1">
            <a:avLst/>
          </a:prstGeom>
          <a:noFill/>
          <a:ln w="19050" cap="flat" cmpd="sng">
            <a:solidFill>
              <a:srgbClr val="000000"/>
            </a:solidFill>
            <a:prstDash val="solid"/>
            <a:round/>
            <a:headEnd type="none" w="sm" len="sm"/>
            <a:tailEnd type="none" w="sm" len="sm"/>
          </a:ln>
        </p:spPr>
      </p:cxnSp>
    </p:spTree>
    <p:extLst>
      <p:ext uri="{BB962C8B-B14F-4D97-AF65-F5344CB8AC3E}">
        <p14:creationId xmlns:p14="http://schemas.microsoft.com/office/powerpoint/2010/main" val="3387005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223D4393-00CC-9E41-FB17-08C393A8530C}"/>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2008965E-131A-F5A5-8AC5-A701004AD42B}"/>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C0CCB4A5-D1F5-867B-A973-BE82565B6D9C}"/>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3" name="Google Shape;363;p11">
            <a:extLst>
              <a:ext uri="{FF2B5EF4-FFF2-40B4-BE49-F238E27FC236}">
                <a16:creationId xmlns:a16="http://schemas.microsoft.com/office/drawing/2014/main" id="{AE41D2EC-D7EC-2A66-8135-EC73C6C7400C}"/>
              </a:ext>
            </a:extLst>
          </p:cNvPr>
          <p:cNvSpPr txBox="1"/>
          <p:nvPr/>
        </p:nvSpPr>
        <p:spPr>
          <a:xfrm>
            <a:off x="2747139" y="1058170"/>
            <a:ext cx="13272713" cy="1200200"/>
          </a:xfrm>
          <a:prstGeom prst="rect">
            <a:avLst/>
          </a:prstGeom>
          <a:noFill/>
          <a:ln>
            <a:noFill/>
          </a:ln>
        </p:spPr>
        <p:txBody>
          <a:bodyPr spcFirstLastPara="1" wrap="square" lIns="0" tIns="0" rIns="0" bIns="0" anchor="t" anchorCtr="0">
            <a:spAutoFit/>
          </a:bodyPr>
          <a:lstStyle/>
          <a:p>
            <a:pPr marL="0" marR="0" lvl="0" indent="0" algn="l" rtl="0">
              <a:lnSpc>
                <a:spcPct val="104050"/>
              </a:lnSpc>
              <a:spcBef>
                <a:spcPts val="0"/>
              </a:spcBef>
              <a:spcAft>
                <a:spcPts val="0"/>
              </a:spcAft>
              <a:buClr>
                <a:srgbClr val="000000"/>
              </a:buClr>
              <a:buSzPts val="8000"/>
              <a:buFont typeface="Arial"/>
              <a:buNone/>
            </a:pPr>
            <a:r>
              <a:rPr lang="pt-PT" sz="7499" dirty="0">
                <a:solidFill>
                  <a:srgbClr val="000000"/>
                </a:solidFill>
                <a:latin typeface="Raleway Black"/>
                <a:sym typeface="Raleway Black"/>
              </a:rPr>
              <a:t>Shodan</a:t>
            </a:r>
          </a:p>
        </p:txBody>
      </p:sp>
      <p:sp>
        <p:nvSpPr>
          <p:cNvPr id="365" name="Google Shape;365;p11">
            <a:extLst>
              <a:ext uri="{FF2B5EF4-FFF2-40B4-BE49-F238E27FC236}">
                <a16:creationId xmlns:a16="http://schemas.microsoft.com/office/drawing/2014/main" id="{3E9DE4E9-93B3-A0E6-5327-F4566C1F98DF}"/>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Internet Exposure Observatory</a:t>
            </a:r>
          </a:p>
        </p:txBody>
      </p:sp>
      <p:cxnSp>
        <p:nvCxnSpPr>
          <p:cNvPr id="2" name="Google Shape;218;p6">
            <a:extLst>
              <a:ext uri="{FF2B5EF4-FFF2-40B4-BE49-F238E27FC236}">
                <a16:creationId xmlns:a16="http://schemas.microsoft.com/office/drawing/2014/main" id="{BD5D4E0F-2E93-00D6-E917-9B36A9DC26C8}"/>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C0C4141E-16FA-9601-2367-83D212DD6D94}"/>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18</a:t>
            </a:fld>
            <a:endParaRPr lang="pt-PT" sz="2041" b="1" i="0" u="none" strike="noStrike" cap="none" noProof="0" dirty="0">
              <a:solidFill>
                <a:srgbClr val="000000"/>
              </a:solidFill>
              <a:latin typeface="Raleway SemiBold"/>
              <a:ea typeface="Raleway SemiBold"/>
              <a:cs typeface="Raleway SemiBold"/>
              <a:sym typeface="Raleway SemiBold"/>
            </a:endParaRPr>
          </a:p>
        </p:txBody>
      </p:sp>
      <p:pic>
        <p:nvPicPr>
          <p:cNvPr id="6" name="Picture 5">
            <a:hlinkClick r:id="rId5"/>
            <a:extLst>
              <a:ext uri="{FF2B5EF4-FFF2-40B4-BE49-F238E27FC236}">
                <a16:creationId xmlns:a16="http://schemas.microsoft.com/office/drawing/2014/main" id="{3D4D8653-32D3-73E0-7F54-DFCDFBA07DE7}"/>
              </a:ext>
            </a:extLst>
          </p:cNvPr>
          <p:cNvPicPr>
            <a:picLocks noChangeAspect="1"/>
          </p:cNvPicPr>
          <p:nvPr/>
        </p:nvPicPr>
        <p:blipFill>
          <a:blip r:embed="rId6"/>
          <a:stretch>
            <a:fillRect/>
          </a:stretch>
        </p:blipFill>
        <p:spPr>
          <a:xfrm>
            <a:off x="5070710" y="2980900"/>
            <a:ext cx="8374353" cy="5821112"/>
          </a:xfrm>
          <a:prstGeom prst="rect">
            <a:avLst/>
          </a:prstGeom>
          <a:ln w="63500">
            <a:solidFill>
              <a:schemeClr val="accent2"/>
            </a:solidFill>
          </a:ln>
        </p:spPr>
      </p:pic>
    </p:spTree>
    <p:extLst>
      <p:ext uri="{BB962C8B-B14F-4D97-AF65-F5344CB8AC3E}">
        <p14:creationId xmlns:p14="http://schemas.microsoft.com/office/powerpoint/2010/main" val="3980163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E137CD4F-083D-D6F8-D655-23B6FF8ACF56}"/>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11CD810F-D054-FE50-F6DB-041372F30766}"/>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609B0C40-D3AB-B975-A837-9BBDECBDD732}"/>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579DBD96-6D84-7075-C0D3-9B381F3BB74E}"/>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2" name="Google Shape;142;p3">
            <a:extLst>
              <a:ext uri="{FF2B5EF4-FFF2-40B4-BE49-F238E27FC236}">
                <a16:creationId xmlns:a16="http://schemas.microsoft.com/office/drawing/2014/main" id="{D71122A3-CD95-A0E8-A6B6-083A0B2D94ED}"/>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0986"/>
              </a:lnSpc>
              <a:spcBef>
                <a:spcPts val="0"/>
              </a:spcBef>
              <a:spcAft>
                <a:spcPts val="0"/>
              </a:spcAft>
              <a:buClr>
                <a:srgbClr val="000000"/>
              </a:buClr>
              <a:buSzPts val="7500"/>
              <a:buFont typeface="Arial"/>
              <a:buNone/>
            </a:pPr>
            <a:r>
              <a:rPr lang="pt-PT" sz="7499" dirty="0">
                <a:solidFill>
                  <a:srgbClr val="000000"/>
                </a:solidFill>
                <a:latin typeface="Raleway Black"/>
                <a:sym typeface="Raleway Black"/>
              </a:rPr>
              <a:t>Vulnerabilidades comuns</a:t>
            </a:r>
          </a:p>
        </p:txBody>
      </p:sp>
      <p:sp>
        <p:nvSpPr>
          <p:cNvPr id="144" name="Google Shape;144;p3">
            <a:extLst>
              <a:ext uri="{FF2B5EF4-FFF2-40B4-BE49-F238E27FC236}">
                <a16:creationId xmlns:a16="http://schemas.microsoft.com/office/drawing/2014/main" id="{5C41D598-1420-04B4-0894-FE411C952FB1}"/>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Acesso livre para 8 mil milhões de pessoas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6344E8D3-C550-A6AE-7E05-7223BFBD53A5}"/>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19</a:t>
            </a:fld>
            <a:endParaRPr lang="pt-PT" sz="2041" b="1" i="0" u="none" strike="noStrike" cap="none" noProof="0" dirty="0">
              <a:solidFill>
                <a:srgbClr val="000000"/>
              </a:solidFill>
              <a:latin typeface="Raleway SemiBold"/>
              <a:ea typeface="Raleway SemiBold"/>
              <a:cs typeface="Raleway SemiBold"/>
              <a:sym typeface="Raleway SemiBold"/>
            </a:endParaRPr>
          </a:p>
        </p:txBody>
      </p:sp>
      <p:pic>
        <p:nvPicPr>
          <p:cNvPr id="10" name="Content Placeholder 11">
            <a:hlinkClick r:id="rId5"/>
            <a:extLst>
              <a:ext uri="{FF2B5EF4-FFF2-40B4-BE49-F238E27FC236}">
                <a16:creationId xmlns:a16="http://schemas.microsoft.com/office/drawing/2014/main" id="{E91D2D7F-F5F8-5EBE-47CF-4E56323026F3}"/>
              </a:ext>
            </a:extLst>
          </p:cNvPr>
          <p:cNvPicPr>
            <a:picLocks noChangeAspect="1"/>
          </p:cNvPicPr>
          <p:nvPr/>
        </p:nvPicPr>
        <p:blipFill>
          <a:blip r:embed="rId6"/>
          <a:stretch>
            <a:fillRect/>
          </a:stretch>
        </p:blipFill>
        <p:spPr>
          <a:xfrm>
            <a:off x="2743200" y="5062708"/>
            <a:ext cx="5753923" cy="3248181"/>
          </a:xfrm>
          <a:prstGeom prst="rect">
            <a:avLst/>
          </a:prstGeom>
          <a:ln w="63500">
            <a:solidFill>
              <a:schemeClr val="accent2"/>
            </a:solidFill>
          </a:ln>
        </p:spPr>
      </p:pic>
      <p:sp>
        <p:nvSpPr>
          <p:cNvPr id="12" name="Google Shape;145;p3">
            <a:extLst>
              <a:ext uri="{FF2B5EF4-FFF2-40B4-BE49-F238E27FC236}">
                <a16:creationId xmlns:a16="http://schemas.microsoft.com/office/drawing/2014/main" id="{2A67AE4D-4431-C2D5-7349-121E87571438}"/>
              </a:ext>
            </a:extLst>
          </p:cNvPr>
          <p:cNvSpPr/>
          <p:nvPr/>
        </p:nvSpPr>
        <p:spPr>
          <a:xfrm>
            <a:off x="2743200" y="3277205"/>
            <a:ext cx="5486400"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sym typeface="Calibri"/>
              </a:rPr>
              <a:t>Dispositivos sem autenticação</a:t>
            </a:r>
          </a:p>
        </p:txBody>
      </p:sp>
      <p:pic>
        <p:nvPicPr>
          <p:cNvPr id="16" name="Picture 15" descr="A screenshot of a computer&#10;&#10;AI-generated content may be incorrect.">
            <a:hlinkClick r:id="rId7"/>
            <a:extLst>
              <a:ext uri="{FF2B5EF4-FFF2-40B4-BE49-F238E27FC236}">
                <a16:creationId xmlns:a16="http://schemas.microsoft.com/office/drawing/2014/main" id="{B09C38CD-7C1D-B76D-1EFC-ABDBA8629FD8}"/>
              </a:ext>
            </a:extLst>
          </p:cNvPr>
          <p:cNvPicPr>
            <a:picLocks noChangeAspect="1"/>
          </p:cNvPicPr>
          <p:nvPr/>
        </p:nvPicPr>
        <p:blipFill>
          <a:blip r:embed="rId8"/>
          <a:stretch>
            <a:fillRect/>
          </a:stretch>
        </p:blipFill>
        <p:spPr>
          <a:xfrm>
            <a:off x="13363074" y="5062709"/>
            <a:ext cx="4330907" cy="3248180"/>
          </a:xfrm>
          <a:prstGeom prst="rect">
            <a:avLst/>
          </a:prstGeom>
          <a:ln w="63500">
            <a:solidFill>
              <a:schemeClr val="accent2"/>
            </a:solidFill>
          </a:ln>
        </p:spPr>
      </p:pic>
      <p:pic>
        <p:nvPicPr>
          <p:cNvPr id="18" name="Picture 17" descr="A screenshot of a computer&#10;&#10;AI-generated content may be incorrect.">
            <a:hlinkClick r:id="rId9"/>
            <a:extLst>
              <a:ext uri="{FF2B5EF4-FFF2-40B4-BE49-F238E27FC236}">
                <a16:creationId xmlns:a16="http://schemas.microsoft.com/office/drawing/2014/main" id="{F22F91FE-7F52-45C0-61F4-884D9B822B47}"/>
              </a:ext>
            </a:extLst>
          </p:cNvPr>
          <p:cNvPicPr>
            <a:picLocks noChangeAspect="1"/>
          </p:cNvPicPr>
          <p:nvPr/>
        </p:nvPicPr>
        <p:blipFill>
          <a:blip r:embed="rId10"/>
          <a:stretch>
            <a:fillRect/>
          </a:stretch>
        </p:blipFill>
        <p:spPr>
          <a:xfrm>
            <a:off x="8764645" y="5062709"/>
            <a:ext cx="4330907" cy="3248180"/>
          </a:xfrm>
          <a:prstGeom prst="rect">
            <a:avLst/>
          </a:prstGeom>
          <a:ln w="63500">
            <a:solidFill>
              <a:schemeClr val="accent2"/>
            </a:solidFill>
          </a:ln>
        </p:spPr>
      </p:pic>
    </p:spTree>
    <p:extLst>
      <p:ext uri="{BB962C8B-B14F-4D97-AF65-F5344CB8AC3E}">
        <p14:creationId xmlns:p14="http://schemas.microsoft.com/office/powerpoint/2010/main" val="3103770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DB5DE86B-BBEF-5F5A-936E-FA10E4B9F83D}"/>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0BC1989B-B861-431A-E974-C081BFE11370}"/>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D78F8E69-516F-78D8-F33C-2FA9C5C5DFFE}"/>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247B3CF1-0280-DF41-DB19-1F550699C6A9}"/>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4" name="Google Shape;144;p3">
            <a:extLst>
              <a:ext uri="{FF2B5EF4-FFF2-40B4-BE49-F238E27FC236}">
                <a16:creationId xmlns:a16="http://schemas.microsoft.com/office/drawing/2014/main" id="{1E46BDB7-6FF6-43E4-4B63-9B5928FF1150}"/>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Se funciona não mexe</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1243432D-45B1-6100-DE00-701B2B69DDEE}"/>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20</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12" name="Google Shape;145;p3">
            <a:extLst>
              <a:ext uri="{FF2B5EF4-FFF2-40B4-BE49-F238E27FC236}">
                <a16:creationId xmlns:a16="http://schemas.microsoft.com/office/drawing/2014/main" id="{5FB7D98C-6F18-C151-680F-06EB9F2ED929}"/>
              </a:ext>
            </a:extLst>
          </p:cNvPr>
          <p:cNvSpPr/>
          <p:nvPr/>
        </p:nvSpPr>
        <p:spPr>
          <a:xfrm>
            <a:off x="2743200" y="3277205"/>
            <a:ext cx="5486400"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sym typeface="Calibri"/>
              </a:rPr>
              <a:t>Sistemas obsoletos</a:t>
            </a:r>
          </a:p>
        </p:txBody>
      </p:sp>
      <p:pic>
        <p:nvPicPr>
          <p:cNvPr id="4" name="Picture 3" descr="A screenshot of a computer error&#10;&#10;AI-generated content may be incorrect.">
            <a:hlinkClick r:id="rId5"/>
            <a:extLst>
              <a:ext uri="{FF2B5EF4-FFF2-40B4-BE49-F238E27FC236}">
                <a16:creationId xmlns:a16="http://schemas.microsoft.com/office/drawing/2014/main" id="{CC1B716A-6EDE-1714-F131-A6E07F562D58}"/>
              </a:ext>
            </a:extLst>
          </p:cNvPr>
          <p:cNvPicPr>
            <a:picLocks noChangeAspect="1"/>
          </p:cNvPicPr>
          <p:nvPr/>
        </p:nvPicPr>
        <p:blipFill>
          <a:blip r:embed="rId6"/>
          <a:stretch>
            <a:fillRect/>
          </a:stretch>
        </p:blipFill>
        <p:spPr>
          <a:xfrm>
            <a:off x="12784367" y="4875652"/>
            <a:ext cx="4552950" cy="3556992"/>
          </a:xfrm>
          <a:prstGeom prst="rect">
            <a:avLst/>
          </a:prstGeom>
          <a:ln w="63500">
            <a:noFill/>
          </a:ln>
        </p:spPr>
      </p:pic>
      <p:pic>
        <p:nvPicPr>
          <p:cNvPr id="10" name="Picture 9" descr="A screenshot of a computer&#10;&#10;AI-generated content may be incorrect.">
            <a:hlinkClick r:id="rId7"/>
            <a:extLst>
              <a:ext uri="{FF2B5EF4-FFF2-40B4-BE49-F238E27FC236}">
                <a16:creationId xmlns:a16="http://schemas.microsoft.com/office/drawing/2014/main" id="{C3BAD869-E824-AD8D-FCDA-6CF5B1E13478}"/>
              </a:ext>
            </a:extLst>
          </p:cNvPr>
          <p:cNvPicPr>
            <a:picLocks noChangeAspect="1"/>
          </p:cNvPicPr>
          <p:nvPr/>
        </p:nvPicPr>
        <p:blipFill>
          <a:blip r:embed="rId8"/>
          <a:stretch>
            <a:fillRect/>
          </a:stretch>
        </p:blipFill>
        <p:spPr>
          <a:xfrm>
            <a:off x="2743200" y="4875653"/>
            <a:ext cx="4552950" cy="3556992"/>
          </a:xfrm>
          <a:prstGeom prst="rect">
            <a:avLst/>
          </a:prstGeom>
          <a:ln w="63500">
            <a:solidFill>
              <a:schemeClr val="accent2"/>
            </a:solidFill>
          </a:ln>
        </p:spPr>
      </p:pic>
      <p:pic>
        <p:nvPicPr>
          <p:cNvPr id="15" name="Picture 14" descr="A screenshot of a computer&#10;&#10;AI-generated content may be incorrect.">
            <a:hlinkClick r:id="rId9"/>
            <a:extLst>
              <a:ext uri="{FF2B5EF4-FFF2-40B4-BE49-F238E27FC236}">
                <a16:creationId xmlns:a16="http://schemas.microsoft.com/office/drawing/2014/main" id="{F94646A8-251E-B234-D155-60EA96F6243B}"/>
              </a:ext>
            </a:extLst>
          </p:cNvPr>
          <p:cNvPicPr>
            <a:picLocks noChangeAspect="1"/>
          </p:cNvPicPr>
          <p:nvPr/>
        </p:nvPicPr>
        <p:blipFill>
          <a:blip r:embed="rId10"/>
          <a:stretch>
            <a:fillRect/>
          </a:stretch>
        </p:blipFill>
        <p:spPr>
          <a:xfrm>
            <a:off x="7736101" y="4875652"/>
            <a:ext cx="4552950" cy="3556992"/>
          </a:xfrm>
          <a:prstGeom prst="rect">
            <a:avLst/>
          </a:prstGeom>
          <a:ln w="63500">
            <a:solidFill>
              <a:schemeClr val="accent2"/>
            </a:solidFill>
          </a:ln>
        </p:spPr>
      </p:pic>
      <p:sp>
        <p:nvSpPr>
          <p:cNvPr id="3" name="Google Shape;142;p3">
            <a:extLst>
              <a:ext uri="{FF2B5EF4-FFF2-40B4-BE49-F238E27FC236}">
                <a16:creationId xmlns:a16="http://schemas.microsoft.com/office/drawing/2014/main" id="{3D90BEF8-EB3B-B911-A9E6-BD950DC645E1}"/>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0986"/>
              </a:lnSpc>
              <a:spcBef>
                <a:spcPts val="0"/>
              </a:spcBef>
              <a:spcAft>
                <a:spcPts val="0"/>
              </a:spcAft>
              <a:buClr>
                <a:srgbClr val="000000"/>
              </a:buClr>
              <a:buSzPts val="7500"/>
              <a:buFont typeface="Arial"/>
              <a:buNone/>
            </a:pPr>
            <a:r>
              <a:rPr lang="pt-PT" sz="7499" dirty="0">
                <a:solidFill>
                  <a:srgbClr val="000000"/>
                </a:solidFill>
                <a:latin typeface="Raleway Black"/>
                <a:sym typeface="Raleway Black"/>
              </a:rPr>
              <a:t>Vulnerabilidades comuns</a:t>
            </a:r>
          </a:p>
        </p:txBody>
      </p:sp>
    </p:spTree>
    <p:extLst>
      <p:ext uri="{BB962C8B-B14F-4D97-AF65-F5344CB8AC3E}">
        <p14:creationId xmlns:p14="http://schemas.microsoft.com/office/powerpoint/2010/main" val="1597556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1A0756EA-09E3-7E44-D008-9CC497695A6C}"/>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CBCC9070-BF7E-9AD4-23A6-C6A3ED48618F}"/>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829A1382-F298-665C-CCA7-EAA8BE8B1B34}"/>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4CBD417F-E2ED-BA3D-76DC-9397916B2A1E}"/>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4" name="Google Shape;144;p3">
            <a:extLst>
              <a:ext uri="{FF2B5EF4-FFF2-40B4-BE49-F238E27FC236}">
                <a16:creationId xmlns:a16="http://schemas.microsoft.com/office/drawing/2014/main" id="{08530357-EF50-7D43-D7D2-04C485F08BF6}"/>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Aprender a explorar vulnerabilidades em menos de 5 minutos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9CDEA6D8-718A-B992-000E-5A1067D492E1}"/>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21</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12" name="Google Shape;145;p3">
            <a:extLst>
              <a:ext uri="{FF2B5EF4-FFF2-40B4-BE49-F238E27FC236}">
                <a16:creationId xmlns:a16="http://schemas.microsoft.com/office/drawing/2014/main" id="{35A180C2-6716-0F11-423C-29E19EBC51CE}"/>
              </a:ext>
            </a:extLst>
          </p:cNvPr>
          <p:cNvSpPr/>
          <p:nvPr/>
        </p:nvSpPr>
        <p:spPr>
          <a:xfrm>
            <a:off x="2743200" y="3277205"/>
            <a:ext cx="5486400"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sym typeface="Calibri"/>
              </a:rPr>
              <a:t>Sistemas vulneráveis</a:t>
            </a:r>
          </a:p>
        </p:txBody>
      </p:sp>
      <p:pic>
        <p:nvPicPr>
          <p:cNvPr id="4" name="Picture 3" descr="A screenshot of a computer error&#10;&#10;AI-generated content may be incorrect.">
            <a:hlinkClick r:id="rId5"/>
            <a:extLst>
              <a:ext uri="{FF2B5EF4-FFF2-40B4-BE49-F238E27FC236}">
                <a16:creationId xmlns:a16="http://schemas.microsoft.com/office/drawing/2014/main" id="{2CE7E79C-1262-C0B3-3CAA-A1DEDCC144DE}"/>
              </a:ext>
            </a:extLst>
          </p:cNvPr>
          <p:cNvPicPr>
            <a:picLocks noChangeAspect="1"/>
          </p:cNvPicPr>
          <p:nvPr/>
        </p:nvPicPr>
        <p:blipFill>
          <a:blip r:embed="rId6"/>
          <a:stretch>
            <a:fillRect/>
          </a:stretch>
        </p:blipFill>
        <p:spPr>
          <a:xfrm>
            <a:off x="2743200" y="4875653"/>
            <a:ext cx="4552950" cy="3556992"/>
          </a:xfrm>
          <a:prstGeom prst="rect">
            <a:avLst/>
          </a:prstGeom>
          <a:ln w="63500">
            <a:solidFill>
              <a:schemeClr val="accent2"/>
            </a:solidFill>
          </a:ln>
        </p:spPr>
      </p:pic>
      <p:pic>
        <p:nvPicPr>
          <p:cNvPr id="5" name="Picture 4">
            <a:hlinkClick r:id="rId7"/>
            <a:extLst>
              <a:ext uri="{FF2B5EF4-FFF2-40B4-BE49-F238E27FC236}">
                <a16:creationId xmlns:a16="http://schemas.microsoft.com/office/drawing/2014/main" id="{1140E5AB-0912-A266-7DBD-C77DF3A0E27C}"/>
              </a:ext>
            </a:extLst>
          </p:cNvPr>
          <p:cNvPicPr>
            <a:picLocks noChangeAspect="1"/>
          </p:cNvPicPr>
          <p:nvPr/>
        </p:nvPicPr>
        <p:blipFill>
          <a:blip r:embed="rId8"/>
          <a:stretch>
            <a:fillRect/>
          </a:stretch>
        </p:blipFill>
        <p:spPr>
          <a:xfrm>
            <a:off x="7961090" y="5290721"/>
            <a:ext cx="8678486" cy="2562583"/>
          </a:xfrm>
          <a:prstGeom prst="rect">
            <a:avLst/>
          </a:prstGeom>
          <a:ln w="63500">
            <a:solidFill>
              <a:schemeClr val="accent2"/>
            </a:solidFill>
          </a:ln>
        </p:spPr>
      </p:pic>
      <p:sp>
        <p:nvSpPr>
          <p:cNvPr id="6" name="TextBox 5">
            <a:extLst>
              <a:ext uri="{FF2B5EF4-FFF2-40B4-BE49-F238E27FC236}">
                <a16:creationId xmlns:a16="http://schemas.microsoft.com/office/drawing/2014/main" id="{D7371207-A266-6783-4CBE-C2DD06854DCC}"/>
              </a:ext>
            </a:extLst>
          </p:cNvPr>
          <p:cNvSpPr txBox="1"/>
          <p:nvPr/>
        </p:nvSpPr>
        <p:spPr>
          <a:xfrm>
            <a:off x="9257887" y="4748001"/>
            <a:ext cx="5283200" cy="400110"/>
          </a:xfrm>
          <a:prstGeom prst="rect">
            <a:avLst/>
          </a:prstGeom>
          <a:noFill/>
        </p:spPr>
        <p:txBody>
          <a:bodyPr wrap="square" rtlCol="0">
            <a:spAutoFit/>
          </a:bodyPr>
          <a:lstStyle/>
          <a:p>
            <a:pPr algn="ctr">
              <a:buSzPts val="1800"/>
            </a:pPr>
            <a:r>
              <a:rPr lang="pt-PT" sz="2000" b="1">
                <a:solidFill>
                  <a:srgbClr val="101010"/>
                </a:solidFill>
                <a:latin typeface="Raleway Medium"/>
                <a:sym typeface="Calibri"/>
              </a:rPr>
              <a:t>BlueKeep - CVE-2019-0708</a:t>
            </a:r>
            <a:endParaRPr lang="pt-PT" sz="2000" b="1" dirty="0">
              <a:solidFill>
                <a:srgbClr val="101010"/>
              </a:solidFill>
              <a:latin typeface="Raleway Medium"/>
              <a:sym typeface="Calibri"/>
            </a:endParaRPr>
          </a:p>
        </p:txBody>
      </p:sp>
      <p:sp>
        <p:nvSpPr>
          <p:cNvPr id="3" name="Google Shape;142;p3">
            <a:extLst>
              <a:ext uri="{FF2B5EF4-FFF2-40B4-BE49-F238E27FC236}">
                <a16:creationId xmlns:a16="http://schemas.microsoft.com/office/drawing/2014/main" id="{00F5455F-90F6-5164-C0E6-B6A72E9E9D60}"/>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0986"/>
              </a:lnSpc>
              <a:spcBef>
                <a:spcPts val="0"/>
              </a:spcBef>
              <a:spcAft>
                <a:spcPts val="0"/>
              </a:spcAft>
              <a:buClr>
                <a:srgbClr val="000000"/>
              </a:buClr>
              <a:buSzPts val="7500"/>
              <a:buFont typeface="Arial"/>
              <a:buNone/>
            </a:pPr>
            <a:r>
              <a:rPr lang="pt-PT" sz="7499" dirty="0">
                <a:solidFill>
                  <a:srgbClr val="000000"/>
                </a:solidFill>
                <a:latin typeface="Raleway Black"/>
                <a:sym typeface="Raleway Black"/>
              </a:rPr>
              <a:t>Vulnerabilidades comuns</a:t>
            </a:r>
          </a:p>
        </p:txBody>
      </p:sp>
    </p:spTree>
    <p:extLst>
      <p:ext uri="{BB962C8B-B14F-4D97-AF65-F5344CB8AC3E}">
        <p14:creationId xmlns:p14="http://schemas.microsoft.com/office/powerpoint/2010/main" val="4142149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0D187F92-DD8F-8D41-217D-37A31954300F}"/>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53FF89FD-3A50-68BF-16AF-E956431D457C}"/>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6D86B4BC-D272-6376-82AC-266FEC11A069}"/>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324EB311-0A77-EE92-9DB6-EF6B0AA20573}"/>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4" name="Google Shape;144;p3">
            <a:extLst>
              <a:ext uri="{FF2B5EF4-FFF2-40B4-BE49-F238E27FC236}">
                <a16:creationId xmlns:a16="http://schemas.microsoft.com/office/drawing/2014/main" id="{7D106502-052A-9B60-1387-5B7CBBEE2EB1}"/>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Ovos todos no mesmo cesto</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A1A5D3D1-E240-B641-89F0-3B1D0D1FC537}"/>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22</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12" name="Google Shape;145;p3">
            <a:extLst>
              <a:ext uri="{FF2B5EF4-FFF2-40B4-BE49-F238E27FC236}">
                <a16:creationId xmlns:a16="http://schemas.microsoft.com/office/drawing/2014/main" id="{6EC34623-75A0-44E5-9EAA-5068ED1777EE}"/>
              </a:ext>
            </a:extLst>
          </p:cNvPr>
          <p:cNvSpPr/>
          <p:nvPr/>
        </p:nvSpPr>
        <p:spPr>
          <a:xfrm>
            <a:off x="2743200" y="3277205"/>
            <a:ext cx="5486400"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dirty="0">
                <a:solidFill>
                  <a:srgbClr val="101010"/>
                </a:solidFill>
                <a:latin typeface="Raleway Medium"/>
                <a:sym typeface="Calibri"/>
              </a:rPr>
              <a:t>1 s</a:t>
            </a:r>
            <a:r>
              <a:rPr lang="pt-PT" sz="2400" b="1" noProof="0" dirty="0">
                <a:solidFill>
                  <a:srgbClr val="101010"/>
                </a:solidFill>
                <a:latin typeface="Raleway Medium"/>
                <a:sym typeface="Calibri"/>
              </a:rPr>
              <a:t>istema 1001 serviços</a:t>
            </a:r>
          </a:p>
        </p:txBody>
      </p:sp>
      <p:pic>
        <p:nvPicPr>
          <p:cNvPr id="17" name="Picture 16" descr="A screenshot of a video&#10;&#10;AI-generated content may be incorrect.">
            <a:hlinkClick r:id="rId5"/>
            <a:extLst>
              <a:ext uri="{FF2B5EF4-FFF2-40B4-BE49-F238E27FC236}">
                <a16:creationId xmlns:a16="http://schemas.microsoft.com/office/drawing/2014/main" id="{4BCB473E-9132-73F5-20AB-E423F8A108A8}"/>
              </a:ext>
            </a:extLst>
          </p:cNvPr>
          <p:cNvPicPr>
            <a:picLocks noChangeAspect="1"/>
          </p:cNvPicPr>
          <p:nvPr/>
        </p:nvPicPr>
        <p:blipFill>
          <a:blip r:embed="rId6"/>
          <a:stretch>
            <a:fillRect/>
          </a:stretch>
        </p:blipFill>
        <p:spPr>
          <a:xfrm>
            <a:off x="7708824" y="4579867"/>
            <a:ext cx="9879692" cy="4152558"/>
          </a:xfrm>
          <a:prstGeom prst="rect">
            <a:avLst/>
          </a:prstGeom>
          <a:ln w="63500">
            <a:solidFill>
              <a:schemeClr val="accent2"/>
            </a:solidFill>
          </a:ln>
        </p:spPr>
      </p:pic>
      <p:pic>
        <p:nvPicPr>
          <p:cNvPr id="7" name="Picture 6">
            <a:extLst>
              <a:ext uri="{FF2B5EF4-FFF2-40B4-BE49-F238E27FC236}">
                <a16:creationId xmlns:a16="http://schemas.microsoft.com/office/drawing/2014/main" id="{2D644762-6CA0-2B3B-D402-E30B744337C2}"/>
              </a:ext>
            </a:extLst>
          </p:cNvPr>
          <p:cNvPicPr>
            <a:picLocks noChangeAspect="1"/>
          </p:cNvPicPr>
          <p:nvPr/>
        </p:nvPicPr>
        <p:blipFill>
          <a:blip r:embed="rId7"/>
          <a:stretch>
            <a:fillRect/>
          </a:stretch>
        </p:blipFill>
        <p:spPr>
          <a:xfrm>
            <a:off x="2743200" y="5265302"/>
            <a:ext cx="4525006" cy="2781688"/>
          </a:xfrm>
          <a:prstGeom prst="rect">
            <a:avLst/>
          </a:prstGeom>
        </p:spPr>
      </p:pic>
      <p:sp>
        <p:nvSpPr>
          <p:cNvPr id="3" name="Google Shape;142;p3">
            <a:extLst>
              <a:ext uri="{FF2B5EF4-FFF2-40B4-BE49-F238E27FC236}">
                <a16:creationId xmlns:a16="http://schemas.microsoft.com/office/drawing/2014/main" id="{D42BC4ED-735A-31C9-3FAE-66EE55D860D9}"/>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0986"/>
              </a:lnSpc>
              <a:spcBef>
                <a:spcPts val="0"/>
              </a:spcBef>
              <a:spcAft>
                <a:spcPts val="0"/>
              </a:spcAft>
              <a:buClr>
                <a:srgbClr val="000000"/>
              </a:buClr>
              <a:buSzPts val="7500"/>
              <a:buFont typeface="Arial"/>
              <a:buNone/>
            </a:pPr>
            <a:r>
              <a:rPr lang="pt-PT" sz="7499" dirty="0">
                <a:solidFill>
                  <a:srgbClr val="000000"/>
                </a:solidFill>
                <a:latin typeface="Raleway Black"/>
                <a:sym typeface="Raleway Black"/>
              </a:rPr>
              <a:t>Vulnerabilidades comuns</a:t>
            </a:r>
          </a:p>
        </p:txBody>
      </p:sp>
    </p:spTree>
    <p:extLst>
      <p:ext uri="{BB962C8B-B14F-4D97-AF65-F5344CB8AC3E}">
        <p14:creationId xmlns:p14="http://schemas.microsoft.com/office/powerpoint/2010/main" val="671927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C7EEFB4C-2165-DF4E-7820-AE635531ACAD}"/>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C5C3305B-3605-E9B6-0468-040B1E10BE9A}"/>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724F8AA1-2574-CBAF-67A5-5264D230F08A}"/>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09E01F5B-368E-A4E4-6ED0-000A64D84D83}"/>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4" name="Google Shape;144;p3">
            <a:extLst>
              <a:ext uri="{FF2B5EF4-FFF2-40B4-BE49-F238E27FC236}">
                <a16:creationId xmlns:a16="http://schemas.microsoft.com/office/drawing/2014/main" id="{E35A9A8B-D0B8-E03B-E1C4-26E87302A9A3}"/>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lvl="0">
              <a:lnSpc>
                <a:spcPct val="150000"/>
              </a:lnSpc>
              <a:buSzPts val="2800"/>
            </a:pPr>
            <a:r>
              <a:rPr lang="pt-PT" sz="2800" dirty="0">
                <a:solidFill>
                  <a:srgbClr val="7F7F7F"/>
                </a:solidFill>
                <a:latin typeface="Raleway"/>
                <a:ea typeface="Raleway"/>
                <a:cs typeface="Raleway"/>
                <a:sym typeface="Raleway"/>
              </a:rPr>
              <a:t>Má configuração: Funciona, mas bem demais.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C272C520-28D1-F447-D138-AD2F09FD931B}"/>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23</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12" name="Google Shape;145;p3">
            <a:extLst>
              <a:ext uri="{FF2B5EF4-FFF2-40B4-BE49-F238E27FC236}">
                <a16:creationId xmlns:a16="http://schemas.microsoft.com/office/drawing/2014/main" id="{074915E4-7C93-EBCE-0586-8701679E04CA}"/>
              </a:ext>
            </a:extLst>
          </p:cNvPr>
          <p:cNvSpPr/>
          <p:nvPr/>
        </p:nvSpPr>
        <p:spPr>
          <a:xfrm>
            <a:off x="2743200" y="3277205"/>
            <a:ext cx="5486400"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dirty="0">
                <a:solidFill>
                  <a:srgbClr val="101010"/>
                </a:solidFill>
                <a:latin typeface="Raleway Medium"/>
                <a:sym typeface="Calibri"/>
              </a:rPr>
              <a:t>Pastas partilhadas</a:t>
            </a:r>
            <a:endParaRPr lang="pt-PT" sz="2400" b="1" noProof="0" dirty="0">
              <a:solidFill>
                <a:srgbClr val="101010"/>
              </a:solidFill>
              <a:latin typeface="Raleway Medium"/>
              <a:sym typeface="Calibri"/>
            </a:endParaRPr>
          </a:p>
        </p:txBody>
      </p:sp>
      <p:pic>
        <p:nvPicPr>
          <p:cNvPr id="6" name="Picture 5">
            <a:extLst>
              <a:ext uri="{FF2B5EF4-FFF2-40B4-BE49-F238E27FC236}">
                <a16:creationId xmlns:a16="http://schemas.microsoft.com/office/drawing/2014/main" id="{2898D01F-FB7E-3DC0-D07A-383F056B758E}"/>
              </a:ext>
            </a:extLst>
          </p:cNvPr>
          <p:cNvPicPr>
            <a:picLocks noChangeAspect="1"/>
          </p:cNvPicPr>
          <p:nvPr/>
        </p:nvPicPr>
        <p:blipFill>
          <a:blip r:embed="rId5"/>
          <a:stretch>
            <a:fillRect/>
          </a:stretch>
        </p:blipFill>
        <p:spPr>
          <a:xfrm>
            <a:off x="14039006" y="3684943"/>
            <a:ext cx="3296110" cy="4982270"/>
          </a:xfrm>
          <a:prstGeom prst="rect">
            <a:avLst/>
          </a:prstGeom>
        </p:spPr>
      </p:pic>
      <p:pic>
        <p:nvPicPr>
          <p:cNvPr id="8" name="Picture 7">
            <a:hlinkClick r:id="rId6"/>
            <a:extLst>
              <a:ext uri="{FF2B5EF4-FFF2-40B4-BE49-F238E27FC236}">
                <a16:creationId xmlns:a16="http://schemas.microsoft.com/office/drawing/2014/main" id="{98498254-D584-2D83-03EE-54DC15FA39E6}"/>
              </a:ext>
            </a:extLst>
          </p:cNvPr>
          <p:cNvPicPr>
            <a:picLocks noChangeAspect="1"/>
          </p:cNvPicPr>
          <p:nvPr/>
        </p:nvPicPr>
        <p:blipFill>
          <a:blip r:embed="rId7"/>
          <a:stretch>
            <a:fillRect/>
          </a:stretch>
        </p:blipFill>
        <p:spPr>
          <a:xfrm>
            <a:off x="2743200" y="4734597"/>
            <a:ext cx="3086531" cy="3934374"/>
          </a:xfrm>
          <a:prstGeom prst="rect">
            <a:avLst/>
          </a:prstGeom>
          <a:ln w="63500">
            <a:solidFill>
              <a:schemeClr val="accent2"/>
            </a:solidFill>
          </a:ln>
        </p:spPr>
      </p:pic>
      <p:pic>
        <p:nvPicPr>
          <p:cNvPr id="13" name="Picture 12">
            <a:extLst>
              <a:ext uri="{FF2B5EF4-FFF2-40B4-BE49-F238E27FC236}">
                <a16:creationId xmlns:a16="http://schemas.microsoft.com/office/drawing/2014/main" id="{08037881-050F-414D-0000-9624EC1AAA0D}"/>
              </a:ext>
            </a:extLst>
          </p:cNvPr>
          <p:cNvPicPr>
            <a:picLocks noChangeAspect="1"/>
          </p:cNvPicPr>
          <p:nvPr/>
        </p:nvPicPr>
        <p:blipFill>
          <a:blip r:embed="rId8"/>
          <a:stretch>
            <a:fillRect/>
          </a:stretch>
        </p:blipFill>
        <p:spPr>
          <a:xfrm>
            <a:off x="6051205" y="5047459"/>
            <a:ext cx="4753638" cy="3620005"/>
          </a:xfrm>
          <a:prstGeom prst="rect">
            <a:avLst/>
          </a:prstGeom>
        </p:spPr>
      </p:pic>
      <p:pic>
        <p:nvPicPr>
          <p:cNvPr id="15" name="Picture 14">
            <a:extLst>
              <a:ext uri="{FF2B5EF4-FFF2-40B4-BE49-F238E27FC236}">
                <a16:creationId xmlns:a16="http://schemas.microsoft.com/office/drawing/2014/main" id="{704E9730-7ADF-8E27-3FF5-152E33150163}"/>
              </a:ext>
            </a:extLst>
          </p:cNvPr>
          <p:cNvPicPr>
            <a:picLocks noChangeAspect="1"/>
          </p:cNvPicPr>
          <p:nvPr/>
        </p:nvPicPr>
        <p:blipFill>
          <a:blip r:embed="rId9"/>
          <a:stretch>
            <a:fillRect/>
          </a:stretch>
        </p:blipFill>
        <p:spPr>
          <a:xfrm>
            <a:off x="11026317" y="4599721"/>
            <a:ext cx="2791215" cy="4067743"/>
          </a:xfrm>
          <a:prstGeom prst="rect">
            <a:avLst/>
          </a:prstGeom>
        </p:spPr>
      </p:pic>
      <p:sp>
        <p:nvSpPr>
          <p:cNvPr id="3" name="Google Shape;142;p3">
            <a:extLst>
              <a:ext uri="{FF2B5EF4-FFF2-40B4-BE49-F238E27FC236}">
                <a16:creationId xmlns:a16="http://schemas.microsoft.com/office/drawing/2014/main" id="{CD144D8E-EBD7-4DFE-7274-FDF4BD6E61D7}"/>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0986"/>
              </a:lnSpc>
              <a:spcBef>
                <a:spcPts val="0"/>
              </a:spcBef>
              <a:spcAft>
                <a:spcPts val="0"/>
              </a:spcAft>
              <a:buClr>
                <a:srgbClr val="000000"/>
              </a:buClr>
              <a:buSzPts val="7500"/>
              <a:buFont typeface="Arial"/>
              <a:buNone/>
            </a:pPr>
            <a:r>
              <a:rPr lang="pt-PT" sz="7499" dirty="0">
                <a:solidFill>
                  <a:srgbClr val="000000"/>
                </a:solidFill>
                <a:latin typeface="Raleway Black"/>
                <a:sym typeface="Raleway Black"/>
              </a:rPr>
              <a:t>Vulnerabilidades comuns</a:t>
            </a:r>
          </a:p>
        </p:txBody>
      </p:sp>
    </p:spTree>
    <p:extLst>
      <p:ext uri="{BB962C8B-B14F-4D97-AF65-F5344CB8AC3E}">
        <p14:creationId xmlns:p14="http://schemas.microsoft.com/office/powerpoint/2010/main" val="3339576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96521C6D-AF53-980B-4B39-DC193CA4F384}"/>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4CC732CF-CCA6-136B-F3F5-906BDC262064}"/>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8454EEE7-BE70-6769-07D5-355B591D2615}"/>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F8CEFA4B-D54C-73E7-2985-43CC5240B0A1}"/>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4" name="Google Shape;144;p3">
            <a:extLst>
              <a:ext uri="{FF2B5EF4-FFF2-40B4-BE49-F238E27FC236}">
                <a16:creationId xmlns:a16="http://schemas.microsoft.com/office/drawing/2014/main" id="{BD8F3EAB-A54D-C3EB-FBE6-B97830DE62F4}"/>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Vulnerabilidades comuns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BB667D32-493F-3C84-709E-7EFCDC840B12}"/>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24</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12" name="Google Shape;145;p3">
            <a:extLst>
              <a:ext uri="{FF2B5EF4-FFF2-40B4-BE49-F238E27FC236}">
                <a16:creationId xmlns:a16="http://schemas.microsoft.com/office/drawing/2014/main" id="{01436D34-E575-B529-1A76-2F4D82954595}"/>
              </a:ext>
            </a:extLst>
          </p:cNvPr>
          <p:cNvSpPr/>
          <p:nvPr/>
        </p:nvSpPr>
        <p:spPr>
          <a:xfrm>
            <a:off x="2743200" y="3277205"/>
            <a:ext cx="5486400"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a:solidFill>
                  <a:srgbClr val="101010"/>
                </a:solidFill>
                <a:latin typeface="Raleway Medium"/>
                <a:sym typeface="Calibri"/>
              </a:rPr>
              <a:t>Interfaces de controlo expostas</a:t>
            </a:r>
          </a:p>
        </p:txBody>
      </p:sp>
      <p:pic>
        <p:nvPicPr>
          <p:cNvPr id="7" name="Picture 6" descr="A computer screen shot of a machine&#10;&#10;AI-generated content may be incorrect.">
            <a:hlinkClick r:id="rId5"/>
            <a:extLst>
              <a:ext uri="{FF2B5EF4-FFF2-40B4-BE49-F238E27FC236}">
                <a16:creationId xmlns:a16="http://schemas.microsoft.com/office/drawing/2014/main" id="{8E4BA9B5-1C72-C9BB-89CA-EC63D1D10A45}"/>
              </a:ext>
            </a:extLst>
          </p:cNvPr>
          <p:cNvPicPr>
            <a:picLocks noChangeAspect="1"/>
          </p:cNvPicPr>
          <p:nvPr/>
        </p:nvPicPr>
        <p:blipFill>
          <a:blip r:embed="rId6"/>
          <a:stretch>
            <a:fillRect/>
          </a:stretch>
        </p:blipFill>
        <p:spPr>
          <a:xfrm>
            <a:off x="2743200" y="4572832"/>
            <a:ext cx="7064477" cy="4139342"/>
          </a:xfrm>
          <a:prstGeom prst="rect">
            <a:avLst/>
          </a:prstGeom>
          <a:ln w="63500">
            <a:solidFill>
              <a:schemeClr val="accent2"/>
            </a:solidFill>
          </a:ln>
        </p:spPr>
      </p:pic>
      <p:pic>
        <p:nvPicPr>
          <p:cNvPr id="9" name="Picture 8" descr="A screenshot of a machine&#10;&#10;AI-generated content may be incorrect.">
            <a:hlinkClick r:id="rId7"/>
            <a:extLst>
              <a:ext uri="{FF2B5EF4-FFF2-40B4-BE49-F238E27FC236}">
                <a16:creationId xmlns:a16="http://schemas.microsoft.com/office/drawing/2014/main" id="{7265FDA3-F1C0-ADD3-EFBD-0C8234AC85F4}"/>
              </a:ext>
            </a:extLst>
          </p:cNvPr>
          <p:cNvPicPr>
            <a:picLocks noChangeAspect="1"/>
          </p:cNvPicPr>
          <p:nvPr/>
        </p:nvPicPr>
        <p:blipFill>
          <a:blip r:embed="rId8"/>
          <a:stretch>
            <a:fillRect/>
          </a:stretch>
        </p:blipFill>
        <p:spPr>
          <a:xfrm>
            <a:off x="13944961" y="2942581"/>
            <a:ext cx="3647345" cy="2735509"/>
          </a:xfrm>
          <a:prstGeom prst="rect">
            <a:avLst/>
          </a:prstGeom>
          <a:ln w="63500">
            <a:solidFill>
              <a:schemeClr val="accent2"/>
            </a:solidFill>
          </a:ln>
        </p:spPr>
      </p:pic>
      <p:pic>
        <p:nvPicPr>
          <p:cNvPr id="14" name="Picture 13" descr="A screenshot of a computer&#10;&#10;AI-generated content may be incorrect.">
            <a:hlinkClick r:id="rId9"/>
            <a:extLst>
              <a:ext uri="{FF2B5EF4-FFF2-40B4-BE49-F238E27FC236}">
                <a16:creationId xmlns:a16="http://schemas.microsoft.com/office/drawing/2014/main" id="{BEABA65B-4CBC-EDB7-093A-97C0F085A490}"/>
              </a:ext>
            </a:extLst>
          </p:cNvPr>
          <p:cNvPicPr>
            <a:picLocks noChangeAspect="1"/>
          </p:cNvPicPr>
          <p:nvPr/>
        </p:nvPicPr>
        <p:blipFill>
          <a:blip r:embed="rId10"/>
          <a:stretch>
            <a:fillRect/>
          </a:stretch>
        </p:blipFill>
        <p:spPr>
          <a:xfrm>
            <a:off x="13944961" y="5976664"/>
            <a:ext cx="3647346" cy="2735510"/>
          </a:xfrm>
          <a:prstGeom prst="rect">
            <a:avLst/>
          </a:prstGeom>
          <a:ln w="63500">
            <a:solidFill>
              <a:schemeClr val="accent2"/>
            </a:solidFill>
          </a:ln>
        </p:spPr>
      </p:pic>
      <p:pic>
        <p:nvPicPr>
          <p:cNvPr id="18" name="Picture 17" descr="A computer screen shot of a machine&#10;&#10;AI-generated content may be incorrect.">
            <a:hlinkClick r:id="rId11"/>
            <a:extLst>
              <a:ext uri="{FF2B5EF4-FFF2-40B4-BE49-F238E27FC236}">
                <a16:creationId xmlns:a16="http://schemas.microsoft.com/office/drawing/2014/main" id="{619317AD-B4B0-755D-AE5B-E55480EB7D7A}"/>
              </a:ext>
            </a:extLst>
          </p:cNvPr>
          <p:cNvPicPr>
            <a:picLocks noChangeAspect="1"/>
          </p:cNvPicPr>
          <p:nvPr/>
        </p:nvPicPr>
        <p:blipFill>
          <a:blip r:embed="rId12"/>
          <a:stretch>
            <a:fillRect/>
          </a:stretch>
        </p:blipFill>
        <p:spPr>
          <a:xfrm>
            <a:off x="10052646" y="5976664"/>
            <a:ext cx="3647346" cy="2735509"/>
          </a:xfrm>
          <a:prstGeom prst="rect">
            <a:avLst/>
          </a:prstGeom>
          <a:ln w="63500">
            <a:solidFill>
              <a:schemeClr val="accent2"/>
            </a:solidFill>
          </a:ln>
        </p:spPr>
      </p:pic>
      <p:pic>
        <p:nvPicPr>
          <p:cNvPr id="22" name="Picture 21" descr="A screenshot of a computer&#10;&#10;AI-generated content may be incorrect.">
            <a:hlinkClick r:id="rId13"/>
            <a:extLst>
              <a:ext uri="{FF2B5EF4-FFF2-40B4-BE49-F238E27FC236}">
                <a16:creationId xmlns:a16="http://schemas.microsoft.com/office/drawing/2014/main" id="{2D73DA10-9015-ED97-DF1E-861D7AE22436}"/>
              </a:ext>
            </a:extLst>
          </p:cNvPr>
          <p:cNvPicPr>
            <a:picLocks noChangeAspect="1"/>
          </p:cNvPicPr>
          <p:nvPr/>
        </p:nvPicPr>
        <p:blipFill>
          <a:blip r:embed="rId14"/>
          <a:stretch>
            <a:fillRect/>
          </a:stretch>
        </p:blipFill>
        <p:spPr>
          <a:xfrm>
            <a:off x="10052646" y="3620658"/>
            <a:ext cx="3647346" cy="2051632"/>
          </a:xfrm>
          <a:prstGeom prst="rect">
            <a:avLst/>
          </a:prstGeom>
          <a:ln w="63500">
            <a:solidFill>
              <a:schemeClr val="accent2"/>
            </a:solidFill>
          </a:ln>
        </p:spPr>
      </p:pic>
      <p:sp>
        <p:nvSpPr>
          <p:cNvPr id="3" name="Google Shape;142;p3">
            <a:extLst>
              <a:ext uri="{FF2B5EF4-FFF2-40B4-BE49-F238E27FC236}">
                <a16:creationId xmlns:a16="http://schemas.microsoft.com/office/drawing/2014/main" id="{4F888160-2080-2481-3C1D-94EE929425FB}"/>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0986"/>
              </a:lnSpc>
              <a:spcBef>
                <a:spcPts val="0"/>
              </a:spcBef>
              <a:spcAft>
                <a:spcPts val="0"/>
              </a:spcAft>
              <a:buClr>
                <a:srgbClr val="000000"/>
              </a:buClr>
              <a:buSzPts val="7500"/>
              <a:buFont typeface="Arial"/>
              <a:buNone/>
            </a:pPr>
            <a:r>
              <a:rPr lang="pt-PT" sz="7499" dirty="0">
                <a:solidFill>
                  <a:srgbClr val="000000"/>
                </a:solidFill>
                <a:latin typeface="Raleway Black"/>
                <a:sym typeface="Raleway Black"/>
              </a:rPr>
              <a:t>Vulnerabilidades comuns</a:t>
            </a:r>
          </a:p>
        </p:txBody>
      </p:sp>
    </p:spTree>
    <p:extLst>
      <p:ext uri="{BB962C8B-B14F-4D97-AF65-F5344CB8AC3E}">
        <p14:creationId xmlns:p14="http://schemas.microsoft.com/office/powerpoint/2010/main" val="2106649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D51A6377-6082-69A1-3529-60C5C023EA8B}"/>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29C7D350-7F16-5CC8-955E-DEB68418AFD5}"/>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C46C349B-B822-CD01-13C9-57AB9C143FD6}"/>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3" name="Google Shape;363;p11">
            <a:extLst>
              <a:ext uri="{FF2B5EF4-FFF2-40B4-BE49-F238E27FC236}">
                <a16:creationId xmlns:a16="http://schemas.microsoft.com/office/drawing/2014/main" id="{8186093E-4777-23D3-E5C8-43D983D39F2F}"/>
              </a:ext>
            </a:extLst>
          </p:cNvPr>
          <p:cNvSpPr txBox="1"/>
          <p:nvPr/>
        </p:nvSpPr>
        <p:spPr>
          <a:xfrm>
            <a:off x="2747139" y="1058170"/>
            <a:ext cx="13272713" cy="1200200"/>
          </a:xfrm>
          <a:prstGeom prst="rect">
            <a:avLst/>
          </a:prstGeom>
          <a:noFill/>
          <a:ln>
            <a:noFill/>
          </a:ln>
        </p:spPr>
        <p:txBody>
          <a:bodyPr spcFirstLastPara="1" wrap="square" lIns="0" tIns="0" rIns="0" bIns="0" anchor="t" anchorCtr="0">
            <a:spAutoFit/>
          </a:bodyPr>
          <a:lstStyle/>
          <a:p>
            <a:pPr marL="0" marR="0" lvl="0" indent="0" algn="l" rtl="0">
              <a:lnSpc>
                <a:spcPct val="104050"/>
              </a:lnSpc>
              <a:spcBef>
                <a:spcPts val="0"/>
              </a:spcBef>
              <a:spcAft>
                <a:spcPts val="0"/>
              </a:spcAft>
              <a:buClr>
                <a:srgbClr val="000000"/>
              </a:buClr>
              <a:buSzPts val="8000"/>
              <a:buFont typeface="Arial"/>
              <a:buNone/>
            </a:pPr>
            <a:r>
              <a:rPr lang="pt-PT" sz="7499" dirty="0">
                <a:solidFill>
                  <a:srgbClr val="000000"/>
                </a:solidFill>
                <a:latin typeface="Raleway Black"/>
                <a:sym typeface="Raleway Black"/>
              </a:rPr>
              <a:t>Industrial</a:t>
            </a:r>
            <a:r>
              <a:rPr lang="pt-PT" sz="6600" b="1" i="0" u="none" strike="noStrike" cap="none" noProof="0" dirty="0">
                <a:solidFill>
                  <a:srgbClr val="000000"/>
                </a:solidFill>
                <a:latin typeface="Raleway Black"/>
                <a:ea typeface="Raleway Black"/>
                <a:cs typeface="Raleway Black"/>
                <a:sym typeface="Raleway Black"/>
              </a:rPr>
              <a:t> Control Systems</a:t>
            </a:r>
          </a:p>
        </p:txBody>
      </p:sp>
      <p:sp>
        <p:nvSpPr>
          <p:cNvPr id="365" name="Google Shape;365;p11">
            <a:extLst>
              <a:ext uri="{FF2B5EF4-FFF2-40B4-BE49-F238E27FC236}">
                <a16:creationId xmlns:a16="http://schemas.microsoft.com/office/drawing/2014/main" id="{84AD6F65-5EDC-71D8-301F-3245F095CA82}"/>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Sistemas de Controlo Industrial</a:t>
            </a:r>
            <a:endParaRPr lang="pt-PT" sz="1400" b="0" i="0" u="none" strike="noStrike" cap="none" noProof="0" dirty="0">
              <a:solidFill>
                <a:srgbClr val="000000"/>
              </a:solidFill>
              <a:latin typeface="Arial"/>
              <a:ea typeface="Arial"/>
              <a:cs typeface="Arial"/>
              <a:sym typeface="Arial"/>
            </a:endParaRPr>
          </a:p>
        </p:txBody>
      </p:sp>
      <p:cxnSp>
        <p:nvCxnSpPr>
          <p:cNvPr id="2" name="Google Shape;218;p6">
            <a:extLst>
              <a:ext uri="{FF2B5EF4-FFF2-40B4-BE49-F238E27FC236}">
                <a16:creationId xmlns:a16="http://schemas.microsoft.com/office/drawing/2014/main" id="{FB4B3FF4-EA23-DB0F-63B3-F3FBF188108A}"/>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66841357-5225-CFF5-5EB5-C88B88BBACEB}"/>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25</a:t>
            </a:fld>
            <a:endParaRPr lang="pt-PT" sz="2041" b="1" i="0" u="none" strike="noStrike" cap="none" noProof="0" dirty="0">
              <a:solidFill>
                <a:srgbClr val="000000"/>
              </a:solidFill>
              <a:latin typeface="Raleway SemiBold"/>
              <a:ea typeface="Raleway SemiBold"/>
              <a:cs typeface="Raleway SemiBold"/>
              <a:sym typeface="Raleway SemiBold"/>
            </a:endParaRPr>
          </a:p>
        </p:txBody>
      </p:sp>
      <p:pic>
        <p:nvPicPr>
          <p:cNvPr id="5" name="Picture 4">
            <a:hlinkClick r:id="rId5"/>
            <a:extLst>
              <a:ext uri="{FF2B5EF4-FFF2-40B4-BE49-F238E27FC236}">
                <a16:creationId xmlns:a16="http://schemas.microsoft.com/office/drawing/2014/main" id="{EB448E05-937D-B654-D19F-7A102C985B9F}"/>
              </a:ext>
            </a:extLst>
          </p:cNvPr>
          <p:cNvPicPr>
            <a:picLocks noChangeAspect="1"/>
          </p:cNvPicPr>
          <p:nvPr/>
        </p:nvPicPr>
        <p:blipFill>
          <a:blip r:embed="rId6"/>
          <a:stretch>
            <a:fillRect/>
          </a:stretch>
        </p:blipFill>
        <p:spPr>
          <a:xfrm>
            <a:off x="4604269" y="3053170"/>
            <a:ext cx="9550574" cy="5747595"/>
          </a:xfrm>
          <a:prstGeom prst="rect">
            <a:avLst/>
          </a:prstGeom>
          <a:ln w="63500">
            <a:solidFill>
              <a:schemeClr val="accent2"/>
            </a:solidFill>
          </a:ln>
        </p:spPr>
      </p:pic>
    </p:spTree>
    <p:extLst>
      <p:ext uri="{BB962C8B-B14F-4D97-AF65-F5344CB8AC3E}">
        <p14:creationId xmlns:p14="http://schemas.microsoft.com/office/powerpoint/2010/main" val="2812137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8AE501F7-43F2-D11A-B94B-4DB4B922BC97}"/>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02579B8F-C5E2-5127-3C65-306060D7A9EF}"/>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11C7F61A-B445-AA10-3C5A-89F498536924}"/>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5" name="Google Shape;365;p11">
            <a:extLst>
              <a:ext uri="{FF2B5EF4-FFF2-40B4-BE49-F238E27FC236}">
                <a16:creationId xmlns:a16="http://schemas.microsoft.com/office/drawing/2014/main" id="{70EBEFF5-34ED-8062-9B67-21A98EDAF830}"/>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Tecnologia Operacional</a:t>
            </a:r>
            <a:endParaRPr lang="pt-PT" sz="1400" b="0" i="0" u="none" strike="noStrike" cap="none" noProof="0" dirty="0">
              <a:solidFill>
                <a:srgbClr val="000000"/>
              </a:solidFill>
              <a:latin typeface="Arial"/>
              <a:ea typeface="Arial"/>
              <a:cs typeface="Arial"/>
              <a:sym typeface="Arial"/>
            </a:endParaRPr>
          </a:p>
        </p:txBody>
      </p:sp>
      <p:cxnSp>
        <p:nvCxnSpPr>
          <p:cNvPr id="2" name="Google Shape;218;p6">
            <a:extLst>
              <a:ext uri="{FF2B5EF4-FFF2-40B4-BE49-F238E27FC236}">
                <a16:creationId xmlns:a16="http://schemas.microsoft.com/office/drawing/2014/main" id="{F65BF735-D5FB-9A44-8EA7-2EB08C7DEABF}"/>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B1159E8E-0D25-4F36-8BE7-7E0BB8AE21DE}"/>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26</a:t>
            </a:fld>
            <a:endParaRPr lang="pt-PT" sz="2041" b="1" i="0" u="none" strike="noStrike" cap="none" noProof="0" dirty="0">
              <a:solidFill>
                <a:srgbClr val="000000"/>
              </a:solidFill>
              <a:latin typeface="Raleway SemiBold"/>
              <a:ea typeface="Raleway SemiBold"/>
              <a:cs typeface="Raleway SemiBold"/>
              <a:sym typeface="Raleway SemiBold"/>
            </a:endParaRPr>
          </a:p>
        </p:txBody>
      </p:sp>
      <p:pic>
        <p:nvPicPr>
          <p:cNvPr id="5" name="Picture 4">
            <a:hlinkClick r:id="rId5"/>
            <a:extLst>
              <a:ext uri="{FF2B5EF4-FFF2-40B4-BE49-F238E27FC236}">
                <a16:creationId xmlns:a16="http://schemas.microsoft.com/office/drawing/2014/main" id="{3011B971-7346-B36B-79DE-911EA325F3BF}"/>
              </a:ext>
            </a:extLst>
          </p:cNvPr>
          <p:cNvPicPr>
            <a:picLocks noChangeAspect="1"/>
          </p:cNvPicPr>
          <p:nvPr/>
        </p:nvPicPr>
        <p:blipFill>
          <a:blip r:embed="rId6"/>
          <a:stretch>
            <a:fillRect/>
          </a:stretch>
        </p:blipFill>
        <p:spPr>
          <a:xfrm>
            <a:off x="2743200" y="3060420"/>
            <a:ext cx="3696216" cy="2876951"/>
          </a:xfrm>
          <a:prstGeom prst="rect">
            <a:avLst/>
          </a:prstGeom>
          <a:ln w="63500">
            <a:solidFill>
              <a:schemeClr val="accent2"/>
            </a:solidFill>
          </a:ln>
        </p:spPr>
      </p:pic>
      <p:pic>
        <p:nvPicPr>
          <p:cNvPr id="9" name="Picture 8">
            <a:extLst>
              <a:ext uri="{FF2B5EF4-FFF2-40B4-BE49-F238E27FC236}">
                <a16:creationId xmlns:a16="http://schemas.microsoft.com/office/drawing/2014/main" id="{C0F53753-4629-B3B6-36EE-0832819B7EBB}"/>
              </a:ext>
            </a:extLst>
          </p:cNvPr>
          <p:cNvPicPr>
            <a:picLocks noChangeAspect="1"/>
          </p:cNvPicPr>
          <p:nvPr/>
        </p:nvPicPr>
        <p:blipFill>
          <a:blip r:embed="rId7"/>
          <a:stretch>
            <a:fillRect/>
          </a:stretch>
        </p:blipFill>
        <p:spPr>
          <a:xfrm>
            <a:off x="6906893" y="4830918"/>
            <a:ext cx="6144482" cy="1743318"/>
          </a:xfrm>
          <a:prstGeom prst="rect">
            <a:avLst/>
          </a:prstGeom>
        </p:spPr>
      </p:pic>
      <p:pic>
        <p:nvPicPr>
          <p:cNvPr id="13" name="Picture 12">
            <a:extLst>
              <a:ext uri="{FF2B5EF4-FFF2-40B4-BE49-F238E27FC236}">
                <a16:creationId xmlns:a16="http://schemas.microsoft.com/office/drawing/2014/main" id="{3391C799-6872-7430-67FB-AF5E764AA15A}"/>
              </a:ext>
            </a:extLst>
          </p:cNvPr>
          <p:cNvPicPr>
            <a:picLocks noChangeAspect="1"/>
          </p:cNvPicPr>
          <p:nvPr/>
        </p:nvPicPr>
        <p:blipFill>
          <a:blip r:embed="rId8"/>
          <a:stretch>
            <a:fillRect/>
          </a:stretch>
        </p:blipFill>
        <p:spPr>
          <a:xfrm>
            <a:off x="6906893" y="3076713"/>
            <a:ext cx="8973802" cy="1514686"/>
          </a:xfrm>
          <a:prstGeom prst="rect">
            <a:avLst/>
          </a:prstGeom>
        </p:spPr>
      </p:pic>
      <p:pic>
        <p:nvPicPr>
          <p:cNvPr id="15" name="Picture 14">
            <a:extLst>
              <a:ext uri="{FF2B5EF4-FFF2-40B4-BE49-F238E27FC236}">
                <a16:creationId xmlns:a16="http://schemas.microsoft.com/office/drawing/2014/main" id="{4613619E-1A2C-6ADE-E917-6C5740E055BB}"/>
              </a:ext>
            </a:extLst>
          </p:cNvPr>
          <p:cNvPicPr>
            <a:picLocks noChangeAspect="1"/>
          </p:cNvPicPr>
          <p:nvPr/>
        </p:nvPicPr>
        <p:blipFill>
          <a:blip r:embed="rId9"/>
          <a:stretch>
            <a:fillRect/>
          </a:stretch>
        </p:blipFill>
        <p:spPr>
          <a:xfrm>
            <a:off x="6906893" y="6813755"/>
            <a:ext cx="7602011" cy="1467055"/>
          </a:xfrm>
          <a:prstGeom prst="rect">
            <a:avLst/>
          </a:prstGeom>
        </p:spPr>
      </p:pic>
      <p:sp>
        <p:nvSpPr>
          <p:cNvPr id="16" name="Google Shape;363;p11">
            <a:extLst>
              <a:ext uri="{FF2B5EF4-FFF2-40B4-BE49-F238E27FC236}">
                <a16:creationId xmlns:a16="http://schemas.microsoft.com/office/drawing/2014/main" id="{06B6D786-85F2-150D-0D19-CAF30FC8B597}"/>
              </a:ext>
            </a:extLst>
          </p:cNvPr>
          <p:cNvSpPr txBox="1"/>
          <p:nvPr/>
        </p:nvSpPr>
        <p:spPr>
          <a:xfrm>
            <a:off x="2747139" y="1058170"/>
            <a:ext cx="13272713" cy="1200200"/>
          </a:xfrm>
          <a:prstGeom prst="rect">
            <a:avLst/>
          </a:prstGeom>
          <a:noFill/>
          <a:ln>
            <a:noFill/>
          </a:ln>
        </p:spPr>
        <p:txBody>
          <a:bodyPr spcFirstLastPara="1" wrap="square" lIns="0" tIns="0" rIns="0" bIns="0" anchor="t" anchorCtr="0">
            <a:spAutoFit/>
          </a:bodyPr>
          <a:lstStyle/>
          <a:p>
            <a:pPr marL="0" marR="0" lvl="0" indent="0" algn="l" rtl="0">
              <a:lnSpc>
                <a:spcPct val="104050"/>
              </a:lnSpc>
              <a:spcBef>
                <a:spcPts val="0"/>
              </a:spcBef>
              <a:spcAft>
                <a:spcPts val="0"/>
              </a:spcAft>
              <a:buClr>
                <a:srgbClr val="000000"/>
              </a:buClr>
              <a:buSzPts val="8000"/>
              <a:buFont typeface="Arial"/>
              <a:buNone/>
            </a:pPr>
            <a:r>
              <a:rPr lang="pt-PT" sz="7499" dirty="0">
                <a:solidFill>
                  <a:srgbClr val="000000"/>
                </a:solidFill>
                <a:latin typeface="Raleway Black"/>
                <a:sym typeface="Raleway Black"/>
              </a:rPr>
              <a:t>MODBUS</a:t>
            </a:r>
            <a:r>
              <a:rPr lang="pt-PT" sz="6600" b="1" i="0" u="none" strike="noStrike" cap="none" noProof="0" dirty="0">
                <a:solidFill>
                  <a:srgbClr val="000000"/>
                </a:solidFill>
                <a:latin typeface="Raleway Black"/>
                <a:ea typeface="Raleway Black"/>
                <a:cs typeface="Raleway Black"/>
                <a:sym typeface="Raleway Black"/>
              </a:rPr>
              <a:t> </a:t>
            </a:r>
            <a:r>
              <a:rPr lang="pt-PT" sz="3600" i="0" u="none" strike="noStrike" cap="none" noProof="0" dirty="0">
                <a:solidFill>
                  <a:srgbClr val="000000"/>
                </a:solidFill>
                <a:latin typeface="Raleway Black"/>
                <a:ea typeface="Raleway Black"/>
                <a:cs typeface="Raleway Black"/>
                <a:sym typeface="Raleway Black"/>
              </a:rPr>
              <a:t>(port:502)</a:t>
            </a:r>
            <a:endParaRPr lang="pt-PT" sz="6600" i="0" u="none" strike="noStrike" cap="none" noProof="0" dirty="0">
              <a:solidFill>
                <a:srgbClr val="000000"/>
              </a:solidFill>
              <a:latin typeface="Raleway Black"/>
              <a:ea typeface="Raleway Black"/>
              <a:cs typeface="Raleway Black"/>
              <a:sym typeface="Raleway Black"/>
            </a:endParaRPr>
          </a:p>
        </p:txBody>
      </p:sp>
      <p:pic>
        <p:nvPicPr>
          <p:cNvPr id="18" name="Picture 17">
            <a:extLst>
              <a:ext uri="{FF2B5EF4-FFF2-40B4-BE49-F238E27FC236}">
                <a16:creationId xmlns:a16="http://schemas.microsoft.com/office/drawing/2014/main" id="{F89A829C-F74B-3794-056B-BF0F5A9254BD}"/>
              </a:ext>
            </a:extLst>
          </p:cNvPr>
          <p:cNvPicPr>
            <a:picLocks noChangeAspect="1"/>
          </p:cNvPicPr>
          <p:nvPr/>
        </p:nvPicPr>
        <p:blipFill>
          <a:blip r:embed="rId10"/>
          <a:stretch>
            <a:fillRect/>
          </a:stretch>
        </p:blipFill>
        <p:spPr>
          <a:xfrm>
            <a:off x="2743200" y="6163634"/>
            <a:ext cx="3715268" cy="2133898"/>
          </a:xfrm>
          <a:prstGeom prst="rect">
            <a:avLst/>
          </a:prstGeom>
        </p:spPr>
      </p:pic>
    </p:spTree>
    <p:extLst>
      <p:ext uri="{BB962C8B-B14F-4D97-AF65-F5344CB8AC3E}">
        <p14:creationId xmlns:p14="http://schemas.microsoft.com/office/powerpoint/2010/main" val="31205588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AA743B32-B7D0-779F-0C3B-2A500B1D0783}"/>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0BA7C529-4A53-F269-C9CF-0AD9F671DDF0}"/>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64CC0A10-BDED-5437-875B-88FE5BACD999}"/>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5" name="Google Shape;365;p11">
            <a:extLst>
              <a:ext uri="{FF2B5EF4-FFF2-40B4-BE49-F238E27FC236}">
                <a16:creationId xmlns:a16="http://schemas.microsoft.com/office/drawing/2014/main" id="{ABE7997D-1EAD-C1B8-BCFB-7F52A3BE9366}"/>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lvl="0">
              <a:lnSpc>
                <a:spcPct val="150000"/>
              </a:lnSpc>
              <a:buClr>
                <a:srgbClr val="000000"/>
              </a:buClr>
              <a:buSzPts val="2800"/>
            </a:pPr>
            <a:r>
              <a:rPr lang="pt-PT" sz="2800" dirty="0">
                <a:solidFill>
                  <a:srgbClr val="7F7F7F"/>
                </a:solidFill>
                <a:latin typeface="Raleway"/>
                <a:ea typeface="Raleway"/>
                <a:cs typeface="Raleway"/>
                <a:sym typeface="Raleway"/>
              </a:rPr>
              <a:t>Tecnologia Operacional</a:t>
            </a:r>
            <a:endParaRPr lang="pt-PT" sz="1400" dirty="0">
              <a:solidFill>
                <a:srgbClr val="000000"/>
              </a:solidFill>
              <a:latin typeface="Arial"/>
              <a:ea typeface="Arial"/>
              <a:cs typeface="Arial"/>
              <a:sym typeface="Arial"/>
            </a:endParaRPr>
          </a:p>
        </p:txBody>
      </p:sp>
      <p:cxnSp>
        <p:nvCxnSpPr>
          <p:cNvPr id="2" name="Google Shape;218;p6">
            <a:extLst>
              <a:ext uri="{FF2B5EF4-FFF2-40B4-BE49-F238E27FC236}">
                <a16:creationId xmlns:a16="http://schemas.microsoft.com/office/drawing/2014/main" id="{B30851BA-57C0-9CA4-168C-2C12324CCB0D}"/>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16201AC8-4D55-0EBC-8159-33BC3EFF4568}"/>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27</a:t>
            </a:fld>
            <a:endParaRPr lang="pt-PT" sz="2041" b="1" i="0" u="none" strike="noStrike" cap="none" noProof="0" dirty="0">
              <a:solidFill>
                <a:srgbClr val="000000"/>
              </a:solidFill>
              <a:latin typeface="Raleway SemiBold"/>
              <a:ea typeface="Raleway SemiBold"/>
              <a:cs typeface="Raleway SemiBold"/>
              <a:sym typeface="Raleway SemiBold"/>
            </a:endParaRPr>
          </a:p>
        </p:txBody>
      </p:sp>
      <p:pic>
        <p:nvPicPr>
          <p:cNvPr id="6" name="Picture 5">
            <a:extLst>
              <a:ext uri="{FF2B5EF4-FFF2-40B4-BE49-F238E27FC236}">
                <a16:creationId xmlns:a16="http://schemas.microsoft.com/office/drawing/2014/main" id="{EFD3B462-56E1-C64E-FCFA-0C530E30022B}"/>
              </a:ext>
            </a:extLst>
          </p:cNvPr>
          <p:cNvPicPr>
            <a:picLocks noChangeAspect="1"/>
          </p:cNvPicPr>
          <p:nvPr/>
        </p:nvPicPr>
        <p:blipFill>
          <a:blip r:embed="rId5"/>
          <a:stretch>
            <a:fillRect/>
          </a:stretch>
        </p:blipFill>
        <p:spPr>
          <a:xfrm>
            <a:off x="13610374" y="5068077"/>
            <a:ext cx="4002653" cy="3266721"/>
          </a:xfrm>
          <a:prstGeom prst="rect">
            <a:avLst/>
          </a:prstGeom>
        </p:spPr>
      </p:pic>
      <p:pic>
        <p:nvPicPr>
          <p:cNvPr id="8" name="Picture 7">
            <a:hlinkClick r:id="rId6"/>
            <a:extLst>
              <a:ext uri="{FF2B5EF4-FFF2-40B4-BE49-F238E27FC236}">
                <a16:creationId xmlns:a16="http://schemas.microsoft.com/office/drawing/2014/main" id="{8AC25854-F0D7-BF7C-AF9A-069D3780ABB8}"/>
              </a:ext>
            </a:extLst>
          </p:cNvPr>
          <p:cNvPicPr>
            <a:picLocks noChangeAspect="1"/>
          </p:cNvPicPr>
          <p:nvPr/>
        </p:nvPicPr>
        <p:blipFill>
          <a:blip r:embed="rId7"/>
          <a:stretch>
            <a:fillRect/>
          </a:stretch>
        </p:blipFill>
        <p:spPr>
          <a:xfrm>
            <a:off x="2743200" y="3011042"/>
            <a:ext cx="7089466" cy="5712586"/>
          </a:xfrm>
          <a:prstGeom prst="rect">
            <a:avLst/>
          </a:prstGeom>
          <a:ln w="63500">
            <a:solidFill>
              <a:schemeClr val="accent2"/>
            </a:solidFill>
          </a:ln>
        </p:spPr>
      </p:pic>
      <p:pic>
        <p:nvPicPr>
          <p:cNvPr id="11" name="Picture 10">
            <a:extLst>
              <a:ext uri="{FF2B5EF4-FFF2-40B4-BE49-F238E27FC236}">
                <a16:creationId xmlns:a16="http://schemas.microsoft.com/office/drawing/2014/main" id="{43E7A3DB-A121-4E16-641F-D028E50A7F9B}"/>
              </a:ext>
            </a:extLst>
          </p:cNvPr>
          <p:cNvPicPr>
            <a:picLocks noChangeAspect="1"/>
          </p:cNvPicPr>
          <p:nvPr/>
        </p:nvPicPr>
        <p:blipFill>
          <a:blip r:embed="rId8"/>
          <a:stretch>
            <a:fillRect/>
          </a:stretch>
        </p:blipFill>
        <p:spPr>
          <a:xfrm>
            <a:off x="9962159" y="3011042"/>
            <a:ext cx="1837828" cy="968394"/>
          </a:xfrm>
          <a:prstGeom prst="rect">
            <a:avLst/>
          </a:prstGeom>
        </p:spPr>
      </p:pic>
      <p:pic>
        <p:nvPicPr>
          <p:cNvPr id="17" name="Picture 16">
            <a:extLst>
              <a:ext uri="{FF2B5EF4-FFF2-40B4-BE49-F238E27FC236}">
                <a16:creationId xmlns:a16="http://schemas.microsoft.com/office/drawing/2014/main" id="{7CAB0548-AD8B-9F1F-5A4D-4EF2A9AFDC3E}"/>
              </a:ext>
            </a:extLst>
          </p:cNvPr>
          <p:cNvPicPr>
            <a:picLocks noChangeAspect="1"/>
          </p:cNvPicPr>
          <p:nvPr/>
        </p:nvPicPr>
        <p:blipFill>
          <a:blip r:embed="rId9"/>
          <a:stretch>
            <a:fillRect/>
          </a:stretch>
        </p:blipFill>
        <p:spPr>
          <a:xfrm>
            <a:off x="13610375" y="4137184"/>
            <a:ext cx="4002653" cy="678274"/>
          </a:xfrm>
          <a:prstGeom prst="rect">
            <a:avLst/>
          </a:prstGeom>
        </p:spPr>
      </p:pic>
      <p:pic>
        <p:nvPicPr>
          <p:cNvPr id="19" name="Picture 18">
            <a:extLst>
              <a:ext uri="{FF2B5EF4-FFF2-40B4-BE49-F238E27FC236}">
                <a16:creationId xmlns:a16="http://schemas.microsoft.com/office/drawing/2014/main" id="{54DBEA9C-EC6E-894F-4E56-6B79A04B91D2}"/>
              </a:ext>
            </a:extLst>
          </p:cNvPr>
          <p:cNvPicPr>
            <a:picLocks noChangeAspect="1"/>
          </p:cNvPicPr>
          <p:nvPr/>
        </p:nvPicPr>
        <p:blipFill>
          <a:blip r:embed="rId10"/>
          <a:stretch>
            <a:fillRect/>
          </a:stretch>
        </p:blipFill>
        <p:spPr>
          <a:xfrm>
            <a:off x="9962157" y="6472618"/>
            <a:ext cx="3518723" cy="1715741"/>
          </a:xfrm>
          <a:prstGeom prst="rect">
            <a:avLst/>
          </a:prstGeom>
        </p:spPr>
      </p:pic>
      <p:pic>
        <p:nvPicPr>
          <p:cNvPr id="21" name="Picture 20">
            <a:extLst>
              <a:ext uri="{FF2B5EF4-FFF2-40B4-BE49-F238E27FC236}">
                <a16:creationId xmlns:a16="http://schemas.microsoft.com/office/drawing/2014/main" id="{177FC84E-3B3B-3E89-B1E2-AE45004C832F}"/>
              </a:ext>
            </a:extLst>
          </p:cNvPr>
          <p:cNvPicPr>
            <a:picLocks noChangeAspect="1"/>
          </p:cNvPicPr>
          <p:nvPr/>
        </p:nvPicPr>
        <p:blipFill>
          <a:blip r:embed="rId11"/>
          <a:stretch>
            <a:fillRect/>
          </a:stretch>
        </p:blipFill>
        <p:spPr>
          <a:xfrm>
            <a:off x="9962158" y="4137184"/>
            <a:ext cx="3518723" cy="2125308"/>
          </a:xfrm>
          <a:prstGeom prst="rect">
            <a:avLst/>
          </a:prstGeom>
        </p:spPr>
      </p:pic>
      <p:sp>
        <p:nvSpPr>
          <p:cNvPr id="4" name="Google Shape;363;p11">
            <a:extLst>
              <a:ext uri="{FF2B5EF4-FFF2-40B4-BE49-F238E27FC236}">
                <a16:creationId xmlns:a16="http://schemas.microsoft.com/office/drawing/2014/main" id="{CC55E7A3-13BB-B8F0-73C7-B81FF7182DE3}"/>
              </a:ext>
            </a:extLst>
          </p:cNvPr>
          <p:cNvSpPr txBox="1"/>
          <p:nvPr/>
        </p:nvSpPr>
        <p:spPr>
          <a:xfrm>
            <a:off x="2747139" y="1058170"/>
            <a:ext cx="13272713" cy="1200200"/>
          </a:xfrm>
          <a:prstGeom prst="rect">
            <a:avLst/>
          </a:prstGeom>
          <a:noFill/>
          <a:ln>
            <a:noFill/>
          </a:ln>
        </p:spPr>
        <p:txBody>
          <a:bodyPr spcFirstLastPara="1" wrap="square" lIns="0" tIns="0" rIns="0" bIns="0" anchor="t" anchorCtr="0">
            <a:spAutoFit/>
          </a:bodyPr>
          <a:lstStyle/>
          <a:p>
            <a:pPr marL="0" marR="0" lvl="0" indent="0" algn="l" rtl="0">
              <a:lnSpc>
                <a:spcPct val="104050"/>
              </a:lnSpc>
              <a:spcBef>
                <a:spcPts val="0"/>
              </a:spcBef>
              <a:spcAft>
                <a:spcPts val="0"/>
              </a:spcAft>
              <a:buClr>
                <a:srgbClr val="000000"/>
              </a:buClr>
              <a:buSzPts val="8000"/>
              <a:buFont typeface="Arial"/>
              <a:buNone/>
            </a:pPr>
            <a:r>
              <a:rPr lang="pt-PT" sz="7499" dirty="0">
                <a:solidFill>
                  <a:srgbClr val="000000"/>
                </a:solidFill>
                <a:latin typeface="Raleway Black"/>
                <a:sym typeface="Raleway Black"/>
              </a:rPr>
              <a:t>MODBUS</a:t>
            </a:r>
            <a:r>
              <a:rPr lang="pt-PT" sz="6600" b="1" i="0" u="none" strike="noStrike" cap="none" noProof="0" dirty="0">
                <a:solidFill>
                  <a:srgbClr val="000000"/>
                </a:solidFill>
                <a:latin typeface="Raleway Black"/>
                <a:ea typeface="Raleway Black"/>
                <a:cs typeface="Raleway Black"/>
                <a:sym typeface="Raleway Black"/>
              </a:rPr>
              <a:t> </a:t>
            </a:r>
            <a:r>
              <a:rPr lang="pt-PT" sz="3600" i="0" u="none" strike="noStrike" cap="none" noProof="0" dirty="0">
                <a:solidFill>
                  <a:srgbClr val="000000"/>
                </a:solidFill>
                <a:latin typeface="Raleway Black"/>
                <a:ea typeface="Raleway Black"/>
                <a:cs typeface="Raleway Black"/>
                <a:sym typeface="Raleway Black"/>
              </a:rPr>
              <a:t>(port:502)</a:t>
            </a:r>
            <a:endParaRPr lang="pt-PT" sz="6600" i="0" u="none" strike="noStrike" cap="none" noProof="0" dirty="0">
              <a:solidFill>
                <a:srgbClr val="000000"/>
              </a:solidFill>
              <a:latin typeface="Raleway Black"/>
              <a:ea typeface="Raleway Black"/>
              <a:cs typeface="Raleway Black"/>
              <a:sym typeface="Raleway Black"/>
            </a:endParaRPr>
          </a:p>
        </p:txBody>
      </p:sp>
    </p:spTree>
    <p:extLst>
      <p:ext uri="{BB962C8B-B14F-4D97-AF65-F5344CB8AC3E}">
        <p14:creationId xmlns:p14="http://schemas.microsoft.com/office/powerpoint/2010/main" val="19977916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E80BE56E-CDD5-107D-4C61-57C27C226860}"/>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D08577C0-F40C-2036-A654-86B20D9E47AC}"/>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3859EA9B-B04E-B0A3-E3BB-5BC74DE2EC01}"/>
              </a:ext>
            </a:extLst>
          </p:cNvPr>
          <p:cNvSpPr txBox="1"/>
          <p:nvPr/>
        </p:nvSpPr>
        <p:spPr>
          <a:xfrm>
            <a:off x="1195772" y="5243098"/>
            <a:ext cx="13021495" cy="1229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defRPr sz="6000" b="1" baseline="0">
                <a:solidFill>
                  <a:srgbClr val="101010"/>
                </a:solidFill>
                <a:latin typeface="Raleway" pitchFamily="2" charset="0"/>
              </a:defRPr>
            </a:lvl1pPr>
          </a:lstStyle>
          <a:p>
            <a:r>
              <a:rPr lang="pt-PT" noProof="0" dirty="0">
                <a:sym typeface="Raleway Black"/>
              </a:rPr>
              <a:t>Boas práticas e normas</a:t>
            </a:r>
          </a:p>
        </p:txBody>
      </p:sp>
      <p:cxnSp>
        <p:nvCxnSpPr>
          <p:cNvPr id="386" name="Google Shape;386;p28">
            <a:extLst>
              <a:ext uri="{FF2B5EF4-FFF2-40B4-BE49-F238E27FC236}">
                <a16:creationId xmlns:a16="http://schemas.microsoft.com/office/drawing/2014/main" id="{E2CE3915-D8C0-A43F-310C-E86C1DCB8DAC}"/>
              </a:ext>
            </a:extLst>
          </p:cNvPr>
          <p:cNvCxnSpPr/>
          <p:nvPr/>
        </p:nvCxnSpPr>
        <p:spPr>
          <a:xfrm>
            <a:off x="1195772" y="6472986"/>
            <a:ext cx="13021495" cy="0"/>
          </a:xfrm>
          <a:prstGeom prst="straightConnector1">
            <a:avLst/>
          </a:prstGeom>
          <a:noFill/>
          <a:ln w="19050" cap="flat" cmpd="sng">
            <a:solidFill>
              <a:srgbClr val="000000"/>
            </a:solidFill>
            <a:prstDash val="solid"/>
            <a:round/>
            <a:headEnd type="none" w="sm" len="sm"/>
            <a:tailEnd type="none" w="sm" len="sm"/>
          </a:ln>
        </p:spPr>
      </p:cxnSp>
    </p:spTree>
    <p:extLst>
      <p:ext uri="{BB962C8B-B14F-4D97-AF65-F5344CB8AC3E}">
        <p14:creationId xmlns:p14="http://schemas.microsoft.com/office/powerpoint/2010/main" val="2757040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11FDC869-3EC8-D710-083F-A556FFE49C46}"/>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7CE9BB2F-1CA3-9AE4-8483-9A5E67BF9A2F}"/>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C0F6908C-1DFC-D045-BBC4-4AF9B507F64F}"/>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3" name="Google Shape;363;p11">
            <a:extLst>
              <a:ext uri="{FF2B5EF4-FFF2-40B4-BE49-F238E27FC236}">
                <a16:creationId xmlns:a16="http://schemas.microsoft.com/office/drawing/2014/main" id="{4FDB47D8-FC91-4CAD-2D55-4BFB2EED2ACF}"/>
              </a:ext>
            </a:extLst>
          </p:cNvPr>
          <p:cNvSpPr txBox="1"/>
          <p:nvPr/>
        </p:nvSpPr>
        <p:spPr>
          <a:xfrm>
            <a:off x="2747139" y="1058170"/>
            <a:ext cx="13272713" cy="1280351"/>
          </a:xfrm>
          <a:prstGeom prst="rect">
            <a:avLst/>
          </a:prstGeom>
          <a:noFill/>
          <a:ln>
            <a:noFill/>
          </a:ln>
        </p:spPr>
        <p:txBody>
          <a:bodyPr spcFirstLastPara="1" wrap="square" lIns="0" tIns="0" rIns="0" bIns="0" anchor="t" anchorCtr="0">
            <a:spAutoFit/>
          </a:bodyPr>
          <a:lstStyle/>
          <a:p>
            <a:pPr marL="0" marR="0" lvl="0" indent="0" algn="l" rtl="0">
              <a:lnSpc>
                <a:spcPct val="104050"/>
              </a:lnSpc>
              <a:spcBef>
                <a:spcPts val="0"/>
              </a:spcBef>
              <a:spcAft>
                <a:spcPts val="0"/>
              </a:spcAft>
              <a:buClr>
                <a:srgbClr val="000000"/>
              </a:buClr>
              <a:buSzPts val="8000"/>
              <a:buFont typeface="Arial"/>
              <a:buNone/>
            </a:pPr>
            <a:r>
              <a:rPr lang="pt-PT" sz="8000" b="1" i="0" u="none" strike="noStrike" cap="none" noProof="0" dirty="0">
                <a:solidFill>
                  <a:srgbClr val="000000"/>
                </a:solidFill>
                <a:latin typeface="Raleway Black"/>
                <a:ea typeface="Raleway Black"/>
                <a:cs typeface="Raleway Black"/>
                <a:sym typeface="Raleway Black"/>
              </a:rPr>
              <a:t>Boas práticas</a:t>
            </a:r>
            <a:endParaRPr lang="pt-PT" sz="7500" b="1" i="0" u="none" strike="noStrike" cap="none" noProof="0" dirty="0">
              <a:solidFill>
                <a:srgbClr val="000000"/>
              </a:solidFill>
              <a:latin typeface="Raleway Black"/>
              <a:ea typeface="Raleway Black"/>
              <a:cs typeface="Raleway Black"/>
              <a:sym typeface="Raleway Black"/>
            </a:endParaRPr>
          </a:p>
        </p:txBody>
      </p:sp>
      <p:sp>
        <p:nvSpPr>
          <p:cNvPr id="365" name="Google Shape;365;p11">
            <a:extLst>
              <a:ext uri="{FF2B5EF4-FFF2-40B4-BE49-F238E27FC236}">
                <a16:creationId xmlns:a16="http://schemas.microsoft.com/office/drawing/2014/main" id="{5BC304FE-8A62-878C-0FCB-47F8653D2D1A}"/>
              </a:ext>
            </a:extLst>
          </p:cNvPr>
          <p:cNvSpPr txBox="1"/>
          <p:nvPr/>
        </p:nvSpPr>
        <p:spPr>
          <a:xfrm>
            <a:off x="2743200" y="2210695"/>
            <a:ext cx="13272713" cy="5706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Preparar hoje a segurança digital de amanhã</a:t>
            </a:r>
            <a:endParaRPr lang="pt-PT" sz="1400" b="0" i="0" u="none" strike="noStrike" cap="none" noProof="0" dirty="0">
              <a:solidFill>
                <a:srgbClr val="000000"/>
              </a:solidFill>
              <a:latin typeface="Arial"/>
              <a:ea typeface="Arial"/>
              <a:cs typeface="Arial"/>
              <a:sym typeface="Arial"/>
            </a:endParaRPr>
          </a:p>
        </p:txBody>
      </p:sp>
      <p:sp>
        <p:nvSpPr>
          <p:cNvPr id="366" name="Google Shape;366;p11">
            <a:extLst>
              <a:ext uri="{FF2B5EF4-FFF2-40B4-BE49-F238E27FC236}">
                <a16:creationId xmlns:a16="http://schemas.microsoft.com/office/drawing/2014/main" id="{50C7AB54-51AB-1A17-52A5-AC6A27AC93AA}"/>
              </a:ext>
            </a:extLst>
          </p:cNvPr>
          <p:cNvSpPr/>
          <p:nvPr/>
        </p:nvSpPr>
        <p:spPr>
          <a:xfrm>
            <a:off x="2578769" y="3695700"/>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ea typeface="Raleway Medium"/>
                <a:cs typeface="Raleway Medium"/>
                <a:sym typeface="Raleway Medium"/>
              </a:rPr>
              <a:t>Estratégias de Defesa</a:t>
            </a:r>
            <a:endParaRPr lang="pt-PT" sz="1200" noProof="0" dirty="0"/>
          </a:p>
        </p:txBody>
      </p:sp>
      <p:sp>
        <p:nvSpPr>
          <p:cNvPr id="368" name="Google Shape;368;p11">
            <a:extLst>
              <a:ext uri="{FF2B5EF4-FFF2-40B4-BE49-F238E27FC236}">
                <a16:creationId xmlns:a16="http://schemas.microsoft.com/office/drawing/2014/main" id="{DB06B872-B439-0A1D-0619-5A4622106704}"/>
              </a:ext>
            </a:extLst>
          </p:cNvPr>
          <p:cNvSpPr txBox="1"/>
          <p:nvPr/>
        </p:nvSpPr>
        <p:spPr>
          <a:xfrm>
            <a:off x="6946232" y="3921013"/>
            <a:ext cx="8762999" cy="644151"/>
          </a:xfrm>
          <a:prstGeom prst="rect">
            <a:avLst/>
          </a:prstGeom>
          <a:noFill/>
          <a:ln>
            <a:noFill/>
          </a:ln>
        </p:spPr>
        <p:txBody>
          <a:bodyPr spcFirstLastPara="1" wrap="square" lIns="0" tIns="0" rIns="0" bIns="0" anchor="t" anchorCtr="0">
            <a:spAutoFit/>
          </a:bodyPr>
          <a:lstStyle/>
          <a:p>
            <a:pPr lvl="0" algn="just">
              <a:buSzPts val="2093"/>
            </a:pPr>
            <a:r>
              <a:rPr lang="pt-PT" sz="2093" noProof="0" dirty="0">
                <a:solidFill>
                  <a:srgbClr val="101010"/>
                </a:solidFill>
                <a:latin typeface="Raleway"/>
                <a:ea typeface="Raleway"/>
                <a:cs typeface="Raleway"/>
                <a:sym typeface="Raleway"/>
              </a:rPr>
              <a:t>Inventário, backups offline, princípio do menor previlégio, segmentação de redes, firewalls, monitorização e deteção de intrusão.</a:t>
            </a:r>
            <a:endParaRPr lang="pt-PT" noProof="0" dirty="0"/>
          </a:p>
        </p:txBody>
      </p:sp>
      <p:sp>
        <p:nvSpPr>
          <p:cNvPr id="371" name="Google Shape;371;p11">
            <a:extLst>
              <a:ext uri="{FF2B5EF4-FFF2-40B4-BE49-F238E27FC236}">
                <a16:creationId xmlns:a16="http://schemas.microsoft.com/office/drawing/2014/main" id="{E3ACC59D-DA2A-CF06-E5AA-5256F10BF7D1}"/>
              </a:ext>
            </a:extLst>
          </p:cNvPr>
          <p:cNvSpPr txBox="1"/>
          <p:nvPr/>
        </p:nvSpPr>
        <p:spPr>
          <a:xfrm>
            <a:off x="6946231" y="5307919"/>
            <a:ext cx="8762999" cy="966227"/>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Clr>
                <a:srgbClr val="000000"/>
              </a:buClr>
              <a:buSzPts val="2093"/>
              <a:buFont typeface="Arial"/>
              <a:buNone/>
            </a:pPr>
            <a:r>
              <a:rPr lang="pt-PT" sz="2093" b="0" i="0" u="none" strike="noStrike" cap="none" noProof="0" dirty="0">
                <a:solidFill>
                  <a:srgbClr val="101010"/>
                </a:solidFill>
                <a:latin typeface="Raleway"/>
                <a:ea typeface="Raleway"/>
                <a:cs typeface="Raleway"/>
                <a:sym typeface="Raleway"/>
              </a:rPr>
              <a:t>Atualizações controladas e testadas, controlo de acesso forte (</a:t>
            </a:r>
            <a:r>
              <a:rPr lang="pt-PT" sz="2093" b="0" i="0" u="none" strike="noStrike" cap="none" noProof="0" dirty="0" err="1">
                <a:solidFill>
                  <a:srgbClr val="101010"/>
                </a:solidFill>
                <a:latin typeface="Raleway"/>
                <a:ea typeface="Raleway"/>
                <a:cs typeface="Raleway"/>
                <a:sym typeface="Raleway"/>
              </a:rPr>
              <a:t>mfa</a:t>
            </a:r>
            <a:r>
              <a:rPr lang="pt-PT" sz="2093" b="0" i="0" u="none" strike="noStrike" cap="none" noProof="0" dirty="0">
                <a:solidFill>
                  <a:srgbClr val="101010"/>
                </a:solidFill>
                <a:latin typeface="Raleway"/>
                <a:ea typeface="Raleway"/>
                <a:cs typeface="Raleway"/>
                <a:sym typeface="Raleway"/>
              </a:rPr>
              <a:t>), monitorização, formação contínua, teste e validação das medidas e controlos implementados.</a:t>
            </a:r>
            <a:endParaRPr lang="pt-PT" sz="1400" b="0" i="0" u="none" strike="noStrike" cap="none" noProof="0" dirty="0">
              <a:solidFill>
                <a:srgbClr val="000000"/>
              </a:solidFill>
              <a:latin typeface="Arial"/>
              <a:ea typeface="Arial"/>
              <a:cs typeface="Arial"/>
              <a:sym typeface="Arial"/>
            </a:endParaRPr>
          </a:p>
        </p:txBody>
      </p:sp>
      <p:sp>
        <p:nvSpPr>
          <p:cNvPr id="372" name="Google Shape;372;p11">
            <a:extLst>
              <a:ext uri="{FF2B5EF4-FFF2-40B4-BE49-F238E27FC236}">
                <a16:creationId xmlns:a16="http://schemas.microsoft.com/office/drawing/2014/main" id="{0800E657-9BD1-2189-13FB-3512761B4A06}"/>
              </a:ext>
            </a:extLst>
          </p:cNvPr>
          <p:cNvSpPr/>
          <p:nvPr/>
        </p:nvSpPr>
        <p:spPr>
          <a:xfrm>
            <a:off x="2590801" y="6823192"/>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rPr>
              <a:t>Validação</a:t>
            </a:r>
          </a:p>
        </p:txBody>
      </p:sp>
      <p:sp>
        <p:nvSpPr>
          <p:cNvPr id="374" name="Google Shape;374;p11">
            <a:extLst>
              <a:ext uri="{FF2B5EF4-FFF2-40B4-BE49-F238E27FC236}">
                <a16:creationId xmlns:a16="http://schemas.microsoft.com/office/drawing/2014/main" id="{CC9ABBCA-C9A1-5D82-E36C-37FC20713890}"/>
              </a:ext>
            </a:extLst>
          </p:cNvPr>
          <p:cNvSpPr txBox="1"/>
          <p:nvPr/>
        </p:nvSpPr>
        <p:spPr>
          <a:xfrm>
            <a:off x="6946231" y="7048505"/>
            <a:ext cx="8762999" cy="644151"/>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Clr>
                <a:srgbClr val="000000"/>
              </a:buClr>
              <a:buSzPts val="2093"/>
              <a:buFont typeface="Arial"/>
              <a:buNone/>
            </a:pPr>
            <a:r>
              <a:rPr lang="pt-PT" sz="2093" b="0" i="0" u="none" strike="noStrike" cap="none" noProof="0" dirty="0">
                <a:solidFill>
                  <a:srgbClr val="101010"/>
                </a:solidFill>
                <a:latin typeface="Raleway"/>
                <a:ea typeface="Raleway"/>
                <a:cs typeface="Raleway"/>
                <a:sym typeface="Raleway"/>
              </a:rPr>
              <a:t>O Cybersecurity Assessment é essencial para construir uma defesa robusta e sustentável.</a:t>
            </a:r>
            <a:endParaRPr lang="pt-PT" sz="1400" b="0" i="0" u="none" strike="noStrike" cap="none" noProof="0" dirty="0">
              <a:solidFill>
                <a:srgbClr val="000000"/>
              </a:solidFill>
              <a:latin typeface="Arial"/>
              <a:ea typeface="Arial"/>
              <a:cs typeface="Arial"/>
              <a:sym typeface="Arial"/>
            </a:endParaRPr>
          </a:p>
        </p:txBody>
      </p:sp>
      <p:cxnSp>
        <p:nvCxnSpPr>
          <p:cNvPr id="2" name="Google Shape;218;p6">
            <a:extLst>
              <a:ext uri="{FF2B5EF4-FFF2-40B4-BE49-F238E27FC236}">
                <a16:creationId xmlns:a16="http://schemas.microsoft.com/office/drawing/2014/main" id="{C7449D5D-E548-5804-1827-888E1070BE16}"/>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510103D5-6DDA-5E42-CD89-586CA171B44C}"/>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29</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5" name="Google Shape;366;p11">
            <a:extLst>
              <a:ext uri="{FF2B5EF4-FFF2-40B4-BE49-F238E27FC236}">
                <a16:creationId xmlns:a16="http://schemas.microsoft.com/office/drawing/2014/main" id="{A9DD621C-F57B-632D-D744-5481B882720C}"/>
              </a:ext>
            </a:extLst>
          </p:cNvPr>
          <p:cNvSpPr/>
          <p:nvPr/>
        </p:nvSpPr>
        <p:spPr>
          <a:xfrm>
            <a:off x="2578768" y="5259446"/>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sym typeface="Raleway Medium"/>
              </a:rPr>
              <a:t>Maturidade em</a:t>
            </a:r>
            <a:r>
              <a:rPr lang="pt-PT" sz="2400" b="1" noProof="0" dirty="0">
                <a:solidFill>
                  <a:srgbClr val="101010"/>
                </a:solidFill>
                <a:latin typeface="Raleway Medium"/>
                <a:sym typeface="Calibri"/>
              </a:rPr>
              <a:t> Cibersegurança</a:t>
            </a:r>
            <a:endParaRPr lang="pt-PT" sz="2400" b="1" noProof="0" dirty="0">
              <a:solidFill>
                <a:srgbClr val="101010"/>
              </a:solidFill>
              <a:latin typeface="Raleway Medium"/>
              <a:sym typeface="Raleway Medium"/>
            </a:endParaRPr>
          </a:p>
        </p:txBody>
      </p:sp>
    </p:spTree>
    <p:extLst>
      <p:ext uri="{BB962C8B-B14F-4D97-AF65-F5344CB8AC3E}">
        <p14:creationId xmlns:p14="http://schemas.microsoft.com/office/powerpoint/2010/main" val="38711713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89" name="Google Shape;189;p5"/>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90" name="Google Shape;190;p5"/>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1" name="Google Shape;191;p5"/>
          <p:cNvSpPr txBox="1"/>
          <p:nvPr/>
        </p:nvSpPr>
        <p:spPr>
          <a:xfrm>
            <a:off x="2747139" y="1058170"/>
            <a:ext cx="13272713" cy="1064394"/>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499"/>
              <a:buFont typeface="Arial"/>
              <a:buNone/>
            </a:pPr>
            <a:r>
              <a:rPr lang="pt-PT" sz="7499" b="1" i="0" u="none" strike="noStrike" cap="none" noProof="0" dirty="0">
                <a:solidFill>
                  <a:srgbClr val="000000"/>
                </a:solidFill>
                <a:latin typeface="Raleway Black"/>
                <a:ea typeface="Raleway Black"/>
                <a:cs typeface="Raleway Black"/>
                <a:sym typeface="Raleway Black"/>
              </a:rPr>
              <a:t>Cybersecurity Assessment</a:t>
            </a:r>
            <a:endParaRPr lang="pt-PT" sz="1400" b="0" i="0" u="none" strike="noStrike" cap="none" noProof="0" dirty="0">
              <a:solidFill>
                <a:srgbClr val="000000"/>
              </a:solidFill>
              <a:latin typeface="Arial"/>
              <a:ea typeface="Arial"/>
              <a:cs typeface="Arial"/>
              <a:sym typeface="Arial"/>
            </a:endParaRPr>
          </a:p>
        </p:txBody>
      </p:sp>
      <p:grpSp>
        <p:nvGrpSpPr>
          <p:cNvPr id="193" name="Google Shape;193;p5"/>
          <p:cNvGrpSpPr/>
          <p:nvPr/>
        </p:nvGrpSpPr>
        <p:grpSpPr>
          <a:xfrm>
            <a:off x="1603015" y="3674825"/>
            <a:ext cx="4569185" cy="4157788"/>
            <a:chOff x="0" y="-47625"/>
            <a:chExt cx="1437753" cy="1940938"/>
          </a:xfrm>
        </p:grpSpPr>
        <p:sp>
          <p:nvSpPr>
            <p:cNvPr id="194" name="Google Shape;194;p5"/>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5" name="Google Shape;195;p5"/>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196" name="Google Shape;196;p5"/>
          <p:cNvSpPr txBox="1"/>
          <p:nvPr/>
        </p:nvSpPr>
        <p:spPr>
          <a:xfrm>
            <a:off x="1603014" y="5278068"/>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Definição do serviço</a:t>
            </a:r>
            <a:endParaRPr lang="pt-PT" sz="1400" b="0" i="0" u="none" strike="noStrike" cap="none" noProof="0" dirty="0">
              <a:solidFill>
                <a:srgbClr val="000000"/>
              </a:solidFill>
              <a:latin typeface="Arial"/>
              <a:ea typeface="Arial"/>
              <a:cs typeface="Arial"/>
              <a:sym typeface="Arial"/>
            </a:endParaRPr>
          </a:p>
        </p:txBody>
      </p:sp>
      <p:sp>
        <p:nvSpPr>
          <p:cNvPr id="197" name="Google Shape;197;p5"/>
          <p:cNvSpPr txBox="1"/>
          <p:nvPr/>
        </p:nvSpPr>
        <p:spPr>
          <a:xfrm>
            <a:off x="1937822" y="5996186"/>
            <a:ext cx="4081977" cy="1128514"/>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Avaliação contínua das vulnerabilidades, ameaças e riscos dos ativos digitais da organização.</a:t>
            </a:r>
            <a:endParaRPr lang="pt-PT" sz="1400" b="0" i="0" u="none" strike="noStrike" cap="none" noProof="0" dirty="0">
              <a:solidFill>
                <a:srgbClr val="000000"/>
              </a:solidFill>
              <a:latin typeface="Arial"/>
              <a:ea typeface="Arial"/>
              <a:cs typeface="Arial"/>
              <a:sym typeface="Arial"/>
            </a:endParaRPr>
          </a:p>
        </p:txBody>
      </p:sp>
      <p:grpSp>
        <p:nvGrpSpPr>
          <p:cNvPr id="198" name="Google Shape;198;p5"/>
          <p:cNvGrpSpPr/>
          <p:nvPr/>
        </p:nvGrpSpPr>
        <p:grpSpPr>
          <a:xfrm>
            <a:off x="6973295" y="3674825"/>
            <a:ext cx="4569185" cy="4157788"/>
            <a:chOff x="0" y="-47625"/>
            <a:chExt cx="1437753" cy="1940938"/>
          </a:xfrm>
        </p:grpSpPr>
        <p:sp>
          <p:nvSpPr>
            <p:cNvPr id="199" name="Google Shape;199;p5"/>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0" name="Google Shape;200;p5"/>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1" name="Google Shape;201;p5"/>
          <p:cNvSpPr txBox="1"/>
          <p:nvPr/>
        </p:nvSpPr>
        <p:spPr>
          <a:xfrm>
            <a:off x="6973294" y="5278068"/>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Objetivos principais</a:t>
            </a:r>
            <a:endParaRPr lang="pt-PT" sz="1400" b="0" i="0" u="none" strike="noStrike" cap="none" noProof="0" dirty="0">
              <a:solidFill>
                <a:srgbClr val="000000"/>
              </a:solidFill>
              <a:latin typeface="Arial"/>
              <a:ea typeface="Arial"/>
              <a:cs typeface="Arial"/>
              <a:sym typeface="Arial"/>
            </a:endParaRPr>
          </a:p>
        </p:txBody>
      </p:sp>
      <p:sp>
        <p:nvSpPr>
          <p:cNvPr id="202" name="Google Shape;202;p5"/>
          <p:cNvSpPr txBox="1"/>
          <p:nvPr/>
        </p:nvSpPr>
        <p:spPr>
          <a:xfrm>
            <a:off x="7308102" y="5996186"/>
            <a:ext cx="4082100" cy="1686300"/>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Identificação de falhas de segurança, testando os mecanismos de defesa existentes e propor medidas de mitigação concretas.</a:t>
            </a:r>
          </a:p>
        </p:txBody>
      </p:sp>
      <p:grpSp>
        <p:nvGrpSpPr>
          <p:cNvPr id="203" name="Google Shape;203;p5"/>
          <p:cNvGrpSpPr/>
          <p:nvPr/>
        </p:nvGrpSpPr>
        <p:grpSpPr>
          <a:xfrm>
            <a:off x="12343575" y="3674825"/>
            <a:ext cx="4569185" cy="4157788"/>
            <a:chOff x="0" y="-47625"/>
            <a:chExt cx="1437753" cy="1940938"/>
          </a:xfrm>
        </p:grpSpPr>
        <p:sp>
          <p:nvSpPr>
            <p:cNvPr id="204" name="Google Shape;204;p5"/>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5" name="Google Shape;205;p5"/>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6" name="Google Shape;206;p5"/>
          <p:cNvSpPr txBox="1"/>
          <p:nvPr/>
        </p:nvSpPr>
        <p:spPr>
          <a:xfrm>
            <a:off x="12343574" y="5278068"/>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Importância estratégica</a:t>
            </a:r>
            <a:endParaRPr lang="pt-PT" sz="1400" b="0" i="0" u="none" strike="noStrike" cap="none" noProof="0" dirty="0">
              <a:solidFill>
                <a:srgbClr val="000000"/>
              </a:solidFill>
              <a:latin typeface="Arial"/>
              <a:ea typeface="Arial"/>
              <a:cs typeface="Arial"/>
              <a:sym typeface="Arial"/>
            </a:endParaRPr>
          </a:p>
        </p:txBody>
      </p:sp>
      <p:sp>
        <p:nvSpPr>
          <p:cNvPr id="207" name="Google Shape;207;p5"/>
          <p:cNvSpPr txBox="1"/>
          <p:nvPr/>
        </p:nvSpPr>
        <p:spPr>
          <a:xfrm>
            <a:off x="12678382" y="5996186"/>
            <a:ext cx="4082100" cy="1686300"/>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Base fundamental para incrementar a maturidade da segurança digital, protegendo os dados e recursos da empresa, parceiros e clientes.</a:t>
            </a:r>
          </a:p>
        </p:txBody>
      </p:sp>
      <p:pic>
        <p:nvPicPr>
          <p:cNvPr id="208" name="Google Shape;208;p5"/>
          <p:cNvPicPr preferRelativeResize="0"/>
          <p:nvPr/>
        </p:nvPicPr>
        <p:blipFill rotWithShape="1">
          <a:blip r:embed="rId5">
            <a:alphaModFix/>
          </a:blip>
          <a:srcRect/>
          <a:stretch/>
        </p:blipFill>
        <p:spPr>
          <a:xfrm>
            <a:off x="3411289" y="4190865"/>
            <a:ext cx="952633" cy="952633"/>
          </a:xfrm>
          <a:prstGeom prst="rect">
            <a:avLst/>
          </a:prstGeom>
          <a:noFill/>
          <a:ln>
            <a:noFill/>
          </a:ln>
        </p:spPr>
      </p:pic>
      <p:pic>
        <p:nvPicPr>
          <p:cNvPr id="209" name="Google Shape;209;p5"/>
          <p:cNvPicPr preferRelativeResize="0"/>
          <p:nvPr/>
        </p:nvPicPr>
        <p:blipFill rotWithShape="1">
          <a:blip r:embed="rId6">
            <a:alphaModFix/>
          </a:blip>
          <a:srcRect/>
          <a:stretch/>
        </p:blipFill>
        <p:spPr>
          <a:xfrm>
            <a:off x="8781569" y="4190866"/>
            <a:ext cx="952633" cy="952633"/>
          </a:xfrm>
          <a:prstGeom prst="rect">
            <a:avLst/>
          </a:prstGeom>
          <a:noFill/>
          <a:ln>
            <a:noFill/>
          </a:ln>
        </p:spPr>
      </p:pic>
      <p:pic>
        <p:nvPicPr>
          <p:cNvPr id="210" name="Google Shape;210;p5"/>
          <p:cNvPicPr preferRelativeResize="0"/>
          <p:nvPr/>
        </p:nvPicPr>
        <p:blipFill rotWithShape="1">
          <a:blip r:embed="rId7">
            <a:alphaModFix/>
          </a:blip>
          <a:srcRect/>
          <a:stretch/>
        </p:blipFill>
        <p:spPr>
          <a:xfrm>
            <a:off x="14151849" y="4190867"/>
            <a:ext cx="952633" cy="952633"/>
          </a:xfrm>
          <a:prstGeom prst="rect">
            <a:avLst/>
          </a:prstGeom>
          <a:noFill/>
          <a:ln>
            <a:noFill/>
          </a:ln>
        </p:spPr>
      </p:pic>
      <p:sp>
        <p:nvSpPr>
          <p:cNvPr id="211" name="Google Shape;211;p5"/>
          <p:cNvSpPr txBox="1"/>
          <p:nvPr/>
        </p:nvSpPr>
        <p:spPr>
          <a:xfrm>
            <a:off x="2743200" y="2210695"/>
            <a:ext cx="13272713" cy="5706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Proteger a sua organização começa por compreender os riscos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D2CC7903-880B-2374-27CD-EDD6F4C5A04B}"/>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30</a:t>
            </a:fld>
            <a:endParaRPr lang="pt-PT" sz="2041" b="1" i="0" u="none" strike="noStrike" cap="none" noProof="0" dirty="0">
              <a:solidFill>
                <a:srgbClr val="000000"/>
              </a:solidFill>
              <a:latin typeface="Raleway SemiBold"/>
              <a:ea typeface="Raleway SemiBold"/>
              <a:cs typeface="Raleway SemiBold"/>
              <a:sym typeface="Raleway Semi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13" name="Google Shape;313;p9"/>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14" name="Google Shape;314;p9"/>
          <p:cNvSpPr txBox="1"/>
          <p:nvPr/>
        </p:nvSpPr>
        <p:spPr>
          <a:xfrm>
            <a:off x="2747139" y="1058170"/>
            <a:ext cx="13272713" cy="1085850"/>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499"/>
              <a:buFont typeface="Arial"/>
              <a:buNone/>
            </a:pPr>
            <a:r>
              <a:rPr lang="pt-PT" sz="7499" b="1" i="0" u="none" strike="noStrike" cap="none" noProof="0" dirty="0">
                <a:solidFill>
                  <a:srgbClr val="000000"/>
                </a:solidFill>
                <a:latin typeface="Raleway Black"/>
                <a:ea typeface="Raleway Black"/>
                <a:cs typeface="Raleway Black"/>
                <a:sym typeface="Raleway Black"/>
              </a:rPr>
              <a:t>Benefícios Estratégicos</a:t>
            </a:r>
            <a:endParaRPr lang="pt-PT" sz="1400" b="0" i="0" u="none" strike="noStrike" cap="none" noProof="0" dirty="0">
              <a:solidFill>
                <a:srgbClr val="000000"/>
              </a:solidFill>
              <a:latin typeface="Arial"/>
              <a:ea typeface="Arial"/>
              <a:cs typeface="Arial"/>
              <a:sym typeface="Arial"/>
            </a:endParaRPr>
          </a:p>
        </p:txBody>
      </p:sp>
      <p:sp>
        <p:nvSpPr>
          <p:cNvPr id="316" name="Google Shape;316;p9"/>
          <p:cNvSpPr txBox="1"/>
          <p:nvPr/>
        </p:nvSpPr>
        <p:spPr>
          <a:xfrm>
            <a:off x="2743200" y="2210695"/>
            <a:ext cx="13272713" cy="5706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Redução do risco, confiança reforçada, conformidade garantida</a:t>
            </a:r>
            <a:endParaRPr lang="pt-PT" sz="1400" b="0" i="0" u="none" strike="noStrike" cap="none" noProof="0" dirty="0">
              <a:solidFill>
                <a:srgbClr val="000000"/>
              </a:solidFill>
              <a:latin typeface="Arial"/>
              <a:ea typeface="Arial"/>
              <a:cs typeface="Arial"/>
              <a:sym typeface="Arial"/>
            </a:endParaRPr>
          </a:p>
        </p:txBody>
      </p:sp>
      <p:grpSp>
        <p:nvGrpSpPr>
          <p:cNvPr id="317" name="Google Shape;317;p9"/>
          <p:cNvGrpSpPr/>
          <p:nvPr/>
        </p:nvGrpSpPr>
        <p:grpSpPr>
          <a:xfrm>
            <a:off x="1603015" y="3674825"/>
            <a:ext cx="4569185" cy="4157788"/>
            <a:chOff x="0" y="-47625"/>
            <a:chExt cx="1437753" cy="1940938"/>
          </a:xfrm>
        </p:grpSpPr>
        <p:sp>
          <p:nvSpPr>
            <p:cNvPr id="318" name="Google Shape;318;p9"/>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19" name="Google Shape;319;p9"/>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320" name="Google Shape;320;p9"/>
          <p:cNvSpPr txBox="1"/>
          <p:nvPr/>
        </p:nvSpPr>
        <p:spPr>
          <a:xfrm>
            <a:off x="1603014" y="5278068"/>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Redução do risco</a:t>
            </a:r>
            <a:endParaRPr lang="pt-PT" sz="1400" b="0" i="0" u="none" strike="noStrike" cap="none" noProof="0" dirty="0">
              <a:solidFill>
                <a:srgbClr val="000000"/>
              </a:solidFill>
              <a:latin typeface="Arial"/>
              <a:ea typeface="Arial"/>
              <a:cs typeface="Arial"/>
              <a:sym typeface="Arial"/>
            </a:endParaRPr>
          </a:p>
        </p:txBody>
      </p:sp>
      <p:sp>
        <p:nvSpPr>
          <p:cNvPr id="321" name="Google Shape;321;p9"/>
          <p:cNvSpPr txBox="1"/>
          <p:nvPr/>
        </p:nvSpPr>
        <p:spPr>
          <a:xfrm>
            <a:off x="1937822" y="5996186"/>
            <a:ext cx="4081977" cy="846386"/>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Identificação e mitigação proativa de vulnerabilidades críticas e ameaças reais.</a:t>
            </a:r>
          </a:p>
        </p:txBody>
      </p:sp>
      <p:grpSp>
        <p:nvGrpSpPr>
          <p:cNvPr id="322" name="Google Shape;322;p9"/>
          <p:cNvGrpSpPr/>
          <p:nvPr/>
        </p:nvGrpSpPr>
        <p:grpSpPr>
          <a:xfrm>
            <a:off x="6973295" y="3674825"/>
            <a:ext cx="4569185" cy="4157788"/>
            <a:chOff x="0" y="-47625"/>
            <a:chExt cx="1437753" cy="1940938"/>
          </a:xfrm>
        </p:grpSpPr>
        <p:sp>
          <p:nvSpPr>
            <p:cNvPr id="323" name="Google Shape;323;p9"/>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24" name="Google Shape;324;p9"/>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325" name="Google Shape;325;p9"/>
          <p:cNvSpPr txBox="1"/>
          <p:nvPr/>
        </p:nvSpPr>
        <p:spPr>
          <a:xfrm>
            <a:off x="6973294" y="5278068"/>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Conformidade legal</a:t>
            </a:r>
            <a:endParaRPr lang="pt-PT" sz="1400" b="0" i="0" u="none" strike="noStrike" cap="none" noProof="0" dirty="0">
              <a:solidFill>
                <a:srgbClr val="000000"/>
              </a:solidFill>
              <a:latin typeface="Arial"/>
              <a:ea typeface="Arial"/>
              <a:cs typeface="Arial"/>
              <a:sym typeface="Arial"/>
            </a:endParaRPr>
          </a:p>
        </p:txBody>
      </p:sp>
      <p:sp>
        <p:nvSpPr>
          <p:cNvPr id="326" name="Google Shape;326;p9"/>
          <p:cNvSpPr txBox="1"/>
          <p:nvPr/>
        </p:nvSpPr>
        <p:spPr>
          <a:xfrm>
            <a:off x="7308102" y="5996186"/>
            <a:ext cx="4081977" cy="846386"/>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Apoio direto ao cumprimento de normas e regulamentos existentes.</a:t>
            </a:r>
          </a:p>
        </p:txBody>
      </p:sp>
      <p:grpSp>
        <p:nvGrpSpPr>
          <p:cNvPr id="327" name="Google Shape;327;p9"/>
          <p:cNvGrpSpPr/>
          <p:nvPr/>
        </p:nvGrpSpPr>
        <p:grpSpPr>
          <a:xfrm>
            <a:off x="12343575" y="3674825"/>
            <a:ext cx="4569185" cy="4157788"/>
            <a:chOff x="0" y="-47625"/>
            <a:chExt cx="1437753" cy="1940938"/>
          </a:xfrm>
        </p:grpSpPr>
        <p:sp>
          <p:nvSpPr>
            <p:cNvPr id="328" name="Google Shape;328;p9"/>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29" name="Google Shape;329;p9"/>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330" name="Google Shape;330;p9"/>
          <p:cNvSpPr txBox="1"/>
          <p:nvPr/>
        </p:nvSpPr>
        <p:spPr>
          <a:xfrm>
            <a:off x="12343574" y="5278068"/>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Fortalecimento da confiança</a:t>
            </a:r>
            <a:endParaRPr lang="pt-PT" sz="1400" b="0" i="0" u="none" strike="noStrike" cap="none" noProof="0" dirty="0">
              <a:solidFill>
                <a:srgbClr val="000000"/>
              </a:solidFill>
              <a:latin typeface="Arial"/>
              <a:ea typeface="Arial"/>
              <a:cs typeface="Arial"/>
              <a:sym typeface="Arial"/>
            </a:endParaRPr>
          </a:p>
        </p:txBody>
      </p:sp>
      <p:sp>
        <p:nvSpPr>
          <p:cNvPr id="331" name="Google Shape;331;p9"/>
          <p:cNvSpPr txBox="1"/>
          <p:nvPr/>
        </p:nvSpPr>
        <p:spPr>
          <a:xfrm>
            <a:off x="12678382" y="5996186"/>
            <a:ext cx="4081977" cy="564257"/>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Aumento da credibilidade junto de clientes, parceiros e reguladores.</a:t>
            </a:r>
          </a:p>
        </p:txBody>
      </p:sp>
      <p:pic>
        <p:nvPicPr>
          <p:cNvPr id="332" name="Google Shape;332;p9"/>
          <p:cNvPicPr preferRelativeResize="0"/>
          <p:nvPr/>
        </p:nvPicPr>
        <p:blipFill rotWithShape="1">
          <a:blip r:embed="rId5">
            <a:alphaModFix/>
          </a:blip>
          <a:srcRect/>
          <a:stretch/>
        </p:blipFill>
        <p:spPr>
          <a:xfrm>
            <a:off x="8781569" y="4325435"/>
            <a:ext cx="952633" cy="952633"/>
          </a:xfrm>
          <a:prstGeom prst="rect">
            <a:avLst/>
          </a:prstGeom>
          <a:noFill/>
          <a:ln>
            <a:noFill/>
          </a:ln>
        </p:spPr>
      </p:pic>
      <p:pic>
        <p:nvPicPr>
          <p:cNvPr id="333" name="Google Shape;333;p9"/>
          <p:cNvPicPr preferRelativeResize="0"/>
          <p:nvPr/>
        </p:nvPicPr>
        <p:blipFill rotWithShape="1">
          <a:blip r:embed="rId6">
            <a:alphaModFix/>
          </a:blip>
          <a:srcRect/>
          <a:stretch/>
        </p:blipFill>
        <p:spPr>
          <a:xfrm>
            <a:off x="14151849" y="4332655"/>
            <a:ext cx="952633" cy="952633"/>
          </a:xfrm>
          <a:prstGeom prst="rect">
            <a:avLst/>
          </a:prstGeom>
          <a:noFill/>
          <a:ln>
            <a:noFill/>
          </a:ln>
        </p:spPr>
      </p:pic>
      <p:pic>
        <p:nvPicPr>
          <p:cNvPr id="334" name="Google Shape;334;p9"/>
          <p:cNvPicPr preferRelativeResize="0"/>
          <p:nvPr/>
        </p:nvPicPr>
        <p:blipFill rotWithShape="1">
          <a:blip r:embed="rId7">
            <a:alphaModFix/>
          </a:blip>
          <a:srcRect/>
          <a:stretch/>
        </p:blipFill>
        <p:spPr>
          <a:xfrm>
            <a:off x="3411289" y="4332654"/>
            <a:ext cx="952633" cy="952633"/>
          </a:xfrm>
          <a:prstGeom prst="rect">
            <a:avLst/>
          </a:prstGeom>
          <a:noFill/>
          <a:ln>
            <a:noFill/>
          </a:ln>
        </p:spPr>
      </p:pic>
      <p:cxnSp>
        <p:nvCxnSpPr>
          <p:cNvPr id="4" name="Google Shape;218;p6">
            <a:extLst>
              <a:ext uri="{FF2B5EF4-FFF2-40B4-BE49-F238E27FC236}">
                <a16:creationId xmlns:a16="http://schemas.microsoft.com/office/drawing/2014/main" id="{ACF8C00A-4A6E-93C9-9D0A-1AD9AD54BB98}"/>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5" name="Google Shape;108;p2">
            <a:extLst>
              <a:ext uri="{FF2B5EF4-FFF2-40B4-BE49-F238E27FC236}">
                <a16:creationId xmlns:a16="http://schemas.microsoft.com/office/drawing/2014/main" id="{4776C99E-27A4-3EDF-F86C-DAFD95C74902}"/>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31</a:t>
            </a:fld>
            <a:endParaRPr lang="pt-PT" sz="2041" b="1" i="0" u="none" strike="noStrike" cap="none" noProof="0" dirty="0">
              <a:solidFill>
                <a:srgbClr val="000000"/>
              </a:solidFill>
              <a:latin typeface="Raleway SemiBold"/>
              <a:ea typeface="Raleway SemiBold"/>
              <a:cs typeface="Raleway SemiBold"/>
              <a:sym typeface="Raleway SemiBold"/>
            </a:endParaRPr>
          </a:p>
        </p:txBody>
      </p:sp>
    </p:spTree>
    <p:extLst>
      <p:ext uri="{BB962C8B-B14F-4D97-AF65-F5344CB8AC3E}">
        <p14:creationId xmlns:p14="http://schemas.microsoft.com/office/powerpoint/2010/main" val="22832537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F976663B-9BD9-23DA-828E-B4862D39A19E}"/>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9F7B1C4F-C10F-2C49-C845-562330E69C29}"/>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02872DDA-D9BE-5DA6-55FA-6466F8C37F3B}"/>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3" name="Google Shape;363;p11">
            <a:extLst>
              <a:ext uri="{FF2B5EF4-FFF2-40B4-BE49-F238E27FC236}">
                <a16:creationId xmlns:a16="http://schemas.microsoft.com/office/drawing/2014/main" id="{6467740C-E7E0-0A60-0879-594E1E08BF08}"/>
              </a:ext>
            </a:extLst>
          </p:cNvPr>
          <p:cNvSpPr txBox="1"/>
          <p:nvPr/>
        </p:nvSpPr>
        <p:spPr>
          <a:xfrm>
            <a:off x="2747139" y="1058170"/>
            <a:ext cx="13272713" cy="1280351"/>
          </a:xfrm>
          <a:prstGeom prst="rect">
            <a:avLst/>
          </a:prstGeom>
          <a:noFill/>
          <a:ln>
            <a:noFill/>
          </a:ln>
        </p:spPr>
        <p:txBody>
          <a:bodyPr spcFirstLastPara="1" wrap="square" lIns="0" tIns="0" rIns="0" bIns="0" anchor="t" anchorCtr="0">
            <a:spAutoFit/>
          </a:bodyPr>
          <a:lstStyle/>
          <a:p>
            <a:pPr lvl="0">
              <a:lnSpc>
                <a:spcPct val="104050"/>
              </a:lnSpc>
              <a:buSzPts val="8000"/>
            </a:pPr>
            <a:r>
              <a:rPr lang="pt-PT" sz="8000" b="1" noProof="0" dirty="0">
                <a:latin typeface="Raleway Black"/>
                <a:ea typeface="Raleway Black"/>
                <a:cs typeface="Raleway Black"/>
                <a:sym typeface="Raleway Black"/>
              </a:rPr>
              <a:t>Normas e Frameworks</a:t>
            </a:r>
            <a:endParaRPr lang="pt-PT" sz="7500" b="1" noProof="0" dirty="0">
              <a:latin typeface="Raleway Black"/>
              <a:ea typeface="Raleway Black"/>
              <a:cs typeface="Raleway Black"/>
              <a:sym typeface="Raleway Black"/>
            </a:endParaRPr>
          </a:p>
        </p:txBody>
      </p:sp>
      <p:sp>
        <p:nvSpPr>
          <p:cNvPr id="365" name="Google Shape;365;p11">
            <a:extLst>
              <a:ext uri="{FF2B5EF4-FFF2-40B4-BE49-F238E27FC236}">
                <a16:creationId xmlns:a16="http://schemas.microsoft.com/office/drawing/2014/main" id="{CBDC090B-3110-0D95-D670-B96A770022AF}"/>
              </a:ext>
            </a:extLst>
          </p:cNvPr>
          <p:cNvSpPr txBox="1"/>
          <p:nvPr/>
        </p:nvSpPr>
        <p:spPr>
          <a:xfrm>
            <a:off x="2743200" y="2210695"/>
            <a:ext cx="13272713" cy="5706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Preparar hoje a segurança digital de amanhã</a:t>
            </a:r>
            <a:endParaRPr lang="pt-PT" sz="1400" b="0" i="0" u="none" strike="noStrike" cap="none" noProof="0" dirty="0">
              <a:solidFill>
                <a:srgbClr val="000000"/>
              </a:solidFill>
              <a:latin typeface="Arial"/>
              <a:ea typeface="Arial"/>
              <a:cs typeface="Arial"/>
              <a:sym typeface="Arial"/>
            </a:endParaRPr>
          </a:p>
        </p:txBody>
      </p:sp>
      <p:sp>
        <p:nvSpPr>
          <p:cNvPr id="366" name="Google Shape;366;p11">
            <a:extLst>
              <a:ext uri="{FF2B5EF4-FFF2-40B4-BE49-F238E27FC236}">
                <a16:creationId xmlns:a16="http://schemas.microsoft.com/office/drawing/2014/main" id="{3843FC81-CDD9-2186-F525-8186A2F2158E}"/>
              </a:ext>
            </a:extLst>
          </p:cNvPr>
          <p:cNvSpPr/>
          <p:nvPr/>
        </p:nvSpPr>
        <p:spPr>
          <a:xfrm>
            <a:off x="2638173" y="2984926"/>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ea typeface="Raleway Medium"/>
                <a:cs typeface="Raleway Medium"/>
                <a:sym typeface="Raleway Medium"/>
              </a:rPr>
              <a:t>ISA/IEC 62443</a:t>
            </a:r>
          </a:p>
        </p:txBody>
      </p:sp>
      <p:sp>
        <p:nvSpPr>
          <p:cNvPr id="368" name="Google Shape;368;p11">
            <a:extLst>
              <a:ext uri="{FF2B5EF4-FFF2-40B4-BE49-F238E27FC236}">
                <a16:creationId xmlns:a16="http://schemas.microsoft.com/office/drawing/2014/main" id="{BB3000C7-BB55-C343-CF13-B2CFFFA1E726}"/>
              </a:ext>
            </a:extLst>
          </p:cNvPr>
          <p:cNvSpPr txBox="1"/>
          <p:nvPr/>
        </p:nvSpPr>
        <p:spPr>
          <a:xfrm>
            <a:off x="7005636" y="3210239"/>
            <a:ext cx="8762999" cy="644151"/>
          </a:xfrm>
          <a:prstGeom prst="rect">
            <a:avLst/>
          </a:prstGeom>
          <a:noFill/>
          <a:ln>
            <a:noFill/>
          </a:ln>
        </p:spPr>
        <p:txBody>
          <a:bodyPr spcFirstLastPara="1" wrap="square" lIns="0" tIns="0" rIns="0" bIns="0" anchor="ctr" anchorCtr="0">
            <a:spAutoFit/>
          </a:bodyPr>
          <a:lstStyle/>
          <a:p>
            <a:pPr lvl="0" algn="just">
              <a:buSzPts val="2093"/>
            </a:pPr>
            <a:r>
              <a:rPr lang="pt-PT" sz="2093" noProof="0" dirty="0">
                <a:solidFill>
                  <a:srgbClr val="101010"/>
                </a:solidFill>
                <a:latin typeface="Raleway"/>
                <a:ea typeface="Raleway"/>
                <a:cs typeface="Raleway"/>
                <a:sym typeface="Raleway"/>
              </a:rPr>
              <a:t>Norma internacional que define requisitos e processos para a cibersegurança de sistemas de automação e controlo industrial (IACS)</a:t>
            </a:r>
            <a:endParaRPr lang="pt-PT" sz="1400" b="0" i="0" u="none" strike="noStrike" cap="none" noProof="0" dirty="0">
              <a:solidFill>
                <a:srgbClr val="000000"/>
              </a:solidFill>
              <a:latin typeface="Arial"/>
              <a:ea typeface="Arial"/>
              <a:cs typeface="Arial"/>
              <a:sym typeface="Arial"/>
            </a:endParaRPr>
          </a:p>
        </p:txBody>
      </p:sp>
      <p:sp>
        <p:nvSpPr>
          <p:cNvPr id="371" name="Google Shape;371;p11">
            <a:extLst>
              <a:ext uri="{FF2B5EF4-FFF2-40B4-BE49-F238E27FC236}">
                <a16:creationId xmlns:a16="http://schemas.microsoft.com/office/drawing/2014/main" id="{57E75BC0-D078-087A-1901-1C616C883C7A}"/>
              </a:ext>
            </a:extLst>
          </p:cNvPr>
          <p:cNvSpPr txBox="1"/>
          <p:nvPr/>
        </p:nvSpPr>
        <p:spPr>
          <a:xfrm>
            <a:off x="7005635" y="4935022"/>
            <a:ext cx="8762999" cy="322076"/>
          </a:xfrm>
          <a:prstGeom prst="rect">
            <a:avLst/>
          </a:prstGeom>
          <a:noFill/>
          <a:ln>
            <a:noFill/>
          </a:ln>
        </p:spPr>
        <p:txBody>
          <a:bodyPr spcFirstLastPara="1" wrap="square" lIns="0" tIns="0" rIns="0" bIns="0" anchor="ctr" anchorCtr="0">
            <a:spAutoFit/>
          </a:bodyPr>
          <a:lstStyle/>
          <a:p>
            <a:pPr marL="0" marR="0" lvl="0" indent="0" algn="just" rtl="0">
              <a:spcBef>
                <a:spcPts val="0"/>
              </a:spcBef>
              <a:spcAft>
                <a:spcPts val="0"/>
              </a:spcAft>
              <a:buClr>
                <a:srgbClr val="000000"/>
              </a:buClr>
              <a:buSzPts val="2093"/>
              <a:buFont typeface="Arial"/>
              <a:buNone/>
            </a:pPr>
            <a:r>
              <a:rPr lang="pt-PT" sz="2093" b="0" i="0" u="none" strike="noStrike" cap="none" noProof="0" dirty="0">
                <a:solidFill>
                  <a:srgbClr val="101010"/>
                </a:solidFill>
                <a:latin typeface="Raleway"/>
                <a:ea typeface="Raleway"/>
                <a:cs typeface="Raleway"/>
                <a:sym typeface="Raleway"/>
              </a:rPr>
              <a:t>Guia para segurança em OT</a:t>
            </a:r>
            <a:endParaRPr lang="pt-PT" sz="1400" b="0" i="0" u="none" strike="noStrike" cap="none" noProof="0" dirty="0">
              <a:solidFill>
                <a:srgbClr val="000000"/>
              </a:solidFill>
              <a:latin typeface="Arial"/>
              <a:ea typeface="Arial"/>
              <a:cs typeface="Arial"/>
              <a:sym typeface="Arial"/>
            </a:endParaRPr>
          </a:p>
        </p:txBody>
      </p:sp>
      <p:sp>
        <p:nvSpPr>
          <p:cNvPr id="372" name="Google Shape;372;p11">
            <a:extLst>
              <a:ext uri="{FF2B5EF4-FFF2-40B4-BE49-F238E27FC236}">
                <a16:creationId xmlns:a16="http://schemas.microsoft.com/office/drawing/2014/main" id="{5A386C4D-04D3-E21A-7A74-2B99EE388E86}"/>
              </a:ext>
            </a:extLst>
          </p:cNvPr>
          <p:cNvSpPr/>
          <p:nvPr/>
        </p:nvSpPr>
        <p:spPr>
          <a:xfrm>
            <a:off x="2650205" y="6112418"/>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rPr>
              <a:t>ISO 27001</a:t>
            </a:r>
          </a:p>
        </p:txBody>
      </p:sp>
      <p:sp>
        <p:nvSpPr>
          <p:cNvPr id="374" name="Google Shape;374;p11">
            <a:extLst>
              <a:ext uri="{FF2B5EF4-FFF2-40B4-BE49-F238E27FC236}">
                <a16:creationId xmlns:a16="http://schemas.microsoft.com/office/drawing/2014/main" id="{D3EED70A-8495-9060-A514-784CD05E03E8}"/>
              </a:ext>
            </a:extLst>
          </p:cNvPr>
          <p:cNvSpPr txBox="1"/>
          <p:nvPr/>
        </p:nvSpPr>
        <p:spPr>
          <a:xfrm>
            <a:off x="7005635" y="6337731"/>
            <a:ext cx="8762999" cy="644151"/>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Clr>
                <a:srgbClr val="000000"/>
              </a:buClr>
              <a:buSzPts val="2093"/>
              <a:buFont typeface="Arial"/>
              <a:buNone/>
            </a:pPr>
            <a:r>
              <a:rPr lang="pt-PT" sz="2093" b="0" i="0" u="none" strike="noStrike" cap="none" noProof="0" dirty="0">
                <a:solidFill>
                  <a:srgbClr val="101010"/>
                </a:solidFill>
                <a:latin typeface="Raleway"/>
                <a:ea typeface="Raleway"/>
                <a:cs typeface="Raleway"/>
                <a:sym typeface="Raleway"/>
              </a:rPr>
              <a:t>O Cybersecurity Assessment é essencial para construir uma defesa robusta e sustentável.</a:t>
            </a:r>
            <a:endParaRPr lang="pt-PT" sz="1400" b="0" i="0" u="none" strike="noStrike" cap="none" noProof="0" dirty="0">
              <a:solidFill>
                <a:srgbClr val="000000"/>
              </a:solidFill>
              <a:latin typeface="Arial"/>
              <a:ea typeface="Arial"/>
              <a:cs typeface="Arial"/>
              <a:sym typeface="Arial"/>
            </a:endParaRPr>
          </a:p>
        </p:txBody>
      </p:sp>
      <p:cxnSp>
        <p:nvCxnSpPr>
          <p:cNvPr id="2" name="Google Shape;218;p6">
            <a:extLst>
              <a:ext uri="{FF2B5EF4-FFF2-40B4-BE49-F238E27FC236}">
                <a16:creationId xmlns:a16="http://schemas.microsoft.com/office/drawing/2014/main" id="{8AD69A4A-B612-FEAB-DFF6-9AE2D62677B7}"/>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8393A8D7-673B-729F-2BF3-44E55DC86AC3}"/>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32</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5" name="Google Shape;366;p11">
            <a:extLst>
              <a:ext uri="{FF2B5EF4-FFF2-40B4-BE49-F238E27FC236}">
                <a16:creationId xmlns:a16="http://schemas.microsoft.com/office/drawing/2014/main" id="{805F8715-FEF7-D879-C408-400C25DE6E52}"/>
              </a:ext>
            </a:extLst>
          </p:cNvPr>
          <p:cNvSpPr/>
          <p:nvPr/>
        </p:nvSpPr>
        <p:spPr>
          <a:xfrm>
            <a:off x="2638172" y="4548672"/>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sym typeface="Raleway Medium"/>
              </a:rPr>
              <a:t>NIST 800-82</a:t>
            </a:r>
          </a:p>
        </p:txBody>
      </p:sp>
      <p:sp>
        <p:nvSpPr>
          <p:cNvPr id="4" name="Google Shape;372;p11">
            <a:extLst>
              <a:ext uri="{FF2B5EF4-FFF2-40B4-BE49-F238E27FC236}">
                <a16:creationId xmlns:a16="http://schemas.microsoft.com/office/drawing/2014/main" id="{D2D661E3-6064-F73D-D785-A4FAD4091214}"/>
              </a:ext>
            </a:extLst>
          </p:cNvPr>
          <p:cNvSpPr/>
          <p:nvPr/>
        </p:nvSpPr>
        <p:spPr>
          <a:xfrm>
            <a:off x="2636616" y="7676164"/>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rPr>
              <a:t>ISA-95</a:t>
            </a:r>
          </a:p>
        </p:txBody>
      </p:sp>
      <p:sp>
        <p:nvSpPr>
          <p:cNvPr id="6" name="Google Shape;374;p11">
            <a:extLst>
              <a:ext uri="{FF2B5EF4-FFF2-40B4-BE49-F238E27FC236}">
                <a16:creationId xmlns:a16="http://schemas.microsoft.com/office/drawing/2014/main" id="{BF737F1D-ACF9-6710-D575-3B8BC53E42FD}"/>
              </a:ext>
            </a:extLst>
          </p:cNvPr>
          <p:cNvSpPr txBox="1"/>
          <p:nvPr/>
        </p:nvSpPr>
        <p:spPr>
          <a:xfrm>
            <a:off x="7005635" y="7901477"/>
            <a:ext cx="8762999" cy="644151"/>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Clr>
                <a:srgbClr val="000000"/>
              </a:buClr>
              <a:buSzPts val="2093"/>
              <a:buFont typeface="Arial"/>
              <a:buNone/>
            </a:pPr>
            <a:r>
              <a:rPr lang="pt-PT" sz="2093" i="0" u="none" strike="noStrike" cap="none" noProof="0" dirty="0">
                <a:solidFill>
                  <a:srgbClr val="101010"/>
                </a:solidFill>
                <a:latin typeface="Raleway"/>
                <a:ea typeface="Raleway"/>
                <a:cs typeface="Raleway"/>
                <a:sym typeface="Raleway"/>
              </a:rPr>
              <a:t>Norma internacional para a integração de sistemas de gestão empresarial e sistemas de controlo industrial</a:t>
            </a:r>
            <a:endParaRPr lang="pt-PT" sz="140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2175292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7783ED3D-BD52-6C08-B0AC-F83E8162A4D9}"/>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F270C561-5A15-8EC5-3F1B-AAE3036BE4C7}"/>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D8DB5B05-5AD6-1A03-ECAE-7794E86F3636}"/>
              </a:ext>
            </a:extLst>
          </p:cNvPr>
          <p:cNvSpPr txBox="1"/>
          <p:nvPr/>
        </p:nvSpPr>
        <p:spPr>
          <a:xfrm>
            <a:off x="832115" y="1981865"/>
            <a:ext cx="10223270" cy="6323269"/>
          </a:xfrm>
          <a:prstGeom prst="rect">
            <a:avLst/>
          </a:prstGeom>
          <a:noFill/>
          <a:ln>
            <a:noFill/>
          </a:ln>
        </p:spPr>
        <p:txBody>
          <a:bodyPr spcFirstLastPara="1" wrap="square" lIns="0" tIns="0" rIns="0" bIns="0" anchor="t" anchorCtr="0">
            <a:spAutoFit/>
          </a:bodyPr>
          <a:lstStyle/>
          <a:p>
            <a:pPr marL="0" marR="0" lvl="0" indent="0" algn="ctr" rtl="0">
              <a:lnSpc>
                <a:spcPct val="111000"/>
              </a:lnSpc>
              <a:spcBef>
                <a:spcPts val="0"/>
              </a:spcBef>
              <a:spcAft>
                <a:spcPts val="0"/>
              </a:spcAft>
              <a:buNone/>
            </a:pPr>
            <a:r>
              <a:rPr lang="pt-PT" sz="14509" b="1" i="0" u="none" strike="noStrike" cap="none" noProof="0" dirty="0">
                <a:solidFill>
                  <a:srgbClr val="000000"/>
                </a:solidFill>
                <a:latin typeface="Raleway Black"/>
                <a:ea typeface="Raleway Black"/>
                <a:cs typeface="Raleway Black"/>
                <a:sym typeface="Raleway Black"/>
              </a:rPr>
              <a:t>Obrigado</a:t>
            </a:r>
          </a:p>
          <a:p>
            <a:pPr marL="0" marR="0" lvl="0" indent="0" algn="ctr" rtl="0">
              <a:lnSpc>
                <a:spcPct val="111000"/>
              </a:lnSpc>
              <a:spcBef>
                <a:spcPts val="0"/>
              </a:spcBef>
              <a:spcAft>
                <a:spcPts val="0"/>
              </a:spcAft>
              <a:buNone/>
            </a:pPr>
            <a:endParaRPr lang="pt-PT" sz="8000" b="1" dirty="0">
              <a:latin typeface="Raleway Black"/>
              <a:sym typeface="Raleway Black"/>
            </a:endParaRPr>
          </a:p>
          <a:p>
            <a:pPr marL="0" marR="0" lvl="0" indent="0" algn="ctr" rtl="0">
              <a:lnSpc>
                <a:spcPct val="111000"/>
              </a:lnSpc>
              <a:spcBef>
                <a:spcPts val="0"/>
              </a:spcBef>
              <a:spcAft>
                <a:spcPts val="0"/>
              </a:spcAft>
              <a:buNone/>
            </a:pPr>
            <a:r>
              <a:rPr lang="pt-PT" sz="14509" b="1" noProof="0" dirty="0">
                <a:latin typeface="Raleway Black"/>
                <a:sym typeface="Raleway Black"/>
              </a:rPr>
              <a:t>Q&amp;A</a:t>
            </a:r>
            <a:endParaRPr lang="pt-PT" noProof="0" dirty="0"/>
          </a:p>
        </p:txBody>
      </p:sp>
      <p:grpSp>
        <p:nvGrpSpPr>
          <p:cNvPr id="4" name="Group 3">
            <a:extLst>
              <a:ext uri="{FF2B5EF4-FFF2-40B4-BE49-F238E27FC236}">
                <a16:creationId xmlns:a16="http://schemas.microsoft.com/office/drawing/2014/main" id="{2D87A6A2-CC08-6F68-5D7F-74A7B5842EA0}"/>
              </a:ext>
            </a:extLst>
          </p:cNvPr>
          <p:cNvGrpSpPr/>
          <p:nvPr/>
        </p:nvGrpSpPr>
        <p:grpSpPr>
          <a:xfrm>
            <a:off x="11893633" y="2050273"/>
            <a:ext cx="4972090" cy="6186452"/>
            <a:chOff x="12930060" y="3432762"/>
            <a:chExt cx="4972090" cy="6186452"/>
          </a:xfrm>
        </p:grpSpPr>
        <p:sp>
          <p:nvSpPr>
            <p:cNvPr id="382" name="Google Shape;382;p28">
              <a:extLst>
                <a:ext uri="{FF2B5EF4-FFF2-40B4-BE49-F238E27FC236}">
                  <a16:creationId xmlns:a16="http://schemas.microsoft.com/office/drawing/2014/main" id="{EC68E2D8-2E52-EBA1-6D84-BE52C1E06940}"/>
                </a:ext>
              </a:extLst>
            </p:cNvPr>
            <p:cNvSpPr txBox="1"/>
            <p:nvPr/>
          </p:nvSpPr>
          <p:spPr>
            <a:xfrm>
              <a:off x="13512040" y="9137672"/>
              <a:ext cx="4390110" cy="4815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pt-PT" sz="2235" b="0" i="0" u="none" strike="noStrike" cap="none" noProof="0" dirty="0">
                  <a:solidFill>
                    <a:srgbClr val="000000"/>
                  </a:solidFill>
                  <a:latin typeface="Raleway"/>
                  <a:ea typeface="Raleway"/>
                  <a:cs typeface="Raleway"/>
                  <a:sym typeface="Raleway"/>
                </a:rPr>
                <a:t>pedroaovieira@gmail.com</a:t>
              </a:r>
            </a:p>
          </p:txBody>
        </p:sp>
        <p:sp>
          <p:nvSpPr>
            <p:cNvPr id="383" name="Google Shape;383;p28">
              <a:extLst>
                <a:ext uri="{FF2B5EF4-FFF2-40B4-BE49-F238E27FC236}">
                  <a16:creationId xmlns:a16="http://schemas.microsoft.com/office/drawing/2014/main" id="{04D4E85E-01C1-5975-6669-0C638DF02F0A}"/>
                </a:ext>
              </a:extLst>
            </p:cNvPr>
            <p:cNvSpPr txBox="1"/>
            <p:nvPr/>
          </p:nvSpPr>
          <p:spPr>
            <a:xfrm>
              <a:off x="13512040" y="8584844"/>
              <a:ext cx="2550558" cy="36670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pt-PT" sz="2235" b="0" i="0" u="none" strike="noStrike" cap="none" noProof="0" dirty="0">
                  <a:solidFill>
                    <a:srgbClr val="000000"/>
                  </a:solidFill>
                  <a:latin typeface="Raleway"/>
                  <a:ea typeface="Raleway"/>
                  <a:cs typeface="Raleway"/>
                  <a:sym typeface="Raleway"/>
                </a:rPr>
                <a:t>+351-936252561</a:t>
              </a:r>
              <a:endParaRPr lang="pt-PT" noProof="0" dirty="0"/>
            </a:p>
          </p:txBody>
        </p:sp>
        <p:sp>
          <p:nvSpPr>
            <p:cNvPr id="384" name="Google Shape;384;p28">
              <a:extLst>
                <a:ext uri="{FF2B5EF4-FFF2-40B4-BE49-F238E27FC236}">
                  <a16:creationId xmlns:a16="http://schemas.microsoft.com/office/drawing/2014/main" id="{547A5ECF-6525-6373-F1FF-B492D3496C2C}"/>
                </a:ext>
              </a:extLst>
            </p:cNvPr>
            <p:cNvSpPr/>
            <p:nvPr/>
          </p:nvSpPr>
          <p:spPr>
            <a:xfrm>
              <a:off x="12936193" y="9185297"/>
              <a:ext cx="414154" cy="414154"/>
            </a:xfrm>
            <a:custGeom>
              <a:avLst/>
              <a:gdLst/>
              <a:ahLst/>
              <a:cxnLst/>
              <a:rect l="l" t="t" r="r" b="b"/>
              <a:pathLst>
                <a:path w="414154" h="414154" extrusionOk="0">
                  <a:moveTo>
                    <a:pt x="0" y="0"/>
                  </a:moveTo>
                  <a:lnTo>
                    <a:pt x="414153" y="0"/>
                  </a:lnTo>
                  <a:lnTo>
                    <a:pt x="414153" y="414153"/>
                  </a:lnTo>
                  <a:lnTo>
                    <a:pt x="0" y="41415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5" name="Google Shape;385;p28">
              <a:extLst>
                <a:ext uri="{FF2B5EF4-FFF2-40B4-BE49-F238E27FC236}">
                  <a16:creationId xmlns:a16="http://schemas.microsoft.com/office/drawing/2014/main" id="{D412C258-4825-8D19-B540-60F1F3A89CFF}"/>
                </a:ext>
              </a:extLst>
            </p:cNvPr>
            <p:cNvSpPr/>
            <p:nvPr/>
          </p:nvSpPr>
          <p:spPr>
            <a:xfrm>
              <a:off x="12936193" y="8663619"/>
              <a:ext cx="414154" cy="414154"/>
            </a:xfrm>
            <a:custGeom>
              <a:avLst/>
              <a:gdLst/>
              <a:ahLst/>
              <a:cxnLst/>
              <a:rect l="l" t="t" r="r" b="b"/>
              <a:pathLst>
                <a:path w="414154" h="414154" extrusionOk="0">
                  <a:moveTo>
                    <a:pt x="0" y="0"/>
                  </a:moveTo>
                  <a:lnTo>
                    <a:pt x="414153" y="0"/>
                  </a:lnTo>
                  <a:lnTo>
                    <a:pt x="414153" y="414154"/>
                  </a:lnTo>
                  <a:lnTo>
                    <a:pt x="0" y="414154"/>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C650D599-2FB0-77AA-6760-4CBDAE319458}"/>
                </a:ext>
              </a:extLst>
            </p:cNvPr>
            <p:cNvPicPr>
              <a:picLocks noChangeAspect="1"/>
            </p:cNvPicPr>
            <p:nvPr/>
          </p:nvPicPr>
          <p:blipFill>
            <a:blip r:embed="rId6"/>
            <a:stretch>
              <a:fillRect/>
            </a:stretch>
          </p:blipFill>
          <p:spPr>
            <a:xfrm>
              <a:off x="12930060" y="3432762"/>
              <a:ext cx="4965957" cy="4965957"/>
            </a:xfrm>
            <a:prstGeom prst="rect">
              <a:avLst/>
            </a:prstGeom>
          </p:spPr>
        </p:pic>
      </p:grpSp>
    </p:spTree>
    <p:extLst>
      <p:ext uri="{BB962C8B-B14F-4D97-AF65-F5344CB8AC3E}">
        <p14:creationId xmlns:p14="http://schemas.microsoft.com/office/powerpoint/2010/main" val="16723356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B8379E5F-6C69-5C50-0540-2E75DE47B7E1}"/>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FA3266EA-5621-9025-5C9A-4AB0E4F894AB}"/>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E3A60B73-1406-9992-8C17-31BCDC107B26}"/>
              </a:ext>
            </a:extLst>
          </p:cNvPr>
          <p:cNvSpPr txBox="1"/>
          <p:nvPr/>
        </p:nvSpPr>
        <p:spPr>
          <a:xfrm>
            <a:off x="1195772" y="5243098"/>
            <a:ext cx="13021495" cy="1229888"/>
          </a:xfrm>
          <a:prstGeom prst="rect">
            <a:avLst/>
          </a:prstGeom>
          <a:noFill/>
          <a:ln>
            <a:noFill/>
          </a:ln>
        </p:spPr>
        <p:txBody>
          <a:bodyPr spcFirstLastPara="1" wrap="square" lIns="0" tIns="0" rIns="0" bIns="0" anchor="t" anchorCtr="0">
            <a:spAutoFit/>
          </a:bodyPr>
          <a:lstStyle/>
          <a:p>
            <a:pPr marL="0" marR="0" lvl="0" indent="0" algn="ctr" rtl="0">
              <a:lnSpc>
                <a:spcPct val="111000"/>
              </a:lnSpc>
              <a:spcBef>
                <a:spcPts val="0"/>
              </a:spcBef>
              <a:spcAft>
                <a:spcPts val="0"/>
              </a:spcAft>
              <a:buNone/>
            </a:pPr>
            <a:r>
              <a:rPr lang="pt-PT" sz="7200" b="1" i="0" u="none" strike="noStrike" cap="none" noProof="0" dirty="0">
                <a:solidFill>
                  <a:srgbClr val="000000"/>
                </a:solidFill>
                <a:latin typeface="Raleway Black"/>
                <a:ea typeface="Raleway Black"/>
                <a:cs typeface="Raleway Black"/>
                <a:sym typeface="Raleway Black"/>
              </a:rPr>
              <a:t>Backup Slides</a:t>
            </a:r>
            <a:endParaRPr lang="pt-PT" sz="800" noProof="0" dirty="0"/>
          </a:p>
        </p:txBody>
      </p:sp>
      <p:cxnSp>
        <p:nvCxnSpPr>
          <p:cNvPr id="386" name="Google Shape;386;p28">
            <a:extLst>
              <a:ext uri="{FF2B5EF4-FFF2-40B4-BE49-F238E27FC236}">
                <a16:creationId xmlns:a16="http://schemas.microsoft.com/office/drawing/2014/main" id="{6BB6E709-2773-43BB-8E6D-19EE3B115919}"/>
              </a:ext>
            </a:extLst>
          </p:cNvPr>
          <p:cNvCxnSpPr/>
          <p:nvPr/>
        </p:nvCxnSpPr>
        <p:spPr>
          <a:xfrm>
            <a:off x="1195772" y="6472986"/>
            <a:ext cx="13021495" cy="0"/>
          </a:xfrm>
          <a:prstGeom prst="straightConnector1">
            <a:avLst/>
          </a:prstGeom>
          <a:noFill/>
          <a:ln w="19050" cap="flat" cmpd="sng">
            <a:solidFill>
              <a:srgbClr val="000000"/>
            </a:solidFill>
            <a:prstDash val="solid"/>
            <a:round/>
            <a:headEnd type="none" w="sm" len="sm"/>
            <a:tailEnd type="none" w="sm" len="sm"/>
          </a:ln>
        </p:spPr>
      </p:cxnSp>
    </p:spTree>
    <p:extLst>
      <p:ext uri="{BB962C8B-B14F-4D97-AF65-F5344CB8AC3E}">
        <p14:creationId xmlns:p14="http://schemas.microsoft.com/office/powerpoint/2010/main" val="384025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218" name="Google Shape;218;p6"/>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219" name="Google Shape;219;p6"/>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20" name="Google Shape;220;p6"/>
          <p:cNvSpPr txBox="1"/>
          <p:nvPr/>
        </p:nvSpPr>
        <p:spPr>
          <a:xfrm>
            <a:off x="2747139" y="1058170"/>
            <a:ext cx="13272713" cy="1064394"/>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499"/>
              <a:buFont typeface="Arial"/>
              <a:buNone/>
            </a:pPr>
            <a:r>
              <a:rPr lang="pt-PT" sz="7499" b="1" i="0" u="none" strike="noStrike" cap="none" noProof="0" dirty="0">
                <a:solidFill>
                  <a:srgbClr val="000000"/>
                </a:solidFill>
                <a:latin typeface="Raleway Black"/>
                <a:ea typeface="Raleway Black"/>
                <a:cs typeface="Raleway Black"/>
                <a:sym typeface="Raleway Black"/>
              </a:rPr>
              <a:t>Cybersecurity Assessment</a:t>
            </a:r>
            <a:endParaRPr lang="pt-PT" sz="1400" b="0" i="0" u="none" strike="noStrike" cap="none" noProof="0" dirty="0">
              <a:solidFill>
                <a:srgbClr val="000000"/>
              </a:solidFill>
              <a:latin typeface="Arial"/>
              <a:ea typeface="Arial"/>
              <a:cs typeface="Arial"/>
              <a:sym typeface="Arial"/>
            </a:endParaRPr>
          </a:p>
        </p:txBody>
      </p:sp>
      <p:sp>
        <p:nvSpPr>
          <p:cNvPr id="222" name="Google Shape;222;p6"/>
          <p:cNvSpPr txBox="1"/>
          <p:nvPr/>
        </p:nvSpPr>
        <p:spPr>
          <a:xfrm>
            <a:off x="2743200" y="2210695"/>
            <a:ext cx="13272713" cy="5706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O caminho do risco ao benefício</a:t>
            </a:r>
            <a:endParaRPr lang="pt-PT" sz="1400" b="0" i="0" u="none" strike="noStrike" cap="none" noProof="0" dirty="0">
              <a:solidFill>
                <a:srgbClr val="000000"/>
              </a:solidFill>
              <a:latin typeface="Arial"/>
              <a:ea typeface="Arial"/>
              <a:cs typeface="Arial"/>
              <a:sym typeface="Arial"/>
            </a:endParaRPr>
          </a:p>
        </p:txBody>
      </p:sp>
      <p:grpSp>
        <p:nvGrpSpPr>
          <p:cNvPr id="223" name="Google Shape;223;p6"/>
          <p:cNvGrpSpPr/>
          <p:nvPr/>
        </p:nvGrpSpPr>
        <p:grpSpPr>
          <a:xfrm>
            <a:off x="6400800" y="3354540"/>
            <a:ext cx="5486400" cy="4988337"/>
            <a:chOff x="6364388" y="3353990"/>
            <a:chExt cx="5486400" cy="4988337"/>
          </a:xfrm>
        </p:grpSpPr>
        <p:grpSp>
          <p:nvGrpSpPr>
            <p:cNvPr id="224" name="Google Shape;224;p6"/>
            <p:cNvGrpSpPr/>
            <p:nvPr/>
          </p:nvGrpSpPr>
          <p:grpSpPr>
            <a:xfrm>
              <a:off x="6364388" y="3353990"/>
              <a:ext cx="5486400" cy="4988337"/>
              <a:chOff x="0" y="-47625"/>
              <a:chExt cx="1437753" cy="1940938"/>
            </a:xfrm>
          </p:grpSpPr>
          <p:sp>
            <p:nvSpPr>
              <p:cNvPr id="225" name="Google Shape;225;p6"/>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26" name="Google Shape;226;p6"/>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27" name="Google Shape;227;p6"/>
            <p:cNvSpPr txBox="1"/>
            <p:nvPr/>
          </p:nvSpPr>
          <p:spPr>
            <a:xfrm>
              <a:off x="6364388" y="4123931"/>
              <a:ext cx="5486400"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Cybersecurity Assessment</a:t>
              </a:r>
              <a:endParaRPr lang="pt-PT" sz="1400" b="0" i="0" u="none" strike="noStrike" cap="none" noProof="0" dirty="0">
                <a:solidFill>
                  <a:srgbClr val="000000"/>
                </a:solidFill>
                <a:latin typeface="Arial"/>
                <a:ea typeface="Arial"/>
                <a:cs typeface="Arial"/>
                <a:sym typeface="Arial"/>
              </a:endParaRPr>
            </a:p>
          </p:txBody>
        </p:sp>
        <p:sp>
          <p:nvSpPr>
            <p:cNvPr id="228" name="Google Shape;228;p6"/>
            <p:cNvSpPr txBox="1"/>
            <p:nvPr/>
          </p:nvSpPr>
          <p:spPr>
            <a:xfrm>
              <a:off x="6693305" y="4814284"/>
              <a:ext cx="4901400" cy="2770500"/>
            </a:xfrm>
            <a:prstGeom prst="rect">
              <a:avLst/>
            </a:prstGeom>
            <a:noFill/>
            <a:ln>
              <a:noFill/>
            </a:ln>
          </p:spPr>
          <p:txBody>
            <a:bodyPr spcFirstLastPara="1" wrap="square" lIns="0" tIns="0" rIns="0" bIns="0" anchor="t" anchorCtr="0">
              <a:spAutoFit/>
            </a:bodyPr>
            <a:lstStyle/>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Avaliação técnica e estratégica da postura de segurança da organização</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Análise de infraestruturas, redes endpoints, políticas e processos</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Identificação de vulnerabilidades e riscos</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Relatório com recomendações claras e priorizadas</a:t>
              </a:r>
            </a:p>
          </p:txBody>
        </p:sp>
      </p:grpSp>
      <p:grpSp>
        <p:nvGrpSpPr>
          <p:cNvPr id="229" name="Google Shape;229;p6"/>
          <p:cNvGrpSpPr/>
          <p:nvPr/>
        </p:nvGrpSpPr>
        <p:grpSpPr>
          <a:xfrm>
            <a:off x="634244" y="3354135"/>
            <a:ext cx="5486400" cy="4988337"/>
            <a:chOff x="6364388" y="3353990"/>
            <a:chExt cx="5486400" cy="4988337"/>
          </a:xfrm>
        </p:grpSpPr>
        <p:grpSp>
          <p:nvGrpSpPr>
            <p:cNvPr id="230" name="Google Shape;230;p6"/>
            <p:cNvGrpSpPr/>
            <p:nvPr/>
          </p:nvGrpSpPr>
          <p:grpSpPr>
            <a:xfrm>
              <a:off x="6364388" y="3353990"/>
              <a:ext cx="5486400" cy="4988337"/>
              <a:chOff x="0" y="-47625"/>
              <a:chExt cx="1437753" cy="1940938"/>
            </a:xfrm>
          </p:grpSpPr>
          <p:sp>
            <p:nvSpPr>
              <p:cNvPr id="231" name="Google Shape;231;p6"/>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32" name="Google Shape;232;p6"/>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33" name="Google Shape;233;p6"/>
            <p:cNvSpPr txBox="1"/>
            <p:nvPr/>
          </p:nvSpPr>
          <p:spPr>
            <a:xfrm>
              <a:off x="6364388" y="4123931"/>
              <a:ext cx="5486400"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Risco</a:t>
              </a:r>
              <a:endParaRPr lang="pt-PT" sz="1400" b="0" i="0" u="none" strike="noStrike" cap="none" noProof="0" dirty="0">
                <a:solidFill>
                  <a:srgbClr val="000000"/>
                </a:solidFill>
                <a:latin typeface="Arial"/>
                <a:ea typeface="Arial"/>
                <a:cs typeface="Arial"/>
                <a:sym typeface="Arial"/>
              </a:endParaRPr>
            </a:p>
          </p:txBody>
        </p:sp>
        <p:sp>
          <p:nvSpPr>
            <p:cNvPr id="234" name="Google Shape;234;p6"/>
            <p:cNvSpPr txBox="1"/>
            <p:nvPr/>
          </p:nvSpPr>
          <p:spPr>
            <a:xfrm>
              <a:off x="6693305" y="4814284"/>
              <a:ext cx="4901400" cy="2770500"/>
            </a:xfrm>
            <a:prstGeom prst="rect">
              <a:avLst/>
            </a:prstGeom>
            <a:noFill/>
            <a:ln>
              <a:noFill/>
            </a:ln>
          </p:spPr>
          <p:txBody>
            <a:bodyPr spcFirstLastPara="1" wrap="square" lIns="0" tIns="0" rIns="0" bIns="0" anchor="t" anchorCtr="0">
              <a:spAutoFit/>
            </a:bodyPr>
            <a:lstStyle/>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Sistemas obsoletos e falta de atualizações</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Aumento do trabalho remoto e dispositivos móveis</a:t>
              </a:r>
              <a:r>
                <a:rPr lang="pt-PT" sz="1800" b="0" i="0" u="none" strike="noStrike" cap="none" noProof="0" dirty="0">
                  <a:solidFill>
                    <a:srgbClr val="101010"/>
                  </a:solidFill>
                  <a:latin typeface="Raleway"/>
                  <a:ea typeface="Raleway"/>
                  <a:cs typeface="Raleway"/>
                  <a:sym typeface="Raleway"/>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 </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Ausência de políticas claras de segurança</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Complexidade dos sistemas</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Falta de visibilidade sobre o estado da cibersegurança na organização</a:t>
              </a:r>
              <a:endParaRPr lang="pt-PT" sz="1400" b="0" i="0" u="none" strike="noStrike" cap="none" noProof="0" dirty="0">
                <a:solidFill>
                  <a:srgbClr val="000000"/>
                </a:solidFill>
                <a:latin typeface="Arial"/>
                <a:ea typeface="Arial"/>
                <a:cs typeface="Arial"/>
                <a:sym typeface="Arial"/>
              </a:endParaRPr>
            </a:p>
          </p:txBody>
        </p:sp>
      </p:grpSp>
      <p:grpSp>
        <p:nvGrpSpPr>
          <p:cNvPr id="235" name="Google Shape;235;p6"/>
          <p:cNvGrpSpPr/>
          <p:nvPr/>
        </p:nvGrpSpPr>
        <p:grpSpPr>
          <a:xfrm>
            <a:off x="12167356" y="3354135"/>
            <a:ext cx="5486400" cy="4988337"/>
            <a:chOff x="6364388" y="3353990"/>
            <a:chExt cx="5486400" cy="4988337"/>
          </a:xfrm>
        </p:grpSpPr>
        <p:grpSp>
          <p:nvGrpSpPr>
            <p:cNvPr id="236" name="Google Shape;236;p6"/>
            <p:cNvGrpSpPr/>
            <p:nvPr/>
          </p:nvGrpSpPr>
          <p:grpSpPr>
            <a:xfrm>
              <a:off x="6364388" y="3353990"/>
              <a:ext cx="5486400" cy="4988337"/>
              <a:chOff x="0" y="-47625"/>
              <a:chExt cx="1437753" cy="1940938"/>
            </a:xfrm>
          </p:grpSpPr>
          <p:sp>
            <p:nvSpPr>
              <p:cNvPr id="237" name="Google Shape;237;p6"/>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38" name="Google Shape;238;p6"/>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39" name="Google Shape;239;p6"/>
            <p:cNvSpPr txBox="1"/>
            <p:nvPr/>
          </p:nvSpPr>
          <p:spPr>
            <a:xfrm>
              <a:off x="6364388" y="4123931"/>
              <a:ext cx="5486400"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Benefícios</a:t>
              </a:r>
              <a:endParaRPr lang="pt-PT" sz="1400" b="0" i="0" u="none" strike="noStrike" cap="none" noProof="0" dirty="0">
                <a:solidFill>
                  <a:srgbClr val="000000"/>
                </a:solidFill>
                <a:latin typeface="Arial"/>
                <a:ea typeface="Arial"/>
                <a:cs typeface="Arial"/>
                <a:sym typeface="Arial"/>
              </a:endParaRPr>
            </a:p>
          </p:txBody>
        </p:sp>
        <p:sp>
          <p:nvSpPr>
            <p:cNvPr id="240" name="Google Shape;240;p6"/>
            <p:cNvSpPr txBox="1"/>
            <p:nvPr/>
          </p:nvSpPr>
          <p:spPr>
            <a:xfrm>
              <a:off x="6693305" y="4814284"/>
              <a:ext cx="4901390" cy="2859822"/>
            </a:xfrm>
            <a:prstGeom prst="rect">
              <a:avLst/>
            </a:prstGeom>
            <a:noFill/>
            <a:ln>
              <a:noFill/>
            </a:ln>
          </p:spPr>
          <p:txBody>
            <a:bodyPr spcFirstLastPara="1" wrap="square" lIns="0" tIns="0" rIns="0" bIns="0" anchor="t" anchorCtr="0">
              <a:spAutoFit/>
            </a:bodyPr>
            <a:lstStyle/>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Visibilidade total sobre o estado atual da cibersegurança</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Redução de riscos e exposição a ataques</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Apoio na conformidade com normas (ex: RGPD, ISO 27001)</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Preparação para auditorias e certificações</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Roadmap claro para melhorias</a:t>
              </a:r>
            </a:p>
          </p:txBody>
        </p:sp>
      </p:grpSp>
      <p:sp>
        <p:nvSpPr>
          <p:cNvPr id="241" name="Google Shape;241;p6"/>
          <p:cNvSpPr/>
          <p:nvPr/>
        </p:nvSpPr>
        <p:spPr>
          <a:xfrm>
            <a:off x="5841622" y="5169568"/>
            <a:ext cx="838200" cy="2130106"/>
          </a:xfrm>
          <a:prstGeom prst="rightArrow">
            <a:avLst>
              <a:gd name="adj1" fmla="val 50000"/>
              <a:gd name="adj2" fmla="val 50000"/>
            </a:avLst>
          </a:prstGeom>
          <a:solidFill>
            <a:srgbClr val="3B82F6"/>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lt1"/>
              </a:solidFill>
              <a:latin typeface="Calibri"/>
              <a:ea typeface="Calibri"/>
              <a:cs typeface="Calibri"/>
              <a:sym typeface="Calibri"/>
            </a:endParaRPr>
          </a:p>
        </p:txBody>
      </p:sp>
      <p:sp>
        <p:nvSpPr>
          <p:cNvPr id="242" name="Google Shape;242;p6"/>
          <p:cNvSpPr/>
          <p:nvPr/>
        </p:nvSpPr>
        <p:spPr>
          <a:xfrm>
            <a:off x="11658600" y="5143500"/>
            <a:ext cx="838200" cy="2130106"/>
          </a:xfrm>
          <a:prstGeom prst="rightArrow">
            <a:avLst>
              <a:gd name="adj1" fmla="val 50000"/>
              <a:gd name="adj2" fmla="val 50000"/>
            </a:avLst>
          </a:prstGeom>
          <a:solidFill>
            <a:srgbClr val="3B82F6"/>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lt1"/>
              </a:solidFill>
              <a:latin typeface="Calibri"/>
              <a:ea typeface="Calibri"/>
              <a:cs typeface="Calibri"/>
              <a:sym typeface="Calibri"/>
            </a:endParaRPr>
          </a:p>
        </p:txBody>
      </p:sp>
      <p:sp>
        <p:nvSpPr>
          <p:cNvPr id="2" name="Google Shape;108;p2">
            <a:extLst>
              <a:ext uri="{FF2B5EF4-FFF2-40B4-BE49-F238E27FC236}">
                <a16:creationId xmlns:a16="http://schemas.microsoft.com/office/drawing/2014/main" id="{AF852CBF-C49E-1BBA-BBE0-754E06B7F824}"/>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35</a:t>
            </a:fld>
            <a:endParaRPr lang="pt-PT" sz="2041" b="1" i="0" u="none" strike="noStrike" cap="none" noProof="0" dirty="0">
              <a:solidFill>
                <a:srgbClr val="000000"/>
              </a:solidFill>
              <a:latin typeface="Raleway SemiBold"/>
              <a:ea typeface="Raleway SemiBold"/>
              <a:cs typeface="Raleway SemiBold"/>
              <a:sym typeface="Raleway SemiBo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A4788A7B-7E7F-97EF-22EF-BE915875CE95}"/>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1171101B-CB8D-EBD6-3990-68A2A1FB2BA7}"/>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1104B0C9-F8AB-4177-78BB-E978A48389C7}"/>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3" name="Google Shape;363;p11">
            <a:extLst>
              <a:ext uri="{FF2B5EF4-FFF2-40B4-BE49-F238E27FC236}">
                <a16:creationId xmlns:a16="http://schemas.microsoft.com/office/drawing/2014/main" id="{3B47D26F-0A66-C32C-8C95-9EEA8B8FF990}"/>
              </a:ext>
            </a:extLst>
          </p:cNvPr>
          <p:cNvSpPr txBox="1"/>
          <p:nvPr/>
        </p:nvSpPr>
        <p:spPr>
          <a:xfrm>
            <a:off x="2747139" y="1058170"/>
            <a:ext cx="13272713" cy="1229888"/>
          </a:xfrm>
          <a:prstGeom prst="rect">
            <a:avLst/>
          </a:prstGeom>
          <a:noFill/>
          <a:ln>
            <a:noFill/>
          </a:ln>
        </p:spPr>
        <p:txBody>
          <a:bodyPr spcFirstLastPara="1" wrap="square" lIns="0" tIns="0" rIns="0" bIns="0" anchor="t" anchorCtr="0">
            <a:spAutoFit/>
          </a:bodyPr>
          <a:lstStyle/>
          <a:p>
            <a:pPr lvl="0">
              <a:lnSpc>
                <a:spcPct val="110986"/>
              </a:lnSpc>
              <a:buSzPts val="7500"/>
            </a:pPr>
            <a:r>
              <a:rPr lang="pt-PT" sz="7200" b="1" dirty="0">
                <a:latin typeface="Raleway Black"/>
                <a:ea typeface="Raleway Black"/>
                <a:cs typeface="Raleway Black"/>
                <a:sym typeface="Raleway Black"/>
              </a:rPr>
              <a:t>IT, OT e IoT</a:t>
            </a:r>
          </a:p>
        </p:txBody>
      </p:sp>
      <p:sp>
        <p:nvSpPr>
          <p:cNvPr id="365" name="Google Shape;365;p11">
            <a:extLst>
              <a:ext uri="{FF2B5EF4-FFF2-40B4-BE49-F238E27FC236}">
                <a16:creationId xmlns:a16="http://schemas.microsoft.com/office/drawing/2014/main" id="{E3FDF266-3918-78D3-EE82-2729482283A8}"/>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lvl="0">
              <a:lnSpc>
                <a:spcPct val="150000"/>
              </a:lnSpc>
              <a:buSzPts val="2800"/>
            </a:pPr>
            <a:r>
              <a:rPr lang="pt-PT" sz="2800" dirty="0">
                <a:solidFill>
                  <a:srgbClr val="7F7F7F"/>
                </a:solidFill>
                <a:latin typeface="Raleway"/>
                <a:ea typeface="Raleway"/>
                <a:cs typeface="Raleway"/>
                <a:sym typeface="Raleway"/>
              </a:rPr>
              <a:t>Mundos diferentes</a:t>
            </a:r>
            <a:endParaRPr lang="pt-PT" dirty="0"/>
          </a:p>
        </p:txBody>
      </p:sp>
      <p:sp>
        <p:nvSpPr>
          <p:cNvPr id="366" name="Google Shape;366;p11">
            <a:extLst>
              <a:ext uri="{FF2B5EF4-FFF2-40B4-BE49-F238E27FC236}">
                <a16:creationId xmlns:a16="http://schemas.microsoft.com/office/drawing/2014/main" id="{992BF33E-9750-3B6D-1AB6-E3A3AFDA59B5}"/>
              </a:ext>
            </a:extLst>
          </p:cNvPr>
          <p:cNvSpPr/>
          <p:nvPr/>
        </p:nvSpPr>
        <p:spPr>
          <a:xfrm>
            <a:off x="2578769" y="3695700"/>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ea typeface="Raleway Medium"/>
                <a:cs typeface="Raleway Medium"/>
                <a:sym typeface="Raleway Medium"/>
              </a:rPr>
              <a:t>IT</a:t>
            </a:r>
          </a:p>
        </p:txBody>
      </p:sp>
      <p:sp>
        <p:nvSpPr>
          <p:cNvPr id="368" name="Google Shape;368;p11">
            <a:extLst>
              <a:ext uri="{FF2B5EF4-FFF2-40B4-BE49-F238E27FC236}">
                <a16:creationId xmlns:a16="http://schemas.microsoft.com/office/drawing/2014/main" id="{44FEC117-C7E7-423F-50ED-D1CEAD83A7BA}"/>
              </a:ext>
            </a:extLst>
          </p:cNvPr>
          <p:cNvSpPr txBox="1"/>
          <p:nvPr/>
        </p:nvSpPr>
        <p:spPr>
          <a:xfrm>
            <a:off x="6946229" y="4082051"/>
            <a:ext cx="8762999" cy="644151"/>
          </a:xfrm>
          <a:prstGeom prst="rect">
            <a:avLst/>
          </a:prstGeom>
          <a:noFill/>
          <a:ln>
            <a:noFill/>
          </a:ln>
        </p:spPr>
        <p:txBody>
          <a:bodyPr spcFirstLastPara="1" wrap="square" lIns="0" tIns="0" rIns="0" bIns="0" anchor="t" anchorCtr="0">
            <a:spAutoFit/>
          </a:bodyPr>
          <a:lstStyle/>
          <a:p>
            <a:pPr lvl="0" algn="just">
              <a:buSzPts val="2093"/>
            </a:pPr>
            <a:r>
              <a:rPr lang="pt-BR" sz="2093" noProof="0" dirty="0">
                <a:solidFill>
                  <a:srgbClr val="101010"/>
                </a:solidFill>
                <a:latin typeface="Raleway"/>
                <a:ea typeface="Raleway"/>
                <a:cs typeface="Raleway"/>
                <a:sym typeface="Raleway"/>
              </a:rPr>
              <a:t>Tecnologia da Informação – lida com dados e sistemas digitais</a:t>
            </a:r>
          </a:p>
          <a:p>
            <a:pPr lvl="0" algn="just">
              <a:buSzPts val="2093"/>
            </a:pPr>
            <a:endParaRPr lang="pt-BR" sz="2093" noProof="0" dirty="0">
              <a:solidFill>
                <a:srgbClr val="101010"/>
              </a:solidFill>
              <a:latin typeface="Raleway"/>
              <a:ea typeface="Raleway"/>
              <a:cs typeface="Raleway"/>
              <a:sym typeface="Raleway"/>
            </a:endParaRPr>
          </a:p>
        </p:txBody>
      </p:sp>
      <p:sp>
        <p:nvSpPr>
          <p:cNvPr id="371" name="Google Shape;371;p11">
            <a:extLst>
              <a:ext uri="{FF2B5EF4-FFF2-40B4-BE49-F238E27FC236}">
                <a16:creationId xmlns:a16="http://schemas.microsoft.com/office/drawing/2014/main" id="{76707DA5-63F9-3CBB-8A9A-DF92599AF113}"/>
              </a:ext>
            </a:extLst>
          </p:cNvPr>
          <p:cNvSpPr txBox="1"/>
          <p:nvPr/>
        </p:nvSpPr>
        <p:spPr>
          <a:xfrm>
            <a:off x="6946228" y="5162684"/>
            <a:ext cx="8762999" cy="1288301"/>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Clr>
                <a:srgbClr val="000000"/>
              </a:buClr>
              <a:buSzPts val="2093"/>
              <a:buFont typeface="Arial"/>
              <a:buNone/>
            </a:pPr>
            <a:r>
              <a:rPr lang="pt-BR" sz="2093" b="0" i="0" u="none" strike="noStrike" cap="none" noProof="0" dirty="0">
                <a:solidFill>
                  <a:srgbClr val="101010"/>
                </a:solidFill>
                <a:latin typeface="Raleway"/>
                <a:ea typeface="Raleway"/>
                <a:cs typeface="Raleway"/>
                <a:sym typeface="Raleway"/>
              </a:rPr>
              <a:t>Tecnologia Operacional – controla processos físicos</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2093" dirty="0">
                <a:solidFill>
                  <a:srgbClr val="101010"/>
                </a:solidFill>
                <a:latin typeface="Raleway"/>
                <a:ea typeface="Raleway"/>
                <a:cs typeface="Raleway"/>
                <a:sym typeface="Raleway"/>
              </a:rPr>
              <a:t>Sistemas de Controlo Industrial (ICS)</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2093" b="0" i="0" u="none" strike="noStrike" cap="none" noProof="0" dirty="0">
                <a:solidFill>
                  <a:srgbClr val="101010"/>
                </a:solidFill>
                <a:latin typeface="Raleway"/>
                <a:ea typeface="Raleway"/>
                <a:cs typeface="Raleway"/>
                <a:sym typeface="Raleway"/>
              </a:rPr>
              <a:t>Exemplos: SCADA, PL</a:t>
            </a:r>
            <a:r>
              <a:rPr lang="pt-BR" sz="2093" dirty="0">
                <a:solidFill>
                  <a:srgbClr val="101010"/>
                </a:solidFill>
                <a:latin typeface="Raleway"/>
                <a:ea typeface="Raleway"/>
                <a:cs typeface="Raleway"/>
                <a:sym typeface="Raleway"/>
              </a:rPr>
              <a:t>Cs, HMI, sensores e actuadores</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2093" b="0" i="0" u="none" strike="noStrike" cap="none" noProof="0" dirty="0">
                <a:solidFill>
                  <a:srgbClr val="101010"/>
                </a:solidFill>
                <a:latin typeface="Raleway"/>
                <a:ea typeface="Raleway"/>
                <a:cs typeface="Raleway"/>
                <a:sym typeface="Raleway"/>
              </a:rPr>
              <a:t>Ambientes: in</a:t>
            </a:r>
            <a:r>
              <a:rPr lang="pt-BR" sz="2093" dirty="0">
                <a:solidFill>
                  <a:srgbClr val="101010"/>
                </a:solidFill>
                <a:latin typeface="Raleway"/>
                <a:ea typeface="Raleway"/>
                <a:cs typeface="Raleway"/>
                <a:sym typeface="Raleway"/>
              </a:rPr>
              <a:t>dústria, energia, água, transporte</a:t>
            </a:r>
            <a:endParaRPr lang="pt-BR" sz="2093" b="0" i="0" u="none" strike="noStrike" cap="none" noProof="0" dirty="0">
              <a:solidFill>
                <a:srgbClr val="101010"/>
              </a:solidFill>
              <a:latin typeface="Raleway"/>
              <a:ea typeface="Raleway"/>
              <a:cs typeface="Raleway"/>
              <a:sym typeface="Raleway"/>
            </a:endParaRPr>
          </a:p>
        </p:txBody>
      </p:sp>
      <p:sp>
        <p:nvSpPr>
          <p:cNvPr id="372" name="Google Shape;372;p11">
            <a:extLst>
              <a:ext uri="{FF2B5EF4-FFF2-40B4-BE49-F238E27FC236}">
                <a16:creationId xmlns:a16="http://schemas.microsoft.com/office/drawing/2014/main" id="{F5E0AA05-3B56-6926-E104-1A3AD6176CE8}"/>
              </a:ext>
            </a:extLst>
          </p:cNvPr>
          <p:cNvSpPr/>
          <p:nvPr/>
        </p:nvSpPr>
        <p:spPr>
          <a:xfrm>
            <a:off x="2590801" y="6823192"/>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rPr>
              <a:t>IoT</a:t>
            </a:r>
          </a:p>
        </p:txBody>
      </p:sp>
      <p:sp>
        <p:nvSpPr>
          <p:cNvPr id="374" name="Google Shape;374;p11">
            <a:extLst>
              <a:ext uri="{FF2B5EF4-FFF2-40B4-BE49-F238E27FC236}">
                <a16:creationId xmlns:a16="http://schemas.microsoft.com/office/drawing/2014/main" id="{AA51C01D-0030-B077-9C7B-D746ED6E6450}"/>
              </a:ext>
            </a:extLst>
          </p:cNvPr>
          <p:cNvSpPr txBox="1"/>
          <p:nvPr/>
        </p:nvSpPr>
        <p:spPr>
          <a:xfrm>
            <a:off x="6946229" y="6887467"/>
            <a:ext cx="8762999" cy="966227"/>
          </a:xfrm>
          <a:prstGeom prst="rect">
            <a:avLst/>
          </a:prstGeom>
          <a:noFill/>
          <a:ln>
            <a:noFill/>
          </a:ln>
        </p:spPr>
        <p:txBody>
          <a:bodyPr spcFirstLastPara="1" wrap="square" lIns="0" tIns="0" rIns="0" bIns="0" anchor="t" anchorCtr="0">
            <a:spAutoFit/>
          </a:bodyPr>
          <a:lstStyle/>
          <a:p>
            <a:pPr marR="0" lvl="0" algn="just" rtl="0">
              <a:spcBef>
                <a:spcPts val="0"/>
              </a:spcBef>
              <a:spcAft>
                <a:spcPts val="0"/>
              </a:spcAft>
              <a:buClr>
                <a:srgbClr val="000000"/>
              </a:buClr>
              <a:buSzPts val="2093"/>
            </a:pPr>
            <a:r>
              <a:rPr lang="pt-BR" sz="2093" b="0" i="0" u="none" strike="noStrike" cap="none" noProof="0" dirty="0">
                <a:solidFill>
                  <a:srgbClr val="101010"/>
                </a:solidFill>
                <a:latin typeface="Raleway"/>
                <a:ea typeface="Raleway"/>
                <a:cs typeface="Raleway"/>
                <a:sym typeface="Raleway"/>
              </a:rPr>
              <a:t>Convergência entre IT e OT</a:t>
            </a:r>
          </a:p>
          <a:p>
            <a:pPr marR="0" lvl="0" algn="just" rtl="0">
              <a:spcBef>
                <a:spcPts val="0"/>
              </a:spcBef>
              <a:spcAft>
                <a:spcPts val="0"/>
              </a:spcAft>
              <a:buClr>
                <a:srgbClr val="000000"/>
              </a:buClr>
              <a:buSzPts val="2093"/>
            </a:pPr>
            <a:r>
              <a:rPr lang="pt-BR" sz="2093" b="0" i="0" u="none" strike="noStrike" cap="none" noProof="0" dirty="0">
                <a:solidFill>
                  <a:srgbClr val="101010"/>
                </a:solidFill>
                <a:latin typeface="Raleway"/>
                <a:ea typeface="Raleway"/>
                <a:cs typeface="Raleway"/>
                <a:sym typeface="Raleway"/>
              </a:rPr>
              <a:t>Exemplo: Um sensor industrial que mede a temperatura e envia os dados para a nuvem para análise preditiva.</a:t>
            </a:r>
          </a:p>
        </p:txBody>
      </p:sp>
      <p:cxnSp>
        <p:nvCxnSpPr>
          <p:cNvPr id="2" name="Google Shape;218;p6">
            <a:extLst>
              <a:ext uri="{FF2B5EF4-FFF2-40B4-BE49-F238E27FC236}">
                <a16:creationId xmlns:a16="http://schemas.microsoft.com/office/drawing/2014/main" id="{B2282545-F7A8-FE2C-D7A2-3E2E639B1ED1}"/>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38D1B983-9F5E-7DE2-DB68-6A1CC14F295A}"/>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36</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5" name="Google Shape;366;p11">
            <a:extLst>
              <a:ext uri="{FF2B5EF4-FFF2-40B4-BE49-F238E27FC236}">
                <a16:creationId xmlns:a16="http://schemas.microsoft.com/office/drawing/2014/main" id="{13AAE5EA-37CD-98B0-42D0-E64055D4202C}"/>
              </a:ext>
            </a:extLst>
          </p:cNvPr>
          <p:cNvSpPr/>
          <p:nvPr/>
        </p:nvSpPr>
        <p:spPr>
          <a:xfrm>
            <a:off x="2578768" y="5259446"/>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sym typeface="Raleway Medium"/>
              </a:rPr>
              <a:t>OT</a:t>
            </a:r>
          </a:p>
        </p:txBody>
      </p:sp>
    </p:spTree>
    <p:extLst>
      <p:ext uri="{BB962C8B-B14F-4D97-AF65-F5344CB8AC3E}">
        <p14:creationId xmlns:p14="http://schemas.microsoft.com/office/powerpoint/2010/main" val="4011776"/>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TM03457515[[fn=View]]</Template>
  <TotalTime>1008</TotalTime>
  <Words>2525</Words>
  <Application>Microsoft Office PowerPoint</Application>
  <PresentationFormat>Custom</PresentationFormat>
  <Paragraphs>367</Paragraphs>
  <Slides>36</Slides>
  <Notes>36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Raleway Medium</vt:lpstr>
      <vt:lpstr>Wingdings 2</vt:lpstr>
      <vt:lpstr>Raleway</vt:lpstr>
      <vt:lpstr>Calibri</vt:lpstr>
      <vt:lpstr>Arial</vt:lpstr>
      <vt:lpstr>Raleway Black</vt:lpstr>
      <vt:lpstr>Raleway SemiBold</vt:lpstr>
      <vt:lpstr>Century Schoolbook</vt:lpstr>
      <vt:lpstr>Aptos Narrow</vt:lpstr>
      <vt:lpst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Pedro Vieira</cp:lastModifiedBy>
  <cp:revision>62</cp:revision>
  <cp:lastPrinted>2025-09-08T12:05:48Z</cp:lastPrinted>
  <dcterms:created xsi:type="dcterms:W3CDTF">2025-07-09T12:46:31Z</dcterms:created>
  <dcterms:modified xsi:type="dcterms:W3CDTF">2025-09-09T20:54:29Z</dcterms:modified>
</cp:coreProperties>
</file>