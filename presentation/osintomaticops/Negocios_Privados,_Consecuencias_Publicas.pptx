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handoutMasterIdLst>
    <p:handoutMasterId r:id="rId42"/>
  </p:handoutMasterIdLst>
  <p:sldIdLst>
    <p:sldId id="256" r:id="rId2"/>
    <p:sldId id="270" r:id="rId3"/>
    <p:sldId id="258" r:id="rId4"/>
    <p:sldId id="268" r:id="rId5"/>
    <p:sldId id="269" r:id="rId6"/>
    <p:sldId id="271" r:id="rId7"/>
    <p:sldId id="272" r:id="rId8"/>
    <p:sldId id="273" r:id="rId9"/>
    <p:sldId id="274" r:id="rId10"/>
    <p:sldId id="307" r:id="rId11"/>
    <p:sldId id="276" r:id="rId12"/>
    <p:sldId id="275"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308" r:id="rId29"/>
    <p:sldId id="293" r:id="rId30"/>
    <p:sldId id="310" r:id="rId31"/>
    <p:sldId id="294" r:id="rId32"/>
    <p:sldId id="311" r:id="rId33"/>
    <p:sldId id="297" r:id="rId34"/>
    <p:sldId id="301" r:id="rId35"/>
    <p:sldId id="303" r:id="rId36"/>
    <p:sldId id="304" r:id="rId37"/>
    <p:sldId id="305" r:id="rId38"/>
    <p:sldId id="262" r:id="rId39"/>
    <p:sldId id="264" r:id="rId40"/>
  </p:sldIdLst>
  <p:sldSz cx="18288000" cy="10287000"/>
  <p:notesSz cx="7315200" cy="9601200"/>
  <p:embeddedFontLst>
    <p:embeddedFont>
      <p:font typeface="Cooper Hewitt" panose="020B0604020202020204" charset="0"/>
      <p:regular r:id="rId43"/>
    </p:embeddedFont>
    <p:embeddedFont>
      <p:font typeface="Cooper Hewitt Bold" panose="020B0604020202020204" charset="0"/>
      <p:regular r:id="rId44"/>
    </p:embeddedFont>
    <p:embeddedFont>
      <p:font typeface="DM Sans" pitchFamily="2" charset="0"/>
      <p:regular r:id="rId45"/>
      <p:bold r:id="rId46"/>
      <p:italic r:id="rId47"/>
      <p:boldItalic r:id="rId48"/>
    </p:embeddedFont>
    <p:embeddedFont>
      <p:font typeface="DM Sans Bold" charset="0"/>
      <p:regular r:id="rId49"/>
    </p:embeddedFont>
    <p:embeddedFont>
      <p:font typeface="Pattanakarn Expanded" panose="020B0604020202020204" charset="-34"/>
      <p:regular r:id="rId50"/>
    </p:embeddedFont>
    <p:embeddedFont>
      <p:font typeface="Saira" panose="020B0604020202020204" charset="0"/>
      <p:regular r:id="rId51"/>
    </p:embeddedFont>
    <p:embeddedFont>
      <p:font typeface="Saira Light" panose="020B0604020202020204" charset="0"/>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4939" autoAdjust="0"/>
  </p:normalViewPr>
  <p:slideViewPr>
    <p:cSldViewPr>
      <p:cViewPr>
        <p:scale>
          <a:sx n="66" d="100"/>
          <a:sy n="66" d="100"/>
        </p:scale>
        <p:origin x="216" y="-4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8" d="100"/>
          <a:sy n="78" d="100"/>
        </p:scale>
        <p:origin x="385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59606E-8F8C-46E6-B4A5-E9D4FDF0A30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de-DE"/>
        </a:p>
      </dgm:t>
    </dgm:pt>
    <dgm:pt modelId="{E4DD2DCE-6ADE-42A0-8A00-C6F3F365A26B}">
      <dgm:prSet phldrT="[Text]"/>
      <dgm:spPr>
        <a:solidFill>
          <a:schemeClr val="tx2">
            <a:lumMod val="20000"/>
            <a:lumOff val="80000"/>
          </a:schemeClr>
        </a:solidFill>
      </dgm:spPr>
      <dgm:t>
        <a:bodyPr/>
        <a:lstStyle/>
        <a:p>
          <a:r>
            <a:rPr lang="es-ES" noProof="0" dirty="0">
              <a:solidFill>
                <a:schemeClr val="tx1"/>
              </a:solidFill>
            </a:rPr>
            <a:t>OSINT</a:t>
          </a:r>
        </a:p>
      </dgm:t>
    </dgm:pt>
    <dgm:pt modelId="{DD953020-148C-4CC3-BC67-71AAF0BC95CE}" type="parTrans" cxnId="{16B9EE9A-E111-4D9E-9CD9-D1F766F9D8D8}">
      <dgm:prSet/>
      <dgm:spPr/>
      <dgm:t>
        <a:bodyPr/>
        <a:lstStyle/>
        <a:p>
          <a:endParaRPr lang="de-DE"/>
        </a:p>
      </dgm:t>
    </dgm:pt>
    <dgm:pt modelId="{95E61F59-8332-43EC-97E6-9194DD0F6BA5}" type="sibTrans" cxnId="{16B9EE9A-E111-4D9E-9CD9-D1F766F9D8D8}">
      <dgm:prSet/>
      <dgm:spPr/>
      <dgm:t>
        <a:bodyPr/>
        <a:lstStyle/>
        <a:p>
          <a:endParaRPr lang="de-DE"/>
        </a:p>
      </dgm:t>
    </dgm:pt>
    <dgm:pt modelId="{46C02386-F1CA-434D-A82F-93433FD3D345}">
      <dgm:prSet phldrT="[Text]"/>
      <dgm:spPr>
        <a:solidFill>
          <a:schemeClr val="tx2">
            <a:lumMod val="20000"/>
            <a:lumOff val="80000"/>
          </a:schemeClr>
        </a:solidFill>
      </dgm:spPr>
      <dgm:t>
        <a:bodyPr/>
        <a:lstStyle/>
        <a:p>
          <a:r>
            <a:rPr lang="es-ES" noProof="0" dirty="0">
              <a:solidFill>
                <a:schemeClr val="tx1"/>
              </a:solidFill>
            </a:rPr>
            <a:t>Primer Ministro</a:t>
          </a:r>
        </a:p>
      </dgm:t>
    </dgm:pt>
    <dgm:pt modelId="{62787198-15BC-4CDA-AE6F-9BF5EDA1802F}" type="parTrans" cxnId="{03054909-0353-41E4-922D-6B264DB6DE5B}">
      <dgm:prSet/>
      <dgm:spPr/>
      <dgm:t>
        <a:bodyPr/>
        <a:lstStyle/>
        <a:p>
          <a:endParaRPr lang="en-US"/>
        </a:p>
      </dgm:t>
    </dgm:pt>
    <dgm:pt modelId="{7DDDC6FD-AF16-4A53-B819-656C79F3932E}" type="sibTrans" cxnId="{03054909-0353-41E4-922D-6B264DB6DE5B}">
      <dgm:prSet/>
      <dgm:spPr/>
      <dgm:t>
        <a:bodyPr/>
        <a:lstStyle/>
        <a:p>
          <a:endParaRPr lang="en-US"/>
        </a:p>
      </dgm:t>
    </dgm:pt>
    <dgm:pt modelId="{55850409-4DE0-454C-A21C-B1F663681D7A}" type="pres">
      <dgm:prSet presAssocID="{7759606E-8F8C-46E6-B4A5-E9D4FDF0A303}" presName="Name0" presStyleCnt="0">
        <dgm:presLayoutVars>
          <dgm:chMax val="7"/>
          <dgm:chPref val="7"/>
          <dgm:dir/>
        </dgm:presLayoutVars>
      </dgm:prSet>
      <dgm:spPr/>
    </dgm:pt>
    <dgm:pt modelId="{8E6B8565-0C85-42A9-9335-A8077DD5C6AA}" type="pres">
      <dgm:prSet presAssocID="{7759606E-8F8C-46E6-B4A5-E9D4FDF0A303}" presName="Name1" presStyleCnt="0"/>
      <dgm:spPr/>
    </dgm:pt>
    <dgm:pt modelId="{B9E3A042-9F5D-48AF-997C-8315DAD36198}" type="pres">
      <dgm:prSet presAssocID="{7759606E-8F8C-46E6-B4A5-E9D4FDF0A303}" presName="cycle" presStyleCnt="0"/>
      <dgm:spPr/>
    </dgm:pt>
    <dgm:pt modelId="{FB24CC59-8232-4E9A-BAB1-D60D51A29459}" type="pres">
      <dgm:prSet presAssocID="{7759606E-8F8C-46E6-B4A5-E9D4FDF0A303}" presName="srcNode" presStyleLbl="node1" presStyleIdx="0" presStyleCnt="2"/>
      <dgm:spPr/>
    </dgm:pt>
    <dgm:pt modelId="{FC97BD6D-CD99-4821-80ED-782211115F1A}" type="pres">
      <dgm:prSet presAssocID="{7759606E-8F8C-46E6-B4A5-E9D4FDF0A303}" presName="conn" presStyleLbl="parChTrans1D2" presStyleIdx="0" presStyleCnt="1"/>
      <dgm:spPr/>
    </dgm:pt>
    <dgm:pt modelId="{29E6EA9F-4111-4090-BC7A-02D89083AA83}" type="pres">
      <dgm:prSet presAssocID="{7759606E-8F8C-46E6-B4A5-E9D4FDF0A303}" presName="extraNode" presStyleLbl="node1" presStyleIdx="0" presStyleCnt="2"/>
      <dgm:spPr/>
    </dgm:pt>
    <dgm:pt modelId="{A4208F82-C493-4577-B79D-AF15C3CCDFB0}" type="pres">
      <dgm:prSet presAssocID="{7759606E-8F8C-46E6-B4A5-E9D4FDF0A303}" presName="dstNode" presStyleLbl="node1" presStyleIdx="0" presStyleCnt="2"/>
      <dgm:spPr/>
    </dgm:pt>
    <dgm:pt modelId="{F0B29C53-122E-4A18-AF50-18967326F7A7}" type="pres">
      <dgm:prSet presAssocID="{E4DD2DCE-6ADE-42A0-8A00-C6F3F365A26B}" presName="text_1" presStyleLbl="node1" presStyleIdx="0" presStyleCnt="2">
        <dgm:presLayoutVars>
          <dgm:bulletEnabled val="1"/>
        </dgm:presLayoutVars>
      </dgm:prSet>
      <dgm:spPr/>
    </dgm:pt>
    <dgm:pt modelId="{5DDD9621-F94A-400A-AEEF-5E415336D924}" type="pres">
      <dgm:prSet presAssocID="{E4DD2DCE-6ADE-42A0-8A00-C6F3F365A26B}" presName="accent_1" presStyleCnt="0"/>
      <dgm:spPr/>
    </dgm:pt>
    <dgm:pt modelId="{A839D322-B1CB-4685-8BE1-D7C4CBA1DED5}" type="pres">
      <dgm:prSet presAssocID="{E4DD2DCE-6ADE-42A0-8A00-C6F3F365A26B}" presName="accentRepeatNode" presStyleLbl="solidFgAcc1" presStyleIdx="0" presStyleCnt="2"/>
      <dgm:spPr>
        <a:solidFill>
          <a:schemeClr val="tx2">
            <a:lumMod val="40000"/>
            <a:lumOff val="60000"/>
          </a:schemeClr>
        </a:solidFill>
        <a:ln>
          <a:solidFill>
            <a:schemeClr val="tx2">
              <a:lumMod val="75000"/>
            </a:schemeClr>
          </a:solidFill>
        </a:ln>
      </dgm:spPr>
    </dgm:pt>
    <dgm:pt modelId="{7F3312BA-69D3-442F-B82A-B05F70439E2B}" type="pres">
      <dgm:prSet presAssocID="{46C02386-F1CA-434D-A82F-93433FD3D345}" presName="text_2" presStyleLbl="node1" presStyleIdx="1" presStyleCnt="2">
        <dgm:presLayoutVars>
          <dgm:bulletEnabled val="1"/>
        </dgm:presLayoutVars>
      </dgm:prSet>
      <dgm:spPr/>
    </dgm:pt>
    <dgm:pt modelId="{2EE8ADB2-DBF1-4560-934B-2321B71E4618}" type="pres">
      <dgm:prSet presAssocID="{46C02386-F1CA-434D-A82F-93433FD3D345}" presName="accent_2" presStyleCnt="0"/>
      <dgm:spPr/>
    </dgm:pt>
    <dgm:pt modelId="{B45A13D0-BCAB-4182-B0B2-95E4541F1250}" type="pres">
      <dgm:prSet presAssocID="{46C02386-F1CA-434D-A82F-93433FD3D345}" presName="accentRepeatNode" presStyleLbl="solidFgAcc1" presStyleIdx="1" presStyleCnt="2"/>
      <dgm:spPr>
        <a:solidFill>
          <a:schemeClr val="tx2">
            <a:lumMod val="40000"/>
            <a:lumOff val="60000"/>
          </a:schemeClr>
        </a:solidFill>
        <a:ln>
          <a:solidFill>
            <a:schemeClr val="tx2">
              <a:lumMod val="75000"/>
            </a:schemeClr>
          </a:solidFill>
        </a:ln>
      </dgm:spPr>
    </dgm:pt>
  </dgm:ptLst>
  <dgm:cxnLst>
    <dgm:cxn modelId="{03054909-0353-41E4-922D-6B264DB6DE5B}" srcId="{7759606E-8F8C-46E6-B4A5-E9D4FDF0A303}" destId="{46C02386-F1CA-434D-A82F-93433FD3D345}" srcOrd="1" destOrd="0" parTransId="{62787198-15BC-4CDA-AE6F-9BF5EDA1802F}" sibTransId="{7DDDC6FD-AF16-4A53-B819-656C79F3932E}"/>
    <dgm:cxn modelId="{C064C653-D523-4B73-B549-40A570A7606B}" type="presOf" srcId="{46C02386-F1CA-434D-A82F-93433FD3D345}" destId="{7F3312BA-69D3-442F-B82A-B05F70439E2B}" srcOrd="0" destOrd="0" presId="urn:microsoft.com/office/officeart/2008/layout/VerticalCurvedList"/>
    <dgm:cxn modelId="{9732017D-71CA-44DB-A6F3-55EC042D1CD8}" type="presOf" srcId="{7759606E-8F8C-46E6-B4A5-E9D4FDF0A303}" destId="{55850409-4DE0-454C-A21C-B1F663681D7A}" srcOrd="0" destOrd="0" presId="urn:microsoft.com/office/officeart/2008/layout/VerticalCurvedList"/>
    <dgm:cxn modelId="{16B9EE9A-E111-4D9E-9CD9-D1F766F9D8D8}" srcId="{7759606E-8F8C-46E6-B4A5-E9D4FDF0A303}" destId="{E4DD2DCE-6ADE-42A0-8A00-C6F3F365A26B}" srcOrd="0" destOrd="0" parTransId="{DD953020-148C-4CC3-BC67-71AAF0BC95CE}" sibTransId="{95E61F59-8332-43EC-97E6-9194DD0F6BA5}"/>
    <dgm:cxn modelId="{288A80B8-99B6-4D71-A975-FE4C7AACB279}" type="presOf" srcId="{E4DD2DCE-6ADE-42A0-8A00-C6F3F365A26B}" destId="{F0B29C53-122E-4A18-AF50-18967326F7A7}" srcOrd="0" destOrd="0" presId="urn:microsoft.com/office/officeart/2008/layout/VerticalCurvedList"/>
    <dgm:cxn modelId="{3F4250DD-C633-4BA2-A64B-EF59FB6933AF}" type="presOf" srcId="{95E61F59-8332-43EC-97E6-9194DD0F6BA5}" destId="{FC97BD6D-CD99-4821-80ED-782211115F1A}" srcOrd="0" destOrd="0" presId="urn:microsoft.com/office/officeart/2008/layout/VerticalCurvedList"/>
    <dgm:cxn modelId="{8230AFCF-8038-4B0A-9AD5-191B05E4B705}" type="presParOf" srcId="{55850409-4DE0-454C-A21C-B1F663681D7A}" destId="{8E6B8565-0C85-42A9-9335-A8077DD5C6AA}" srcOrd="0" destOrd="0" presId="urn:microsoft.com/office/officeart/2008/layout/VerticalCurvedList"/>
    <dgm:cxn modelId="{2F984471-F7C7-4B69-AAE9-E895C6815C05}" type="presParOf" srcId="{8E6B8565-0C85-42A9-9335-A8077DD5C6AA}" destId="{B9E3A042-9F5D-48AF-997C-8315DAD36198}" srcOrd="0" destOrd="0" presId="urn:microsoft.com/office/officeart/2008/layout/VerticalCurvedList"/>
    <dgm:cxn modelId="{D3ABBE97-CAFD-4785-90C7-3F68944F1C64}" type="presParOf" srcId="{B9E3A042-9F5D-48AF-997C-8315DAD36198}" destId="{FB24CC59-8232-4E9A-BAB1-D60D51A29459}" srcOrd="0" destOrd="0" presId="urn:microsoft.com/office/officeart/2008/layout/VerticalCurvedList"/>
    <dgm:cxn modelId="{A79196C2-D204-4609-8824-1BBD901008E7}" type="presParOf" srcId="{B9E3A042-9F5D-48AF-997C-8315DAD36198}" destId="{FC97BD6D-CD99-4821-80ED-782211115F1A}" srcOrd="1" destOrd="0" presId="urn:microsoft.com/office/officeart/2008/layout/VerticalCurvedList"/>
    <dgm:cxn modelId="{CC8EB40E-3396-42AD-9138-846EC5C54EA8}" type="presParOf" srcId="{B9E3A042-9F5D-48AF-997C-8315DAD36198}" destId="{29E6EA9F-4111-4090-BC7A-02D89083AA83}" srcOrd="2" destOrd="0" presId="urn:microsoft.com/office/officeart/2008/layout/VerticalCurvedList"/>
    <dgm:cxn modelId="{2F8BD978-AF78-4EF0-AC06-232B51E45BF7}" type="presParOf" srcId="{B9E3A042-9F5D-48AF-997C-8315DAD36198}" destId="{A4208F82-C493-4577-B79D-AF15C3CCDFB0}" srcOrd="3" destOrd="0" presId="urn:microsoft.com/office/officeart/2008/layout/VerticalCurvedList"/>
    <dgm:cxn modelId="{88971A8B-D1C4-43A9-BB69-DA42E4F60E1F}" type="presParOf" srcId="{8E6B8565-0C85-42A9-9335-A8077DD5C6AA}" destId="{F0B29C53-122E-4A18-AF50-18967326F7A7}" srcOrd="1" destOrd="0" presId="urn:microsoft.com/office/officeart/2008/layout/VerticalCurvedList"/>
    <dgm:cxn modelId="{99D685F3-2EB9-4FE5-92B8-80003BD7EADB}" type="presParOf" srcId="{8E6B8565-0C85-42A9-9335-A8077DD5C6AA}" destId="{5DDD9621-F94A-400A-AEEF-5E415336D924}" srcOrd="2" destOrd="0" presId="urn:microsoft.com/office/officeart/2008/layout/VerticalCurvedList"/>
    <dgm:cxn modelId="{56B4C117-7C5B-4729-85BA-A5ED8ACA504B}" type="presParOf" srcId="{5DDD9621-F94A-400A-AEEF-5E415336D924}" destId="{A839D322-B1CB-4685-8BE1-D7C4CBA1DED5}" srcOrd="0" destOrd="0" presId="urn:microsoft.com/office/officeart/2008/layout/VerticalCurvedList"/>
    <dgm:cxn modelId="{BE63CC37-735E-4804-979D-D9705313D35F}" type="presParOf" srcId="{8E6B8565-0C85-42A9-9335-A8077DD5C6AA}" destId="{7F3312BA-69D3-442F-B82A-B05F70439E2B}" srcOrd="3" destOrd="0" presId="urn:microsoft.com/office/officeart/2008/layout/VerticalCurvedList"/>
    <dgm:cxn modelId="{9D6EA9D4-88FD-43B3-A70F-89A3190D72FE}" type="presParOf" srcId="{8E6B8565-0C85-42A9-9335-A8077DD5C6AA}" destId="{2EE8ADB2-DBF1-4560-934B-2321B71E4618}" srcOrd="4" destOrd="0" presId="urn:microsoft.com/office/officeart/2008/layout/VerticalCurvedList"/>
    <dgm:cxn modelId="{BCC0031B-CEF1-448F-9BCC-E42D754AA23B}" type="presParOf" srcId="{2EE8ADB2-DBF1-4560-934B-2321B71E4618}" destId="{B45A13D0-BCAB-4182-B0B2-95E4541F1250}" srcOrd="0" destOrd="0" presId="urn:microsoft.com/office/officeart/2008/layout/VerticalCurvedList"/>
  </dgm:cxnLst>
  <dgm:bg/>
  <dgm:whole>
    <a:ln>
      <a:noFill/>
    </a:ln>
  </dgm:whole>
  <dgm:extLst>
    <a:ext uri="http://schemas.microsoft.com/office/drawing/2008/diagram">
      <dsp:dataModelExt xmlns:dsp="http://schemas.microsoft.com/office/drawing/2008/diagram" relId="rId13"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7BD6D-CD99-4821-80ED-782211115F1A}">
      <dsp:nvSpPr>
        <dsp:cNvPr id="0" name=""/>
        <dsp:cNvSpPr/>
      </dsp:nvSpPr>
      <dsp:spPr>
        <a:xfrm>
          <a:off x="-6779623" y="-1044926"/>
          <a:ext cx="8133610" cy="8133610"/>
        </a:xfrm>
        <a:prstGeom prst="blockArc">
          <a:avLst>
            <a:gd name="adj1" fmla="val 18900000"/>
            <a:gd name="adj2" fmla="val 2700000"/>
            <a:gd name="adj3" fmla="val 266"/>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B29C53-122E-4A18-AF50-18967326F7A7}">
      <dsp:nvSpPr>
        <dsp:cNvPr id="0" name=""/>
        <dsp:cNvSpPr/>
      </dsp:nvSpPr>
      <dsp:spPr>
        <a:xfrm>
          <a:off x="1110993" y="863411"/>
          <a:ext cx="12079413" cy="1726580"/>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0473" tIns="165100" rIns="165100" bIns="165100" numCol="1" spcCol="1270" anchor="ctr" anchorCtr="0">
          <a:noAutofit/>
        </a:bodyPr>
        <a:lstStyle/>
        <a:p>
          <a:pPr marL="0" lvl="0" indent="0" algn="l" defTabSz="2889250">
            <a:lnSpc>
              <a:spcPct val="90000"/>
            </a:lnSpc>
            <a:spcBef>
              <a:spcPct val="0"/>
            </a:spcBef>
            <a:spcAft>
              <a:spcPct val="35000"/>
            </a:spcAft>
            <a:buNone/>
          </a:pPr>
          <a:r>
            <a:rPr lang="es-ES" sz="6500" kern="1200" noProof="0" dirty="0">
              <a:solidFill>
                <a:schemeClr val="tx1"/>
              </a:solidFill>
            </a:rPr>
            <a:t>OSINT</a:t>
          </a:r>
        </a:p>
      </dsp:txBody>
      <dsp:txXfrm>
        <a:off x="1110993" y="863411"/>
        <a:ext cx="12079413" cy="1726580"/>
      </dsp:txXfrm>
    </dsp:sp>
    <dsp:sp modelId="{A839D322-B1CB-4685-8BE1-D7C4CBA1DED5}">
      <dsp:nvSpPr>
        <dsp:cNvPr id="0" name=""/>
        <dsp:cNvSpPr/>
      </dsp:nvSpPr>
      <dsp:spPr>
        <a:xfrm>
          <a:off x="31880" y="647588"/>
          <a:ext cx="2158225" cy="2158225"/>
        </a:xfrm>
        <a:prstGeom prst="ellipse">
          <a:avLst/>
        </a:prstGeom>
        <a:solidFill>
          <a:schemeClr val="tx2">
            <a:lumMod val="40000"/>
            <a:lumOff val="60000"/>
          </a:schemeClr>
        </a:solidFill>
        <a:ln w="25400" cap="flat" cmpd="sng" algn="ctr">
          <a:solidFill>
            <a:schemeClr val="tx2">
              <a:lumMod val="75000"/>
            </a:schemeClr>
          </a:solidFill>
          <a:prstDash val="solid"/>
        </a:ln>
        <a:effectLst/>
      </dsp:spPr>
      <dsp:style>
        <a:lnRef idx="2">
          <a:scrgbClr r="0" g="0" b="0"/>
        </a:lnRef>
        <a:fillRef idx="1">
          <a:scrgbClr r="0" g="0" b="0"/>
        </a:fillRef>
        <a:effectRef idx="0">
          <a:scrgbClr r="0" g="0" b="0"/>
        </a:effectRef>
        <a:fontRef idx="minor"/>
      </dsp:style>
    </dsp:sp>
    <dsp:sp modelId="{7F3312BA-69D3-442F-B82A-B05F70439E2B}">
      <dsp:nvSpPr>
        <dsp:cNvPr id="0" name=""/>
        <dsp:cNvSpPr/>
      </dsp:nvSpPr>
      <dsp:spPr>
        <a:xfrm>
          <a:off x="1110993" y="3453765"/>
          <a:ext cx="12079413" cy="1726580"/>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0473" tIns="165100" rIns="165100" bIns="165100" numCol="1" spcCol="1270" anchor="ctr" anchorCtr="0">
          <a:noAutofit/>
        </a:bodyPr>
        <a:lstStyle/>
        <a:p>
          <a:pPr marL="0" lvl="0" indent="0" algn="l" defTabSz="2889250">
            <a:lnSpc>
              <a:spcPct val="90000"/>
            </a:lnSpc>
            <a:spcBef>
              <a:spcPct val="0"/>
            </a:spcBef>
            <a:spcAft>
              <a:spcPct val="35000"/>
            </a:spcAft>
            <a:buNone/>
          </a:pPr>
          <a:r>
            <a:rPr lang="es-ES" sz="6500" kern="1200" noProof="0" dirty="0">
              <a:solidFill>
                <a:schemeClr val="tx1"/>
              </a:solidFill>
            </a:rPr>
            <a:t>Primer Ministro</a:t>
          </a:r>
        </a:p>
      </dsp:txBody>
      <dsp:txXfrm>
        <a:off x="1110993" y="3453765"/>
        <a:ext cx="12079413" cy="1726580"/>
      </dsp:txXfrm>
    </dsp:sp>
    <dsp:sp modelId="{B45A13D0-BCAB-4182-B0B2-95E4541F1250}">
      <dsp:nvSpPr>
        <dsp:cNvPr id="0" name=""/>
        <dsp:cNvSpPr/>
      </dsp:nvSpPr>
      <dsp:spPr>
        <a:xfrm>
          <a:off x="31880" y="3237943"/>
          <a:ext cx="2158225" cy="2158225"/>
        </a:xfrm>
        <a:prstGeom prst="ellipse">
          <a:avLst/>
        </a:prstGeom>
        <a:solidFill>
          <a:schemeClr val="tx2">
            <a:lumMod val="40000"/>
            <a:lumOff val="60000"/>
          </a:schemeClr>
        </a:solidFill>
        <a:ln w="25400" cap="flat" cmpd="sng" algn="ctr">
          <a:solidFill>
            <a:schemeClr val="tx2">
              <a:lumMod val="7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F51AE8-90A8-870A-49D0-2BDD2D7B4554}"/>
              </a:ext>
            </a:extLst>
          </p:cNvPr>
          <p:cNvSpPr>
            <a:spLocks noGrp="1"/>
          </p:cNvSpPr>
          <p:nvPr>
            <p:ph type="hdr" sz="quarter"/>
          </p:nvPr>
        </p:nvSpPr>
        <p:spPr>
          <a:xfrm>
            <a:off x="0" y="1"/>
            <a:ext cx="3169648" cy="48102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88B923C-8259-7FDF-D9F2-299EA0FC459D}"/>
              </a:ext>
            </a:extLst>
          </p:cNvPr>
          <p:cNvSpPr>
            <a:spLocks noGrp="1"/>
          </p:cNvSpPr>
          <p:nvPr>
            <p:ph type="dt" sz="quarter" idx="1"/>
          </p:nvPr>
        </p:nvSpPr>
        <p:spPr>
          <a:xfrm>
            <a:off x="4143918" y="1"/>
            <a:ext cx="3169647" cy="481028"/>
          </a:xfrm>
          <a:prstGeom prst="rect">
            <a:avLst/>
          </a:prstGeom>
        </p:spPr>
        <p:txBody>
          <a:bodyPr vert="horz" lIns="91440" tIns="45720" rIns="91440" bIns="45720" rtlCol="0"/>
          <a:lstStyle>
            <a:lvl1pPr algn="r">
              <a:defRPr sz="1200"/>
            </a:lvl1pPr>
          </a:lstStyle>
          <a:p>
            <a:fld id="{015E3AD2-40B0-4F99-937A-D0A0F002AB29}" type="datetimeFigureOut">
              <a:rPr lang="en-US" smtClean="0"/>
              <a:t>2025-11-07</a:t>
            </a:fld>
            <a:endParaRPr lang="en-US"/>
          </a:p>
        </p:txBody>
      </p:sp>
      <p:sp>
        <p:nvSpPr>
          <p:cNvPr id="4" name="Footer Placeholder 3">
            <a:extLst>
              <a:ext uri="{FF2B5EF4-FFF2-40B4-BE49-F238E27FC236}">
                <a16:creationId xmlns:a16="http://schemas.microsoft.com/office/drawing/2014/main" id="{94BA6D2B-BF0D-8C58-634D-94DCAECBE5E8}"/>
              </a:ext>
            </a:extLst>
          </p:cNvPr>
          <p:cNvSpPr>
            <a:spLocks noGrp="1"/>
          </p:cNvSpPr>
          <p:nvPr>
            <p:ph type="ftr" sz="quarter" idx="2"/>
          </p:nvPr>
        </p:nvSpPr>
        <p:spPr>
          <a:xfrm>
            <a:off x="0" y="9120172"/>
            <a:ext cx="3169648" cy="48102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B8F1CE9-8452-23DE-8909-8EC324374DB8}"/>
              </a:ext>
            </a:extLst>
          </p:cNvPr>
          <p:cNvSpPr>
            <a:spLocks noGrp="1"/>
          </p:cNvSpPr>
          <p:nvPr>
            <p:ph type="sldNum" sz="quarter" idx="3"/>
          </p:nvPr>
        </p:nvSpPr>
        <p:spPr>
          <a:xfrm>
            <a:off x="4143918" y="9120172"/>
            <a:ext cx="3169647" cy="481028"/>
          </a:xfrm>
          <a:prstGeom prst="rect">
            <a:avLst/>
          </a:prstGeom>
        </p:spPr>
        <p:txBody>
          <a:bodyPr vert="horz" lIns="91440" tIns="45720" rIns="91440" bIns="45720" rtlCol="0" anchor="b"/>
          <a:lstStyle>
            <a:lvl1pPr algn="r">
              <a:defRPr sz="1200"/>
            </a:lvl1pPr>
          </a:lstStyle>
          <a:p>
            <a:fld id="{902CADBA-101E-42C7-856F-4A2DBB86ABA4}" type="slidenum">
              <a:rPr lang="en-US" smtClean="0"/>
              <a:t>‹#›</a:t>
            </a:fld>
            <a:endParaRPr lang="en-US"/>
          </a:p>
        </p:txBody>
      </p:sp>
    </p:spTree>
    <p:extLst>
      <p:ext uri="{BB962C8B-B14F-4D97-AF65-F5344CB8AC3E}">
        <p14:creationId xmlns:p14="http://schemas.microsoft.com/office/powerpoint/2010/main" val="17958236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9100" y="153988"/>
            <a:ext cx="6477000" cy="3643312"/>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124582" y="3942791"/>
            <a:ext cx="7086578" cy="536130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4143588" y="9119474"/>
            <a:ext cx="3169920" cy="481726"/>
          </a:xfrm>
          <a:prstGeom prst="rect">
            <a:avLst/>
          </a:prstGeom>
        </p:spPr>
        <p:txBody>
          <a:bodyPr vert="horz" lIns="96661" tIns="48331" rIns="96661" bIns="48331" rtlCol="0" anchor="b"/>
          <a:lstStyle>
            <a:lvl1pPr algn="r">
              <a:defRPr sz="1300"/>
            </a:lvl1pPr>
          </a:lstStyle>
          <a:p>
            <a:fld id="{26117B31-01B5-445C-AEDA-E1B74E69A8E6}" type="slidenum">
              <a:rPr lang="en-US" smtClean="0"/>
              <a:t>‹#›</a:t>
            </a:fld>
            <a:endParaRPr lang="en-US"/>
          </a:p>
        </p:txBody>
      </p:sp>
    </p:spTree>
    <p:extLst>
      <p:ext uri="{BB962C8B-B14F-4D97-AF65-F5344CB8AC3E}">
        <p14:creationId xmlns:p14="http://schemas.microsoft.com/office/powerpoint/2010/main" val="1701370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mailto:lmontenegro@spm-advogados.com"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a:t>
            </a:fld>
            <a:endParaRPr lang="en-US"/>
          </a:p>
        </p:txBody>
      </p:sp>
    </p:spTree>
    <p:extLst>
      <p:ext uri="{BB962C8B-B14F-4D97-AF65-F5344CB8AC3E}">
        <p14:creationId xmlns:p14="http://schemas.microsoft.com/office/powerpoint/2010/main" val="3532954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2913" y="153988"/>
            <a:ext cx="6477000" cy="3643312"/>
          </a:xfrm>
        </p:spPr>
      </p:sp>
      <p:sp>
        <p:nvSpPr>
          <p:cNvPr id="3" name="Notes Placeholder 2"/>
          <p:cNvSpPr>
            <a:spLocks noGrp="1"/>
          </p:cNvSpPr>
          <p:nvPr>
            <p:ph type="body" idx="1"/>
          </p:nvPr>
        </p:nvSpPr>
        <p:spPr/>
        <p:txBody>
          <a:bodyPr/>
          <a:lstStyle/>
          <a:p>
            <a:r>
              <a:rPr lang="pt-PT" sz="2000" dirty="0" err="1"/>
              <a:t>Hola</a:t>
            </a:r>
            <a:r>
              <a:rPr lang="pt-PT" sz="2000" dirty="0"/>
              <a:t> a todos y </a:t>
            </a:r>
            <a:r>
              <a:rPr lang="pt-PT" sz="2000" dirty="0" err="1"/>
              <a:t>bienvenidos</a:t>
            </a:r>
            <a:r>
              <a:rPr lang="pt-PT" sz="2000" dirty="0"/>
              <a:t>. Mi </a:t>
            </a:r>
            <a:r>
              <a:rPr lang="pt-PT" sz="2000" dirty="0" err="1"/>
              <a:t>nombre</a:t>
            </a:r>
            <a:r>
              <a:rPr lang="pt-PT" sz="2000" dirty="0"/>
              <a:t> </a:t>
            </a:r>
            <a:r>
              <a:rPr lang="pt-PT" sz="2000" dirty="0" err="1"/>
              <a:t>es</a:t>
            </a:r>
            <a:r>
              <a:rPr lang="pt-PT" sz="2000" dirty="0"/>
              <a:t> Pedro Vieira.</a:t>
            </a:r>
            <a:endParaRPr lang="es-ES" sz="2000" dirty="0"/>
          </a:p>
          <a:p>
            <a:endParaRPr lang="es-ES" sz="2000" dirty="0"/>
          </a:p>
          <a:p>
            <a:r>
              <a:rPr lang="es-ES" sz="2000" dirty="0"/>
              <a:t>Antes de empezar, una confesión:</a:t>
            </a:r>
          </a:p>
          <a:p>
            <a:endParaRPr lang="es-ES" sz="2000" dirty="0"/>
          </a:p>
          <a:p>
            <a:r>
              <a:rPr lang="es-ES" sz="2000" dirty="0"/>
              <a:t>Mi español viene de una fuente muy especial:</a:t>
            </a:r>
            <a:br>
              <a:rPr lang="es-ES" sz="2000" dirty="0"/>
            </a:br>
            <a:endParaRPr lang="es-ES" sz="2000" dirty="0"/>
          </a:p>
          <a:p>
            <a:r>
              <a:rPr lang="es-ES" sz="2000" b="1" dirty="0"/>
              <a:t>¡la serie “Verano Azul”!</a:t>
            </a:r>
          </a:p>
          <a:p>
            <a:endParaRPr lang="es-ES" sz="2000" b="1" dirty="0"/>
          </a:p>
          <a:p>
            <a:r>
              <a:rPr lang="es-ES" sz="2000" dirty="0"/>
              <a:t>Espero que mi español no sea un crimen lingüístico.</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a:t>
            </a:fld>
            <a:endParaRPr lang="en-US"/>
          </a:p>
        </p:txBody>
      </p:sp>
    </p:spTree>
    <p:extLst>
      <p:ext uri="{BB962C8B-B14F-4D97-AF65-F5344CB8AC3E}">
        <p14:creationId xmlns:p14="http://schemas.microsoft.com/office/powerpoint/2010/main" val="3609281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3312"/>
          </a:xfrm>
        </p:spPr>
      </p:sp>
      <p:sp>
        <p:nvSpPr>
          <p:cNvPr id="3" name="Notes Placeholder 2"/>
          <p:cNvSpPr>
            <a:spLocks noGrp="1"/>
          </p:cNvSpPr>
          <p:nvPr>
            <p:ph type="body" idx="1"/>
          </p:nvPr>
        </p:nvSpPr>
        <p:spPr/>
        <p:txBody>
          <a:bodyPr/>
          <a:lstStyle/>
          <a:p>
            <a:pPr defTabSz="966612">
              <a:defRPr/>
            </a:pPr>
            <a:r>
              <a:rPr lang="pt-PT" sz="2000" dirty="0" err="1"/>
              <a:t>Permítanme</a:t>
            </a:r>
            <a:r>
              <a:rPr lang="pt-PT" sz="2000" dirty="0"/>
              <a:t> </a:t>
            </a:r>
            <a:r>
              <a:rPr lang="pt-PT" sz="2000" dirty="0" err="1"/>
              <a:t>presentarme</a:t>
            </a:r>
            <a:r>
              <a:rPr lang="pt-PT" sz="2000" dirty="0"/>
              <a:t> brevemente. </a:t>
            </a:r>
          </a:p>
          <a:p>
            <a:pPr defTabSz="966612">
              <a:defRPr/>
            </a:pPr>
            <a:endParaRPr lang="pt-PT" sz="2000" dirty="0"/>
          </a:p>
          <a:p>
            <a:pPr defTabSz="966612">
              <a:defRPr/>
            </a:pPr>
            <a:r>
              <a:rPr lang="pt-PT" sz="2000" dirty="0" err="1"/>
              <a:t>Soy</a:t>
            </a:r>
            <a:r>
              <a:rPr lang="pt-PT" sz="2000" dirty="0"/>
              <a:t> Pedro Vieira, </a:t>
            </a:r>
            <a:r>
              <a:rPr lang="pt-PT" sz="2000" dirty="0" err="1"/>
              <a:t>Ingeniero</a:t>
            </a:r>
            <a:r>
              <a:rPr lang="pt-PT" sz="2000" dirty="0"/>
              <a:t> de </a:t>
            </a:r>
            <a:r>
              <a:rPr lang="pt-PT" sz="2000" dirty="0" err="1"/>
              <a:t>Ciberseguridad</a:t>
            </a:r>
            <a:r>
              <a:rPr lang="pt-PT" sz="2000" dirty="0"/>
              <a:t>, </a:t>
            </a:r>
            <a:r>
              <a:rPr lang="pt-PT" sz="2000" dirty="0" err="1"/>
              <a:t>desarrollador</a:t>
            </a:r>
            <a:r>
              <a:rPr lang="pt-PT" sz="2000" dirty="0"/>
              <a:t> </a:t>
            </a:r>
            <a:r>
              <a:rPr lang="pt-PT" sz="2000" dirty="0" err="1"/>
              <a:t>full</a:t>
            </a:r>
            <a:r>
              <a:rPr lang="pt-PT" sz="2000" dirty="0"/>
              <a:t> </a:t>
            </a:r>
            <a:r>
              <a:rPr lang="pt-PT" sz="2000" dirty="0" err="1"/>
              <a:t>stack</a:t>
            </a:r>
            <a:r>
              <a:rPr lang="pt-PT" sz="2000" dirty="0"/>
              <a:t> y especialista </a:t>
            </a:r>
            <a:r>
              <a:rPr lang="pt-PT" sz="2000" dirty="0" err="1"/>
              <a:t>en</a:t>
            </a:r>
            <a:r>
              <a:rPr lang="pt-PT" sz="2000" dirty="0"/>
              <a:t> OSINT.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a:t>
            </a:fld>
            <a:endParaRPr lang="en-US"/>
          </a:p>
        </p:txBody>
      </p:sp>
    </p:spTree>
    <p:extLst>
      <p:ext uri="{BB962C8B-B14F-4D97-AF65-F5344CB8AC3E}">
        <p14:creationId xmlns:p14="http://schemas.microsoft.com/office/powerpoint/2010/main" val="1453795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3312"/>
          </a:xfrm>
        </p:spPr>
      </p:sp>
      <p:sp>
        <p:nvSpPr>
          <p:cNvPr id="3" name="Notes Placeholder 2"/>
          <p:cNvSpPr>
            <a:spLocks noGrp="1"/>
          </p:cNvSpPr>
          <p:nvPr>
            <p:ph type="body" idx="1"/>
          </p:nvPr>
        </p:nvSpPr>
        <p:spPr/>
        <p:txBody>
          <a:bodyPr/>
          <a:lstStyle/>
          <a:p>
            <a:r>
              <a:rPr lang="pt-PT" sz="2000" dirty="0"/>
              <a:t>'</a:t>
            </a:r>
            <a:r>
              <a:rPr lang="pt-PT" sz="2000" dirty="0" err="1"/>
              <a:t>Negocios</a:t>
            </a:r>
            <a:r>
              <a:rPr lang="pt-PT" sz="2000" dirty="0"/>
              <a:t> Privados, </a:t>
            </a:r>
            <a:r>
              <a:rPr lang="pt-PT" sz="2000" dirty="0" err="1"/>
              <a:t>Consecuencias</a:t>
            </a:r>
            <a:r>
              <a:rPr lang="pt-PT" sz="2000" dirty="0"/>
              <a:t> Públicas’. </a:t>
            </a:r>
          </a:p>
          <a:p>
            <a:endParaRPr lang="pt-PT" sz="2000" dirty="0"/>
          </a:p>
          <a:p>
            <a:r>
              <a:rPr lang="es-ES" sz="2000" dirty="0"/>
              <a:t>Hoy vamos a desgranar un caso de estudio muy potente que demuestra cómo la información que está ahí fuera, al alcance de cualquiera, puede llegar a tener unas consecuencias políticas de primer nivel. </a:t>
            </a:r>
            <a:endParaRPr lang="en-US" sz="2000" dirty="0"/>
          </a:p>
          <a:p>
            <a:endParaRPr lang="es-ES" sz="2000" dirty="0"/>
          </a:p>
          <a:p>
            <a:r>
              <a:rPr lang="es-ES" sz="2000" dirty="0"/>
              <a:t>Y la pregunta que va a guiar toda esta charla es precisamente esa, ¿cómo es posible que unos datos que están a la vista de todos puedan tener la fuerza suficiente como para provocar la caída de un gobierno entero? </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4</a:t>
            </a:fld>
            <a:endParaRPr lang="en-US"/>
          </a:p>
        </p:txBody>
      </p:sp>
    </p:spTree>
    <p:extLst>
      <p:ext uri="{BB962C8B-B14F-4D97-AF65-F5344CB8AC3E}">
        <p14:creationId xmlns:p14="http://schemas.microsoft.com/office/powerpoint/2010/main" val="1332774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3312"/>
          </a:xfrm>
        </p:spPr>
      </p:sp>
      <p:sp>
        <p:nvSpPr>
          <p:cNvPr id="3" name="Notes Placeholder 2"/>
          <p:cNvSpPr>
            <a:spLocks noGrp="1"/>
          </p:cNvSpPr>
          <p:nvPr>
            <p:ph type="body" idx="1"/>
          </p:nvPr>
        </p:nvSpPr>
        <p:spPr/>
        <p:txBody>
          <a:bodyPr/>
          <a:lstStyle/>
          <a:p>
            <a:r>
              <a:rPr lang="pt-PT" sz="2000" dirty="0" err="1"/>
              <a:t>Ahora</a:t>
            </a:r>
            <a:r>
              <a:rPr lang="pt-PT" sz="2000" dirty="0"/>
              <a:t>, </a:t>
            </a:r>
            <a:r>
              <a:rPr lang="pt-PT" sz="2000" dirty="0" err="1"/>
              <a:t>algunos</a:t>
            </a:r>
            <a:r>
              <a:rPr lang="pt-PT" sz="2000" dirty="0"/>
              <a:t> </a:t>
            </a:r>
            <a:r>
              <a:rPr lang="pt-PT" sz="2000" dirty="0" err="1"/>
              <a:t>puntos</a:t>
            </a:r>
            <a:r>
              <a:rPr lang="pt-PT" sz="2000" dirty="0"/>
              <a:t> importantes. </a:t>
            </a:r>
          </a:p>
          <a:p>
            <a:endParaRPr lang="pt-PT" sz="2000" b="1" dirty="0"/>
          </a:p>
          <a:p>
            <a:r>
              <a:rPr lang="pt-PT" sz="2000" b="1" dirty="0"/>
              <a:t>Esta </a:t>
            </a:r>
            <a:r>
              <a:rPr lang="pt-PT" sz="2000" b="1" dirty="0" err="1"/>
              <a:t>presentación</a:t>
            </a:r>
            <a:r>
              <a:rPr lang="pt-PT" sz="2000" b="1" dirty="0"/>
              <a:t> </a:t>
            </a:r>
            <a:r>
              <a:rPr lang="pt-PT" sz="2000" b="1" dirty="0" err="1"/>
              <a:t>tiene</a:t>
            </a:r>
            <a:r>
              <a:rPr lang="pt-PT" sz="2000" b="1" dirty="0"/>
              <a:t> fines exclusivamente educativos y de </a:t>
            </a:r>
            <a:r>
              <a:rPr lang="pt-PT" sz="2000" b="1" dirty="0" err="1"/>
              <a:t>concienciación</a:t>
            </a:r>
            <a:r>
              <a:rPr lang="pt-PT" sz="2000" b="1" dirty="0"/>
              <a:t>. No </a:t>
            </a:r>
            <a:r>
              <a:rPr lang="pt-PT" sz="2000" b="1" dirty="0" err="1"/>
              <a:t>es</a:t>
            </a:r>
            <a:r>
              <a:rPr lang="pt-PT" sz="2000" b="1" dirty="0"/>
              <a:t> una </a:t>
            </a:r>
            <a:r>
              <a:rPr lang="pt-PT" sz="2000" b="1" dirty="0" err="1"/>
              <a:t>declaración</a:t>
            </a:r>
            <a:r>
              <a:rPr lang="pt-PT" sz="2000" b="1" dirty="0"/>
              <a:t> política</a:t>
            </a:r>
            <a:r>
              <a:rPr lang="pt-PT" sz="2000" dirty="0"/>
              <a:t>. </a:t>
            </a:r>
          </a:p>
          <a:p>
            <a:endParaRPr lang="pt-PT" sz="2000" dirty="0"/>
          </a:p>
          <a:p>
            <a:r>
              <a:rPr lang="pt-PT" sz="2000" dirty="0" err="1"/>
              <a:t>Es</a:t>
            </a:r>
            <a:r>
              <a:rPr lang="pt-PT" sz="2000" dirty="0"/>
              <a:t> crucial que cada uno de </a:t>
            </a:r>
            <a:r>
              <a:rPr lang="pt-PT" sz="2000" dirty="0" err="1"/>
              <a:t>ustedes</a:t>
            </a:r>
            <a:r>
              <a:rPr lang="pt-PT" sz="2000" dirty="0"/>
              <a:t> verifique la </a:t>
            </a:r>
            <a:r>
              <a:rPr lang="pt-PT" sz="2000" dirty="0" err="1"/>
              <a:t>legalidad</a:t>
            </a:r>
            <a:r>
              <a:rPr lang="pt-PT" sz="2000" dirty="0"/>
              <a:t> de las </a:t>
            </a:r>
            <a:r>
              <a:rPr lang="pt-PT" sz="2000" dirty="0" err="1"/>
              <a:t>herramientas</a:t>
            </a:r>
            <a:r>
              <a:rPr lang="pt-PT" sz="2000" dirty="0"/>
              <a:t> y métodos OSINT </a:t>
            </a:r>
            <a:r>
              <a:rPr lang="pt-PT" sz="2000" dirty="0" err="1"/>
              <a:t>en</a:t>
            </a:r>
            <a:r>
              <a:rPr lang="pt-PT" sz="2000" dirty="0"/>
              <a:t> </a:t>
            </a:r>
            <a:r>
              <a:rPr lang="pt-PT" sz="2000" dirty="0" err="1"/>
              <a:t>su</a:t>
            </a:r>
            <a:r>
              <a:rPr lang="pt-PT" sz="2000" dirty="0"/>
              <a:t> </a:t>
            </a:r>
            <a:r>
              <a:rPr lang="pt-PT" sz="2000" dirty="0" err="1"/>
              <a:t>propio</a:t>
            </a:r>
            <a:r>
              <a:rPr lang="pt-PT" sz="2000" dirty="0"/>
              <a:t> país. </a:t>
            </a:r>
          </a:p>
          <a:p>
            <a:endParaRPr lang="pt-PT" sz="2000" dirty="0"/>
          </a:p>
          <a:p>
            <a:r>
              <a:rPr lang="pt-PT" sz="2000" dirty="0" err="1"/>
              <a:t>Además</a:t>
            </a:r>
            <a:r>
              <a:rPr lang="pt-PT" sz="2000" dirty="0"/>
              <a:t>, lo que presento </a:t>
            </a:r>
            <a:r>
              <a:rPr lang="pt-PT" sz="2000" dirty="0" err="1"/>
              <a:t>aquí</a:t>
            </a:r>
            <a:r>
              <a:rPr lang="pt-PT" sz="2000" dirty="0"/>
              <a:t> no está relacionado de </a:t>
            </a:r>
            <a:r>
              <a:rPr lang="pt-PT" sz="2000" dirty="0" err="1"/>
              <a:t>ninguna</a:t>
            </a:r>
            <a:r>
              <a:rPr lang="pt-PT" sz="2000" dirty="0"/>
              <a:t> </a:t>
            </a:r>
            <a:r>
              <a:rPr lang="pt-PT" sz="2000" dirty="0" err="1"/>
              <a:t>manera</a:t>
            </a:r>
            <a:r>
              <a:rPr lang="pt-PT" sz="2000" dirty="0"/>
              <a:t> </a:t>
            </a:r>
            <a:r>
              <a:rPr lang="pt-PT" sz="2000" dirty="0" err="1"/>
              <a:t>con</a:t>
            </a:r>
            <a:r>
              <a:rPr lang="pt-PT" sz="2000" dirty="0"/>
              <a:t> mi </a:t>
            </a:r>
            <a:r>
              <a:rPr lang="pt-PT" sz="2000" dirty="0" err="1"/>
              <a:t>trabajo</a:t>
            </a:r>
            <a:r>
              <a:rPr lang="pt-PT" sz="2000" dirty="0"/>
              <a:t> o mi </a:t>
            </a:r>
            <a:r>
              <a:rPr lang="pt-PT" sz="2000" dirty="0" err="1"/>
              <a:t>empleador</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5</a:t>
            </a:fld>
            <a:endParaRPr lang="en-US"/>
          </a:p>
        </p:txBody>
      </p:sp>
    </p:spTree>
    <p:extLst>
      <p:ext uri="{BB962C8B-B14F-4D97-AF65-F5344CB8AC3E}">
        <p14:creationId xmlns:p14="http://schemas.microsoft.com/office/powerpoint/2010/main" val="74069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3312"/>
          </a:xfrm>
        </p:spPr>
      </p:sp>
      <p:sp>
        <p:nvSpPr>
          <p:cNvPr id="3" name="Notes Placeholder 2"/>
          <p:cNvSpPr>
            <a:spLocks noGrp="1"/>
          </p:cNvSpPr>
          <p:nvPr>
            <p:ph type="body" idx="1"/>
          </p:nvPr>
        </p:nvSpPr>
        <p:spPr/>
        <p:txBody>
          <a:bodyPr/>
          <a:lstStyle/>
          <a:p>
            <a:r>
              <a:rPr lang="pt-PT" sz="2000" dirty="0" err="1"/>
              <a:t>Nuestra</a:t>
            </a:r>
            <a:r>
              <a:rPr lang="pt-PT" sz="2000" dirty="0"/>
              <a:t> agenda para </a:t>
            </a:r>
            <a:r>
              <a:rPr lang="pt-PT" sz="2000" dirty="0" err="1"/>
              <a:t>hoy</a:t>
            </a:r>
            <a:r>
              <a:rPr lang="pt-PT" sz="2000" dirty="0"/>
              <a:t> </a:t>
            </a:r>
            <a:r>
              <a:rPr lang="pt-PT" sz="2000" dirty="0" err="1"/>
              <a:t>es</a:t>
            </a:r>
            <a:r>
              <a:rPr lang="pt-PT" sz="2000" dirty="0"/>
              <a:t> </a:t>
            </a:r>
            <a:r>
              <a:rPr lang="pt-PT" sz="2000" dirty="0" err="1"/>
              <a:t>simple</a:t>
            </a:r>
            <a:r>
              <a:rPr lang="pt-PT" sz="2000" dirty="0"/>
              <a:t>: </a:t>
            </a:r>
            <a:r>
              <a:rPr lang="pt-PT" sz="2000" dirty="0" err="1"/>
              <a:t>hablaremos</a:t>
            </a:r>
            <a:r>
              <a:rPr lang="pt-PT" sz="2000" dirty="0"/>
              <a:t> de OSINT y </a:t>
            </a:r>
            <a:r>
              <a:rPr lang="pt-PT" sz="2000" dirty="0" err="1"/>
              <a:t>luego</a:t>
            </a:r>
            <a:r>
              <a:rPr lang="pt-PT" sz="2000" dirty="0"/>
              <a:t> aplicaremos estos </a:t>
            </a:r>
            <a:r>
              <a:rPr lang="pt-PT" sz="2000" dirty="0" err="1"/>
              <a:t>conceptos</a:t>
            </a:r>
            <a:r>
              <a:rPr lang="pt-PT" sz="2000" dirty="0"/>
              <a:t> al caso </a:t>
            </a:r>
            <a:r>
              <a:rPr lang="pt-PT" sz="2000" dirty="0" err="1"/>
              <a:t>del</a:t>
            </a:r>
            <a:r>
              <a:rPr lang="pt-PT" sz="2000" dirty="0"/>
              <a:t> </a:t>
            </a:r>
            <a:r>
              <a:rPr lang="pt-PT" sz="2000" dirty="0" err="1"/>
              <a:t>Primer</a:t>
            </a:r>
            <a:r>
              <a:rPr lang="pt-PT" sz="2000" dirty="0"/>
              <a:t> Ministro.</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6</a:t>
            </a:fld>
            <a:endParaRPr lang="en-US"/>
          </a:p>
        </p:txBody>
      </p:sp>
    </p:spTree>
    <p:extLst>
      <p:ext uri="{BB962C8B-B14F-4D97-AF65-F5344CB8AC3E}">
        <p14:creationId xmlns:p14="http://schemas.microsoft.com/office/powerpoint/2010/main" val="988181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7</a:t>
            </a:fld>
            <a:endParaRPr lang="en-US"/>
          </a:p>
        </p:txBody>
      </p:sp>
    </p:spTree>
    <p:extLst>
      <p:ext uri="{BB962C8B-B14F-4D97-AF65-F5344CB8AC3E}">
        <p14:creationId xmlns:p14="http://schemas.microsoft.com/office/powerpoint/2010/main" val="4237167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r>
              <a:rPr lang="es-ES" sz="2000" dirty="0"/>
              <a:t>A ver, ¿qué es exactamente el OSINT?</a:t>
            </a:r>
          </a:p>
          <a:p>
            <a:endParaRPr lang="es-ES" sz="2000" dirty="0"/>
          </a:p>
          <a:p>
            <a:r>
              <a:rPr lang="es-ES" sz="2000" dirty="0"/>
              <a:t>Pensemos en ello como el arte de ser un </a:t>
            </a:r>
            <a:r>
              <a:rPr lang="es-ES" sz="2000" dirty="0" err="1"/>
              <a:t>detectiva</a:t>
            </a:r>
            <a:r>
              <a:rPr lang="es-ES" sz="2000" dirty="0"/>
              <a:t> en la era digital.</a:t>
            </a:r>
          </a:p>
          <a:p>
            <a:endParaRPr lang="es-ES" sz="2000" dirty="0"/>
          </a:p>
          <a:p>
            <a:r>
              <a:rPr lang="es-ES" sz="2000" dirty="0"/>
              <a:t>Se trata de recopilar piezas de un </a:t>
            </a:r>
            <a:r>
              <a:rPr lang="es-ES" sz="2000" dirty="0" err="1"/>
              <a:t>puzzle</a:t>
            </a:r>
            <a:r>
              <a:rPr lang="es-ES" sz="2000" dirty="0"/>
              <a:t> que están esparcidas por internet a la vista de todos y unirlas para revelar una imagen completa que nadie había visto antes.</a:t>
            </a:r>
          </a:p>
          <a:p>
            <a:endParaRPr lang="en-US" sz="2000" dirty="0"/>
          </a:p>
          <a:p>
            <a:r>
              <a:rPr lang="es-ES" sz="2000" dirty="0"/>
              <a:t>Y las herramientas no son nada del otro mundo. </a:t>
            </a:r>
          </a:p>
          <a:p>
            <a:endParaRPr lang="es-ES" sz="2000" dirty="0"/>
          </a:p>
          <a:p>
            <a:r>
              <a:rPr lang="es-ES" sz="2000" dirty="0"/>
              <a:t>Páginas web del gobierno, registros públicos, buscadores, archivos de empresas, incluso las redes sociales. </a:t>
            </a:r>
          </a:p>
          <a:p>
            <a:endParaRPr lang="es-ES" sz="2000" dirty="0"/>
          </a:p>
          <a:p>
            <a:r>
              <a:rPr lang="es-ES" sz="2000" dirty="0"/>
              <a:t>La magia no está tanto en las herramientas, sino en saber cómo tirar del hilo. </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8</a:t>
            </a:fld>
            <a:endParaRPr lang="en-US"/>
          </a:p>
        </p:txBody>
      </p:sp>
    </p:spTree>
    <p:extLst>
      <p:ext uri="{BB962C8B-B14F-4D97-AF65-F5344CB8AC3E}">
        <p14:creationId xmlns:p14="http://schemas.microsoft.com/office/powerpoint/2010/main" val="1005731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r>
              <a:rPr lang="es-ES" sz="2000" dirty="0"/>
              <a:t>Bueno, pues nuestro caso práctico nos lleva a Portugal y se centra en una figura política de altísimo nivel, el primer ministro, Luis Montenegro.</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9</a:t>
            </a:fld>
            <a:endParaRPr lang="en-US"/>
          </a:p>
        </p:txBody>
      </p:sp>
    </p:spTree>
    <p:extLst>
      <p:ext uri="{BB962C8B-B14F-4D97-AF65-F5344CB8AC3E}">
        <p14:creationId xmlns:p14="http://schemas.microsoft.com/office/powerpoint/2010/main" val="1695372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pPr defTabSz="966612"/>
            <a:r>
              <a:rPr lang="es-ES" sz="2000" dirty="0"/>
              <a:t>Lo que se descubrió sobre él utilizando solo fuentes abiertas, desató una tormenta política en toda regla.</a:t>
            </a:r>
          </a:p>
          <a:p>
            <a:pPr defTabSz="966612"/>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10</a:t>
            </a:fld>
            <a:endParaRPr lang="en-US"/>
          </a:p>
        </p:txBody>
      </p:sp>
    </p:spTree>
    <p:extLst>
      <p:ext uri="{BB962C8B-B14F-4D97-AF65-F5344CB8AC3E}">
        <p14:creationId xmlns:p14="http://schemas.microsoft.com/office/powerpoint/2010/main" val="1041974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r>
              <a:rPr lang="es-ES" sz="2000" dirty="0"/>
              <a:t>Vamos a ver el primer paso. </a:t>
            </a:r>
          </a:p>
          <a:p>
            <a:endParaRPr lang="es-ES" sz="2000" dirty="0"/>
          </a:p>
          <a:p>
            <a:r>
              <a:rPr lang="es-ES" sz="2000" dirty="0"/>
              <a:t>Cada investigación que se precie empieza por un punto de partida, y en este caso nos fuimos al sitio más obvio y sobre todo más oficial, el propio portal del gobierno portugués.</a:t>
            </a:r>
            <a:endParaRPr lang="en-US" sz="2000" dirty="0"/>
          </a:p>
          <a:p>
            <a:endParaRPr lang="pt-PT" sz="2000" dirty="0"/>
          </a:p>
          <a:p>
            <a:r>
              <a:rPr lang="pt-PT" sz="2000" dirty="0" err="1"/>
              <a:t>Un</a:t>
            </a:r>
            <a:r>
              <a:rPr lang="pt-PT" sz="2000" dirty="0"/>
              <a:t> excelente </a:t>
            </a:r>
            <a:r>
              <a:rPr lang="pt-PT" sz="2000" dirty="0" err="1"/>
              <a:t>punto</a:t>
            </a:r>
            <a:r>
              <a:rPr lang="pt-PT" sz="2000" dirty="0"/>
              <a:t> de partida </a:t>
            </a:r>
            <a:r>
              <a:rPr lang="pt-PT" sz="2000" dirty="0" err="1"/>
              <a:t>son</a:t>
            </a:r>
            <a:r>
              <a:rPr lang="pt-PT" sz="2000" dirty="0"/>
              <a:t> los </a:t>
            </a:r>
            <a:r>
              <a:rPr lang="pt-PT" sz="2000" dirty="0" err="1"/>
              <a:t>portales</a:t>
            </a:r>
            <a:r>
              <a:rPr lang="pt-PT" sz="2000" dirty="0"/>
              <a:t> </a:t>
            </a:r>
            <a:r>
              <a:rPr lang="pt-PT" sz="2000" dirty="0" err="1"/>
              <a:t>gubernamentales</a:t>
            </a:r>
            <a:r>
              <a:rPr lang="pt-PT" sz="2000" dirty="0"/>
              <a:t>, donde podemos encontrar </a:t>
            </a:r>
            <a:r>
              <a:rPr lang="pt-PT" sz="2000" dirty="0" err="1"/>
              <a:t>información</a:t>
            </a:r>
            <a:r>
              <a:rPr lang="pt-PT" sz="2000" dirty="0"/>
              <a:t> sobre </a:t>
            </a:r>
            <a:r>
              <a:rPr lang="pt-PT" sz="2000" dirty="0" err="1"/>
              <a:t>administraciones</a:t>
            </a:r>
            <a:r>
              <a:rPr lang="pt-PT" sz="2000" dirty="0"/>
              <a:t> anteriores y </a:t>
            </a:r>
            <a:r>
              <a:rPr lang="pt-PT" sz="2000" dirty="0" err="1"/>
              <a:t>funcionarios</a:t>
            </a:r>
            <a:r>
              <a:rPr lang="pt-PT" sz="2000" dirty="0"/>
              <a:t>. </a:t>
            </a:r>
          </a:p>
          <a:p>
            <a:endParaRPr lang="pt-PT"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11</a:t>
            </a:fld>
            <a:endParaRPr lang="en-US"/>
          </a:p>
        </p:txBody>
      </p:sp>
    </p:spTree>
    <p:extLst>
      <p:ext uri="{BB962C8B-B14F-4D97-AF65-F5344CB8AC3E}">
        <p14:creationId xmlns:p14="http://schemas.microsoft.com/office/powerpoint/2010/main" val="2876826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4900"/>
          </a:xfrm>
        </p:spPr>
      </p:sp>
      <p:sp>
        <p:nvSpPr>
          <p:cNvPr id="3" name="Notes Placeholder 2"/>
          <p:cNvSpPr>
            <a:spLocks noGrp="1"/>
          </p:cNvSpPr>
          <p:nvPr>
            <p:ph type="body" idx="1"/>
          </p:nvPr>
        </p:nvSpPr>
        <p:spPr/>
        <p:txBody>
          <a:bodyPr/>
          <a:lstStyle/>
          <a:p>
            <a:r>
              <a:rPr lang="pt-PT" sz="2000" dirty="0" err="1"/>
              <a:t>Aquí</a:t>
            </a:r>
            <a:r>
              <a:rPr lang="pt-PT" sz="2000" dirty="0"/>
              <a:t> vemos los </a:t>
            </a:r>
            <a:r>
              <a:rPr lang="pt-PT" sz="2000" dirty="0" err="1"/>
              <a:t>datos</a:t>
            </a:r>
            <a:r>
              <a:rPr lang="pt-PT" sz="2000" dirty="0"/>
              <a:t> </a:t>
            </a:r>
            <a:r>
              <a:rPr lang="pt-PT" sz="2000" dirty="0" err="1"/>
              <a:t>iniciales</a:t>
            </a:r>
            <a:r>
              <a:rPr lang="pt-PT" sz="2000" dirty="0"/>
              <a:t> de Luís Montenegro </a:t>
            </a:r>
            <a:r>
              <a:rPr lang="pt-PT" sz="2000" dirty="0" err="1"/>
              <a:t>obtenidos</a:t>
            </a:r>
            <a:r>
              <a:rPr lang="pt-PT" sz="2000" dirty="0"/>
              <a:t> </a:t>
            </a:r>
            <a:r>
              <a:rPr lang="pt-PT" sz="2000" dirty="0" err="1"/>
              <a:t>del</a:t>
            </a:r>
            <a:r>
              <a:rPr lang="pt-PT" sz="2000" dirty="0"/>
              <a:t> 'Portal do Governo’. </a:t>
            </a:r>
          </a:p>
          <a:p>
            <a:endParaRPr lang="pt-PT" sz="2000" dirty="0"/>
          </a:p>
          <a:p>
            <a:r>
              <a:rPr lang="es-ES" sz="2000" dirty="0"/>
              <a:t>Esto nos proporciona los primeros datos biográficos y profesionales sobre nuestro objetivo. </a:t>
            </a:r>
          </a:p>
          <a:p>
            <a:endParaRPr lang="es-ES" sz="2000" dirty="0"/>
          </a:p>
          <a:p>
            <a:r>
              <a:rPr lang="es-ES" sz="2000" dirty="0"/>
              <a:t>Vale, aquí tenemos la información básica, nombre, fecha de nacimiento, su carrera, pero lo importante para un analista de OSINT es que cada uno de estos datos es un posible pivote. </a:t>
            </a:r>
          </a:p>
          <a:p>
            <a:endParaRPr lang="pt-PT" sz="2000" dirty="0"/>
          </a:p>
          <a:p>
            <a:r>
              <a:rPr lang="pt-PT" sz="2000" dirty="0"/>
              <a:t>La clave </a:t>
            </a:r>
            <a:r>
              <a:rPr lang="pt-PT" sz="2000" dirty="0" err="1"/>
              <a:t>aquí</a:t>
            </a:r>
            <a:r>
              <a:rPr lang="pt-PT" sz="2000" dirty="0"/>
              <a:t> </a:t>
            </a:r>
            <a:r>
              <a:rPr lang="pt-PT" sz="2000" dirty="0" err="1"/>
              <a:t>es</a:t>
            </a:r>
            <a:r>
              <a:rPr lang="pt-PT" sz="2000" dirty="0"/>
              <a:t> recordar que </a:t>
            </a:r>
            <a:r>
              <a:rPr lang="pt-PT" sz="2000" b="1" dirty="0"/>
              <a:t>cada dato </a:t>
            </a:r>
            <a:r>
              <a:rPr lang="pt-PT" sz="2000" b="1" dirty="0" err="1"/>
              <a:t>puede</a:t>
            </a:r>
            <a:r>
              <a:rPr lang="pt-PT" sz="2000" b="1" dirty="0"/>
              <a:t> </a:t>
            </a:r>
            <a:r>
              <a:rPr lang="pt-PT" sz="2000" b="1" dirty="0" err="1"/>
              <a:t>conducir</a:t>
            </a:r>
            <a:r>
              <a:rPr lang="pt-PT" sz="2000" b="1" dirty="0"/>
              <a:t> a más </a:t>
            </a:r>
            <a:r>
              <a:rPr lang="pt-PT" sz="2000" b="1" dirty="0" err="1"/>
              <a:t>información</a:t>
            </a:r>
            <a:r>
              <a:rPr lang="pt-PT" sz="2000" b="1" dirty="0"/>
              <a:t>. </a:t>
            </a:r>
            <a:r>
              <a:rPr lang="pt-PT" sz="2000" b="1" dirty="0" err="1"/>
              <a:t>Hay</a:t>
            </a:r>
            <a:r>
              <a:rPr lang="pt-PT" sz="2000" b="1" dirty="0"/>
              <a:t> que </a:t>
            </a:r>
            <a:r>
              <a:rPr lang="pt-PT" sz="2000" b="1" dirty="0" err="1"/>
              <a:t>investigarlo</a:t>
            </a:r>
            <a:r>
              <a:rPr lang="pt-PT" sz="2000" b="1" dirty="0"/>
              <a:t> todo</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12</a:t>
            </a:fld>
            <a:endParaRPr lang="en-US"/>
          </a:p>
        </p:txBody>
      </p:sp>
    </p:spTree>
    <p:extLst>
      <p:ext uri="{BB962C8B-B14F-4D97-AF65-F5344CB8AC3E}">
        <p14:creationId xmlns:p14="http://schemas.microsoft.com/office/powerpoint/2010/main" val="2864305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4338" y="153988"/>
            <a:ext cx="6477000" cy="3643312"/>
          </a:xfrm>
        </p:spPr>
      </p:sp>
      <p:sp>
        <p:nvSpPr>
          <p:cNvPr id="3" name="Notes Placeholder 2"/>
          <p:cNvSpPr>
            <a:spLocks noGrp="1"/>
          </p:cNvSpPr>
          <p:nvPr>
            <p:ph type="body" idx="1"/>
          </p:nvPr>
        </p:nvSpPr>
        <p:spPr/>
        <p:txBody>
          <a:bodyPr/>
          <a:lstStyle/>
          <a:p>
            <a:r>
              <a:rPr lang="es-ES" sz="2000" dirty="0"/>
              <a:t>Siendo una figura política, el siguiente paso es de manual, el registro de intereses del parlamento. </a:t>
            </a:r>
          </a:p>
          <a:p>
            <a:endParaRPr lang="es-ES" sz="2000" dirty="0"/>
          </a:p>
          <a:p>
            <a:pPr defTabSz="966612"/>
            <a:r>
              <a:rPr lang="pt-PT" sz="2000" dirty="0"/>
              <a:t>Una </a:t>
            </a:r>
            <a:r>
              <a:rPr lang="pt-PT" sz="2000" dirty="0" err="1"/>
              <a:t>fuente</a:t>
            </a:r>
            <a:r>
              <a:rPr lang="pt-PT" sz="2000" dirty="0"/>
              <a:t> </a:t>
            </a:r>
            <a:r>
              <a:rPr lang="pt-PT" sz="2000" dirty="0" err="1"/>
              <a:t>muy</a:t>
            </a:r>
            <a:r>
              <a:rPr lang="pt-PT" sz="2000" dirty="0"/>
              <a:t> valiosa </a:t>
            </a:r>
            <a:r>
              <a:rPr lang="pt-PT" sz="2000" dirty="0" err="1"/>
              <a:t>aquí</a:t>
            </a:r>
            <a:r>
              <a:rPr lang="pt-PT" sz="2000" dirty="0"/>
              <a:t> </a:t>
            </a:r>
            <a:r>
              <a:rPr lang="pt-PT" sz="2000" dirty="0" err="1"/>
              <a:t>es</a:t>
            </a:r>
            <a:r>
              <a:rPr lang="pt-PT" sz="2000" dirty="0"/>
              <a:t> el registro de </a:t>
            </a:r>
            <a:r>
              <a:rPr lang="pt-PT" sz="2000" dirty="0" err="1"/>
              <a:t>intereses</a:t>
            </a:r>
            <a:r>
              <a:rPr lang="pt-PT" sz="2000" dirty="0"/>
              <a:t>. </a:t>
            </a:r>
          </a:p>
          <a:p>
            <a:endParaRPr lang="es-ES" sz="2000" dirty="0"/>
          </a:p>
          <a:p>
            <a:r>
              <a:rPr lang="es-ES" sz="2000" dirty="0"/>
              <a:t>Esto, creedme, suele ser una auténtica mina de oro para descubrir posibles conflictos. </a:t>
            </a:r>
            <a:endParaRPr lang="en-US" sz="2000" dirty="0"/>
          </a:p>
          <a:p>
            <a:pPr defTabSz="966612">
              <a:defRPr/>
            </a:pPr>
            <a:endParaRPr lang="pt-PT" sz="2000" dirty="0"/>
          </a:p>
          <a:p>
            <a:pPr defTabSz="966612">
              <a:defRPr/>
            </a:pPr>
            <a:r>
              <a:rPr lang="pt-PT" sz="2000" dirty="0"/>
              <a:t>Al consultar este registro, enriquecemos </a:t>
            </a:r>
            <a:r>
              <a:rPr lang="pt-PT" sz="2000" dirty="0" err="1"/>
              <a:t>nuestro</a:t>
            </a:r>
            <a:r>
              <a:rPr lang="pt-PT" sz="2000" dirty="0"/>
              <a:t> perfil. </a:t>
            </a:r>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13</a:t>
            </a:fld>
            <a:endParaRPr lang="en-US"/>
          </a:p>
        </p:txBody>
      </p:sp>
    </p:spTree>
    <p:extLst>
      <p:ext uri="{BB962C8B-B14F-4D97-AF65-F5344CB8AC3E}">
        <p14:creationId xmlns:p14="http://schemas.microsoft.com/office/powerpoint/2010/main" val="1726550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r>
              <a:rPr lang="es-ES" sz="2000" dirty="0"/>
              <a:t>Y efectivamente la imagen se vuelve mucho más nítida. </a:t>
            </a:r>
          </a:p>
          <a:p>
            <a:endParaRPr lang="es-ES" sz="2000" dirty="0"/>
          </a:p>
          <a:p>
            <a:r>
              <a:rPr lang="es-ES" sz="2000" dirty="0"/>
              <a:t>De repente tenemos su nombre completo, el nombre de su cónyuge y, lo más importante, una lista de sus participaciones en empresas. </a:t>
            </a:r>
            <a:r>
              <a:rPr lang="es-ES" sz="2000" b="1" dirty="0"/>
              <a:t>Esto es clave.</a:t>
            </a:r>
            <a:endParaRPr lang="en-US" sz="2000" b="1" dirty="0"/>
          </a:p>
          <a:p>
            <a:pPr defTabSz="966612">
              <a:defRPr/>
            </a:pPr>
            <a:endParaRPr lang="pt-PT" sz="2000" dirty="0"/>
          </a:p>
          <a:p>
            <a:pPr defTabSz="966612">
              <a:defRPr/>
            </a:pPr>
            <a:r>
              <a:rPr lang="pt-PT" sz="2000" dirty="0"/>
              <a:t>Como </a:t>
            </a:r>
            <a:r>
              <a:rPr lang="pt-PT" sz="2000" dirty="0" err="1"/>
              <a:t>ven</a:t>
            </a:r>
            <a:r>
              <a:rPr lang="pt-PT" sz="2000" dirty="0"/>
              <a:t>, empezamos a construir una </a:t>
            </a:r>
            <a:r>
              <a:rPr lang="pt-PT" sz="2000" dirty="0" err="1"/>
              <a:t>red</a:t>
            </a:r>
            <a:r>
              <a:rPr lang="pt-PT" sz="2000" dirty="0"/>
              <a:t> de conexiones: </a:t>
            </a:r>
            <a:r>
              <a:rPr lang="pt-PT" sz="2000" dirty="0" err="1"/>
              <a:t>familia</a:t>
            </a:r>
            <a:r>
              <a:rPr lang="pt-PT" sz="2000" dirty="0"/>
              <a:t>, empresas...."</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14</a:t>
            </a:fld>
            <a:endParaRPr lang="en-US"/>
          </a:p>
        </p:txBody>
      </p:sp>
    </p:spTree>
    <p:extLst>
      <p:ext uri="{BB962C8B-B14F-4D97-AF65-F5344CB8AC3E}">
        <p14:creationId xmlns:p14="http://schemas.microsoft.com/office/powerpoint/2010/main" val="733756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153988"/>
            <a:ext cx="6477000" cy="3643312"/>
          </a:xfrm>
        </p:spPr>
      </p:sp>
      <p:sp>
        <p:nvSpPr>
          <p:cNvPr id="3" name="Notes Placeholder 2"/>
          <p:cNvSpPr>
            <a:spLocks noGrp="1"/>
          </p:cNvSpPr>
          <p:nvPr>
            <p:ph type="body" idx="1"/>
          </p:nvPr>
        </p:nvSpPr>
        <p:spPr/>
        <p:txBody>
          <a:bodyPr/>
          <a:lstStyle/>
          <a:p>
            <a:pPr defTabSz="966612">
              <a:defRPr/>
            </a:pPr>
            <a:r>
              <a:rPr lang="es-ES" sz="2000" dirty="0"/>
              <a:t>Nuestro perfil de inteligencia va cogiendo cuerpo, pero todavía nos faltan piezas clave, como su número de identificación fiscal, el NIF. </a:t>
            </a:r>
          </a:p>
          <a:p>
            <a:pPr defTabSz="966612">
              <a:defRPr/>
            </a:pPr>
            <a:endParaRPr lang="es-ES" sz="2000" dirty="0"/>
          </a:p>
          <a:p>
            <a:pPr defTabSz="966612">
              <a:defRPr/>
            </a:pPr>
            <a:r>
              <a:rPr lang="es-ES" sz="2000" dirty="0"/>
              <a:t>el «Diário da República </a:t>
            </a:r>
            <a:r>
              <a:rPr lang="es-ES" sz="2000" dirty="0" err="1"/>
              <a:t>Eletrónico</a:t>
            </a:r>
            <a:r>
              <a:rPr lang="es-ES" sz="2000" dirty="0"/>
              <a:t>» es una publicación clave para anuncios legales y gubernamentales. </a:t>
            </a:r>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15</a:t>
            </a:fld>
            <a:endParaRPr lang="en-US"/>
          </a:p>
        </p:txBody>
      </p:sp>
    </p:spTree>
    <p:extLst>
      <p:ext uri="{BB962C8B-B14F-4D97-AF65-F5344CB8AC3E}">
        <p14:creationId xmlns:p14="http://schemas.microsoft.com/office/powerpoint/2010/main" val="3803275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3312"/>
          </a:xfrm>
        </p:spPr>
      </p:sp>
      <p:sp>
        <p:nvSpPr>
          <p:cNvPr id="3" name="Notes Placeholder 2"/>
          <p:cNvSpPr>
            <a:spLocks noGrp="1"/>
          </p:cNvSpPr>
          <p:nvPr>
            <p:ph type="body" idx="1"/>
          </p:nvPr>
        </p:nvSpPr>
        <p:spPr/>
        <p:txBody>
          <a:bodyPr/>
          <a:lstStyle/>
          <a:p>
            <a:pPr defTabSz="966612">
              <a:defRPr/>
            </a:pPr>
            <a:r>
              <a:rPr lang="es-ES" sz="1800" dirty="0"/>
              <a:t>Aquí enumeramos varias empresas asociadas con Luís Montenegro, enfatizando la importancia de las conexiones corporativas en las investigaciones de OSINT. </a:t>
            </a:r>
          </a:p>
          <a:p>
            <a:pPr defTabSz="966612">
              <a:defRPr/>
            </a:pPr>
            <a:endParaRPr lang="es-ES" sz="1800" dirty="0"/>
          </a:p>
          <a:p>
            <a:pPr defTabSz="966612">
              <a:defRPr/>
            </a:pPr>
            <a:r>
              <a:rPr lang="es-ES" sz="1800" dirty="0"/>
              <a:t>Comprender las relaciones entre las personas y sus intereses comerciales puede revelar posibles conflictos de intereses y agendas ocultas. </a:t>
            </a:r>
          </a:p>
          <a:p>
            <a:pPr defTabSz="966612">
              <a:defRPr/>
            </a:pPr>
            <a:endParaRPr lang="es-ES" sz="1800" dirty="0"/>
          </a:p>
          <a:p>
            <a:pPr defTabSz="966612">
              <a:defRPr/>
            </a:pPr>
            <a:r>
              <a:rPr lang="es-ES" sz="1800" dirty="0"/>
              <a:t>Con los nombres de estas empresas en la mano, ya podemos pivotar hacia registros </a:t>
            </a:r>
            <a:r>
              <a:rPr lang="es-ES" sz="1800" dirty="0" err="1"/>
              <a:t>mercanteles</a:t>
            </a:r>
            <a:r>
              <a:rPr lang="es-ES" sz="1800" dirty="0"/>
              <a:t>. Los registros mercantiles son fundamentales. </a:t>
            </a:r>
          </a:p>
          <a:p>
            <a:pPr defTabSz="966612">
              <a:defRPr/>
            </a:pPr>
            <a:endParaRPr lang="es-ES" sz="1800" dirty="0"/>
          </a:p>
          <a:p>
            <a:pPr defTabSz="966612">
              <a:defRPr/>
            </a:pPr>
            <a:r>
              <a:rPr lang="es-ES" sz="1800" dirty="0"/>
              <a:t>Al buscar las empresas, es muy habitual encontrar documentos oficiales que contienen el número de identificación fiscal de los directores, y en muchos sistemas, el NIF es la llave maestra para desbloquear muchísima más información. </a:t>
            </a:r>
            <a:endParaRPr lang="en-US" sz="1800" dirty="0"/>
          </a:p>
          <a:p>
            <a:pPr defTabSz="966612">
              <a:defRPr/>
            </a:pPr>
            <a:endParaRPr lang="es-ES" sz="1800" dirty="0"/>
          </a:p>
          <a:p>
            <a:r>
              <a:rPr lang="pt-PT" sz="1800" b="1" dirty="0"/>
              <a:t>Cada empresa </a:t>
            </a:r>
            <a:r>
              <a:rPr lang="pt-PT" sz="1800" b="1" dirty="0" err="1"/>
              <a:t>es</a:t>
            </a:r>
            <a:r>
              <a:rPr lang="pt-PT" sz="1800" b="1" dirty="0"/>
              <a:t> </a:t>
            </a:r>
            <a:r>
              <a:rPr lang="pt-PT" sz="1800" b="1" dirty="0" err="1"/>
              <a:t>un</a:t>
            </a:r>
            <a:r>
              <a:rPr lang="pt-PT" sz="1800" b="1" dirty="0"/>
              <a:t> </a:t>
            </a:r>
            <a:r>
              <a:rPr lang="pt-PT" sz="1800" b="1" dirty="0" err="1"/>
              <a:t>nuevo</a:t>
            </a:r>
            <a:r>
              <a:rPr lang="pt-PT" sz="1800" b="1" dirty="0"/>
              <a:t> hilo </a:t>
            </a:r>
            <a:r>
              <a:rPr lang="pt-PT" sz="1800" b="1" dirty="0" err="1"/>
              <a:t>del</a:t>
            </a:r>
            <a:r>
              <a:rPr lang="pt-PT" sz="1800" b="1" dirty="0"/>
              <a:t> que tirar</a:t>
            </a:r>
            <a:r>
              <a:rPr lang="pt-PT" sz="1800" dirty="0"/>
              <a:t>: </a:t>
            </a:r>
            <a:r>
              <a:rPr lang="pt-PT" sz="1800" dirty="0" err="1"/>
              <a:t>socios</a:t>
            </a:r>
            <a:r>
              <a:rPr lang="pt-PT" sz="1800" dirty="0"/>
              <a:t> </a:t>
            </a:r>
            <a:r>
              <a:rPr lang="pt-PT" sz="1800" dirty="0" err="1"/>
              <a:t>comerciales</a:t>
            </a:r>
            <a:r>
              <a:rPr lang="pt-PT" sz="1800" dirty="0"/>
              <a:t>, clientes, etc..</a:t>
            </a:r>
            <a:endParaRPr lang="en-US" sz="18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16</a:t>
            </a:fld>
            <a:endParaRPr lang="en-US" dirty="0"/>
          </a:p>
        </p:txBody>
      </p:sp>
    </p:spTree>
    <p:extLst>
      <p:ext uri="{BB962C8B-B14F-4D97-AF65-F5344CB8AC3E}">
        <p14:creationId xmlns:p14="http://schemas.microsoft.com/office/powerpoint/2010/main" val="2190943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r>
              <a:rPr lang="pt-PT" sz="2000" dirty="0"/>
              <a:t>Las </a:t>
            </a:r>
            <a:r>
              <a:rPr lang="pt-PT" sz="2000" dirty="0" err="1"/>
              <a:t>publicaciones</a:t>
            </a:r>
            <a:r>
              <a:rPr lang="pt-PT" sz="2000" dirty="0"/>
              <a:t> de </a:t>
            </a:r>
            <a:r>
              <a:rPr lang="pt-PT" sz="2000" dirty="0" err="1"/>
              <a:t>actos</a:t>
            </a:r>
            <a:r>
              <a:rPr lang="pt-PT" sz="2000" dirty="0"/>
              <a:t> </a:t>
            </a:r>
            <a:r>
              <a:rPr lang="pt-PT" sz="2000" dirty="0" err="1"/>
              <a:t>societarios</a:t>
            </a:r>
            <a:r>
              <a:rPr lang="pt-PT" sz="2000" dirty="0"/>
              <a:t> </a:t>
            </a:r>
            <a:r>
              <a:rPr lang="pt-PT" sz="2000" dirty="0" err="1"/>
              <a:t>del</a:t>
            </a:r>
            <a:r>
              <a:rPr lang="pt-PT" sz="2000" dirty="0"/>
              <a:t> </a:t>
            </a:r>
            <a:r>
              <a:rPr lang="pt-PT" sz="2000" dirty="0" err="1"/>
              <a:t>Ministerio</a:t>
            </a:r>
            <a:r>
              <a:rPr lang="pt-PT" sz="2000" dirty="0"/>
              <a:t> de </a:t>
            </a:r>
            <a:r>
              <a:rPr lang="pt-PT" sz="2000" dirty="0" err="1"/>
              <a:t>Justicia</a:t>
            </a:r>
            <a:r>
              <a:rPr lang="pt-PT" sz="2000" dirty="0"/>
              <a:t> </a:t>
            </a:r>
            <a:r>
              <a:rPr lang="pt-PT" sz="2000" dirty="0" err="1"/>
              <a:t>son</a:t>
            </a:r>
            <a:r>
              <a:rPr lang="pt-PT" sz="2000" dirty="0"/>
              <a:t> </a:t>
            </a:r>
            <a:r>
              <a:rPr lang="pt-PT" sz="2000" dirty="0" err="1"/>
              <a:t>otra</a:t>
            </a:r>
            <a:r>
              <a:rPr lang="pt-PT" sz="2000" dirty="0"/>
              <a:t> mina de oro. </a:t>
            </a:r>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17</a:t>
            </a:fld>
            <a:endParaRPr lang="en-US"/>
          </a:p>
        </p:txBody>
      </p:sp>
    </p:spTree>
    <p:extLst>
      <p:ext uri="{BB962C8B-B14F-4D97-AF65-F5344CB8AC3E}">
        <p14:creationId xmlns:p14="http://schemas.microsoft.com/office/powerpoint/2010/main" val="3529846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1800" y="225425"/>
            <a:ext cx="6477000" cy="3643313"/>
          </a:xfrm>
        </p:spPr>
      </p:sp>
      <p:sp>
        <p:nvSpPr>
          <p:cNvPr id="3" name="Notes Placeholder 2"/>
          <p:cNvSpPr>
            <a:spLocks noGrp="1"/>
          </p:cNvSpPr>
          <p:nvPr>
            <p:ph type="body" idx="1"/>
          </p:nvPr>
        </p:nvSpPr>
        <p:spPr/>
        <p:txBody>
          <a:bodyPr/>
          <a:lstStyle/>
          <a:p>
            <a:pPr defTabSz="966612">
              <a:defRPr/>
            </a:pPr>
            <a:r>
              <a:rPr lang="es-ES" sz="2000" dirty="0"/>
              <a:t>Siguiendo con el enfoque en SP&amp;M, esta diapositiva proporciona detalles específicos sobre el bufete de abogados asociado con Luís Montenegro. </a:t>
            </a:r>
          </a:p>
          <a:p>
            <a:pPr defTabSz="966612">
              <a:defRPr/>
            </a:pPr>
            <a:endParaRPr lang="es-ES" sz="2000" dirty="0"/>
          </a:p>
          <a:p>
            <a:pPr defTabSz="966612">
              <a:defRPr/>
            </a:pPr>
            <a:r>
              <a:rPr lang="es-ES" sz="2000" dirty="0"/>
              <a:t>Y ahí está, este es un momento clásico en una investigación OSINT. Un solo dato, el registro de la empresa nos acaba de regalar dos piezas cruciales, su NIF personal y una dirección. </a:t>
            </a:r>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18</a:t>
            </a:fld>
            <a:endParaRPr lang="en-US"/>
          </a:p>
        </p:txBody>
      </p:sp>
    </p:spTree>
    <p:extLst>
      <p:ext uri="{BB962C8B-B14F-4D97-AF65-F5344CB8AC3E}">
        <p14:creationId xmlns:p14="http://schemas.microsoft.com/office/powerpoint/2010/main" val="877503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225425"/>
            <a:ext cx="6477000" cy="3643313"/>
          </a:xfrm>
        </p:spPr>
      </p:sp>
      <p:sp>
        <p:nvSpPr>
          <p:cNvPr id="3" name="Notes Placeholder 2"/>
          <p:cNvSpPr>
            <a:spLocks noGrp="1"/>
          </p:cNvSpPr>
          <p:nvPr>
            <p:ph type="body" idx="1"/>
          </p:nvPr>
        </p:nvSpPr>
        <p:spPr/>
        <p:txBody>
          <a:bodyPr/>
          <a:lstStyle/>
          <a:p>
            <a:pPr defTabSz="966612">
              <a:defRPr/>
            </a:pPr>
            <a:r>
              <a:rPr lang="pt-PT" sz="2000" dirty="0"/>
              <a:t>A través de estos registros, </a:t>
            </a:r>
            <a:r>
              <a:rPr lang="pt-PT" sz="2000" dirty="0" err="1"/>
              <a:t>obtenemos</a:t>
            </a:r>
            <a:r>
              <a:rPr lang="pt-PT" sz="2000" dirty="0"/>
              <a:t> </a:t>
            </a:r>
            <a:r>
              <a:rPr lang="pt-PT" sz="2000" dirty="0" err="1"/>
              <a:t>datos</a:t>
            </a:r>
            <a:r>
              <a:rPr lang="pt-PT" sz="2000" dirty="0"/>
              <a:t> </a:t>
            </a:r>
            <a:r>
              <a:rPr lang="pt-PT" sz="2000" dirty="0" err="1"/>
              <a:t>cruciales</a:t>
            </a:r>
            <a:r>
              <a:rPr lang="pt-PT" sz="2000" dirty="0"/>
              <a:t> que antes no </a:t>
            </a:r>
            <a:r>
              <a:rPr lang="pt-PT" sz="2000" dirty="0" err="1"/>
              <a:t>teníamos</a:t>
            </a:r>
            <a:r>
              <a:rPr lang="pt-PT" sz="2000" dirty="0"/>
              <a:t>, como </a:t>
            </a:r>
            <a:r>
              <a:rPr lang="pt-PT" sz="2000" dirty="0" err="1"/>
              <a:t>su</a:t>
            </a:r>
            <a:r>
              <a:rPr lang="pt-PT" sz="2000" dirty="0"/>
              <a:t> número de </a:t>
            </a:r>
            <a:r>
              <a:rPr lang="pt-PT" sz="2000" dirty="0" err="1"/>
              <a:t>identificación</a:t>
            </a:r>
            <a:r>
              <a:rPr lang="pt-PT" sz="2000" dirty="0"/>
              <a:t> fiscal (NIF) y, </a:t>
            </a:r>
            <a:r>
              <a:rPr lang="pt-PT" sz="2000" dirty="0" err="1"/>
              <a:t>muy</a:t>
            </a:r>
            <a:r>
              <a:rPr lang="pt-PT" sz="2000" dirty="0"/>
              <a:t> importante, </a:t>
            </a:r>
            <a:r>
              <a:rPr lang="pt-PT" sz="2000" dirty="0" err="1"/>
              <a:t>su</a:t>
            </a:r>
            <a:r>
              <a:rPr lang="pt-PT" sz="2000" dirty="0"/>
              <a:t> </a:t>
            </a:r>
            <a:r>
              <a:rPr lang="pt-PT" sz="2000" dirty="0" err="1"/>
              <a:t>dirección</a:t>
            </a:r>
            <a:r>
              <a:rPr lang="pt-PT" sz="2000" dirty="0"/>
              <a:t> </a:t>
            </a:r>
            <a:r>
              <a:rPr lang="pt-PT" sz="2000" dirty="0" err="1"/>
              <a:t>personal</a:t>
            </a:r>
            <a:r>
              <a:rPr lang="pt-PT" sz="2000" dirty="0"/>
              <a:t> </a:t>
            </a:r>
            <a:r>
              <a:rPr lang="pt-PT" sz="2000" dirty="0" err="1"/>
              <a:t>en</a:t>
            </a:r>
            <a:r>
              <a:rPr lang="pt-PT" sz="2000" dirty="0"/>
              <a:t> Espinho.</a:t>
            </a:r>
          </a:p>
          <a:p>
            <a:pPr defTabSz="966612">
              <a:defRPr/>
            </a:pPr>
            <a:endParaRPr lang="pt-PT" sz="2000" dirty="0"/>
          </a:p>
          <a:p>
            <a:pPr defTabSz="966612">
              <a:defRPr/>
            </a:pPr>
            <a:r>
              <a:rPr lang="pt-PT" sz="2000" dirty="0"/>
              <a:t>Una </a:t>
            </a:r>
            <a:r>
              <a:rPr lang="pt-PT" sz="2000" dirty="0" err="1"/>
              <a:t>dirección</a:t>
            </a:r>
            <a:r>
              <a:rPr lang="pt-PT" sz="2000" dirty="0"/>
              <a:t> </a:t>
            </a:r>
            <a:r>
              <a:rPr lang="pt-PT" sz="2000" dirty="0" err="1"/>
              <a:t>es</a:t>
            </a:r>
            <a:r>
              <a:rPr lang="pt-PT" sz="2000" dirty="0"/>
              <a:t> </a:t>
            </a:r>
            <a:r>
              <a:rPr lang="pt-PT" sz="2000" dirty="0" err="1"/>
              <a:t>un</a:t>
            </a:r>
            <a:r>
              <a:rPr lang="pt-PT" sz="2000" dirty="0"/>
              <a:t> identificador </a:t>
            </a:r>
            <a:r>
              <a:rPr lang="pt-PT" sz="2000" dirty="0" err="1"/>
              <a:t>casi</a:t>
            </a:r>
            <a:r>
              <a:rPr lang="pt-PT" sz="2000" dirty="0"/>
              <a:t> único que nos </a:t>
            </a:r>
            <a:r>
              <a:rPr lang="pt-PT" sz="2000" dirty="0" err="1"/>
              <a:t>puede</a:t>
            </a:r>
            <a:r>
              <a:rPr lang="pt-PT" sz="2000" dirty="0"/>
              <a:t> abrir muchas </a:t>
            </a:r>
            <a:r>
              <a:rPr lang="pt-PT" sz="2000" dirty="0" err="1"/>
              <a:t>puertas</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19</a:t>
            </a:fld>
            <a:endParaRPr lang="en-US"/>
          </a:p>
        </p:txBody>
      </p:sp>
    </p:spTree>
    <p:extLst>
      <p:ext uri="{BB962C8B-B14F-4D97-AF65-F5344CB8AC3E}">
        <p14:creationId xmlns:p14="http://schemas.microsoft.com/office/powerpoint/2010/main" val="1377446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1325" y="300038"/>
            <a:ext cx="6475413" cy="3641725"/>
          </a:xfrm>
        </p:spPr>
      </p:sp>
      <p:sp>
        <p:nvSpPr>
          <p:cNvPr id="3" name="Notes Placeholder 2"/>
          <p:cNvSpPr>
            <a:spLocks noGrp="1"/>
          </p:cNvSpPr>
          <p:nvPr>
            <p:ph type="body" idx="1"/>
          </p:nvPr>
        </p:nvSpPr>
        <p:spPr/>
        <p:txBody>
          <a:bodyPr/>
          <a:lstStyle/>
          <a:p>
            <a:pPr defTabSz="966612">
              <a:defRPr/>
            </a:pPr>
            <a:r>
              <a:rPr lang="pt-PT" sz="2000" dirty="0"/>
              <a:t>Usando </a:t>
            </a:r>
            <a:r>
              <a:rPr lang="pt-PT" sz="2000" dirty="0" err="1"/>
              <a:t>portales</a:t>
            </a:r>
            <a:r>
              <a:rPr lang="pt-PT" sz="2000" dirty="0"/>
              <a:t> de </a:t>
            </a:r>
            <a:r>
              <a:rPr lang="pt-PT" sz="2000" dirty="0" err="1"/>
              <a:t>información</a:t>
            </a:r>
            <a:r>
              <a:rPr lang="pt-PT" sz="2000" dirty="0"/>
              <a:t> de empresas como '</a:t>
            </a:r>
            <a:r>
              <a:rPr lang="pt-PT" sz="2000" dirty="0" err="1"/>
              <a:t>einforma</a:t>
            </a:r>
            <a:r>
              <a:rPr lang="pt-PT" sz="2000" dirty="0"/>
              <a:t>', </a:t>
            </a:r>
            <a:r>
              <a:rPr lang="pt-PT" sz="2000" dirty="0" err="1"/>
              <a:t>descubrimos</a:t>
            </a:r>
            <a:r>
              <a:rPr lang="pt-PT" sz="2000" dirty="0"/>
              <a:t> que el </a:t>
            </a:r>
            <a:r>
              <a:rPr lang="pt-PT" sz="2000" dirty="0" err="1"/>
              <a:t>nombre</a:t>
            </a:r>
            <a:r>
              <a:rPr lang="pt-PT" sz="2000" dirty="0"/>
              <a:t> anterior de la firma era 'SOUSA PINHEIRO &amp; MONTENEGRO’. </a:t>
            </a:r>
          </a:p>
          <a:p>
            <a:pPr defTabSz="966612">
              <a:defRPr/>
            </a:pPr>
            <a:endParaRPr lang="pt-PT" sz="2000" dirty="0"/>
          </a:p>
          <a:p>
            <a:pPr defTabSz="966612">
              <a:defRPr/>
            </a:pPr>
            <a:r>
              <a:rPr lang="pt-PT" sz="2000" dirty="0" err="1"/>
              <a:t>También</a:t>
            </a:r>
            <a:r>
              <a:rPr lang="pt-PT" sz="2000" dirty="0"/>
              <a:t> </a:t>
            </a:r>
            <a:r>
              <a:rPr lang="pt-PT" sz="2000" dirty="0" err="1"/>
              <a:t>obtenemos</a:t>
            </a:r>
            <a:r>
              <a:rPr lang="pt-PT" sz="2000" dirty="0"/>
              <a:t> la </a:t>
            </a:r>
            <a:r>
              <a:rPr lang="pt-PT" sz="2000" dirty="0" err="1"/>
              <a:t>dirección</a:t>
            </a:r>
            <a:r>
              <a:rPr lang="pt-PT" sz="2000" dirty="0"/>
              <a:t> de la oficina, lo que nos permite buscar </a:t>
            </a:r>
            <a:r>
              <a:rPr lang="pt-PT" sz="2000" dirty="0" err="1"/>
              <a:t>otras</a:t>
            </a:r>
            <a:r>
              <a:rPr lang="pt-PT" sz="2000" dirty="0"/>
              <a:t> empresas </a:t>
            </a:r>
            <a:r>
              <a:rPr lang="pt-PT" sz="2000" dirty="0" err="1"/>
              <a:t>en</a:t>
            </a:r>
            <a:r>
              <a:rPr lang="pt-PT" sz="2000" dirty="0"/>
              <a:t> la </a:t>
            </a:r>
            <a:r>
              <a:rPr lang="pt-PT" sz="2000" dirty="0" err="1"/>
              <a:t>misma</a:t>
            </a:r>
            <a:r>
              <a:rPr lang="pt-PT" sz="2000" dirty="0"/>
              <a:t> </a:t>
            </a:r>
            <a:r>
              <a:rPr lang="pt-PT" sz="2000" dirty="0" err="1"/>
              <a:t>ubicación</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20</a:t>
            </a:fld>
            <a:endParaRPr lang="en-US"/>
          </a:p>
        </p:txBody>
      </p:sp>
    </p:spTree>
    <p:extLst>
      <p:ext uri="{BB962C8B-B14F-4D97-AF65-F5344CB8AC3E}">
        <p14:creationId xmlns:p14="http://schemas.microsoft.com/office/powerpoint/2010/main" val="2687541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25" y="153988"/>
            <a:ext cx="6477000" cy="3643312"/>
          </a:xfrm>
        </p:spPr>
      </p:sp>
      <p:sp>
        <p:nvSpPr>
          <p:cNvPr id="3" name="Notes Placeholder 2"/>
          <p:cNvSpPr>
            <a:spLocks noGrp="1"/>
          </p:cNvSpPr>
          <p:nvPr>
            <p:ph type="body" idx="1"/>
          </p:nvPr>
        </p:nvSpPr>
        <p:spPr/>
        <p:txBody>
          <a:bodyPr/>
          <a:lstStyle/>
          <a:p>
            <a:pPr defTabSz="966612">
              <a:defRPr/>
            </a:pPr>
            <a:r>
              <a:rPr lang="pt-PT" sz="2000" dirty="0" err="1"/>
              <a:t>Con</a:t>
            </a:r>
            <a:r>
              <a:rPr lang="pt-PT" sz="2000" dirty="0"/>
              <a:t> </a:t>
            </a:r>
            <a:r>
              <a:rPr lang="pt-PT" sz="2000" dirty="0" err="1"/>
              <a:t>herramientas</a:t>
            </a:r>
            <a:r>
              <a:rPr lang="pt-PT" sz="2000" dirty="0"/>
              <a:t> como la Wayback Machine, podemos encontrar </a:t>
            </a:r>
            <a:r>
              <a:rPr lang="pt-PT" sz="2000" dirty="0" err="1"/>
              <a:t>versiones</a:t>
            </a:r>
            <a:r>
              <a:rPr lang="pt-PT" sz="2000" dirty="0"/>
              <a:t> </a:t>
            </a:r>
            <a:r>
              <a:rPr lang="pt-PT" sz="2000" dirty="0" err="1"/>
              <a:t>antiguas</a:t>
            </a:r>
            <a:r>
              <a:rPr lang="pt-PT" sz="2000" dirty="0"/>
              <a:t> </a:t>
            </a:r>
            <a:r>
              <a:rPr lang="pt-PT" sz="2000" dirty="0" err="1"/>
              <a:t>del</a:t>
            </a:r>
            <a:r>
              <a:rPr lang="pt-PT" sz="2000" dirty="0"/>
              <a:t> sitio web </a:t>
            </a:r>
            <a:r>
              <a:rPr lang="pt-PT" sz="2000" dirty="0" err="1"/>
              <a:t>del</a:t>
            </a:r>
            <a:r>
              <a:rPr lang="pt-PT" sz="2000" dirty="0"/>
              <a:t> bufete. </a:t>
            </a:r>
          </a:p>
          <a:p>
            <a:pPr defTabSz="966612">
              <a:defRPr/>
            </a:pPr>
            <a:endParaRPr lang="pt-PT" sz="2000" dirty="0"/>
          </a:p>
          <a:p>
            <a:pPr defTabSz="966612">
              <a:defRPr/>
            </a:pPr>
            <a:r>
              <a:rPr lang="pt-PT" sz="2000" dirty="0" err="1"/>
              <a:t>Así</a:t>
            </a:r>
            <a:r>
              <a:rPr lang="pt-PT" sz="2000" dirty="0"/>
              <a:t> </a:t>
            </a:r>
            <a:r>
              <a:rPr lang="pt-PT" sz="2000" dirty="0" err="1"/>
              <a:t>es</a:t>
            </a:r>
            <a:r>
              <a:rPr lang="pt-PT" sz="2000" dirty="0"/>
              <a:t> como </a:t>
            </a:r>
            <a:r>
              <a:rPr lang="pt-PT" sz="2000" dirty="0" err="1"/>
              <a:t>descubrimos</a:t>
            </a:r>
            <a:r>
              <a:rPr lang="pt-PT" sz="2000" dirty="0"/>
              <a:t> una </a:t>
            </a:r>
            <a:r>
              <a:rPr lang="pt-PT" sz="2000" dirty="0" err="1"/>
              <a:t>dirección</a:t>
            </a:r>
            <a:r>
              <a:rPr lang="pt-PT" sz="2000" dirty="0"/>
              <a:t> de </a:t>
            </a:r>
            <a:r>
              <a:rPr lang="pt-PT" sz="2000" dirty="0" err="1"/>
              <a:t>correo</a:t>
            </a:r>
            <a:r>
              <a:rPr lang="pt-PT" sz="2000" dirty="0"/>
              <a:t> </a:t>
            </a:r>
            <a:r>
              <a:rPr lang="pt-PT" sz="2000" dirty="0" err="1"/>
              <a:t>electrónico</a:t>
            </a:r>
            <a:r>
              <a:rPr lang="pt-PT" sz="2000" dirty="0"/>
              <a:t>, </a:t>
            </a:r>
            <a:r>
              <a:rPr lang="pt-PT" sz="2000" u="sng" dirty="0">
                <a:hlinkClick r:id="rId3"/>
              </a:rPr>
              <a:t>lmontenegro@spm-advogados.com</a:t>
            </a:r>
            <a:r>
              <a:rPr lang="pt-PT" sz="2000" dirty="0"/>
              <a:t>, y confirmamos </a:t>
            </a:r>
            <a:r>
              <a:rPr lang="pt-PT" sz="2000" dirty="0" err="1"/>
              <a:t>su</a:t>
            </a:r>
            <a:r>
              <a:rPr lang="pt-PT" sz="2000" dirty="0"/>
              <a:t> número de colegiado, </a:t>
            </a:r>
            <a:r>
              <a:rPr lang="pt-PT" sz="2000" dirty="0" err="1"/>
              <a:t>aunque</a:t>
            </a:r>
            <a:r>
              <a:rPr lang="pt-PT" sz="2000" dirty="0"/>
              <a:t> </a:t>
            </a:r>
            <a:r>
              <a:rPr lang="pt-PT" sz="2000" dirty="0" err="1"/>
              <a:t>ahora</a:t>
            </a:r>
            <a:r>
              <a:rPr lang="pt-PT" sz="2000" dirty="0"/>
              <a:t> está </a:t>
            </a:r>
            <a:r>
              <a:rPr lang="pt-PT" sz="2000" dirty="0" err="1"/>
              <a:t>inactivo</a:t>
            </a:r>
            <a:r>
              <a:rPr lang="pt-PT" sz="2000" dirty="0"/>
              <a:t>. </a:t>
            </a:r>
          </a:p>
          <a:p>
            <a:pPr defTabSz="966612">
              <a:defRPr/>
            </a:pPr>
            <a:endParaRPr lang="pt-PT" sz="2000" b="1" dirty="0"/>
          </a:p>
          <a:p>
            <a:pPr defTabSz="966612">
              <a:defRPr/>
            </a:pPr>
            <a:r>
              <a:rPr lang="pt-PT" sz="2000" b="1" dirty="0" err="1"/>
              <a:t>Recuerden</a:t>
            </a:r>
            <a:r>
              <a:rPr lang="pt-PT" sz="2000" b="1" dirty="0"/>
              <a:t> '</a:t>
            </a:r>
            <a:r>
              <a:rPr lang="pt-PT" sz="2000" b="1" dirty="0" err="1"/>
              <a:t>waybackear</a:t>
            </a:r>
            <a:r>
              <a:rPr lang="pt-PT" sz="2000" b="1" dirty="0"/>
              <a:t>' todo</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21</a:t>
            </a:fld>
            <a:endParaRPr lang="en-US"/>
          </a:p>
        </p:txBody>
      </p:sp>
    </p:spTree>
    <p:extLst>
      <p:ext uri="{BB962C8B-B14F-4D97-AF65-F5344CB8AC3E}">
        <p14:creationId xmlns:p14="http://schemas.microsoft.com/office/powerpoint/2010/main" val="1739679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25" y="153988"/>
            <a:ext cx="6477000" cy="3643312"/>
          </a:xfrm>
        </p:spPr>
      </p:sp>
      <p:sp>
        <p:nvSpPr>
          <p:cNvPr id="3" name="Notes Placeholder 2"/>
          <p:cNvSpPr>
            <a:spLocks noGrp="1"/>
          </p:cNvSpPr>
          <p:nvPr>
            <p:ph type="body" idx="1"/>
          </p:nvPr>
        </p:nvSpPr>
        <p:spPr/>
        <p:txBody>
          <a:bodyPr/>
          <a:lstStyle/>
          <a:p>
            <a:pPr defTabSz="966612">
              <a:defRPr/>
            </a:pPr>
            <a:r>
              <a:rPr lang="pt-PT" sz="2000" dirty="0" err="1"/>
              <a:t>Ahora</a:t>
            </a:r>
            <a:r>
              <a:rPr lang="pt-PT" sz="2000" dirty="0"/>
              <a:t> </a:t>
            </a:r>
            <a:r>
              <a:rPr lang="pt-PT" sz="2000" dirty="0" err="1"/>
              <a:t>nuestro</a:t>
            </a:r>
            <a:r>
              <a:rPr lang="pt-PT" sz="2000" dirty="0"/>
              <a:t> perfil de la persona está </a:t>
            </a:r>
            <a:r>
              <a:rPr lang="pt-PT" sz="2000" dirty="0" err="1"/>
              <a:t>mucho</a:t>
            </a:r>
            <a:r>
              <a:rPr lang="pt-PT" sz="2000" dirty="0"/>
              <a:t> más completo, </a:t>
            </a:r>
            <a:r>
              <a:rPr lang="pt-PT" sz="2000" dirty="0" err="1"/>
              <a:t>incluyendo</a:t>
            </a:r>
            <a:r>
              <a:rPr lang="pt-PT" sz="2000" dirty="0"/>
              <a:t> </a:t>
            </a:r>
            <a:r>
              <a:rPr lang="pt-PT" sz="2000" dirty="0" err="1"/>
              <a:t>su</a:t>
            </a:r>
            <a:r>
              <a:rPr lang="pt-PT" sz="2000" dirty="0"/>
              <a:t> email y número de colegiado</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22</a:t>
            </a:fld>
            <a:endParaRPr lang="en-US"/>
          </a:p>
        </p:txBody>
      </p:sp>
    </p:spTree>
    <p:extLst>
      <p:ext uri="{BB962C8B-B14F-4D97-AF65-F5344CB8AC3E}">
        <p14:creationId xmlns:p14="http://schemas.microsoft.com/office/powerpoint/2010/main" val="3731472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r>
              <a:rPr lang="es-ES" sz="2000" dirty="0"/>
              <a:t>Con los nombres de estas empresas en la mano, ya podemos pivotar hacia registros </a:t>
            </a:r>
            <a:r>
              <a:rPr lang="es-ES" sz="2000" dirty="0" err="1"/>
              <a:t>mercanteles</a:t>
            </a:r>
            <a:r>
              <a:rPr lang="es-ES" sz="2000" dirty="0"/>
              <a:t> y bases de datos de contratos públicos. </a:t>
            </a:r>
          </a:p>
          <a:p>
            <a:endParaRPr lang="es-ES" sz="2000" dirty="0"/>
          </a:p>
          <a:p>
            <a:r>
              <a:rPr lang="es-ES" sz="2000" dirty="0"/>
              <a:t>En otras palabras, es el momento de empezar a seguir el rastro del dinero. </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23</a:t>
            </a:fld>
            <a:endParaRPr lang="en-US"/>
          </a:p>
        </p:txBody>
      </p:sp>
    </p:spTree>
    <p:extLst>
      <p:ext uri="{BB962C8B-B14F-4D97-AF65-F5344CB8AC3E}">
        <p14:creationId xmlns:p14="http://schemas.microsoft.com/office/powerpoint/2010/main" val="2204592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pPr defTabSz="966612">
              <a:defRPr/>
            </a:pPr>
            <a:r>
              <a:rPr lang="es-ES" sz="2000" dirty="0"/>
              <a:t>Y lo que aparece es, bueno, es muy significativo. </a:t>
            </a:r>
          </a:p>
          <a:p>
            <a:pPr defTabSz="966612">
              <a:defRPr/>
            </a:pPr>
            <a:endParaRPr lang="es-ES" sz="2000" dirty="0"/>
          </a:p>
          <a:p>
            <a:pPr defTabSz="966612">
              <a:defRPr/>
            </a:pPr>
            <a:r>
              <a:rPr lang="es-ES" sz="2000" dirty="0"/>
              <a:t>Más de 800.000 euros, esa es la cantidad en contratos públicos que se adjudicaron a SPMM, el bufete de abogados que fue cofundado por el futuro primer ministro de Portugal. </a:t>
            </a:r>
          </a:p>
          <a:p>
            <a:pPr defTabSz="966612">
              <a:defRPr/>
            </a:pPr>
            <a:endParaRPr lang="es-ES" sz="2000" dirty="0"/>
          </a:p>
          <a:p>
            <a:pPr defTabSz="966612">
              <a:defRPr/>
            </a:pPr>
            <a:r>
              <a:rPr lang="es-ES" sz="2000" dirty="0"/>
              <a:t>Y aquí es donde las alarmas empiezan a sonar de verdad. </a:t>
            </a:r>
          </a:p>
          <a:p>
            <a:pPr defTabSz="966612">
              <a:defRPr/>
            </a:pPr>
            <a:endParaRPr lang="es-ES" sz="2000" dirty="0"/>
          </a:p>
          <a:p>
            <a:pPr defTabSz="966612">
              <a:defRPr/>
            </a:pPr>
            <a:r>
              <a:rPr lang="es-ES" sz="2000" dirty="0"/>
              <a:t>Una parte importante de estos contratos provenía del municipio de </a:t>
            </a:r>
            <a:r>
              <a:rPr lang="es-ES" sz="2000" dirty="0" err="1"/>
              <a:t>Espiño</a:t>
            </a:r>
            <a:r>
              <a:rPr lang="es-ES" sz="2000" dirty="0"/>
              <a:t>, un lugar donde, casualmente, Montenegro había ocupado cargos políticos clave. </a:t>
            </a:r>
            <a:endParaRPr lang="pt-PT"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24</a:t>
            </a:fld>
            <a:endParaRPr lang="en-US"/>
          </a:p>
        </p:txBody>
      </p:sp>
    </p:spTree>
    <p:extLst>
      <p:ext uri="{BB962C8B-B14F-4D97-AF65-F5344CB8AC3E}">
        <p14:creationId xmlns:p14="http://schemas.microsoft.com/office/powerpoint/2010/main" val="102734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9738" y="153988"/>
            <a:ext cx="6478587" cy="3644900"/>
          </a:xfrm>
        </p:spPr>
      </p:sp>
      <p:sp>
        <p:nvSpPr>
          <p:cNvPr id="3" name="Notes Placeholder 2"/>
          <p:cNvSpPr>
            <a:spLocks noGrp="1"/>
          </p:cNvSpPr>
          <p:nvPr>
            <p:ph type="body" idx="1"/>
          </p:nvPr>
        </p:nvSpPr>
        <p:spPr/>
        <p:txBody>
          <a:bodyPr/>
          <a:lstStyle/>
          <a:p>
            <a:pPr defTabSz="966612">
              <a:defRPr/>
            </a:pPr>
            <a:r>
              <a:rPr lang="es-ES" sz="2000" dirty="0"/>
              <a:t>Esta diapositiva se centra en Luimonteago, Lda., y proporciona información esencial sobre la empresa</a:t>
            </a:r>
            <a:r>
              <a:rPr lang="pt-PT" sz="2000" dirty="0"/>
              <a:t>.</a:t>
            </a:r>
            <a:endParaRPr lang="en-BS" sz="2000" dirty="0"/>
          </a:p>
          <a:p>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25</a:t>
            </a:fld>
            <a:endParaRPr lang="en-US"/>
          </a:p>
        </p:txBody>
      </p:sp>
    </p:spTree>
    <p:extLst>
      <p:ext uri="{BB962C8B-B14F-4D97-AF65-F5344CB8AC3E}">
        <p14:creationId xmlns:p14="http://schemas.microsoft.com/office/powerpoint/2010/main" val="41914042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153988"/>
            <a:ext cx="6477000" cy="3643312"/>
          </a:xfrm>
        </p:spPr>
      </p:sp>
      <p:sp>
        <p:nvSpPr>
          <p:cNvPr id="3" name="Notes Placeholder 2"/>
          <p:cNvSpPr>
            <a:spLocks noGrp="1"/>
          </p:cNvSpPr>
          <p:nvPr>
            <p:ph type="body" idx="1"/>
          </p:nvPr>
        </p:nvSpPr>
        <p:spPr/>
        <p:txBody>
          <a:bodyPr/>
          <a:lstStyle/>
          <a:p>
            <a:pPr defTabSz="966612">
              <a:defRPr/>
            </a:pPr>
            <a:r>
              <a:rPr lang="es-ES" sz="2000" dirty="0"/>
              <a:t>Siguiendo con </a:t>
            </a:r>
            <a:r>
              <a:rPr lang="es-ES" sz="2000" dirty="0" err="1"/>
              <a:t>Oliveiras</a:t>
            </a:r>
            <a:r>
              <a:rPr lang="es-ES" sz="2000" dirty="0"/>
              <a:t> Gold de Portugal, esta diapositiva proporciona detalles clave sobre la empresa.</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26</a:t>
            </a:fld>
            <a:endParaRPr lang="en-US"/>
          </a:p>
        </p:txBody>
      </p:sp>
    </p:spTree>
    <p:extLst>
      <p:ext uri="{BB962C8B-B14F-4D97-AF65-F5344CB8AC3E}">
        <p14:creationId xmlns:p14="http://schemas.microsoft.com/office/powerpoint/2010/main" val="24686308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pPr defTabSz="966612">
              <a:defRPr/>
            </a:pPr>
            <a:r>
              <a:rPr lang="pt-PT" sz="2000" dirty="0"/>
              <a:t>Una </a:t>
            </a:r>
            <a:r>
              <a:rPr lang="pt-PT" sz="2000" dirty="0" err="1"/>
              <a:t>investigación</a:t>
            </a:r>
            <a:r>
              <a:rPr lang="pt-PT" sz="2000" dirty="0"/>
              <a:t> periodística </a:t>
            </a:r>
            <a:r>
              <a:rPr lang="pt-PT" sz="2000" dirty="0" err="1"/>
              <a:t>del</a:t>
            </a:r>
            <a:r>
              <a:rPr lang="pt-PT" sz="2000" dirty="0"/>
              <a:t> </a:t>
            </a:r>
            <a:r>
              <a:rPr lang="pt-PT" sz="2000" dirty="0" err="1"/>
              <a:t>semanario</a:t>
            </a:r>
            <a:r>
              <a:rPr lang="pt-PT" sz="2000" dirty="0"/>
              <a:t> Expresso </a:t>
            </a:r>
            <a:r>
              <a:rPr lang="pt-PT" sz="2000" dirty="0" err="1"/>
              <a:t>reveló</a:t>
            </a:r>
            <a:r>
              <a:rPr lang="pt-PT" sz="2000" dirty="0"/>
              <a:t> la </a:t>
            </a:r>
            <a:r>
              <a:rPr lang="pt-PT" sz="2000" dirty="0" err="1"/>
              <a:t>existencia</a:t>
            </a:r>
            <a:r>
              <a:rPr lang="pt-PT" sz="2000" dirty="0"/>
              <a:t> de </a:t>
            </a:r>
            <a:r>
              <a:rPr lang="pt-PT" sz="2000" dirty="0" err="1"/>
              <a:t>otra</a:t>
            </a:r>
            <a:r>
              <a:rPr lang="pt-PT" sz="2000" dirty="0"/>
              <a:t> empresa, </a:t>
            </a:r>
            <a:r>
              <a:rPr lang="pt-PT" sz="2000" dirty="0" err="1"/>
              <a:t>Spinumviva</a:t>
            </a:r>
            <a:r>
              <a:rPr lang="pt-PT" sz="2000" dirty="0"/>
              <a:t>, Lda, donde Montenegro </a:t>
            </a:r>
            <a:r>
              <a:rPr lang="pt-PT" sz="2000" dirty="0" err="1"/>
              <a:t>tenía</a:t>
            </a:r>
            <a:r>
              <a:rPr lang="pt-PT" sz="2000" dirty="0"/>
              <a:t> una </a:t>
            </a:r>
            <a:r>
              <a:rPr lang="pt-PT" sz="2000" dirty="0" err="1"/>
              <a:t>participación</a:t>
            </a:r>
            <a:r>
              <a:rPr lang="pt-PT" sz="2000" dirty="0"/>
              <a:t> </a:t>
            </a:r>
            <a:r>
              <a:rPr lang="pt-PT" sz="2000" dirty="0" err="1"/>
              <a:t>del</a:t>
            </a:r>
            <a:r>
              <a:rPr lang="pt-PT" sz="2000" dirty="0"/>
              <a:t> 62.5%. </a:t>
            </a:r>
          </a:p>
          <a:p>
            <a:pPr defTabSz="966612">
              <a:defRPr/>
            </a:pPr>
            <a:endParaRPr lang="pt-PT" sz="2000" dirty="0"/>
          </a:p>
          <a:p>
            <a:pPr defTabSz="966612">
              <a:defRPr/>
            </a:pPr>
            <a:r>
              <a:rPr lang="pt-PT" sz="2000" dirty="0"/>
              <a:t>Esto no </a:t>
            </a:r>
            <a:r>
              <a:rPr lang="pt-PT" sz="2000" dirty="0" err="1"/>
              <a:t>estaba</a:t>
            </a:r>
            <a:r>
              <a:rPr lang="pt-PT" sz="2000" dirty="0"/>
              <a:t> </a:t>
            </a:r>
            <a:r>
              <a:rPr lang="pt-PT" sz="2000" dirty="0" err="1"/>
              <a:t>en</a:t>
            </a:r>
            <a:r>
              <a:rPr lang="pt-PT" sz="2000" dirty="0"/>
              <a:t> el registro de </a:t>
            </a:r>
            <a:r>
              <a:rPr lang="pt-PT" sz="2000" dirty="0" err="1"/>
              <a:t>intereses</a:t>
            </a:r>
            <a:r>
              <a:rPr lang="pt-PT" sz="2000" dirty="0"/>
              <a:t> inicial </a:t>
            </a:r>
            <a:r>
              <a:rPr lang="pt-PT" sz="2000" dirty="0" err="1"/>
              <a:t>del</a:t>
            </a:r>
            <a:r>
              <a:rPr lang="pt-PT" sz="2000" dirty="0"/>
              <a:t> Portal de la </a:t>
            </a:r>
            <a:r>
              <a:rPr lang="pt-PT" sz="2000" dirty="0" err="1"/>
              <a:t>Asamblea</a:t>
            </a:r>
            <a:r>
              <a:rPr lang="pt-PT" sz="2000" dirty="0"/>
              <a:t> de la Republica</a:t>
            </a:r>
          </a:p>
          <a:p>
            <a:pPr defTabSz="966612">
              <a:defRPr/>
            </a:pPr>
            <a:endParaRPr lang="pt-PT" sz="2000" dirty="0"/>
          </a:p>
          <a:p>
            <a:pPr defTabSz="966612">
              <a:defRPr/>
            </a:pPr>
            <a:r>
              <a:rPr lang="es-ES" sz="2000" dirty="0"/>
              <a:t>Si la función de búsqueda del portal de justicia permitiera buscar por número de identificación fiscal (NIF), se podrían ver todas las empresas con las que está asociada cada persona.</a:t>
            </a:r>
            <a:endParaRPr lang="pt-PT"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27</a:t>
            </a:fld>
            <a:endParaRPr lang="en-US"/>
          </a:p>
        </p:txBody>
      </p:sp>
    </p:spTree>
    <p:extLst>
      <p:ext uri="{BB962C8B-B14F-4D97-AF65-F5344CB8AC3E}">
        <p14:creationId xmlns:p14="http://schemas.microsoft.com/office/powerpoint/2010/main" val="2464619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1878-7CDA-A0C0-1DBB-E31D2792F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692E0-9EF1-85A2-1D9F-6195414F4EAA}"/>
              </a:ext>
            </a:extLst>
          </p:cNvPr>
          <p:cNvSpPr>
            <a:spLocks noGrp="1" noRot="1" noChangeAspect="1"/>
          </p:cNvSpPr>
          <p:nvPr>
            <p:ph type="sldImg"/>
          </p:nvPr>
        </p:nvSpPr>
        <p:spPr>
          <a:xfrm>
            <a:off x="431800" y="153988"/>
            <a:ext cx="6477000" cy="3643312"/>
          </a:xfrm>
        </p:spPr>
      </p:sp>
      <p:sp>
        <p:nvSpPr>
          <p:cNvPr id="3" name="Notes Placeholder 2">
            <a:extLst>
              <a:ext uri="{FF2B5EF4-FFF2-40B4-BE49-F238E27FC236}">
                <a16:creationId xmlns:a16="http://schemas.microsoft.com/office/drawing/2014/main" id="{5FFDD3DF-6F27-70E3-6301-287374A453E7}"/>
              </a:ext>
            </a:extLst>
          </p:cNvPr>
          <p:cNvSpPr>
            <a:spLocks noGrp="1"/>
          </p:cNvSpPr>
          <p:nvPr>
            <p:ph type="body" idx="1"/>
          </p:nvPr>
        </p:nvSpPr>
        <p:spPr/>
        <p:txBody>
          <a:bodyPr/>
          <a:lstStyle/>
          <a:p>
            <a:pPr>
              <a:buNone/>
            </a:pPr>
            <a:r>
              <a:rPr lang="es-ES" sz="2000" dirty="0"/>
              <a:t>Aquí enumeramos varias empresas asociadas con Luís Montenegro, enfatizando la importancia de las conexiones corporativas en las investigaciones de OSINT.</a:t>
            </a:r>
          </a:p>
          <a:p>
            <a:pPr>
              <a:buNone/>
            </a:pPr>
            <a:endParaRPr lang="es-ES" sz="2000" dirty="0"/>
          </a:p>
          <a:p>
            <a:pPr>
              <a:buNone/>
            </a:pPr>
            <a:r>
              <a:rPr lang="es-ES" sz="2000" dirty="0"/>
              <a:t>Comprender las relaciones entre las personas y sus intereses comerciales puede revelar posibles conflictos de intereses y agendas ocultas. Esta pista anima al público a considerar cómo estas conexiones pueden conducir a nuevas investigaciones.</a:t>
            </a:r>
            <a:endParaRPr lang="en-BS" sz="2000" dirty="0"/>
          </a:p>
        </p:txBody>
      </p:sp>
      <p:sp>
        <p:nvSpPr>
          <p:cNvPr id="4" name="Slide Number Placeholder 3">
            <a:extLst>
              <a:ext uri="{FF2B5EF4-FFF2-40B4-BE49-F238E27FC236}">
                <a16:creationId xmlns:a16="http://schemas.microsoft.com/office/drawing/2014/main" id="{FE8CBFF8-CAEB-5F4A-A9A1-2618DF58D437}"/>
              </a:ext>
            </a:extLst>
          </p:cNvPr>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28</a:t>
            </a:fld>
            <a:endParaRPr lang="en-US"/>
          </a:p>
        </p:txBody>
      </p:sp>
    </p:spTree>
    <p:extLst>
      <p:ext uri="{BB962C8B-B14F-4D97-AF65-F5344CB8AC3E}">
        <p14:creationId xmlns:p14="http://schemas.microsoft.com/office/powerpoint/2010/main" val="1579756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25" y="153988"/>
            <a:ext cx="6477000" cy="3643312"/>
          </a:xfrm>
        </p:spPr>
      </p:sp>
      <p:sp>
        <p:nvSpPr>
          <p:cNvPr id="3" name="Notes Placeholder 2"/>
          <p:cNvSpPr>
            <a:spLocks noGrp="1"/>
          </p:cNvSpPr>
          <p:nvPr>
            <p:ph type="body" idx="1"/>
          </p:nvPr>
        </p:nvSpPr>
        <p:spPr/>
        <p:txBody>
          <a:bodyPr/>
          <a:lstStyle/>
          <a:p>
            <a:pPr defTabSz="966612">
              <a:defRPr/>
            </a:pPr>
            <a:r>
              <a:rPr lang="es-ES" sz="2000" dirty="0"/>
              <a:t>Esta diapositiva se centra en </a:t>
            </a:r>
            <a:r>
              <a:rPr lang="es-ES" sz="2000" dirty="0" err="1"/>
              <a:t>Spinumviva</a:t>
            </a:r>
            <a:r>
              <a:rPr lang="es-ES" sz="2000" dirty="0"/>
              <a:t>, Lda., y proporciona información esencial sobre la empresa.</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29</a:t>
            </a:fld>
            <a:endParaRPr lang="en-US"/>
          </a:p>
        </p:txBody>
      </p:sp>
    </p:spTree>
    <p:extLst>
      <p:ext uri="{BB962C8B-B14F-4D97-AF65-F5344CB8AC3E}">
        <p14:creationId xmlns:p14="http://schemas.microsoft.com/office/powerpoint/2010/main" val="31651798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DA41E-2F10-311D-68BB-0B40C5B0B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96400-1AE8-27EA-8370-DF0C1081C9C8}"/>
              </a:ext>
            </a:extLst>
          </p:cNvPr>
          <p:cNvSpPr>
            <a:spLocks noGrp="1" noRot="1" noChangeAspect="1"/>
          </p:cNvSpPr>
          <p:nvPr>
            <p:ph type="sldImg"/>
          </p:nvPr>
        </p:nvSpPr>
        <p:spPr>
          <a:xfrm>
            <a:off x="417513" y="153988"/>
            <a:ext cx="6477000" cy="3643312"/>
          </a:xfrm>
        </p:spPr>
      </p:sp>
      <p:sp>
        <p:nvSpPr>
          <p:cNvPr id="3" name="Notes Placeholder 2">
            <a:extLst>
              <a:ext uri="{FF2B5EF4-FFF2-40B4-BE49-F238E27FC236}">
                <a16:creationId xmlns:a16="http://schemas.microsoft.com/office/drawing/2014/main" id="{E4F2E6B9-7B3A-6314-E70C-3221C0828C4F}"/>
              </a:ext>
            </a:extLst>
          </p:cNvPr>
          <p:cNvSpPr>
            <a:spLocks noGrp="1"/>
          </p:cNvSpPr>
          <p:nvPr>
            <p:ph type="body" idx="1"/>
          </p:nvPr>
        </p:nvSpPr>
        <p:spPr/>
        <p:txBody>
          <a:bodyPr/>
          <a:lstStyle/>
          <a:p>
            <a:pPr defTabSz="966612">
              <a:defRPr/>
            </a:pPr>
            <a:r>
              <a:rPr lang="es-ES" sz="2000" dirty="0"/>
              <a:t>Con la información de esta nueva empresa, actualizamos nuestro perfil.</a:t>
            </a:r>
          </a:p>
          <a:p>
            <a:pPr defTabSz="966612">
              <a:defRPr/>
            </a:pPr>
            <a:endParaRPr lang="es-ES" sz="2000" dirty="0"/>
          </a:p>
          <a:p>
            <a:pPr defTabSz="966612">
              <a:defRPr/>
            </a:pPr>
            <a:r>
              <a:rPr lang="es-ES" sz="2000" dirty="0"/>
              <a:t>Ahora conocemos los nombres de sus hijos y una nueva dirección en </a:t>
            </a:r>
            <a:r>
              <a:rPr lang="es-ES" sz="2000" dirty="0" err="1"/>
              <a:t>Espinho</a:t>
            </a:r>
            <a:r>
              <a:rPr lang="es-ES" sz="2000" dirty="0"/>
              <a:t>. </a:t>
            </a:r>
          </a:p>
          <a:p>
            <a:pPr defTabSz="966612">
              <a:defRPr/>
            </a:pPr>
            <a:endParaRPr lang="es-ES" sz="2000" dirty="0"/>
          </a:p>
        </p:txBody>
      </p:sp>
      <p:sp>
        <p:nvSpPr>
          <p:cNvPr id="4" name="Slide Number Placeholder 3">
            <a:extLst>
              <a:ext uri="{FF2B5EF4-FFF2-40B4-BE49-F238E27FC236}">
                <a16:creationId xmlns:a16="http://schemas.microsoft.com/office/drawing/2014/main" id="{7B0379DC-8077-20B2-0663-A10DB20FD359}"/>
              </a:ext>
            </a:extLst>
          </p:cNvPr>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30</a:t>
            </a:fld>
            <a:endParaRPr lang="en-US"/>
          </a:p>
        </p:txBody>
      </p:sp>
    </p:spTree>
    <p:extLst>
      <p:ext uri="{BB962C8B-B14F-4D97-AF65-F5344CB8AC3E}">
        <p14:creationId xmlns:p14="http://schemas.microsoft.com/office/powerpoint/2010/main" val="23856808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0213" y="300038"/>
            <a:ext cx="6473825" cy="3641725"/>
          </a:xfrm>
        </p:spPr>
      </p:sp>
      <p:sp>
        <p:nvSpPr>
          <p:cNvPr id="3" name="Notes Placeholder 2"/>
          <p:cNvSpPr>
            <a:spLocks noGrp="1"/>
          </p:cNvSpPr>
          <p:nvPr>
            <p:ph type="body" idx="1"/>
          </p:nvPr>
        </p:nvSpPr>
        <p:spPr/>
        <p:txBody>
          <a:bodyPr/>
          <a:lstStyle/>
          <a:p>
            <a:pPr defTabSz="966612">
              <a:defRPr/>
            </a:pPr>
            <a:r>
              <a:rPr lang="es-ES" sz="2000" dirty="0"/>
              <a:t>Existen empresas que recopilan información sobre otras empresas. </a:t>
            </a:r>
          </a:p>
          <a:p>
            <a:pPr defTabSz="966612">
              <a:defRPr/>
            </a:pPr>
            <a:endParaRPr lang="es-ES" sz="2000" dirty="0"/>
          </a:p>
          <a:p>
            <a:pPr defTabSz="966612">
              <a:defRPr/>
            </a:pPr>
            <a:r>
              <a:rPr lang="es-ES" sz="2000" dirty="0"/>
              <a:t>El acceso no es del todo gratuito y puede estar controlado. Pero son una mina de oro.</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31</a:t>
            </a:fld>
            <a:endParaRPr lang="en-US"/>
          </a:p>
        </p:txBody>
      </p:sp>
    </p:spTree>
    <p:extLst>
      <p:ext uri="{BB962C8B-B14F-4D97-AF65-F5344CB8AC3E}">
        <p14:creationId xmlns:p14="http://schemas.microsoft.com/office/powerpoint/2010/main" val="17965559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1E557-D78C-906C-DB3D-0718FE43F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6561E-F506-E0E6-A97C-F02C972389DD}"/>
              </a:ext>
            </a:extLst>
          </p:cNvPr>
          <p:cNvSpPr>
            <a:spLocks noGrp="1" noRot="1" noChangeAspect="1"/>
          </p:cNvSpPr>
          <p:nvPr>
            <p:ph type="sldImg"/>
          </p:nvPr>
        </p:nvSpPr>
        <p:spPr>
          <a:xfrm>
            <a:off x="415925" y="265113"/>
            <a:ext cx="6480175" cy="3644900"/>
          </a:xfrm>
        </p:spPr>
      </p:sp>
      <p:sp>
        <p:nvSpPr>
          <p:cNvPr id="3" name="Notes Placeholder 2">
            <a:extLst>
              <a:ext uri="{FF2B5EF4-FFF2-40B4-BE49-F238E27FC236}">
                <a16:creationId xmlns:a16="http://schemas.microsoft.com/office/drawing/2014/main" id="{BF30F976-2643-3F5B-FFDF-92F9EA312EE1}"/>
              </a:ext>
            </a:extLst>
          </p:cNvPr>
          <p:cNvSpPr>
            <a:spLocks noGrp="1"/>
          </p:cNvSpPr>
          <p:nvPr>
            <p:ph type="body" idx="1"/>
          </p:nvPr>
        </p:nvSpPr>
        <p:spPr/>
        <p:txBody>
          <a:bodyPr/>
          <a:lstStyle/>
          <a:p>
            <a:pPr defTabSz="966612">
              <a:defRPr/>
            </a:pPr>
            <a:r>
              <a:rPr lang="es-ES" sz="2000" dirty="0"/>
              <a:t>Con la información de esta nueva empresa, actualizamos nuestro perfil. </a:t>
            </a:r>
          </a:p>
          <a:p>
            <a:pPr defTabSz="966612">
              <a:defRPr/>
            </a:pPr>
            <a:endParaRPr lang="es-ES" sz="2000" dirty="0"/>
          </a:p>
          <a:p>
            <a:pPr defTabSz="966612">
              <a:defRPr/>
            </a:pPr>
            <a:r>
              <a:rPr lang="es-ES" sz="2000" dirty="0"/>
              <a:t>Más importante aún, encontramos un nuevo correo electrónico, spinumviva@gmail.com, y un número de teléfono. </a:t>
            </a:r>
          </a:p>
          <a:p>
            <a:pPr defTabSz="966612">
              <a:defRPr/>
            </a:pPr>
            <a:endParaRPr lang="es-ES" sz="2000" dirty="0"/>
          </a:p>
          <a:p>
            <a:pPr defTabSz="966612">
              <a:defRPr/>
            </a:pPr>
            <a:r>
              <a:rPr lang="es-ES" sz="2000" dirty="0"/>
              <a:t>La automatización de tareas en este punto es fundamental para procesar y correlacionar toda esta nueva información</a:t>
            </a:r>
            <a:endParaRPr lang="en-US" sz="2000" dirty="0"/>
          </a:p>
        </p:txBody>
      </p:sp>
      <p:sp>
        <p:nvSpPr>
          <p:cNvPr id="4" name="Slide Number Placeholder 3">
            <a:extLst>
              <a:ext uri="{FF2B5EF4-FFF2-40B4-BE49-F238E27FC236}">
                <a16:creationId xmlns:a16="http://schemas.microsoft.com/office/drawing/2014/main" id="{68515ED5-AFA4-12CE-4E8B-58995EA5D90F}"/>
              </a:ext>
            </a:extLst>
          </p:cNvPr>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32</a:t>
            </a:fld>
            <a:endParaRPr lang="en-US"/>
          </a:p>
        </p:txBody>
      </p:sp>
    </p:spTree>
    <p:extLst>
      <p:ext uri="{BB962C8B-B14F-4D97-AF65-F5344CB8AC3E}">
        <p14:creationId xmlns:p14="http://schemas.microsoft.com/office/powerpoint/2010/main" val="26915109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225425"/>
            <a:ext cx="6477000" cy="3643313"/>
          </a:xfrm>
        </p:spPr>
      </p:sp>
      <p:sp>
        <p:nvSpPr>
          <p:cNvPr id="3" name="Notes Placeholder 2"/>
          <p:cNvSpPr>
            <a:spLocks noGrp="1"/>
          </p:cNvSpPr>
          <p:nvPr>
            <p:ph type="body" idx="1"/>
          </p:nvPr>
        </p:nvSpPr>
        <p:spPr/>
        <p:txBody>
          <a:bodyPr/>
          <a:lstStyle/>
          <a:p>
            <a:pPr defTabSz="966612">
              <a:defRPr/>
            </a:pPr>
            <a:r>
              <a:rPr lang="pt-PT" sz="2000" dirty="0" err="1"/>
              <a:t>Analizando</a:t>
            </a:r>
            <a:r>
              <a:rPr lang="pt-PT" sz="2000" dirty="0"/>
              <a:t> los códigos de </a:t>
            </a:r>
            <a:r>
              <a:rPr lang="pt-PT" sz="2000" dirty="0" err="1"/>
              <a:t>actividad</a:t>
            </a:r>
            <a:r>
              <a:rPr lang="pt-PT" sz="2000" dirty="0"/>
              <a:t> económica (CAE) de sus empresas, vemos una </a:t>
            </a:r>
            <a:r>
              <a:rPr lang="pt-PT" sz="2000" dirty="0" err="1"/>
              <a:t>diversidad</a:t>
            </a:r>
            <a:r>
              <a:rPr lang="pt-PT" sz="2000" dirty="0"/>
              <a:t> de </a:t>
            </a:r>
            <a:r>
              <a:rPr lang="pt-PT" sz="2000" dirty="0" err="1"/>
              <a:t>intereses</a:t>
            </a:r>
            <a:r>
              <a:rPr lang="pt-PT" sz="2000" dirty="0"/>
              <a:t>: </a:t>
            </a:r>
            <a:r>
              <a:rPr lang="pt-PT" sz="2000" dirty="0" err="1"/>
              <a:t>consultoría</a:t>
            </a:r>
            <a:r>
              <a:rPr lang="pt-PT" sz="2000" dirty="0"/>
              <a:t>, viticultura y </a:t>
            </a:r>
            <a:r>
              <a:rPr lang="pt-PT" sz="2000" dirty="0" err="1"/>
              <a:t>negocios</a:t>
            </a:r>
            <a:r>
              <a:rPr lang="pt-PT" sz="2000" dirty="0"/>
              <a:t> </a:t>
            </a:r>
            <a:r>
              <a:rPr lang="pt-PT" sz="2000" dirty="0" err="1"/>
              <a:t>inmobiliarios</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33</a:t>
            </a:fld>
            <a:endParaRPr lang="en-US"/>
          </a:p>
        </p:txBody>
      </p:sp>
    </p:spTree>
    <p:extLst>
      <p:ext uri="{BB962C8B-B14F-4D97-AF65-F5344CB8AC3E}">
        <p14:creationId xmlns:p14="http://schemas.microsoft.com/office/powerpoint/2010/main" val="1192984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1963" y="153988"/>
            <a:ext cx="6477000" cy="3643312"/>
          </a:xfrm>
        </p:spPr>
      </p:sp>
      <p:sp>
        <p:nvSpPr>
          <p:cNvPr id="3" name="Notes Placeholder 2"/>
          <p:cNvSpPr>
            <a:spLocks noGrp="1"/>
          </p:cNvSpPr>
          <p:nvPr>
            <p:ph type="body" idx="1"/>
          </p:nvPr>
        </p:nvSpPr>
        <p:spPr/>
        <p:txBody>
          <a:bodyPr/>
          <a:lstStyle/>
          <a:p>
            <a:pPr defTabSz="966612">
              <a:defRPr/>
            </a:pPr>
            <a:r>
              <a:rPr lang="pt-PT" sz="1800" dirty="0"/>
              <a:t>Al organizar toda la </a:t>
            </a:r>
            <a:r>
              <a:rPr lang="pt-PT" sz="1800" dirty="0" err="1"/>
              <a:t>información</a:t>
            </a:r>
            <a:r>
              <a:rPr lang="pt-PT" sz="1800" dirty="0"/>
              <a:t> </a:t>
            </a:r>
            <a:r>
              <a:rPr lang="pt-PT" sz="1800" dirty="0" err="1"/>
              <a:t>en</a:t>
            </a:r>
            <a:r>
              <a:rPr lang="pt-PT" sz="1800" dirty="0"/>
              <a:t> una línea de </a:t>
            </a:r>
            <a:r>
              <a:rPr lang="pt-PT" sz="1800" dirty="0" err="1"/>
              <a:t>tiempo</a:t>
            </a:r>
            <a:r>
              <a:rPr lang="pt-PT" sz="1800" dirty="0"/>
              <a:t>, la historia se </a:t>
            </a:r>
            <a:r>
              <a:rPr lang="pt-PT" sz="1800" dirty="0" err="1"/>
              <a:t>vuelve</a:t>
            </a:r>
            <a:r>
              <a:rPr lang="pt-PT" sz="1800" dirty="0"/>
              <a:t> clara. </a:t>
            </a:r>
          </a:p>
          <a:p>
            <a:pPr defTabSz="966612">
              <a:defRPr/>
            </a:pPr>
            <a:endParaRPr lang="pt-PT" sz="1800" dirty="0"/>
          </a:p>
          <a:p>
            <a:r>
              <a:rPr lang="es-ES" sz="1800" dirty="0"/>
              <a:t>Fijaos en esta secuencia. En 2021, registra una empresa familiar.</a:t>
            </a:r>
          </a:p>
          <a:p>
            <a:r>
              <a:rPr lang="es-ES" sz="1800" dirty="0"/>
              <a:t>En 2022, mientras asciende en el poder de su partido, renuncia a la gerencia, quizás para evitar conflictos de intereses.</a:t>
            </a:r>
          </a:p>
          <a:p>
            <a:r>
              <a:rPr lang="es-ES" sz="1800" dirty="0"/>
              <a:t>Se convierte en primer ministro en abril de 2024. </a:t>
            </a:r>
          </a:p>
          <a:p>
            <a:endParaRPr lang="es-ES" sz="1800" dirty="0"/>
          </a:p>
          <a:p>
            <a:r>
              <a:rPr lang="es-ES" sz="1800" dirty="0"/>
              <a:t>Y aquí viene el punto clave.</a:t>
            </a:r>
          </a:p>
          <a:p>
            <a:r>
              <a:rPr lang="es-ES" sz="1800" dirty="0"/>
              <a:t>En marzo de 2025, a raíz del escrutinio público sobre estas conexiones empresariales y los contratos, la presión se vuelve insostenible.</a:t>
            </a:r>
          </a:p>
          <a:p>
            <a:r>
              <a:rPr lang="es-ES" sz="1800" dirty="0"/>
              <a:t>Su esposa renuncia a su cargo en la empresa y el escándalo culmina con el colapso de su gobierno. </a:t>
            </a:r>
          </a:p>
          <a:p>
            <a:endParaRPr lang="es-ES" sz="1800" dirty="0"/>
          </a:p>
          <a:p>
            <a:pPr defTabSz="966612"/>
            <a:r>
              <a:rPr lang="es-ES" sz="1800" dirty="0"/>
              <a:t>La conexión es directa. Pero los datos, por si solo son solo puntos en un mapa. La verdadera inteligencia, lo que de verdad impacta, emerge cuando los conectamos para construir una cronología de hechos. Es ahí donde la historia cobra vida.</a:t>
            </a:r>
            <a:endParaRPr lang="en-US" sz="1800" dirty="0"/>
          </a:p>
          <a:p>
            <a:endParaRPr lang="en-US" sz="18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34</a:t>
            </a:fld>
            <a:endParaRPr lang="en-US"/>
          </a:p>
        </p:txBody>
      </p:sp>
    </p:spTree>
    <p:extLst>
      <p:ext uri="{BB962C8B-B14F-4D97-AF65-F5344CB8AC3E}">
        <p14:creationId xmlns:p14="http://schemas.microsoft.com/office/powerpoint/2010/main" val="3110988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pPr defTabSz="966612"/>
            <a:r>
              <a:rPr lang="es-ES" sz="2000" dirty="0"/>
              <a:t>La cronología lo deja clarísimo. ¿Sus negocios privados tuvieron repercusiones públicas directas? </a:t>
            </a:r>
            <a:endParaRPr lang="en-US" sz="2000" dirty="0"/>
          </a:p>
          <a:p>
            <a:endParaRPr lang="es-ES" sz="2000" dirty="0"/>
          </a:p>
          <a:p>
            <a:r>
              <a:rPr lang="es-ES" sz="2000" dirty="0"/>
              <a:t>Entonces, ¿cuál es la gran lección que sacamos de todo esto? </a:t>
            </a:r>
          </a:p>
          <a:p>
            <a:endParaRPr lang="es-ES" sz="2000" dirty="0"/>
          </a:p>
          <a:p>
            <a:r>
              <a:rPr lang="es-ES" sz="2000" dirty="0"/>
              <a:t>Lo que hemos visto es el poder en estado puro de lo OSINT para coger datos que parecen aburridos y dispersos y tejer con ellos una narrativa coherente y con un impacto real, muy real, en el mundo. </a:t>
            </a:r>
            <a:endParaRPr lang="en-US" sz="2000" dirty="0"/>
          </a:p>
          <a:p>
            <a:endParaRPr lang="pt-PT" sz="2000" dirty="0"/>
          </a:p>
          <a:p>
            <a:r>
              <a:rPr lang="pt-PT" sz="2000" dirty="0" err="1"/>
              <a:t>Siguiendo</a:t>
            </a:r>
            <a:r>
              <a:rPr lang="pt-PT" sz="2000" dirty="0"/>
              <a:t> estos </a:t>
            </a:r>
            <a:r>
              <a:rPr lang="pt-PT" sz="2000" dirty="0" err="1"/>
              <a:t>pasos</a:t>
            </a:r>
            <a:r>
              <a:rPr lang="pt-PT" sz="2000" dirty="0"/>
              <a:t>, </a:t>
            </a:r>
            <a:r>
              <a:rPr lang="pt-PT" sz="2000" dirty="0" err="1"/>
              <a:t>cualquiera</a:t>
            </a:r>
            <a:r>
              <a:rPr lang="pt-PT" sz="2000" dirty="0"/>
              <a:t> </a:t>
            </a:r>
            <a:r>
              <a:rPr lang="pt-PT" sz="2000" dirty="0" err="1"/>
              <a:t>con</a:t>
            </a:r>
            <a:r>
              <a:rPr lang="pt-PT" sz="2000" dirty="0"/>
              <a:t> </a:t>
            </a:r>
            <a:r>
              <a:rPr lang="pt-PT" sz="2000" dirty="0" err="1"/>
              <a:t>acceso</a:t>
            </a:r>
            <a:r>
              <a:rPr lang="pt-PT" sz="2000" dirty="0"/>
              <a:t> a internet </a:t>
            </a:r>
            <a:r>
              <a:rPr lang="pt-PT" sz="2000" dirty="0" err="1"/>
              <a:t>podría</a:t>
            </a:r>
            <a:r>
              <a:rPr lang="pt-PT" sz="2000" dirty="0"/>
              <a:t> </a:t>
            </a:r>
            <a:r>
              <a:rPr lang="pt-PT" sz="2000" dirty="0" err="1"/>
              <a:t>haber</a:t>
            </a:r>
            <a:r>
              <a:rPr lang="pt-PT" sz="2000" dirty="0"/>
              <a:t> </a:t>
            </a:r>
            <a:r>
              <a:rPr lang="pt-PT" sz="2000" dirty="0" err="1"/>
              <a:t>reconstruido</a:t>
            </a:r>
            <a:r>
              <a:rPr lang="pt-PT" sz="2000" dirty="0"/>
              <a:t> la </a:t>
            </a:r>
            <a:r>
              <a:rPr lang="pt-PT" sz="2000" dirty="0" err="1"/>
              <a:t>información</a:t>
            </a:r>
            <a:r>
              <a:rPr lang="pt-PT" sz="2000" dirty="0"/>
              <a:t> que </a:t>
            </a:r>
            <a:r>
              <a:rPr lang="pt-PT" sz="2000" dirty="0" err="1"/>
              <a:t>llevó</a:t>
            </a:r>
            <a:r>
              <a:rPr lang="pt-PT" sz="2000" dirty="0"/>
              <a:t> al </a:t>
            </a:r>
            <a:r>
              <a:rPr lang="pt-PT" sz="2000" dirty="0" err="1"/>
              <a:t>escándalo</a:t>
            </a:r>
            <a:r>
              <a:rPr lang="pt-PT" sz="2000" dirty="0"/>
              <a:t> que </a:t>
            </a:r>
            <a:r>
              <a:rPr lang="pt-PT" sz="2000" dirty="0" err="1"/>
              <a:t>derribó</a:t>
            </a:r>
            <a:r>
              <a:rPr lang="pt-PT" sz="2000" dirty="0"/>
              <a:t> al </a:t>
            </a:r>
            <a:r>
              <a:rPr lang="pt-PT" sz="2000" dirty="0" err="1"/>
              <a:t>gobierno</a:t>
            </a:r>
            <a:r>
              <a:rPr lang="pt-PT" sz="2000" dirty="0"/>
              <a:t> de Portugal.</a:t>
            </a:r>
          </a:p>
          <a:p>
            <a:endParaRPr lang="en-US" sz="2000" dirty="0"/>
          </a:p>
          <a:p>
            <a:r>
              <a:rPr lang="pt-PT" sz="2000" dirty="0"/>
              <a:t>La </a:t>
            </a:r>
            <a:r>
              <a:rPr lang="pt-PT" sz="2000" dirty="0" err="1"/>
              <a:t>lección</a:t>
            </a:r>
            <a:r>
              <a:rPr lang="pt-PT" sz="2000" dirty="0"/>
              <a:t> más importante </a:t>
            </a:r>
            <a:r>
              <a:rPr lang="pt-PT" sz="2000" dirty="0" err="1"/>
              <a:t>es</a:t>
            </a:r>
            <a:r>
              <a:rPr lang="pt-PT" sz="2000" dirty="0"/>
              <a:t> que, </a:t>
            </a:r>
            <a:r>
              <a:rPr lang="pt-PT" sz="2000" dirty="0" err="1"/>
              <a:t>en</a:t>
            </a:r>
            <a:r>
              <a:rPr lang="pt-PT" sz="2000" dirty="0"/>
              <a:t> una era de </a:t>
            </a:r>
            <a:r>
              <a:rPr lang="pt-PT" sz="2000" dirty="0" err="1"/>
              <a:t>transparencia</a:t>
            </a:r>
            <a:r>
              <a:rPr lang="pt-PT" sz="2000" dirty="0"/>
              <a:t>, </a:t>
            </a:r>
            <a:r>
              <a:rPr lang="pt-PT" sz="2000" b="1" dirty="0"/>
              <a:t>los </a:t>
            </a:r>
            <a:r>
              <a:rPr lang="pt-PT" sz="2000" b="1" dirty="0" err="1"/>
              <a:t>negocios</a:t>
            </a:r>
            <a:r>
              <a:rPr lang="pt-PT" sz="2000" b="1" dirty="0"/>
              <a:t> privados no </a:t>
            </a:r>
            <a:r>
              <a:rPr lang="pt-PT" sz="2000" b="1" dirty="0" err="1"/>
              <a:t>pueden</a:t>
            </a:r>
            <a:r>
              <a:rPr lang="pt-PT" sz="2000" b="1" dirty="0"/>
              <a:t> escapar </a:t>
            </a:r>
            <a:r>
              <a:rPr lang="pt-PT" sz="2000" b="1" dirty="0" err="1"/>
              <a:t>del</a:t>
            </a:r>
            <a:r>
              <a:rPr lang="pt-PT" sz="2000" b="1" dirty="0"/>
              <a:t> </a:t>
            </a:r>
            <a:r>
              <a:rPr lang="pt-PT" sz="2000" b="1" dirty="0" err="1"/>
              <a:t>escrutinio</a:t>
            </a:r>
            <a:r>
              <a:rPr lang="pt-PT" sz="2000" b="1" dirty="0"/>
              <a:t> público </a:t>
            </a:r>
            <a:r>
              <a:rPr lang="pt-PT" sz="2000" b="1" dirty="0" err="1"/>
              <a:t>cuando</a:t>
            </a:r>
            <a:r>
              <a:rPr lang="pt-PT" sz="2000" b="1" dirty="0"/>
              <a:t> OSINT entra </a:t>
            </a:r>
            <a:r>
              <a:rPr lang="pt-PT" sz="2000" b="1" dirty="0" err="1"/>
              <a:t>en</a:t>
            </a:r>
            <a:r>
              <a:rPr lang="pt-PT" sz="2000" b="1" dirty="0"/>
              <a:t> </a:t>
            </a:r>
            <a:r>
              <a:rPr lang="pt-PT" sz="2000" b="1" dirty="0" err="1"/>
              <a:t>juego</a:t>
            </a:r>
            <a:r>
              <a:rPr lang="pt-PT" sz="2000" dirty="0"/>
              <a:t>.</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35</a:t>
            </a:fld>
            <a:endParaRPr lang="en-US"/>
          </a:p>
        </p:txBody>
      </p:sp>
    </p:spTree>
    <p:extLst>
      <p:ext uri="{BB962C8B-B14F-4D97-AF65-F5344CB8AC3E}">
        <p14:creationId xmlns:p14="http://schemas.microsoft.com/office/powerpoint/2010/main" val="33776016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153988"/>
            <a:ext cx="6477000" cy="3643312"/>
          </a:xfrm>
        </p:spPr>
      </p:sp>
      <p:sp>
        <p:nvSpPr>
          <p:cNvPr id="3" name="Notes Placeholder 2"/>
          <p:cNvSpPr>
            <a:spLocks noGrp="1"/>
          </p:cNvSpPr>
          <p:nvPr>
            <p:ph type="body" idx="1"/>
          </p:nvPr>
        </p:nvSpPr>
        <p:spPr/>
        <p:txBody>
          <a:bodyPr/>
          <a:lstStyle/>
          <a:p>
            <a:pPr defTabSz="966612">
              <a:defRPr/>
            </a:pPr>
            <a:r>
              <a:rPr lang="pt-PT" sz="2000" dirty="0" err="1"/>
              <a:t>Aquí</a:t>
            </a:r>
            <a:r>
              <a:rPr lang="pt-PT" sz="2000" dirty="0"/>
              <a:t> </a:t>
            </a:r>
            <a:r>
              <a:rPr lang="pt-PT" sz="2000" dirty="0" err="1"/>
              <a:t>tienen</a:t>
            </a:r>
            <a:r>
              <a:rPr lang="pt-PT" sz="2000" dirty="0"/>
              <a:t> una lista de los </a:t>
            </a:r>
            <a:r>
              <a:rPr lang="pt-PT" sz="2000" dirty="0" err="1"/>
              <a:t>portales</a:t>
            </a:r>
            <a:r>
              <a:rPr lang="pt-PT" sz="2000" dirty="0"/>
              <a:t> y </a:t>
            </a:r>
            <a:r>
              <a:rPr lang="pt-PT" sz="2000" dirty="0" err="1"/>
              <a:t>herramientas</a:t>
            </a:r>
            <a:r>
              <a:rPr lang="pt-PT" sz="2000" dirty="0"/>
              <a:t> que se </a:t>
            </a:r>
            <a:r>
              <a:rPr lang="pt-PT" sz="2000" dirty="0" err="1"/>
              <a:t>utilizaron</a:t>
            </a:r>
            <a:r>
              <a:rPr lang="pt-PT" sz="2000" dirty="0"/>
              <a:t> </a:t>
            </a:r>
            <a:r>
              <a:rPr lang="pt-PT" sz="2000" dirty="0" err="1"/>
              <a:t>en</a:t>
            </a:r>
            <a:r>
              <a:rPr lang="pt-PT" sz="2000" dirty="0"/>
              <a:t> esta </a:t>
            </a:r>
            <a:r>
              <a:rPr lang="pt-PT" sz="2000" dirty="0" err="1"/>
              <a:t>investigación</a:t>
            </a:r>
            <a:r>
              <a:rPr lang="pt-PT" sz="2000" dirty="0"/>
              <a:t>, desde </a:t>
            </a:r>
            <a:r>
              <a:rPr lang="pt-PT" sz="2000" dirty="0" err="1"/>
              <a:t>portales</a:t>
            </a:r>
            <a:r>
              <a:rPr lang="pt-PT" sz="2000" dirty="0"/>
              <a:t> </a:t>
            </a:r>
            <a:r>
              <a:rPr lang="pt-PT" sz="2000" dirty="0" err="1"/>
              <a:t>gubernamentales</a:t>
            </a:r>
            <a:r>
              <a:rPr lang="pt-PT" sz="2000" dirty="0"/>
              <a:t> y registros de empresas hasta </a:t>
            </a:r>
            <a:r>
              <a:rPr lang="pt-PT" sz="2000" dirty="0" err="1"/>
              <a:t>herramientas</a:t>
            </a:r>
            <a:r>
              <a:rPr lang="pt-PT" sz="2000" dirty="0"/>
              <a:t> de </a:t>
            </a:r>
            <a:r>
              <a:rPr lang="pt-PT" sz="2000" dirty="0" err="1"/>
              <a:t>archivo</a:t>
            </a:r>
            <a:r>
              <a:rPr lang="pt-PT" sz="2000" dirty="0"/>
              <a:t> web.</a:t>
            </a:r>
            <a:endParaRPr lang="en-US" sz="2000"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36</a:t>
            </a:fld>
            <a:endParaRPr lang="en-US"/>
          </a:p>
        </p:txBody>
      </p:sp>
    </p:spTree>
    <p:extLst>
      <p:ext uri="{BB962C8B-B14F-4D97-AF65-F5344CB8AC3E}">
        <p14:creationId xmlns:p14="http://schemas.microsoft.com/office/powerpoint/2010/main" val="34115913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4975" y="82550"/>
            <a:ext cx="6477000" cy="3643313"/>
          </a:xfrm>
        </p:spPr>
      </p:sp>
      <p:sp>
        <p:nvSpPr>
          <p:cNvPr id="3" name="Notes Placeholder 2"/>
          <p:cNvSpPr>
            <a:spLocks noGrp="1"/>
          </p:cNvSpPr>
          <p:nvPr>
            <p:ph type="body" idx="1"/>
          </p:nvPr>
        </p:nvSpPr>
        <p:spPr/>
        <p:txBody>
          <a:bodyPr/>
          <a:lstStyle/>
          <a:p>
            <a:pPr defTabSz="966612"/>
            <a:r>
              <a:rPr lang="es-ES" sz="2000" dirty="0"/>
              <a:t>Y esto nos deja con una reflexión final para llevarnos a casa. </a:t>
            </a:r>
          </a:p>
          <a:p>
            <a:pPr defTabSz="966612"/>
            <a:endParaRPr lang="es-ES" sz="2000" dirty="0"/>
          </a:p>
          <a:p>
            <a:pPr defTabSz="966612"/>
            <a:r>
              <a:rPr lang="es-ES" sz="2000" dirty="0"/>
              <a:t>Si toda esta historia se pudo reconstruir a partir de registros públicos, la pregunta ya no es si hay otras historias ahí fuera, sino cuántas y quién será el primero en encontrarlas.</a:t>
            </a:r>
            <a:endParaRPr lang="en-US" sz="2000" dirty="0"/>
          </a:p>
          <a:p>
            <a:pPr>
              <a:buNone/>
            </a:pPr>
            <a:endParaRPr lang="es-ES" dirty="0"/>
          </a:p>
          <a:p>
            <a:pPr>
              <a:buNone/>
            </a:pPr>
            <a:r>
              <a:rPr lang="es-ES" dirty="0"/>
              <a:t>_____</a:t>
            </a:r>
          </a:p>
          <a:p>
            <a:pPr>
              <a:buNone/>
            </a:pPr>
            <a:r>
              <a:rPr lang="es-ES" dirty="0"/>
              <a:t>Base de datos de empresas</a:t>
            </a:r>
          </a:p>
          <a:p>
            <a:pPr>
              <a:buNone/>
            </a:pPr>
            <a:r>
              <a:rPr lang="es-ES" dirty="0"/>
              <a:t>Múltiples fuentes</a:t>
            </a:r>
          </a:p>
          <a:p>
            <a:pPr>
              <a:buNone/>
            </a:pPr>
            <a:r>
              <a:rPr lang="es-ES" dirty="0"/>
              <a:t>Búsqueda por personas</a:t>
            </a:r>
          </a:p>
          <a:p>
            <a:pPr>
              <a:buNone/>
            </a:pPr>
            <a:r>
              <a:rPr lang="es-ES" dirty="0"/>
              <a:t>Visualización de redes</a:t>
            </a:r>
          </a:p>
          <a:p>
            <a:pPr>
              <a:buNone/>
            </a:pPr>
            <a:r>
              <a:rPr lang="es-ES" dirty="0"/>
              <a:t>Empresas</a:t>
            </a:r>
          </a:p>
          <a:p>
            <a:pPr>
              <a:buNone/>
            </a:pPr>
            <a:r>
              <a:rPr lang="es-ES" dirty="0"/>
              <a:t>Personas</a:t>
            </a:r>
            <a:endParaRPr lang="en-US" dirty="0"/>
          </a:p>
          <a:p>
            <a:endParaRPr lang="en-US" dirty="0"/>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37</a:t>
            </a:fld>
            <a:endParaRPr lang="en-US"/>
          </a:p>
        </p:txBody>
      </p:sp>
    </p:spTree>
    <p:extLst>
      <p:ext uri="{BB962C8B-B14F-4D97-AF65-F5344CB8AC3E}">
        <p14:creationId xmlns:p14="http://schemas.microsoft.com/office/powerpoint/2010/main" val="32555875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38</a:t>
            </a:fld>
            <a:endParaRPr lang="en-US"/>
          </a:p>
        </p:txBody>
      </p:sp>
    </p:spTree>
    <p:extLst>
      <p:ext uri="{BB962C8B-B14F-4D97-AF65-F5344CB8AC3E}">
        <p14:creationId xmlns:p14="http://schemas.microsoft.com/office/powerpoint/2010/main" val="18974978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a:xfrm>
            <a:off x="4143588" y="9119474"/>
            <a:ext cx="3169920" cy="481726"/>
          </a:xfrm>
          <a:prstGeom prst="rect">
            <a:avLst/>
          </a:prstGeom>
        </p:spPr>
        <p:txBody>
          <a:bodyPr/>
          <a:lstStyle/>
          <a:p>
            <a:fld id="{26117B31-01B5-445C-AEDA-E1B74E69A8E6}" type="slidenum">
              <a:rPr lang="en-US" smtClean="0"/>
              <a:t>39</a:t>
            </a:fld>
            <a:endParaRPr lang="en-US"/>
          </a:p>
        </p:txBody>
      </p:sp>
    </p:spTree>
    <p:extLst>
      <p:ext uri="{BB962C8B-B14F-4D97-AF65-F5344CB8AC3E}">
        <p14:creationId xmlns:p14="http://schemas.microsoft.com/office/powerpoint/2010/main" val="422979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3AE53DD-DC32-4B54-9566-99B948E6E5A2}" type="datetime1">
              <a:rPr lang="en-US" smtClean="0"/>
              <a:t>2025-11-07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CF907F-75F9-49D7-AED4-5F0DC6EFCE9F}" type="datetime1">
              <a:rPr lang="en-US" smtClean="0"/>
              <a:t>2025-11-07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10DE5C-F4A3-4DCD-822E-D4ABA20615F9}" type="datetime1">
              <a:rPr lang="en-US" smtClean="0"/>
              <a:t>2025-11-07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CE53F34-93BA-4CAD-BC61-2C9DDCBF1DBC}" type="datetime1">
              <a:rPr lang="en-US" smtClean="0"/>
              <a:t>2025-11-07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247734-4047-4FA8-9EFF-ED6C09D17DCE}" type="datetime1">
              <a:rPr lang="en-US" smtClean="0"/>
              <a:t>2025-11-07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711896E-AE16-4B46-8D1B-DCC97BBDAB9C}" type="datetime1">
              <a:rPr lang="en-US" smtClean="0"/>
              <a:t>2025-11-07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6F8865-C0DB-4490-B5E3-9EB17EB77C8B}" type="datetime1">
              <a:rPr lang="en-US" smtClean="0"/>
              <a:t>2025-11-07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024012-CF14-4290-99C2-38CA8A02DABD}" type="datetime1">
              <a:rPr lang="en-US" smtClean="0"/>
              <a:t>2025-11-07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314B06-5EDC-4BB2-988C-00FBBD7D42FB}" type="datetime1">
              <a:rPr lang="en-US" smtClean="0"/>
              <a:t>2025-11-07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134D12-07A2-4CC4-8700-089BE7651819}" type="datetime1">
              <a:rPr lang="en-US" smtClean="0"/>
              <a:t>2025-11-07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CB8FC4-D77E-4F43-A146-BE2A7FF9B188}" type="datetime1">
              <a:rPr lang="en-US" smtClean="0"/>
              <a:t>2025-11-07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9A3CD0-13FA-4CD9-9171-2C899410C30F}" type="datetime1">
              <a:rPr lang="en-US" smtClean="0"/>
              <a:t>2025-11-07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hyperlink" Target="https://www.linkedin.com/in/pedroaovieira/overlay/about-this-profile/" TargetMode="External"/><Relationship Id="rId3" Type="http://schemas.openxmlformats.org/officeDocument/2006/relationships/image" Target="../media/image9.jpg"/><Relationship Id="rId7"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2.sv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image" Target="../media/image12.svg"/><Relationship Id="rId12"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diagramQuickStyle" Target="../diagrams/quickStyle1.xml"/><Relationship Id="rId5" Type="http://schemas.openxmlformats.org/officeDocument/2006/relationships/image" Target="../media/image2.svg"/><Relationship Id="rId10" Type="http://schemas.openxmlformats.org/officeDocument/2006/relationships/diagramLayout" Target="../diagrams/layout1.xml"/><Relationship Id="rId4" Type="http://schemas.openxmlformats.org/officeDocument/2006/relationships/image" Target="../media/image1.png"/><Relationship Id="rId9"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png"/><Relationship Id="rId7" Type="http://schemas.openxmlformats.org/officeDocument/2006/relationships/hyperlink" Target="https://www.portugal.gov.pt/pt/gc24/primeiro-ministro"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10" Type="http://schemas.openxmlformats.org/officeDocument/2006/relationships/image" Target="../media/image26.png"/><Relationship Id="rId4" Type="http://schemas.openxmlformats.org/officeDocument/2006/relationships/image" Target="../media/image1.png"/><Relationship Id="rId9" Type="http://schemas.openxmlformats.org/officeDocument/2006/relationships/hyperlink" Target="https://www.portugal.gov.p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hyperlink" Target="https://www.parlamento.pt/"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10"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hyperlink" Target="https://www.parlamento.pt/DeputadoGP/Paginas/Biografia.aspx?BID=1561"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hyperlink" Target="https://diariodarepublica.pt/"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hyperlink" Target="https://publicacoes.mj.pt/Pesquisa.aspx" TargetMode="External"/><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5.png"/><Relationship Id="rId7" Type="http://schemas.openxmlformats.org/officeDocument/2006/relationships/hyperlink" Target="https://publicacoes.mj.pt/Pesquisa.aspx"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www.einforma.pt/servlet/app/portal/ENTP/prod/ETIQUETA_EMPRESA_MARCA/nif/510445020/marca/SP&amp;M%20ADVOGADOS/"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hyperlink" Target="https://web.archive.org/web/20190616061745/https:/spm-advogados.com/socios/" TargetMode="External"/><Relationship Id="rId3" Type="http://schemas.openxmlformats.org/officeDocument/2006/relationships/image" Target="../media/image5.png"/><Relationship Id="rId7" Type="http://schemas.openxmlformats.org/officeDocument/2006/relationships/hyperlink" Target="https://spm-advogados.com/"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hyperlink" Target="https://portal.oa.pt/advogados/pesquisa-de-advogados/?l=&amp;cg=&amp;ce=44944P&amp;n=&amp;lo=&amp;m=&amp;cp=&amp;op=&amp;o=0"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png"/><Relationship Id="rId7" Type="http://schemas.openxmlformats.org/officeDocument/2006/relationships/hyperlink" Target="https://www.base.gov.pt/"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10" Type="http://schemas.openxmlformats.org/officeDocument/2006/relationships/image" Target="../media/image34.png"/><Relationship Id="rId4" Type="http://schemas.openxmlformats.org/officeDocument/2006/relationships/image" Target="../media/image1.png"/><Relationship Id="rId9" Type="http://schemas.openxmlformats.org/officeDocument/2006/relationships/hyperlink" Target="https://www.base.gov.pt/Base4/pt/pesquisa/?type=contratos&amp;adjudicatariaid=521362"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5.png"/><Relationship Id="rId7" Type="http://schemas.openxmlformats.org/officeDocument/2006/relationships/hyperlink" Target="https://publicacoes.mj.pt/Pesquisa.aspx"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8" Type="http://schemas.openxmlformats.org/officeDocument/2006/relationships/hyperlink" Target="https://publicacoes.mj.pt/Pesquisa.aspx" TargetMode="External"/><Relationship Id="rId3" Type="http://schemas.openxmlformats.org/officeDocument/2006/relationships/image" Target="../media/image38.png"/><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hyperlink" Target="https://smmp.pt/author/smmp-sindicato-dos-magistrados-do-ministerio-pu-20/page/441/"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8" Type="http://schemas.openxmlformats.org/officeDocument/2006/relationships/hyperlink" Target="https://publicacoes.mj.pt/Pesquisa.aspx" TargetMode="External"/><Relationship Id="rId3" Type="http://schemas.openxmlformats.org/officeDocument/2006/relationships/image" Target="../media/image40.png"/><Relationship Id="rId7"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5.png"/><Relationship Id="rId7" Type="http://schemas.openxmlformats.org/officeDocument/2006/relationships/hyperlink" Target="https://www.iberinform.pt/empresa/24946732/spinumviva-lda"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5.png"/><Relationship Id="rId7" Type="http://schemas.openxmlformats.org/officeDocument/2006/relationships/hyperlink" Target="http://www.sicae.pt/Detalhe.aspx?NIPC=516195174"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3" Type="http://schemas.openxmlformats.org/officeDocument/2006/relationships/hyperlink" Target="https://www.parlamento.pt/DeputadoGP/Paginas/Deputados_ef.aspx" TargetMode="External"/><Relationship Id="rId18" Type="http://schemas.openxmlformats.org/officeDocument/2006/relationships/hyperlink" Target="https://diariodarepublica.pt/dr/pesquisa" TargetMode="External"/><Relationship Id="rId26" Type="http://schemas.openxmlformats.org/officeDocument/2006/relationships/hyperlink" Target="https://www.citius.mj.pt/portal/execucoes/listapublicaexecucoes.aspx" TargetMode="External"/><Relationship Id="rId21" Type="http://schemas.openxmlformats.org/officeDocument/2006/relationships/hyperlink" Target="https://www.base.gov.pt/Base4/pt/pesquisa/?type=contratos&amp;texto=&amp;tipo=0&amp;tipocontrato=0&amp;cpv=&amp;aqinfo=&amp;adjudicante=&amp;adjudicataria=&amp;sel_price=price_c1&amp;desdeprecocontrato=&amp;ateprecocontrato=&amp;desdeprecoefectivo=&amp;ateprecoefectivo=&amp;desdeprazoexecucao=&amp;ateprazoexecucao=&amp;sel_date=date_c1&amp;desdedatacontrato=&amp;atedatacontrato=&amp;desdedatapublicacao=&amp;atedatapublicacao=&amp;desdedatafecho=&amp;atedatafecho=&amp;pais=0&amp;distrito=0&amp;concelho=0" TargetMode="External"/><Relationship Id="rId34" Type="http://schemas.openxmlformats.org/officeDocument/2006/relationships/image" Target="../media/image33.png"/><Relationship Id="rId7" Type="http://schemas.openxmlformats.org/officeDocument/2006/relationships/hyperlink" Target="https://www.portugal.gov.pt/pt/gc24/governo/composicao" TargetMode="External"/><Relationship Id="rId12" Type="http://schemas.openxmlformats.org/officeDocument/2006/relationships/hyperlink" Target="https://www.pai.pt/" TargetMode="External"/><Relationship Id="rId17" Type="http://schemas.openxmlformats.org/officeDocument/2006/relationships/hyperlink" Target="https://www.parlamento.pt/Cidadania/Paginas/DadosAbertos.aspx" TargetMode="External"/><Relationship Id="rId25" Type="http://schemas.openxmlformats.org/officeDocument/2006/relationships/hyperlink" Target="https://igf.gov.pt/subvencoes-publicas" TargetMode="External"/><Relationship Id="rId33" Type="http://schemas.openxmlformats.org/officeDocument/2006/relationships/image" Target="../media/image27.png"/><Relationship Id="rId38" Type="http://schemas.openxmlformats.org/officeDocument/2006/relationships/image" Target="../media/image29.png"/><Relationship Id="rId2" Type="http://schemas.openxmlformats.org/officeDocument/2006/relationships/notesSlide" Target="../notesSlides/notesSlide36.xml"/><Relationship Id="rId16" Type="http://schemas.openxmlformats.org/officeDocument/2006/relationships/hyperlink" Target="https://www.parlamento.pt/DeputadoGP/Paginas/RegistoInteresses.aspx?BID=2061" TargetMode="External"/><Relationship Id="rId20" Type="http://schemas.openxmlformats.org/officeDocument/2006/relationships/hyperlink" Target="https://www.base.gov.pt/" TargetMode="External"/><Relationship Id="rId29" Type="http://schemas.openxmlformats.org/officeDocument/2006/relationships/hyperlink" Target="https://static.portaldasfinancas.gov.pt/app/devedores_static/de-devedores.html" TargetMode="Externa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hyperlink" Target="https://www.penhorado.pt/" TargetMode="External"/><Relationship Id="rId24" Type="http://schemas.openxmlformats.org/officeDocument/2006/relationships/hyperlink" Target="https://www.base.gov.pt/Base4/pt/estatisticas/indicadores-das-entidades-adjudicantes/" TargetMode="External"/><Relationship Id="rId32" Type="http://schemas.openxmlformats.org/officeDocument/2006/relationships/hyperlink" Target="https://www.parlamento.pt/" TargetMode="External"/><Relationship Id="rId37" Type="http://schemas.openxmlformats.org/officeDocument/2006/relationships/hyperlink" Target="https://diariodarepublica.pt/" TargetMode="External"/><Relationship Id="rId5" Type="http://schemas.openxmlformats.org/officeDocument/2006/relationships/image" Target="../media/image2.svg"/><Relationship Id="rId15" Type="http://schemas.openxmlformats.org/officeDocument/2006/relationships/hyperlink" Target="https://www.parlamento.pt/DeputadoGP/Paginas/XIIL_RegInteresses.aspx?BID=1561&amp;leg=XIII" TargetMode="External"/><Relationship Id="rId23" Type="http://schemas.openxmlformats.org/officeDocument/2006/relationships/hyperlink" Target="https://www.base.gov.pt/Base4/pt/pesquisa/?type=entidades&amp;texto=" TargetMode="External"/><Relationship Id="rId28" Type="http://schemas.openxmlformats.org/officeDocument/2006/relationships/hyperlink" Target="https://www.seg-social.pt/lista-de-devedores-na-seguranca-social" TargetMode="External"/><Relationship Id="rId36" Type="http://schemas.openxmlformats.org/officeDocument/2006/relationships/image" Target="../media/image32.png"/><Relationship Id="rId10" Type="http://schemas.openxmlformats.org/officeDocument/2006/relationships/hyperlink" Target="https://www.pesquisabenspenhorados.com/" TargetMode="External"/><Relationship Id="rId19" Type="http://schemas.openxmlformats.org/officeDocument/2006/relationships/hyperlink" Target="https://dre.tretas.org/" TargetMode="External"/><Relationship Id="rId31" Type="http://schemas.openxmlformats.org/officeDocument/2006/relationships/image" Target="../media/image26.png"/><Relationship Id="rId4" Type="http://schemas.openxmlformats.org/officeDocument/2006/relationships/image" Target="../media/image1.png"/><Relationship Id="rId9" Type="http://schemas.openxmlformats.org/officeDocument/2006/relationships/hyperlink" Target="https://publicacoes.mj.pt/Pesquisa.aspx" TargetMode="External"/><Relationship Id="rId14" Type="http://schemas.openxmlformats.org/officeDocument/2006/relationships/hyperlink" Target="https://www.parlamento.pt/DeputadoGP/Paginas/Biografia.aspx?BID=2061" TargetMode="External"/><Relationship Id="rId22" Type="http://schemas.openxmlformats.org/officeDocument/2006/relationships/hyperlink" Target="https://www.base.gov.pt/Base4/pt/pesquisa/?type=anuncios&amp;texto=&amp;numeroanuncio=&amp;emissora=&amp;desdedatapublicacao=&amp;atedatapublicacao=&amp;desdeprecobase=&amp;ateprecobase=&amp;tipoacto=0&amp;tipomodelo=0&amp;tipocontrato=0&amp;cpv=" TargetMode="External"/><Relationship Id="rId27" Type="http://schemas.openxmlformats.org/officeDocument/2006/relationships/hyperlink" Target="https://www.citius.mj.pt/portal/consultas/ConsultasVenda.aspx" TargetMode="External"/><Relationship Id="rId30" Type="http://schemas.openxmlformats.org/officeDocument/2006/relationships/hyperlink" Target="https://www.portugal.gov.pt/" TargetMode="External"/><Relationship Id="rId35" Type="http://schemas.openxmlformats.org/officeDocument/2006/relationships/hyperlink" Target="https://publicacoes.mj.pt/Index.aspx" TargetMode="External"/><Relationship Id="rId8" Type="http://schemas.openxmlformats.org/officeDocument/2006/relationships/hyperlink" Target="https://www.portugal.gov.pt/pt/gc24/primeiro-ministro" TargetMode="Externa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5.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48.png"/><Relationship Id="rId5" Type="http://schemas.openxmlformats.org/officeDocument/2006/relationships/image" Target="../media/image2.svg"/><Relationship Id="rId10" Type="http://schemas.openxmlformats.org/officeDocument/2006/relationships/image" Target="../media/image47.svg"/><Relationship Id="rId4" Type="http://schemas.openxmlformats.org/officeDocument/2006/relationships/image" Target="../media/image1.png"/><Relationship Id="rId9" Type="http://schemas.openxmlformats.org/officeDocument/2006/relationships/image" Target="../media/image46.png"/></Relationships>
</file>

<file path=ppt/slides/_rels/slide3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0.png"/><Relationship Id="rId7" Type="http://schemas.openxmlformats.org/officeDocument/2006/relationships/image" Target="../media/image2.sv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51.png"/><Relationship Id="rId4" Type="http://schemas.openxmlformats.org/officeDocument/2006/relationships/image" Target="../media/image3.png"/><Relationship Id="rId9"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rot="-2700000">
            <a:off x="12153563" y="8872468"/>
            <a:ext cx="5033794" cy="1114246"/>
            <a:chOff x="0" y="0"/>
            <a:chExt cx="31900754" cy="6379210"/>
          </a:xfrm>
        </p:grpSpPr>
        <p:sp>
          <p:nvSpPr>
            <p:cNvPr id="3" name="Freeform 3"/>
            <p:cNvSpPr/>
            <p:nvPr/>
          </p:nvSpPr>
          <p:spPr>
            <a:xfrm>
              <a:off x="0" y="0"/>
              <a:ext cx="31900754" cy="6379210"/>
            </a:xfrm>
            <a:custGeom>
              <a:avLst/>
              <a:gdLst/>
              <a:ahLst/>
              <a:cxnLst/>
              <a:rect l="l" t="t" r="r" b="b"/>
              <a:pathLst>
                <a:path w="31900754" h="6379210">
                  <a:moveTo>
                    <a:pt x="25204906" y="0"/>
                  </a:moveTo>
                  <a:lnTo>
                    <a:pt x="8024961" y="0"/>
                  </a:lnTo>
                  <a:lnTo>
                    <a:pt x="6736517" y="7620"/>
                  </a:lnTo>
                  <a:lnTo>
                    <a:pt x="0" y="6379210"/>
                  </a:lnTo>
                  <a:lnTo>
                    <a:pt x="25254845" y="6379210"/>
                  </a:lnTo>
                  <a:lnTo>
                    <a:pt x="31900754" y="0"/>
                  </a:lnTo>
                  <a:close/>
                </a:path>
              </a:pathLst>
            </a:custGeom>
            <a:gradFill rotWithShape="1">
              <a:gsLst>
                <a:gs pos="0">
                  <a:srgbClr val="000000">
                    <a:alpha val="100000"/>
                  </a:srgbClr>
                </a:gs>
                <a:gs pos="100000">
                  <a:srgbClr val="3533CD">
                    <a:alpha val="100000"/>
                  </a:srgbClr>
                </a:gs>
              </a:gsLst>
              <a:lin ang="0"/>
            </a:gradFill>
          </p:spPr>
          <p:txBody>
            <a:bodyPr/>
            <a:lstStyle/>
            <a:p>
              <a:endParaRPr lang="es-ES"/>
            </a:p>
          </p:txBody>
        </p:sp>
      </p:grpSp>
      <p:grpSp>
        <p:nvGrpSpPr>
          <p:cNvPr id="4" name="Group 4"/>
          <p:cNvGrpSpPr/>
          <p:nvPr/>
        </p:nvGrpSpPr>
        <p:grpSpPr>
          <a:xfrm rot="-2700000">
            <a:off x="14808726" y="8128577"/>
            <a:ext cx="4594082" cy="1114246"/>
            <a:chOff x="0" y="0"/>
            <a:chExt cx="26301750" cy="6379210"/>
          </a:xfrm>
        </p:grpSpPr>
        <p:sp>
          <p:nvSpPr>
            <p:cNvPr id="5" name="Freeform 5"/>
            <p:cNvSpPr/>
            <p:nvPr/>
          </p:nvSpPr>
          <p:spPr>
            <a:xfrm>
              <a:off x="0" y="0"/>
              <a:ext cx="26301750" cy="6379210"/>
            </a:xfrm>
            <a:custGeom>
              <a:avLst/>
              <a:gdLst/>
              <a:ahLst/>
              <a:cxnLst/>
              <a:rect l="l" t="t" r="r" b="b"/>
              <a:pathLst>
                <a:path w="26301750" h="6379210">
                  <a:moveTo>
                    <a:pt x="19619477" y="0"/>
                  </a:moveTo>
                  <a:lnTo>
                    <a:pt x="7607643" y="0"/>
                  </a:lnTo>
                  <a:lnTo>
                    <a:pt x="6706792" y="7620"/>
                  </a:lnTo>
                  <a:lnTo>
                    <a:pt x="0" y="6379210"/>
                  </a:lnTo>
                  <a:lnTo>
                    <a:pt x="19655841" y="6379210"/>
                  </a:lnTo>
                  <a:lnTo>
                    <a:pt x="26301750" y="0"/>
                  </a:lnTo>
                  <a:close/>
                </a:path>
              </a:pathLst>
            </a:custGeom>
            <a:gradFill rotWithShape="1">
              <a:gsLst>
                <a:gs pos="0">
                  <a:srgbClr val="FF3131">
                    <a:alpha val="100000"/>
                  </a:srgbClr>
                </a:gs>
                <a:gs pos="100000">
                  <a:srgbClr val="FF914D">
                    <a:alpha val="100000"/>
                  </a:srgbClr>
                </a:gs>
              </a:gsLst>
              <a:lin ang="0"/>
            </a:gradFill>
          </p:spPr>
          <p:txBody>
            <a:bodyPr/>
            <a:lstStyle/>
            <a:p>
              <a:endParaRPr lang="es-ES"/>
            </a:p>
          </p:txBody>
        </p:sp>
      </p:grpSp>
      <p:sp>
        <p:nvSpPr>
          <p:cNvPr id="7" name="Freeform 7"/>
          <p:cNvSpPr/>
          <p:nvPr/>
        </p:nvSpPr>
        <p:spPr>
          <a:xfrm rot="-5400000">
            <a:off x="1066368" y="7031288"/>
            <a:ext cx="2189344" cy="4322079"/>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3">
              <a:extLst>
                <a:ext uri="{96DAC541-7B7A-43D3-8B79-37D633B846F1}">
                  <asvg:svgBlip xmlns:asvg="http://schemas.microsoft.com/office/drawing/2016/SVG/main" r:embed="rId4"/>
                </a:ext>
              </a:extLst>
            </a:blip>
            <a:stretch>
              <a:fillRect l="-172122" t="-37844" b="1"/>
            </a:stretch>
          </a:blipFill>
        </p:spPr>
        <p:txBody>
          <a:bodyPr/>
          <a:lstStyle/>
          <a:p>
            <a:endParaRPr lang="es-ES"/>
          </a:p>
        </p:txBody>
      </p:sp>
      <p:sp>
        <p:nvSpPr>
          <p:cNvPr id="8" name="Freeform 8"/>
          <p:cNvSpPr/>
          <p:nvPr/>
        </p:nvSpPr>
        <p:spPr>
          <a:xfrm>
            <a:off x="0" y="-1794526"/>
            <a:ext cx="4622460" cy="13876052"/>
          </a:xfrm>
          <a:custGeom>
            <a:avLst/>
            <a:gdLst/>
            <a:ahLst/>
            <a:cxnLst/>
            <a:rect l="l" t="t" r="r" b="b"/>
            <a:pathLst>
              <a:path w="9244920" h="13876052">
                <a:moveTo>
                  <a:pt x="0" y="0"/>
                </a:moveTo>
                <a:lnTo>
                  <a:pt x="9244920" y="0"/>
                </a:lnTo>
                <a:lnTo>
                  <a:pt x="9244920" y="13876052"/>
                </a:lnTo>
                <a:lnTo>
                  <a:pt x="0" y="13876052"/>
                </a:lnTo>
                <a:lnTo>
                  <a:pt x="0" y="0"/>
                </a:lnTo>
                <a:close/>
              </a:path>
            </a:pathLst>
          </a:custGeom>
          <a:blipFill>
            <a:blip r:embed="rId5"/>
            <a:stretch>
              <a:fillRect l="-100000"/>
            </a:stretch>
          </a:blipFill>
        </p:spPr>
        <p:txBody>
          <a:bodyPr/>
          <a:lstStyle/>
          <a:p>
            <a:endParaRPr lang="es-ES"/>
          </a:p>
        </p:txBody>
      </p:sp>
      <p:sp>
        <p:nvSpPr>
          <p:cNvPr id="9" name="Freeform 9"/>
          <p:cNvSpPr/>
          <p:nvPr/>
        </p:nvSpPr>
        <p:spPr>
          <a:xfrm>
            <a:off x="2923790" y="1839205"/>
            <a:ext cx="14366500" cy="6608590"/>
          </a:xfrm>
          <a:custGeom>
            <a:avLst/>
            <a:gdLst/>
            <a:ahLst/>
            <a:cxnLst/>
            <a:rect l="l" t="t" r="r" b="b"/>
            <a:pathLst>
              <a:path w="14366500" h="6608590">
                <a:moveTo>
                  <a:pt x="0" y="0"/>
                </a:moveTo>
                <a:lnTo>
                  <a:pt x="14366500" y="0"/>
                </a:lnTo>
                <a:lnTo>
                  <a:pt x="14366500" y="6608590"/>
                </a:lnTo>
                <a:lnTo>
                  <a:pt x="0" y="6608590"/>
                </a:lnTo>
                <a:lnTo>
                  <a:pt x="0" y="0"/>
                </a:lnTo>
                <a:close/>
              </a:path>
            </a:pathLst>
          </a:custGeom>
          <a:blipFill>
            <a:blip r:embed="rId6"/>
            <a:stretch>
              <a:fillRect/>
            </a:stretch>
          </a:blipFill>
        </p:spPr>
        <p:txBody>
          <a:bodyPr/>
          <a:lstStyle/>
          <a:p>
            <a:endParaRPr lang="es-ES"/>
          </a:p>
        </p:txBody>
      </p:sp>
      <p:grpSp>
        <p:nvGrpSpPr>
          <p:cNvPr id="10" name="Group 10"/>
          <p:cNvGrpSpPr/>
          <p:nvPr/>
        </p:nvGrpSpPr>
        <p:grpSpPr>
          <a:xfrm>
            <a:off x="11676134" y="291438"/>
            <a:ext cx="6611866" cy="1476477"/>
            <a:chOff x="0" y="-93445"/>
            <a:chExt cx="8815822" cy="1968636"/>
          </a:xfrm>
        </p:grpSpPr>
        <p:sp>
          <p:nvSpPr>
            <p:cNvPr id="11" name="TextBox 11"/>
            <p:cNvSpPr txBox="1"/>
            <p:nvPr/>
          </p:nvSpPr>
          <p:spPr>
            <a:xfrm>
              <a:off x="0" y="661183"/>
              <a:ext cx="8815822" cy="1214008"/>
            </a:xfrm>
            <a:prstGeom prst="rect">
              <a:avLst/>
            </a:prstGeom>
          </p:spPr>
          <p:txBody>
            <a:bodyPr lIns="0" tIns="0" rIns="0" bIns="0" rtlCol="0" anchor="t">
              <a:spAutoFit/>
            </a:bodyPr>
            <a:lstStyle/>
            <a:p>
              <a:pPr marL="0" lvl="0" indent="0" algn="l">
                <a:lnSpc>
                  <a:spcPts val="7065"/>
                </a:lnSpc>
                <a:spcBef>
                  <a:spcPct val="0"/>
                </a:spcBef>
              </a:pPr>
              <a:r>
                <a:rPr lang="en-US" sz="5046" dirty="0">
                  <a:solidFill>
                    <a:srgbClr val="8FE3FD"/>
                  </a:solidFill>
                  <a:latin typeface="Pattanakarn Expanded"/>
                  <a:ea typeface="Pattanakarn Expanded"/>
                  <a:cs typeface="Pattanakarn Expanded"/>
                  <a:sym typeface="Pattanakarn Expanded"/>
                </a:rPr>
                <a:t>Alcalá de Henares</a:t>
              </a:r>
            </a:p>
          </p:txBody>
        </p:sp>
        <p:sp>
          <p:nvSpPr>
            <p:cNvPr id="12" name="TextBox 12"/>
            <p:cNvSpPr txBox="1"/>
            <p:nvPr/>
          </p:nvSpPr>
          <p:spPr>
            <a:xfrm>
              <a:off x="2063876" y="-93445"/>
              <a:ext cx="6751946" cy="889132"/>
            </a:xfrm>
            <a:prstGeom prst="rect">
              <a:avLst/>
            </a:prstGeom>
          </p:spPr>
          <p:txBody>
            <a:bodyPr wrap="square" lIns="0" tIns="0" rIns="0" bIns="0" rtlCol="0" anchor="t">
              <a:spAutoFit/>
            </a:bodyPr>
            <a:lstStyle/>
            <a:p>
              <a:pPr marL="0" lvl="0" indent="0" algn="l">
                <a:lnSpc>
                  <a:spcPts val="5225"/>
                </a:lnSpc>
                <a:spcBef>
                  <a:spcPct val="0"/>
                </a:spcBef>
              </a:pPr>
              <a:r>
                <a:rPr lang="en-US" sz="3732" dirty="0">
                  <a:solidFill>
                    <a:srgbClr val="FFFFFF"/>
                  </a:solidFill>
                  <a:latin typeface="Pattanakarn Expanded"/>
                  <a:ea typeface="Pattanakarn Expanded"/>
                  <a:cs typeface="Pattanakarn Expanded"/>
                  <a:sym typeface="Pattanakarn Expanded"/>
                </a:rPr>
                <a:t>NOVIEMBRE 2025</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5D61A2FC-2B9C-F411-E2C2-580593EF59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B34869-834A-BDFB-237E-0A5F1E3D58B6}"/>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FED3E1F6-0170-56F6-C512-627032C1B253}"/>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FD178FF1-002C-4774-8EE7-89D056C13C35}"/>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09FCBC46-8E72-5928-85DC-8E54E0BEA823}"/>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70D46BED-8BCB-36AC-FFC7-E0E88B2ED06C}"/>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82A333D7-CAA7-FE88-0749-817F395C353F}"/>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D1189E29-00F9-0F37-B474-123CDE042A63}"/>
              </a:ext>
            </a:extLst>
          </p:cNvPr>
          <p:cNvPicPr>
            <a:picLocks noChangeAspect="1"/>
          </p:cNvPicPr>
          <p:nvPr/>
        </p:nvPicPr>
        <p:blipFill>
          <a:blip r:embed="rId6"/>
          <a:stretch>
            <a:fillRect/>
          </a:stretch>
        </p:blipFill>
        <p:spPr>
          <a:xfrm>
            <a:off x="13441977" y="114300"/>
            <a:ext cx="1585903" cy="1006621"/>
          </a:xfrm>
          <a:prstGeom prst="rect">
            <a:avLst/>
          </a:prstGeom>
        </p:spPr>
      </p:pic>
      <p:grpSp>
        <p:nvGrpSpPr>
          <p:cNvPr id="13" name="Group 12">
            <a:extLst>
              <a:ext uri="{FF2B5EF4-FFF2-40B4-BE49-F238E27FC236}">
                <a16:creationId xmlns:a16="http://schemas.microsoft.com/office/drawing/2014/main" id="{2604858C-3A4C-3878-735B-28475C30C194}"/>
              </a:ext>
            </a:extLst>
          </p:cNvPr>
          <p:cNvGrpSpPr/>
          <p:nvPr/>
        </p:nvGrpSpPr>
        <p:grpSpPr>
          <a:xfrm>
            <a:off x="2781299" y="1550603"/>
            <a:ext cx="9601200" cy="8035289"/>
            <a:chOff x="2998217" y="1333500"/>
            <a:chExt cx="9601200" cy="8035289"/>
          </a:xfrm>
        </p:grpSpPr>
        <p:pic>
          <p:nvPicPr>
            <p:cNvPr id="12" name="Picture 11">
              <a:extLst>
                <a:ext uri="{FF2B5EF4-FFF2-40B4-BE49-F238E27FC236}">
                  <a16:creationId xmlns:a16="http://schemas.microsoft.com/office/drawing/2014/main" id="{8AC93A90-0DED-6C33-6207-1B3679C4D026}"/>
                </a:ext>
              </a:extLst>
            </p:cNvPr>
            <p:cNvPicPr>
              <a:picLocks noChangeAspect="1"/>
            </p:cNvPicPr>
            <p:nvPr/>
          </p:nvPicPr>
          <p:blipFill>
            <a:blip r:embed="rId7"/>
            <a:stretch>
              <a:fillRect/>
            </a:stretch>
          </p:blipFill>
          <p:spPr>
            <a:xfrm>
              <a:off x="3088705" y="1333500"/>
              <a:ext cx="9420225" cy="7934325"/>
            </a:xfrm>
            <a:prstGeom prst="rect">
              <a:avLst/>
            </a:prstGeom>
          </p:spPr>
        </p:pic>
        <p:pic>
          <p:nvPicPr>
            <p:cNvPr id="10" name="Picture 9" descr="A group of people on a boat&#10;&#10;AI-generated content may be incorrect.">
              <a:extLst>
                <a:ext uri="{FF2B5EF4-FFF2-40B4-BE49-F238E27FC236}">
                  <a16:creationId xmlns:a16="http://schemas.microsoft.com/office/drawing/2014/main" id="{364CB218-6E2F-E771-ADBD-F13716F2E03A}"/>
                </a:ext>
              </a:extLst>
            </p:cNvPr>
            <p:cNvPicPr>
              <a:picLocks noChangeAspect="1"/>
            </p:cNvPicPr>
            <p:nvPr/>
          </p:nvPicPr>
          <p:blipFill>
            <a:blip r:embed="rId8" cstate="print">
              <a:extLst>
                <a:ext uri="{28A0092B-C50C-407E-A947-70E740481C1C}">
                  <a14:useLocalDpi xmlns:a14="http://schemas.microsoft.com/office/drawing/2010/main" val="0"/>
                </a:ext>
              </a:extLst>
            </a:blip>
            <a:srcRect l="4595" t="14339" r="4098" b="72907"/>
            <a:stretch>
              <a:fillRect/>
            </a:stretch>
          </p:blipFill>
          <p:spPr>
            <a:xfrm>
              <a:off x="2998217" y="8362949"/>
              <a:ext cx="9601200" cy="1005840"/>
            </a:xfrm>
            <a:prstGeom prst="rect">
              <a:avLst/>
            </a:prstGeom>
          </p:spPr>
        </p:pic>
      </p:grpSp>
    </p:spTree>
    <p:extLst>
      <p:ext uri="{BB962C8B-B14F-4D97-AF65-F5344CB8AC3E}">
        <p14:creationId xmlns:p14="http://schemas.microsoft.com/office/powerpoint/2010/main" val="401354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13339904" y="3183802"/>
            <a:ext cx="3919396" cy="391939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93FFFF">
                      <a:alpha val="100000"/>
                    </a:srgbClr>
                  </a:gs>
                  <a:gs pos="100000">
                    <a:srgbClr val="3995BC">
                      <a:alpha val="100000"/>
                    </a:srgbClr>
                  </a:gs>
                </a:gsLst>
                <a:lin ang="5400000"/>
              </a:gradFill>
              <a:prstDash val="solid"/>
              <a:miter/>
            </a:ln>
          </p:spPr>
          <p:txBody>
            <a:bodyPr/>
            <a:lstStyle/>
            <a:p>
              <a:endParaRPr lang="es-E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149"/>
                </a:lnSpc>
              </a:pPr>
              <a:endParaRPr/>
            </a:p>
          </p:txBody>
        </p:sp>
      </p:grpSp>
      <p:grpSp>
        <p:nvGrpSpPr>
          <p:cNvPr id="5" name="Group 5"/>
          <p:cNvGrpSpPr/>
          <p:nvPr/>
        </p:nvGrpSpPr>
        <p:grpSpPr>
          <a:xfrm>
            <a:off x="13510763" y="3354661"/>
            <a:ext cx="3577679" cy="3577679"/>
            <a:chOff x="0" y="0"/>
            <a:chExt cx="812800" cy="812800"/>
          </a:xfrm>
          <a:blipFill>
            <a:blip r:embed="rId3"/>
            <a:stretch>
              <a:fillRect/>
            </a:stretch>
          </a:blipFill>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a:ln w="85725" cap="sq">
              <a:gradFill>
                <a:gsLst>
                  <a:gs pos="0">
                    <a:srgbClr val="93FFFF">
                      <a:alpha val="100000"/>
                    </a:srgbClr>
                  </a:gs>
                  <a:gs pos="100000">
                    <a:srgbClr val="3995BC">
                      <a:alpha val="100000"/>
                    </a:srgbClr>
                  </a:gs>
                </a:gsLst>
                <a:lin ang="5400000"/>
              </a:gradFill>
              <a:prstDash val="solid"/>
              <a:miter/>
            </a:ln>
          </p:spPr>
          <p:txBody>
            <a:bodyPr/>
            <a:lstStyle/>
            <a:p>
              <a:endParaRPr lang="es-ES" dirty="0"/>
            </a:p>
          </p:txBody>
        </p:sp>
      </p:grpSp>
      <p:grpSp>
        <p:nvGrpSpPr>
          <p:cNvPr id="7" name="Group 7"/>
          <p:cNvGrpSpPr/>
          <p:nvPr/>
        </p:nvGrpSpPr>
        <p:grpSpPr>
          <a:xfrm>
            <a:off x="0" y="-1"/>
            <a:ext cx="12255468" cy="10287001"/>
            <a:chOff x="0" y="0"/>
            <a:chExt cx="3227778" cy="3077761"/>
          </a:xfrm>
        </p:grpSpPr>
        <p:sp>
          <p:nvSpPr>
            <p:cNvPr id="8" name="Freeform 8"/>
            <p:cNvSpPr/>
            <p:nvPr/>
          </p:nvSpPr>
          <p:spPr>
            <a:xfrm>
              <a:off x="0" y="0"/>
              <a:ext cx="3227778" cy="3077761"/>
            </a:xfrm>
            <a:custGeom>
              <a:avLst/>
              <a:gdLst/>
              <a:ahLst/>
              <a:cxnLst/>
              <a:rect l="l" t="t" r="r" b="b"/>
              <a:pathLst>
                <a:path w="3227778" h="3077761">
                  <a:moveTo>
                    <a:pt x="32217" y="0"/>
                  </a:moveTo>
                  <a:lnTo>
                    <a:pt x="3195560" y="0"/>
                  </a:lnTo>
                  <a:cubicBezTo>
                    <a:pt x="3213353" y="0"/>
                    <a:pt x="3227778" y="14424"/>
                    <a:pt x="3227778" y="32217"/>
                  </a:cubicBezTo>
                  <a:lnTo>
                    <a:pt x="3227778" y="3045543"/>
                  </a:lnTo>
                  <a:cubicBezTo>
                    <a:pt x="3227778" y="3063336"/>
                    <a:pt x="3213353" y="3077761"/>
                    <a:pt x="3195560" y="3077761"/>
                  </a:cubicBezTo>
                  <a:lnTo>
                    <a:pt x="32217" y="3077761"/>
                  </a:lnTo>
                  <a:cubicBezTo>
                    <a:pt x="23673" y="3077761"/>
                    <a:pt x="15478" y="3074366"/>
                    <a:pt x="9436" y="3068324"/>
                  </a:cubicBezTo>
                  <a:cubicBezTo>
                    <a:pt x="3394" y="3062282"/>
                    <a:pt x="0" y="3054088"/>
                    <a:pt x="0" y="3045543"/>
                  </a:cubicBezTo>
                  <a:lnTo>
                    <a:pt x="0" y="32217"/>
                  </a:lnTo>
                  <a:cubicBezTo>
                    <a:pt x="0" y="14424"/>
                    <a:pt x="14424" y="0"/>
                    <a:pt x="32217" y="0"/>
                  </a:cubicBezTo>
                  <a:close/>
                </a:path>
              </a:pathLst>
            </a:custGeom>
            <a:solidFill>
              <a:srgbClr val="FFFFFF"/>
            </a:solidFill>
          </p:spPr>
          <p:txBody>
            <a:bodyPr/>
            <a:lstStyle/>
            <a:p>
              <a:endParaRPr lang="es-ES"/>
            </a:p>
          </p:txBody>
        </p:sp>
        <p:sp>
          <p:nvSpPr>
            <p:cNvPr id="9" name="TextBox 9"/>
            <p:cNvSpPr txBox="1"/>
            <p:nvPr/>
          </p:nvSpPr>
          <p:spPr>
            <a:xfrm>
              <a:off x="0" y="-47625"/>
              <a:ext cx="3227778" cy="3125386"/>
            </a:xfrm>
            <a:prstGeom prst="rect">
              <a:avLst/>
            </a:prstGeom>
          </p:spPr>
          <p:txBody>
            <a:bodyPr lIns="50800" tIns="50800" rIns="50800" bIns="50800" rtlCol="0" anchor="ctr"/>
            <a:lstStyle/>
            <a:p>
              <a:pPr algn="ctr">
                <a:lnSpc>
                  <a:spcPts val="3149"/>
                </a:lnSpc>
              </a:pPr>
              <a:endParaRPr/>
            </a:p>
          </p:txBody>
        </p:sp>
      </p:grpSp>
      <p:sp>
        <p:nvSpPr>
          <p:cNvPr id="10" name="Freeform 10"/>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5"/>
            <a:stretch>
              <a:fillRect t="-62101" b="-63881"/>
            </a:stretch>
          </a:blipFill>
        </p:spPr>
        <p:txBody>
          <a:bodyPr/>
          <a:lstStyle/>
          <a:p>
            <a:endParaRPr lang="es-ES"/>
          </a:p>
        </p:txBody>
      </p:sp>
      <p:sp>
        <p:nvSpPr>
          <p:cNvPr id="11" name="TextBox 11"/>
          <p:cNvSpPr txBox="1"/>
          <p:nvPr/>
        </p:nvSpPr>
        <p:spPr>
          <a:xfrm>
            <a:off x="12914070" y="7341705"/>
            <a:ext cx="5176100" cy="435119"/>
          </a:xfrm>
          <a:prstGeom prst="rect">
            <a:avLst/>
          </a:prstGeom>
        </p:spPr>
        <p:txBody>
          <a:bodyPr lIns="0" tIns="0" rIns="0" bIns="0" rtlCol="0" anchor="t">
            <a:spAutoFit/>
          </a:bodyPr>
          <a:lstStyle/>
          <a:p>
            <a:pPr marL="0" lvl="0" indent="0" algn="ctr">
              <a:lnSpc>
                <a:spcPts val="3456"/>
              </a:lnSpc>
            </a:pPr>
            <a:r>
              <a:rPr lang="en-US" sz="2560" spc="81" dirty="0">
                <a:solidFill>
                  <a:srgbClr val="FFFFFF"/>
                </a:solidFill>
                <a:latin typeface="Saira Light"/>
                <a:ea typeface="Saira Light"/>
                <a:cs typeface="Saira Light"/>
                <a:sym typeface="Saira Light"/>
              </a:rPr>
              <a:t>Pedro Vieira</a:t>
            </a:r>
          </a:p>
        </p:txBody>
      </p:sp>
      <p:sp>
        <p:nvSpPr>
          <p:cNvPr id="12" name="TextBox 12"/>
          <p:cNvSpPr txBox="1"/>
          <p:nvPr/>
        </p:nvSpPr>
        <p:spPr>
          <a:xfrm>
            <a:off x="652807" y="969984"/>
            <a:ext cx="9656408" cy="1282402"/>
          </a:xfrm>
          <a:prstGeom prst="rect">
            <a:avLst/>
          </a:prstGeom>
        </p:spPr>
        <p:txBody>
          <a:bodyPr lIns="0" tIns="0" rIns="0" bIns="0" rtlCol="0" anchor="t">
            <a:spAutoFit/>
          </a:bodyPr>
          <a:lstStyle/>
          <a:p>
            <a:pPr marL="0" lvl="0" indent="0" algn="l">
              <a:lnSpc>
                <a:spcPts val="10003"/>
              </a:lnSpc>
              <a:spcBef>
                <a:spcPct val="0"/>
              </a:spcBef>
            </a:pPr>
            <a:r>
              <a:rPr lang="en-US" sz="7145" dirty="0" err="1">
                <a:solidFill>
                  <a:srgbClr val="000000"/>
                </a:solidFill>
                <a:latin typeface="Pattanakarn Expanded"/>
                <a:ea typeface="Pattanakarn Expanded"/>
                <a:cs typeface="Pattanakarn Expanded"/>
                <a:sym typeface="Pattanakarn Expanded"/>
              </a:rPr>
              <a:t>Quién</a:t>
            </a:r>
            <a:r>
              <a:rPr lang="en-US" sz="7145" dirty="0">
                <a:solidFill>
                  <a:srgbClr val="000000"/>
                </a:solidFill>
                <a:latin typeface="Pattanakarn Expanded"/>
                <a:ea typeface="Pattanakarn Expanded"/>
                <a:cs typeface="Pattanakarn Expanded"/>
                <a:sym typeface="Pattanakarn Expanded"/>
              </a:rPr>
              <a:t> soy?</a:t>
            </a:r>
          </a:p>
        </p:txBody>
      </p:sp>
      <p:sp>
        <p:nvSpPr>
          <p:cNvPr id="13" name="Freeform 13"/>
          <p:cNvSpPr/>
          <p:nvPr/>
        </p:nvSpPr>
        <p:spPr>
          <a:xfrm rot="-5400000">
            <a:off x="13131620" y="809068"/>
            <a:ext cx="5957691" cy="4339553"/>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6">
              <a:extLst>
                <a:ext uri="{96DAC541-7B7A-43D3-8B79-37D633B846F1}">
                  <asvg:svgBlip xmlns:asvg="http://schemas.microsoft.com/office/drawing/2016/SVG/main" r:embed="rId7"/>
                </a:ext>
              </a:extLst>
            </a:blip>
            <a:stretch>
              <a:fillRect b="-37288"/>
            </a:stretch>
          </a:blipFill>
        </p:spPr>
        <p:txBody>
          <a:bodyPr/>
          <a:lstStyle/>
          <a:p>
            <a:endParaRPr lang="es-ES"/>
          </a:p>
        </p:txBody>
      </p:sp>
      <p:sp>
        <p:nvSpPr>
          <p:cNvPr id="14" name="Freeform 14"/>
          <p:cNvSpPr/>
          <p:nvPr/>
        </p:nvSpPr>
        <p:spPr>
          <a:xfrm rot="-5400000">
            <a:off x="14904517" y="6911274"/>
            <a:ext cx="1575349" cy="51761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6">
              <a:extLst>
                <a:ext uri="{96DAC541-7B7A-43D3-8B79-37D633B846F1}">
                  <asvg:svgBlip xmlns:asvg="http://schemas.microsoft.com/office/drawing/2016/SVG/main" r:embed="rId7"/>
                </a:ext>
              </a:extLst>
            </a:blip>
            <a:stretch>
              <a:fillRect l="-278182" b="-15100"/>
            </a:stretch>
          </a:blipFill>
        </p:spPr>
        <p:txBody>
          <a:bodyPr/>
          <a:lstStyle/>
          <a:p>
            <a:endParaRPr lang="es-ES"/>
          </a:p>
        </p:txBody>
      </p:sp>
      <p:sp>
        <p:nvSpPr>
          <p:cNvPr id="16" name="Content Placeholder 2">
            <a:extLst>
              <a:ext uri="{FF2B5EF4-FFF2-40B4-BE49-F238E27FC236}">
                <a16:creationId xmlns:a16="http://schemas.microsoft.com/office/drawing/2014/main" id="{7D5E0F37-975F-3B73-4713-6E0FB2D6069F}"/>
              </a:ext>
            </a:extLst>
          </p:cNvPr>
          <p:cNvSpPr txBox="1">
            <a:spLocks/>
          </p:cNvSpPr>
          <p:nvPr/>
        </p:nvSpPr>
        <p:spPr>
          <a:xfrm>
            <a:off x="1012654" y="2827337"/>
            <a:ext cx="10722146" cy="59578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4400" dirty="0"/>
              <a:t>👓 Pedro Vieira</a:t>
            </a:r>
            <a:endParaRPr lang="es-ES" sz="4400" dirty="0">
              <a:hlinkClick r:id="rId8">
                <a:extLst>
                  <a:ext uri="{A12FA001-AC4F-418D-AE19-62706E023703}">
                    <ahyp:hlinkClr xmlns:ahyp="http://schemas.microsoft.com/office/drawing/2018/hyperlinkcolor" val="tx"/>
                  </a:ext>
                </a:extLst>
              </a:hlinkClick>
            </a:endParaRPr>
          </a:p>
          <a:p>
            <a:pPr marL="0" indent="0">
              <a:buNone/>
            </a:pPr>
            <a:endParaRPr lang="es-ES" sz="4400" noProof="0" dirty="0"/>
          </a:p>
          <a:p>
            <a:pPr marL="0" indent="0">
              <a:buNone/>
            </a:pPr>
            <a:r>
              <a:rPr lang="es-ES" sz="4400" noProof="0" dirty="0"/>
              <a:t>🔐 Experto sénior en ciberseguridad</a:t>
            </a:r>
          </a:p>
          <a:p>
            <a:pPr marL="0" indent="0">
              <a:buNone/>
            </a:pPr>
            <a:r>
              <a:rPr lang="es-ES" sz="4400" noProof="0" dirty="0"/>
              <a:t>🐞 Gestión de vulnerabilidades</a:t>
            </a:r>
          </a:p>
          <a:p>
            <a:pPr marL="0" indent="0">
              <a:buNone/>
            </a:pPr>
            <a:r>
              <a:rPr lang="es-ES" sz="4400" noProof="0" dirty="0"/>
              <a:t>🔍 Pruebas de penetración</a:t>
            </a:r>
          </a:p>
          <a:p>
            <a:pPr marL="0" indent="0">
              <a:buNone/>
            </a:pPr>
            <a:r>
              <a:rPr lang="es-ES" sz="4400" noProof="0" dirty="0"/>
              <a:t>🕵️ Evangelista de OSINT</a:t>
            </a:r>
          </a:p>
          <a:p>
            <a:pPr marL="0" indent="0">
              <a:buNone/>
            </a:pPr>
            <a:r>
              <a:rPr lang="es-ES" sz="4400" noProof="0" dirty="0"/>
              <a:t>🎤 Orador y formador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FFD6DBDB-18B3-0C98-2C27-4E6C4A42D9B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6637D6A-9BED-77D3-8D92-15013F1F8AE3}"/>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4E7B66D6-7F6C-7B9F-0A36-A743E21649C5}"/>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3F2A3069-60CE-60A5-08C9-4A759ABC03DF}"/>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BE8F81E2-1C2E-DDD8-E94C-2F67A082ADF3}"/>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621B4FB2-A588-3999-F22D-A357AAC49F71}"/>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04BB29CF-D586-B3EC-26BC-8FC79903E2BB}"/>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sp>
        <p:nvSpPr>
          <p:cNvPr id="18" name="Freeform 4">
            <a:extLst>
              <a:ext uri="{FF2B5EF4-FFF2-40B4-BE49-F238E27FC236}">
                <a16:creationId xmlns:a16="http://schemas.microsoft.com/office/drawing/2014/main" id="{6523C064-5F0E-A487-8D8A-8BEA49CB67CF}"/>
              </a:ext>
            </a:extLst>
          </p:cNvPr>
          <p:cNvSpPr/>
          <p:nvPr/>
        </p:nvSpPr>
        <p:spPr>
          <a:xfrm>
            <a:off x="15452621" y="2989905"/>
            <a:ext cx="2551472" cy="3276600"/>
          </a:xfrm>
          <a:custGeom>
            <a:avLst/>
            <a:gdLst/>
            <a:ahLst/>
            <a:cxnLst/>
            <a:rect l="l" t="t" r="r" b="b"/>
            <a:pathLst>
              <a:path w="5610468" h="6246472">
                <a:moveTo>
                  <a:pt x="0" y="0"/>
                </a:moveTo>
                <a:lnTo>
                  <a:pt x="5610468" y="0"/>
                </a:lnTo>
                <a:lnTo>
                  <a:pt x="5610468" y="6246472"/>
                </a:lnTo>
                <a:lnTo>
                  <a:pt x="0" y="62464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ES" noProof="0" dirty="0"/>
          </a:p>
        </p:txBody>
      </p:sp>
      <p:pic>
        <p:nvPicPr>
          <p:cNvPr id="19" name="Picture 18">
            <a:extLst>
              <a:ext uri="{FF2B5EF4-FFF2-40B4-BE49-F238E27FC236}">
                <a16:creationId xmlns:a16="http://schemas.microsoft.com/office/drawing/2014/main" id="{A1E455B5-E22F-FD95-F45A-EEC741C2B0AA}"/>
              </a:ext>
            </a:extLst>
          </p:cNvPr>
          <p:cNvPicPr>
            <a:picLocks noChangeAspect="1"/>
          </p:cNvPicPr>
          <p:nvPr/>
        </p:nvPicPr>
        <p:blipFill>
          <a:blip r:embed="rId8"/>
          <a:stretch>
            <a:fillRect/>
          </a:stretch>
        </p:blipFill>
        <p:spPr>
          <a:xfrm>
            <a:off x="13441977" y="114300"/>
            <a:ext cx="1585903" cy="1006621"/>
          </a:xfrm>
          <a:prstGeom prst="rect">
            <a:avLst/>
          </a:prstGeom>
        </p:spPr>
      </p:pic>
      <p:sp>
        <p:nvSpPr>
          <p:cNvPr id="8" name="TextBox 7">
            <a:extLst>
              <a:ext uri="{FF2B5EF4-FFF2-40B4-BE49-F238E27FC236}">
                <a16:creationId xmlns:a16="http://schemas.microsoft.com/office/drawing/2014/main" id="{8AAB4DE8-02F6-CBC7-BCC9-E1EBEBBD66F0}"/>
              </a:ext>
            </a:extLst>
          </p:cNvPr>
          <p:cNvSpPr txBox="1"/>
          <p:nvPr/>
        </p:nvSpPr>
        <p:spPr>
          <a:xfrm>
            <a:off x="685799" y="2075455"/>
            <a:ext cx="14189177" cy="1828899"/>
          </a:xfrm>
          <a:prstGeom prst="rect">
            <a:avLst/>
          </a:prstGeom>
        </p:spPr>
        <p:txBody>
          <a:bodyPr wrap="square" lIns="0" tIns="0" rIns="0" bIns="0" rtlCol="0" anchor="t">
            <a:spAutoFit/>
          </a:bodyPr>
          <a:lstStyle/>
          <a:p>
            <a:pPr algn="l">
              <a:lnSpc>
                <a:spcPts val="16818"/>
              </a:lnSpc>
            </a:pPr>
            <a:r>
              <a:rPr lang="es-ES" sz="5400" b="1" noProof="0" dirty="0">
                <a:solidFill>
                  <a:srgbClr val="343434"/>
                </a:solidFill>
                <a:latin typeface="Cooper Hewitt Bold"/>
                <a:ea typeface="Cooper Hewitt Bold"/>
                <a:cs typeface="Cooper Hewitt Bold"/>
                <a:sym typeface="Cooper Hewitt Bold"/>
              </a:rPr>
              <a:t>Negocios Privados, Consecuencias Públicas</a:t>
            </a:r>
          </a:p>
        </p:txBody>
      </p:sp>
      <p:sp>
        <p:nvSpPr>
          <p:cNvPr id="10" name="TextBox 14">
            <a:extLst>
              <a:ext uri="{FF2B5EF4-FFF2-40B4-BE49-F238E27FC236}">
                <a16:creationId xmlns:a16="http://schemas.microsoft.com/office/drawing/2014/main" id="{F1B731C8-AC43-3864-EAE8-1D651F9AB7E4}"/>
              </a:ext>
            </a:extLst>
          </p:cNvPr>
          <p:cNvSpPr txBox="1"/>
          <p:nvPr/>
        </p:nvSpPr>
        <p:spPr>
          <a:xfrm>
            <a:off x="685798" y="7291213"/>
            <a:ext cx="14189178" cy="2143472"/>
          </a:xfrm>
          <a:prstGeom prst="rect">
            <a:avLst/>
          </a:prstGeom>
        </p:spPr>
        <p:txBody>
          <a:bodyPr wrap="square" lIns="0" tIns="0" rIns="0" bIns="0" rtlCol="0" anchor="t">
            <a:spAutoFit/>
          </a:bodyPr>
          <a:lstStyle/>
          <a:p>
            <a:pPr algn="just">
              <a:lnSpc>
                <a:spcPts val="2380"/>
              </a:lnSpc>
            </a:pPr>
            <a:r>
              <a:rPr lang="es-ES" b="1" noProof="0" dirty="0">
                <a:solidFill>
                  <a:srgbClr val="343434"/>
                </a:solidFill>
                <a:latin typeface="DM Sans"/>
                <a:ea typeface="DM Sans"/>
                <a:cs typeface="DM Sans"/>
                <a:sym typeface="DM Sans"/>
              </a:rPr>
              <a:t>Resumen</a:t>
            </a:r>
            <a:r>
              <a:rPr lang="es-ES" noProof="0" dirty="0">
                <a:solidFill>
                  <a:srgbClr val="343434"/>
                </a:solidFill>
                <a:latin typeface="DM Sans"/>
                <a:ea typeface="DM Sans"/>
                <a:cs typeface="DM Sans"/>
                <a:sym typeface="DM Sans"/>
              </a:rPr>
              <a:t>:</a:t>
            </a:r>
          </a:p>
          <a:p>
            <a:pPr algn="just">
              <a:lnSpc>
                <a:spcPts val="2380"/>
              </a:lnSpc>
            </a:pPr>
            <a:endParaRPr lang="es-ES" dirty="0">
              <a:solidFill>
                <a:srgbClr val="343434"/>
              </a:solidFill>
              <a:latin typeface="DM Sans"/>
              <a:ea typeface="DM Sans"/>
              <a:cs typeface="DM Sans"/>
              <a:sym typeface="DM Sans"/>
            </a:endParaRPr>
          </a:p>
          <a:p>
            <a:pPr algn="just">
              <a:lnSpc>
                <a:spcPts val="2380"/>
              </a:lnSpc>
            </a:pPr>
            <a:r>
              <a:rPr lang="es-ES" noProof="0" dirty="0">
                <a:solidFill>
                  <a:srgbClr val="343434"/>
                </a:solidFill>
                <a:latin typeface="DM Sans"/>
                <a:ea typeface="DM Sans"/>
                <a:cs typeface="DM Sans"/>
                <a:sym typeface="DM Sans"/>
              </a:rPr>
              <a:t>Esta charla describe una guía paso a paso para aprovechar la inteligencia de fuentes abiertas (OSINT) y descubrir la información pública que alimentó un escándalo que involucró a un primer ministro portugués y que finalmente condujo al colapso del gobierno.</a:t>
            </a:r>
          </a:p>
          <a:p>
            <a:pPr algn="just">
              <a:lnSpc>
                <a:spcPts val="2380"/>
              </a:lnSpc>
            </a:pPr>
            <a:endParaRPr lang="es-ES" noProof="0" dirty="0">
              <a:solidFill>
                <a:srgbClr val="343434"/>
              </a:solidFill>
              <a:latin typeface="DM Sans"/>
              <a:ea typeface="DM Sans"/>
              <a:cs typeface="DM Sans"/>
              <a:sym typeface="DM Sans"/>
            </a:endParaRPr>
          </a:p>
          <a:p>
            <a:pPr algn="just">
              <a:lnSpc>
                <a:spcPts val="2380"/>
              </a:lnSpc>
            </a:pPr>
            <a:r>
              <a:rPr lang="es-ES" noProof="0" dirty="0">
                <a:solidFill>
                  <a:srgbClr val="343434"/>
                </a:solidFill>
                <a:latin typeface="DM Sans"/>
                <a:ea typeface="DM Sans"/>
                <a:cs typeface="DM Sans"/>
                <a:sym typeface="DM Sans"/>
              </a:rPr>
              <a:t>Utilizando técnicas del mundo real, exploraremos cómo las transacciones comerciales privadas se convirtieron en una crisis pública, demostrando el poder de la OSINT para exponer conexiones ocultas.</a:t>
            </a:r>
          </a:p>
        </p:txBody>
      </p:sp>
      <p:sp>
        <p:nvSpPr>
          <p:cNvPr id="13" name="TextBox 12">
            <a:extLst>
              <a:ext uri="{FF2B5EF4-FFF2-40B4-BE49-F238E27FC236}">
                <a16:creationId xmlns:a16="http://schemas.microsoft.com/office/drawing/2014/main" id="{DBDF7011-5812-65D7-D41C-E419241CF913}"/>
              </a:ext>
            </a:extLst>
          </p:cNvPr>
          <p:cNvSpPr txBox="1"/>
          <p:nvPr/>
        </p:nvSpPr>
        <p:spPr>
          <a:xfrm>
            <a:off x="685798" y="4801738"/>
            <a:ext cx="14189178" cy="1231106"/>
          </a:xfrm>
          <a:prstGeom prst="rect">
            <a:avLst/>
          </a:prstGeom>
        </p:spPr>
        <p:txBody>
          <a:bodyPr wrap="square" lIns="0" tIns="0" rIns="0" bIns="0" rtlCol="0" anchor="t">
            <a:spAutoFit/>
          </a:bodyPr>
          <a:lstStyle/>
          <a:p>
            <a:pPr algn="l"/>
            <a:r>
              <a:rPr lang="es-ES" sz="4000" noProof="0" dirty="0">
                <a:solidFill>
                  <a:srgbClr val="343434"/>
                </a:solidFill>
                <a:latin typeface="Cooper Hewitt" panose="020B0604020202020204" charset="0"/>
                <a:ea typeface="Cooper Hewitt" panose="020B0604020202020204" charset="0"/>
                <a:cs typeface="Cooper Hewitt Bold"/>
                <a:sym typeface="Cooper Hewitt Bold"/>
              </a:rPr>
              <a:t>Cómo la Inteligencia de Fuentes Abiertas (OSINT) </a:t>
            </a:r>
          </a:p>
          <a:p>
            <a:pPr algn="l"/>
            <a:r>
              <a:rPr lang="es-ES" sz="4000" noProof="0" dirty="0">
                <a:solidFill>
                  <a:srgbClr val="343434"/>
                </a:solidFill>
                <a:latin typeface="Cooper Hewitt" panose="020B0604020202020204" charset="0"/>
                <a:ea typeface="Cooper Hewitt" panose="020B0604020202020204" charset="0"/>
                <a:cs typeface="Cooper Hewitt Bold"/>
                <a:sym typeface="Cooper Hewitt Bold"/>
              </a:rPr>
              <a:t>							derribó al Gobierno de Portugal</a:t>
            </a:r>
          </a:p>
        </p:txBody>
      </p:sp>
    </p:spTree>
    <p:extLst>
      <p:ext uri="{BB962C8B-B14F-4D97-AF65-F5344CB8AC3E}">
        <p14:creationId xmlns:p14="http://schemas.microsoft.com/office/powerpoint/2010/main" val="3532333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3C022F7D-EC80-2C53-ABE6-3DA82F5A6359}"/>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0BD97CAC-7491-D422-BCA4-6A315EAA8441}"/>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3">
              <a:extLst>
                <a:ext uri="{96DAC541-7B7A-43D3-8B79-37D633B846F1}">
                  <asvg:svgBlip xmlns:asvg="http://schemas.microsoft.com/office/drawing/2016/SVG/main" r:embed="rId4"/>
                </a:ext>
              </a:extLst>
            </a:blip>
            <a:stretch>
              <a:fillRect l="-74292" r="1" b="-48662"/>
            </a:stretch>
          </a:blipFill>
        </p:spPr>
        <p:txBody>
          <a:bodyPr/>
          <a:lstStyle/>
          <a:p>
            <a:endParaRPr lang="es-ES"/>
          </a:p>
        </p:txBody>
      </p:sp>
      <p:pic>
        <p:nvPicPr>
          <p:cNvPr id="9" name="Picture 8" descr="Cartoon of a person wearing a hat and a suit pointing&#10;&#10;AI-generated content may be incorrect.">
            <a:extLst>
              <a:ext uri="{FF2B5EF4-FFF2-40B4-BE49-F238E27FC236}">
                <a16:creationId xmlns:a16="http://schemas.microsoft.com/office/drawing/2014/main" id="{C3D36544-6793-47D2-90A7-E5ECE662E9F4}"/>
              </a:ext>
            </a:extLst>
          </p:cNvPr>
          <p:cNvPicPr>
            <a:picLocks noChangeAspect="1"/>
          </p:cNvPicPr>
          <p:nvPr/>
        </p:nvPicPr>
        <p:blipFill>
          <a:blip r:embed="rId5"/>
          <a:srcRect l="5324" r="12745"/>
          <a:stretch>
            <a:fillRect/>
          </a:stretch>
        </p:blipFill>
        <p:spPr>
          <a:xfrm>
            <a:off x="15206912" y="2989905"/>
            <a:ext cx="3037974" cy="3848101"/>
          </a:xfrm>
          <a:prstGeom prst="rect">
            <a:avLst/>
          </a:prstGeom>
        </p:spPr>
      </p:pic>
      <p:grpSp>
        <p:nvGrpSpPr>
          <p:cNvPr id="2" name="Group 2">
            <a:extLst>
              <a:ext uri="{FF2B5EF4-FFF2-40B4-BE49-F238E27FC236}">
                <a16:creationId xmlns:a16="http://schemas.microsoft.com/office/drawing/2014/main" id="{D5FA659E-2BE6-FD2D-2D17-E477BCAB0A5D}"/>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3C267E74-786B-B423-CFFA-74161A283692}"/>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22F4B8F-F1E9-9448-3460-BF3D5A2FEAFC}"/>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167552ED-0989-8943-91F0-070D825F05EF}"/>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6"/>
            <a:stretch>
              <a:fillRect t="-62101" b="-63881"/>
            </a:stretch>
          </a:blipFill>
        </p:spPr>
        <p:txBody>
          <a:bodyPr/>
          <a:lstStyle/>
          <a:p>
            <a:endParaRPr lang="es-ES"/>
          </a:p>
        </p:txBody>
      </p:sp>
      <p:sp>
        <p:nvSpPr>
          <p:cNvPr id="7" name="Freeform 7">
            <a:extLst>
              <a:ext uri="{FF2B5EF4-FFF2-40B4-BE49-F238E27FC236}">
                <a16:creationId xmlns:a16="http://schemas.microsoft.com/office/drawing/2014/main" id="{4347C994-F916-0A5C-706B-FD9FA63AB466}"/>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3">
              <a:extLst>
                <a:ext uri="{96DAC541-7B7A-43D3-8B79-37D633B846F1}">
                  <asvg:svgBlip xmlns:asvg="http://schemas.microsoft.com/office/drawing/2016/SVG/main" r:embed="rId4"/>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CEAB9EC2-586C-1A0A-A9DA-FE5DC1BDDDFC}"/>
              </a:ext>
            </a:extLst>
          </p:cNvPr>
          <p:cNvPicPr>
            <a:picLocks noChangeAspect="1"/>
          </p:cNvPicPr>
          <p:nvPr/>
        </p:nvPicPr>
        <p:blipFill>
          <a:blip r:embed="rId7"/>
          <a:stretch>
            <a:fillRect/>
          </a:stretch>
        </p:blipFill>
        <p:spPr>
          <a:xfrm>
            <a:off x="13441977" y="114300"/>
            <a:ext cx="1585903" cy="1006621"/>
          </a:xfrm>
          <a:prstGeom prst="rect">
            <a:avLst/>
          </a:prstGeom>
        </p:spPr>
      </p:pic>
      <p:sp>
        <p:nvSpPr>
          <p:cNvPr id="11" name="Title 1">
            <a:extLst>
              <a:ext uri="{FF2B5EF4-FFF2-40B4-BE49-F238E27FC236}">
                <a16:creationId xmlns:a16="http://schemas.microsoft.com/office/drawing/2014/main" id="{7E2B6711-C2FE-1B71-AD73-17CC5EE46D25}"/>
              </a:ext>
            </a:extLst>
          </p:cNvPr>
          <p:cNvSpPr txBox="1">
            <a:spLocks/>
          </p:cNvSpPr>
          <p:nvPr/>
        </p:nvSpPr>
        <p:spPr>
          <a:xfrm>
            <a:off x="685799" y="1635314"/>
            <a:ext cx="14189178"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noProof="0" dirty="0"/>
              <a:t>Aviso Legal y Consideraciones Legales</a:t>
            </a:r>
          </a:p>
        </p:txBody>
      </p:sp>
      <p:grpSp>
        <p:nvGrpSpPr>
          <p:cNvPr id="23" name="Group 22">
            <a:extLst>
              <a:ext uri="{FF2B5EF4-FFF2-40B4-BE49-F238E27FC236}">
                <a16:creationId xmlns:a16="http://schemas.microsoft.com/office/drawing/2014/main" id="{EADFB151-F148-2918-9554-B71D7331EC37}"/>
              </a:ext>
            </a:extLst>
          </p:cNvPr>
          <p:cNvGrpSpPr/>
          <p:nvPr/>
        </p:nvGrpSpPr>
        <p:grpSpPr>
          <a:xfrm>
            <a:off x="1861350" y="2978844"/>
            <a:ext cx="11838075" cy="6448776"/>
            <a:chOff x="1649325" y="3065845"/>
            <a:chExt cx="11838075" cy="6448776"/>
          </a:xfrm>
        </p:grpSpPr>
        <p:sp>
          <p:nvSpPr>
            <p:cNvPr id="15" name="Rectangle: Rounded Corners 14">
              <a:extLst>
                <a:ext uri="{FF2B5EF4-FFF2-40B4-BE49-F238E27FC236}">
                  <a16:creationId xmlns:a16="http://schemas.microsoft.com/office/drawing/2014/main" id="{03994FD6-4ACB-E704-ACE5-DB8788F02F88}"/>
                </a:ext>
              </a:extLst>
            </p:cNvPr>
            <p:cNvSpPr/>
            <p:nvPr/>
          </p:nvSpPr>
          <p:spPr>
            <a:xfrm>
              <a:off x="1649327" y="3065845"/>
              <a:ext cx="11838073" cy="1768886"/>
            </a:xfrm>
            <a:prstGeom prst="roundRect">
              <a:avLst/>
            </a:prstGeom>
            <a:solidFill>
              <a:schemeClr val="tx2">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4">
                <a:lnSpc>
                  <a:spcPct val="150000"/>
                </a:lnSpc>
              </a:pPr>
              <a:r>
                <a:rPr lang="es-ES" sz="2500" noProof="0" dirty="0">
                  <a:solidFill>
                    <a:schemeClr val="tx1"/>
                  </a:solidFill>
                </a:rPr>
                <a:t>Esta presentación es solo para fines educativos y de concienciación.</a:t>
              </a:r>
            </a:p>
            <a:p>
              <a:pPr lvl="4">
                <a:lnSpc>
                  <a:spcPct val="150000"/>
                </a:lnSpc>
              </a:pPr>
              <a:r>
                <a:rPr lang="es-ES" sz="2500" b="1" noProof="0" dirty="0">
                  <a:solidFill>
                    <a:schemeClr val="tx1"/>
                  </a:solidFill>
                </a:rPr>
                <a:t>No es una declaración política.</a:t>
              </a:r>
            </a:p>
          </p:txBody>
        </p:sp>
        <p:sp>
          <p:nvSpPr>
            <p:cNvPr id="16" name="Rectangle: Rounded Corners 15">
              <a:extLst>
                <a:ext uri="{FF2B5EF4-FFF2-40B4-BE49-F238E27FC236}">
                  <a16:creationId xmlns:a16="http://schemas.microsoft.com/office/drawing/2014/main" id="{C5026290-4141-0418-87CD-8E8E5A9692CF}"/>
                </a:ext>
              </a:extLst>
            </p:cNvPr>
            <p:cNvSpPr/>
            <p:nvPr/>
          </p:nvSpPr>
          <p:spPr>
            <a:xfrm>
              <a:off x="1649326" y="5405790"/>
              <a:ext cx="11838073" cy="1768886"/>
            </a:xfrm>
            <a:prstGeom prst="roundRect">
              <a:avLst/>
            </a:prstGeom>
            <a:solidFill>
              <a:schemeClr val="tx2">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4">
                <a:lnSpc>
                  <a:spcPct val="150000"/>
                </a:lnSpc>
              </a:pPr>
              <a:r>
                <a:rPr lang="es-ES" sz="2500" dirty="0">
                  <a:solidFill>
                    <a:schemeClr val="tx1"/>
                  </a:solidFill>
                </a:rPr>
                <a:t>Los usuarios deben verificar la legalidad de las herramientas de OSINT en su país.</a:t>
              </a:r>
            </a:p>
          </p:txBody>
        </p:sp>
        <p:sp>
          <p:nvSpPr>
            <p:cNvPr id="17" name="Rectangle: Rounded Corners 16">
              <a:extLst>
                <a:ext uri="{FF2B5EF4-FFF2-40B4-BE49-F238E27FC236}">
                  <a16:creationId xmlns:a16="http://schemas.microsoft.com/office/drawing/2014/main" id="{B0D8EDF1-B05E-413E-985A-EDE10DFC0423}"/>
                </a:ext>
              </a:extLst>
            </p:cNvPr>
            <p:cNvSpPr/>
            <p:nvPr/>
          </p:nvSpPr>
          <p:spPr>
            <a:xfrm>
              <a:off x="1649325" y="7745735"/>
              <a:ext cx="11838073" cy="1768886"/>
            </a:xfrm>
            <a:prstGeom prst="roundRect">
              <a:avLst/>
            </a:prstGeom>
            <a:solidFill>
              <a:schemeClr val="tx2">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4">
                <a:lnSpc>
                  <a:spcPct val="150000"/>
                </a:lnSpc>
              </a:pPr>
              <a:r>
                <a:rPr lang="es-ES" sz="2500" dirty="0">
                  <a:solidFill>
                    <a:schemeClr val="tx1"/>
                  </a:solidFill>
                </a:rPr>
                <a:t>Esta presentación no está relacionada con mi trabajo ni con mi empleador.</a:t>
              </a:r>
            </a:p>
          </p:txBody>
        </p:sp>
        <p:pic>
          <p:nvPicPr>
            <p:cNvPr id="20" name="Picture 19" descr="A black background with a black square&#10;&#10;Description automatically generated with medium confidence">
              <a:extLst>
                <a:ext uri="{FF2B5EF4-FFF2-40B4-BE49-F238E27FC236}">
                  <a16:creationId xmlns:a16="http://schemas.microsoft.com/office/drawing/2014/main" id="{1AA87224-0AF3-7D98-FECF-1B9C3863E3B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38411" y="5848424"/>
              <a:ext cx="799978" cy="799978"/>
            </a:xfrm>
            <a:prstGeom prst="rect">
              <a:avLst/>
            </a:prstGeom>
          </p:spPr>
        </p:pic>
        <p:pic>
          <p:nvPicPr>
            <p:cNvPr id="21" name="Picture 20">
              <a:extLst>
                <a:ext uri="{FF2B5EF4-FFF2-40B4-BE49-F238E27FC236}">
                  <a16:creationId xmlns:a16="http://schemas.microsoft.com/office/drawing/2014/main" id="{76183F83-42F1-B766-12CE-2DDEA8237F2B}"/>
                </a:ext>
              </a:extLst>
            </p:cNvPr>
            <p:cNvPicPr>
              <a:picLocks noChangeAspect="1"/>
            </p:cNvPicPr>
            <p:nvPr/>
          </p:nvPicPr>
          <p:blipFill>
            <a:blip r:embed="rId9"/>
            <a:stretch>
              <a:fillRect/>
            </a:stretch>
          </p:blipFill>
          <p:spPr>
            <a:xfrm>
              <a:off x="2038411" y="3550299"/>
              <a:ext cx="799978" cy="799978"/>
            </a:xfrm>
            <a:prstGeom prst="rect">
              <a:avLst/>
            </a:prstGeom>
          </p:spPr>
        </p:pic>
        <p:pic>
          <p:nvPicPr>
            <p:cNvPr id="22" name="Picture 21">
              <a:extLst>
                <a:ext uri="{FF2B5EF4-FFF2-40B4-BE49-F238E27FC236}">
                  <a16:creationId xmlns:a16="http://schemas.microsoft.com/office/drawing/2014/main" id="{B40989DE-890F-6BFB-25DF-B8D3B7B86D8A}"/>
                </a:ext>
              </a:extLst>
            </p:cNvPr>
            <p:cNvPicPr>
              <a:picLocks noChangeAspect="1"/>
            </p:cNvPicPr>
            <p:nvPr/>
          </p:nvPicPr>
          <p:blipFill>
            <a:blip r:embed="rId10"/>
            <a:stretch>
              <a:fillRect/>
            </a:stretch>
          </p:blipFill>
          <p:spPr>
            <a:xfrm>
              <a:off x="2038411" y="8188853"/>
              <a:ext cx="882650" cy="882650"/>
            </a:xfrm>
            <a:prstGeom prst="rect">
              <a:avLst/>
            </a:prstGeom>
          </p:spPr>
        </p:pic>
      </p:grpSp>
    </p:spTree>
    <p:extLst>
      <p:ext uri="{BB962C8B-B14F-4D97-AF65-F5344CB8AC3E}">
        <p14:creationId xmlns:p14="http://schemas.microsoft.com/office/powerpoint/2010/main" val="417841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A82B6EE1-43A8-E501-56EA-4D1DEFC510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1781C92-1740-CD32-C4F1-8EC97B5E937F}"/>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D4B722E3-A41E-7225-6424-C3BE6BE0BE98}"/>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7B03F93B-3E56-F73A-9265-0FA0BD4C410B}"/>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1AAC8B6C-1B0C-0C25-041C-306520522632}"/>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62E801BD-1468-5601-82DA-C28F1580518D}"/>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5F933DC5-22C4-DC4F-8C62-7C6EA3BF2F6A}"/>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sp>
        <p:nvSpPr>
          <p:cNvPr id="18" name="Freeform 4">
            <a:extLst>
              <a:ext uri="{FF2B5EF4-FFF2-40B4-BE49-F238E27FC236}">
                <a16:creationId xmlns:a16="http://schemas.microsoft.com/office/drawing/2014/main" id="{3A1B3906-63A5-5013-7CAF-89492D526384}"/>
              </a:ext>
            </a:extLst>
          </p:cNvPr>
          <p:cNvSpPr/>
          <p:nvPr/>
        </p:nvSpPr>
        <p:spPr>
          <a:xfrm>
            <a:off x="15452621" y="2989905"/>
            <a:ext cx="2551472" cy="3276600"/>
          </a:xfrm>
          <a:custGeom>
            <a:avLst/>
            <a:gdLst/>
            <a:ahLst/>
            <a:cxnLst/>
            <a:rect l="l" t="t" r="r" b="b"/>
            <a:pathLst>
              <a:path w="5610468" h="6246472">
                <a:moveTo>
                  <a:pt x="0" y="0"/>
                </a:moveTo>
                <a:lnTo>
                  <a:pt x="5610468" y="0"/>
                </a:lnTo>
                <a:lnTo>
                  <a:pt x="5610468" y="6246472"/>
                </a:lnTo>
                <a:lnTo>
                  <a:pt x="0" y="62464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ES" noProof="0" dirty="0"/>
          </a:p>
        </p:txBody>
      </p:sp>
      <p:pic>
        <p:nvPicPr>
          <p:cNvPr id="19" name="Picture 18">
            <a:extLst>
              <a:ext uri="{FF2B5EF4-FFF2-40B4-BE49-F238E27FC236}">
                <a16:creationId xmlns:a16="http://schemas.microsoft.com/office/drawing/2014/main" id="{445F8343-C46C-A2B0-8A0B-4EF815FC1561}"/>
              </a:ext>
            </a:extLst>
          </p:cNvPr>
          <p:cNvPicPr>
            <a:picLocks noChangeAspect="1"/>
          </p:cNvPicPr>
          <p:nvPr/>
        </p:nvPicPr>
        <p:blipFill>
          <a:blip r:embed="rId8"/>
          <a:stretch>
            <a:fillRect/>
          </a:stretch>
        </p:blipFill>
        <p:spPr>
          <a:xfrm>
            <a:off x="13441977" y="114300"/>
            <a:ext cx="1585903" cy="1006621"/>
          </a:xfrm>
          <a:prstGeom prst="rect">
            <a:avLst/>
          </a:prstGeom>
        </p:spPr>
      </p:pic>
      <p:graphicFrame>
        <p:nvGraphicFramePr>
          <p:cNvPr id="8" name="Content Placeholder 5">
            <a:extLst>
              <a:ext uri="{FF2B5EF4-FFF2-40B4-BE49-F238E27FC236}">
                <a16:creationId xmlns:a16="http://schemas.microsoft.com/office/drawing/2014/main" id="{492C3FE8-70BD-5794-DBFD-94A5478AF3FC}"/>
              </a:ext>
            </a:extLst>
          </p:cNvPr>
          <p:cNvGraphicFramePr>
            <a:graphicFrameLocks noGrp="1"/>
          </p:cNvGraphicFramePr>
          <p:nvPr>
            <p:extLst>
              <p:ext uri="{D42A27DB-BD31-4B8C-83A1-F6EECF244321}">
                <p14:modId xmlns:p14="http://schemas.microsoft.com/office/powerpoint/2010/main" val="4147634497"/>
              </p:ext>
            </p:extLst>
          </p:nvPr>
        </p:nvGraphicFramePr>
        <p:xfrm>
          <a:off x="950912" y="2757342"/>
          <a:ext cx="13222288" cy="604375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911371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3D543B97-CECB-DFB4-4189-C65637AE93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1382E8-7A69-5B39-9A28-3EBA567464E1}"/>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14779C18-0945-5AEA-0B34-18A433F21EA9}"/>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EB390B3-A1F2-557C-A368-984985B8CD91}"/>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5CCE586B-0B21-0744-0840-EA906FB37854}"/>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ADC57211-86FF-4FBE-48A4-82C900BFAB0C}"/>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49E47B9C-2836-98C4-5D2F-F8B7F8B3D880}"/>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B7A2915C-28A9-7C1B-F7DF-BCCBA864F479}"/>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extBox 7">
            <a:extLst>
              <a:ext uri="{FF2B5EF4-FFF2-40B4-BE49-F238E27FC236}">
                <a16:creationId xmlns:a16="http://schemas.microsoft.com/office/drawing/2014/main" id="{61F602DC-64BD-EC08-96C9-B5A6A9233D55}"/>
              </a:ext>
            </a:extLst>
          </p:cNvPr>
          <p:cNvSpPr txBox="1"/>
          <p:nvPr/>
        </p:nvSpPr>
        <p:spPr>
          <a:xfrm>
            <a:off x="1066800" y="4352841"/>
            <a:ext cx="12780947" cy="2105898"/>
          </a:xfrm>
          <a:prstGeom prst="rect">
            <a:avLst/>
          </a:prstGeom>
        </p:spPr>
        <p:txBody>
          <a:bodyPr wrap="square" lIns="0" tIns="0" rIns="0" bIns="0" rtlCol="0" anchor="t">
            <a:spAutoFit/>
          </a:bodyPr>
          <a:lstStyle/>
          <a:p>
            <a:pPr algn="l">
              <a:lnSpc>
                <a:spcPts val="16818"/>
              </a:lnSpc>
            </a:pPr>
            <a:r>
              <a:rPr lang="es-ES" sz="13800" b="1" noProof="0" dirty="0">
                <a:solidFill>
                  <a:srgbClr val="343434"/>
                </a:solidFill>
                <a:latin typeface="Cooper Hewitt Bold"/>
                <a:ea typeface="Cooper Hewitt Bold"/>
                <a:cs typeface="Cooper Hewitt Bold"/>
                <a:sym typeface="Cooper Hewitt Bold"/>
              </a:rPr>
              <a:t>OSINT</a:t>
            </a:r>
          </a:p>
        </p:txBody>
      </p:sp>
      <p:sp>
        <p:nvSpPr>
          <p:cNvPr id="9" name="Freeform 10">
            <a:extLst>
              <a:ext uri="{FF2B5EF4-FFF2-40B4-BE49-F238E27FC236}">
                <a16:creationId xmlns:a16="http://schemas.microsoft.com/office/drawing/2014/main" id="{E2CBBE1C-B971-E0EB-00B1-B0A9984638E0}"/>
              </a:ext>
            </a:extLst>
          </p:cNvPr>
          <p:cNvSpPr/>
          <p:nvPr/>
        </p:nvSpPr>
        <p:spPr>
          <a:xfrm>
            <a:off x="7459731" y="3287161"/>
            <a:ext cx="6899120" cy="4237257"/>
          </a:xfrm>
          <a:custGeom>
            <a:avLst/>
            <a:gdLst/>
            <a:ahLst/>
            <a:cxnLst/>
            <a:rect l="l" t="t" r="r" b="b"/>
            <a:pathLst>
              <a:path w="4202073" h="2521244">
                <a:moveTo>
                  <a:pt x="0" y="0"/>
                </a:moveTo>
                <a:lnTo>
                  <a:pt x="4202074" y="0"/>
                </a:lnTo>
                <a:lnTo>
                  <a:pt x="4202074" y="2521245"/>
                </a:lnTo>
                <a:lnTo>
                  <a:pt x="0" y="2521245"/>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s-ES" noProof="0" dirty="0"/>
          </a:p>
        </p:txBody>
      </p:sp>
    </p:spTree>
    <p:extLst>
      <p:ext uri="{BB962C8B-B14F-4D97-AF65-F5344CB8AC3E}">
        <p14:creationId xmlns:p14="http://schemas.microsoft.com/office/powerpoint/2010/main" val="3645088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54BFBB44-A541-CD5C-F6AE-99DC0BA820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1F6F628-FE61-323A-9203-A1055F8E17E0}"/>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26E0D66F-D910-952E-2991-C4E6EF8A63B4}"/>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4F574B78-0FED-1AC0-E342-909C4A7623A1}"/>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833D3797-C0B3-1965-2C4F-1782EDDAC71B}"/>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B683C34C-1807-FC2D-0AF2-F98D55EDEDB1}"/>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AFC957F5-99E3-53C8-DCF0-EB7EBC6376F0}"/>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98546078-B707-82C1-63D8-FCD83609EDEB}"/>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F2264163-D7D0-66AC-319B-3F8D0B53291B}"/>
              </a:ext>
            </a:extLst>
          </p:cNvPr>
          <p:cNvSpPr txBox="1">
            <a:spLocks/>
          </p:cNvSpPr>
          <p:nvPr/>
        </p:nvSpPr>
        <p:spPr>
          <a:xfrm>
            <a:off x="860254" y="1638300"/>
            <a:ext cx="16513346"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noProof="0" dirty="0"/>
              <a:t>OSINT</a:t>
            </a:r>
          </a:p>
        </p:txBody>
      </p:sp>
      <p:sp>
        <p:nvSpPr>
          <p:cNvPr id="9" name="Content Placeholder 2">
            <a:extLst>
              <a:ext uri="{FF2B5EF4-FFF2-40B4-BE49-F238E27FC236}">
                <a16:creationId xmlns:a16="http://schemas.microsoft.com/office/drawing/2014/main" id="{47D32F80-163B-2234-91F4-A80E388D80C3}"/>
              </a:ext>
            </a:extLst>
          </p:cNvPr>
          <p:cNvSpPr txBox="1">
            <a:spLocks/>
          </p:cNvSpPr>
          <p:nvPr/>
        </p:nvSpPr>
        <p:spPr>
          <a:xfrm>
            <a:off x="860254" y="2620962"/>
            <a:ext cx="12169946" cy="63706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noProof="0" dirty="0"/>
              <a:t>La inteligencia de fuentes abiertas (OSINT) consiste en la recopilación y el análisis de datos obtenidos de fuentes abiertas (fuentes públicas y de acceso público) para generar inteligencia procesable. (Wikipedia)</a:t>
            </a:r>
          </a:p>
          <a:p>
            <a:pPr marL="0" indent="0">
              <a:buNone/>
            </a:pPr>
            <a:endParaRPr lang="es-ES" noProof="0" dirty="0"/>
          </a:p>
          <a:p>
            <a:pPr marL="0" indent="0">
              <a:buNone/>
            </a:pPr>
            <a:r>
              <a:rPr lang="es-ES" noProof="0" dirty="0"/>
              <a:t>Recopilación de información de:</a:t>
            </a:r>
          </a:p>
          <a:p>
            <a:r>
              <a:rPr lang="es-ES" noProof="0" dirty="0"/>
              <a:t>sitios web gubernamentales</a:t>
            </a:r>
          </a:p>
          <a:p>
            <a:r>
              <a:rPr lang="es-ES" noProof="0" dirty="0"/>
              <a:t>motores de búsqueda (Google, etc.)</a:t>
            </a:r>
          </a:p>
          <a:p>
            <a:r>
              <a:rPr lang="es-ES" noProof="0" dirty="0"/>
              <a:t>redes sociales (Facebook, etc.)</a:t>
            </a:r>
          </a:p>
          <a:p>
            <a:r>
              <a:rPr lang="es-ES" noProof="0" dirty="0"/>
              <a:t>Mapas</a:t>
            </a:r>
          </a:p>
          <a:p>
            <a:r>
              <a:rPr lang="es-ES" noProof="0" dirty="0"/>
              <a:t>…</a:t>
            </a:r>
          </a:p>
        </p:txBody>
      </p:sp>
      <p:sp>
        <p:nvSpPr>
          <p:cNvPr id="10" name="Freeform 4">
            <a:extLst>
              <a:ext uri="{FF2B5EF4-FFF2-40B4-BE49-F238E27FC236}">
                <a16:creationId xmlns:a16="http://schemas.microsoft.com/office/drawing/2014/main" id="{0006F77F-7A38-A3A0-AD80-E63A4BCE9BC3}"/>
              </a:ext>
            </a:extLst>
          </p:cNvPr>
          <p:cNvSpPr/>
          <p:nvPr/>
        </p:nvSpPr>
        <p:spPr>
          <a:xfrm>
            <a:off x="13424041" y="2508892"/>
            <a:ext cx="4132897" cy="6143495"/>
          </a:xfrm>
          <a:custGeom>
            <a:avLst/>
            <a:gdLst/>
            <a:ahLst/>
            <a:cxnLst/>
            <a:rect l="l" t="t" r="r" b="b"/>
            <a:pathLst>
              <a:path w="4132897" h="6143495">
                <a:moveTo>
                  <a:pt x="0" y="0"/>
                </a:moveTo>
                <a:lnTo>
                  <a:pt x="4132897" y="0"/>
                </a:lnTo>
                <a:lnTo>
                  <a:pt x="4132897" y="6143495"/>
                </a:lnTo>
                <a:lnTo>
                  <a:pt x="0" y="614349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ES" noProof="0" dirty="0"/>
          </a:p>
        </p:txBody>
      </p:sp>
      <p:sp>
        <p:nvSpPr>
          <p:cNvPr id="11" name="Content Placeholder 2">
            <a:extLst>
              <a:ext uri="{FF2B5EF4-FFF2-40B4-BE49-F238E27FC236}">
                <a16:creationId xmlns:a16="http://schemas.microsoft.com/office/drawing/2014/main" id="{4E2931FB-6637-7A1A-5E8A-F4ACAF15A98F}"/>
              </a:ext>
            </a:extLst>
          </p:cNvPr>
          <p:cNvSpPr txBox="1">
            <a:spLocks/>
          </p:cNvSpPr>
          <p:nvPr/>
        </p:nvSpPr>
        <p:spPr>
          <a:xfrm>
            <a:off x="865170" y="8572500"/>
            <a:ext cx="15468600" cy="67508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noProof="0" dirty="0"/>
              <a:t>Y luego extraer/relacionar/inferir nueva información con mayor valor/potencial</a:t>
            </a:r>
          </a:p>
        </p:txBody>
      </p:sp>
    </p:spTree>
    <p:extLst>
      <p:ext uri="{BB962C8B-B14F-4D97-AF65-F5344CB8AC3E}">
        <p14:creationId xmlns:p14="http://schemas.microsoft.com/office/powerpoint/2010/main" val="3021354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84F718A3-936C-5D5A-E96B-F7D89316E9E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83DDDA-15AD-3A64-B46C-5C1A97455D56}"/>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E52E600D-B645-87C0-EC2E-7968A83F8A71}"/>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B2DB8C2E-74CB-B5EA-F806-30F5CB4B352C}"/>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7F34513C-7131-EFC1-E0F4-E17C4AFFC4B7}"/>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E5F33809-F585-03B9-AFEE-6DCC8C3AD0FA}"/>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69AE9F51-4B4B-D775-1B03-BEE690E430F2}"/>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CE69EFF9-2DB7-4134-37A6-0313766C70D7}"/>
              </a:ext>
            </a:extLst>
          </p:cNvPr>
          <p:cNvPicPr>
            <a:picLocks noChangeAspect="1"/>
          </p:cNvPicPr>
          <p:nvPr/>
        </p:nvPicPr>
        <p:blipFill>
          <a:blip r:embed="rId6"/>
          <a:stretch>
            <a:fillRect/>
          </a:stretch>
        </p:blipFill>
        <p:spPr>
          <a:xfrm>
            <a:off x="13441977" y="114300"/>
            <a:ext cx="1585903" cy="1006621"/>
          </a:xfrm>
          <a:prstGeom prst="rect">
            <a:avLst/>
          </a:prstGeom>
        </p:spPr>
      </p:pic>
      <p:grpSp>
        <p:nvGrpSpPr>
          <p:cNvPr id="10" name="Group 9">
            <a:extLst>
              <a:ext uri="{FF2B5EF4-FFF2-40B4-BE49-F238E27FC236}">
                <a16:creationId xmlns:a16="http://schemas.microsoft.com/office/drawing/2014/main" id="{03AB2237-BC38-2939-5553-CAD176F4CEBC}"/>
              </a:ext>
            </a:extLst>
          </p:cNvPr>
          <p:cNvGrpSpPr/>
          <p:nvPr/>
        </p:nvGrpSpPr>
        <p:grpSpPr>
          <a:xfrm>
            <a:off x="689528" y="2571750"/>
            <a:ext cx="13784744" cy="5143500"/>
            <a:chOff x="1066801" y="2857500"/>
            <a:chExt cx="13784744" cy="5143500"/>
          </a:xfrm>
        </p:grpSpPr>
        <p:sp>
          <p:nvSpPr>
            <p:cNvPr id="8" name="TextBox 7">
              <a:extLst>
                <a:ext uri="{FF2B5EF4-FFF2-40B4-BE49-F238E27FC236}">
                  <a16:creationId xmlns:a16="http://schemas.microsoft.com/office/drawing/2014/main" id="{B52601FB-B8AC-C88A-FDE4-4444412EA058}"/>
                </a:ext>
              </a:extLst>
            </p:cNvPr>
            <p:cNvSpPr txBox="1"/>
            <p:nvPr/>
          </p:nvSpPr>
          <p:spPr>
            <a:xfrm>
              <a:off x="1066801" y="4352841"/>
              <a:ext cx="8477251" cy="1896096"/>
            </a:xfrm>
            <a:prstGeom prst="rect">
              <a:avLst/>
            </a:prstGeom>
          </p:spPr>
          <p:txBody>
            <a:bodyPr wrap="square" lIns="0" tIns="0" rIns="0" bIns="0" rtlCol="0" anchor="ctr">
              <a:spAutoFit/>
            </a:bodyPr>
            <a:lstStyle/>
            <a:p>
              <a:pPr algn="l">
                <a:lnSpc>
                  <a:spcPts val="16818"/>
                </a:lnSpc>
              </a:pPr>
              <a:r>
                <a:rPr lang="es-ES" sz="9600" b="1" noProof="0" dirty="0">
                  <a:solidFill>
                    <a:srgbClr val="343434"/>
                  </a:solidFill>
                  <a:latin typeface="Cooper Hewitt Bold"/>
                  <a:ea typeface="Cooper Hewitt Bold"/>
                  <a:cs typeface="Cooper Hewitt Bold"/>
                  <a:sym typeface="Cooper Hewitt Bold"/>
                </a:rPr>
                <a:t>Primer Ministro</a:t>
              </a:r>
            </a:p>
          </p:txBody>
        </p:sp>
        <p:pic>
          <p:nvPicPr>
            <p:cNvPr id="9" name="Picture 8" descr="Cartoon person in a suit and tie&#10;&#10;AI-generated content may be incorrect.">
              <a:extLst>
                <a:ext uri="{FF2B5EF4-FFF2-40B4-BE49-F238E27FC236}">
                  <a16:creationId xmlns:a16="http://schemas.microsoft.com/office/drawing/2014/main" id="{557A6358-9E7C-B702-0375-790215DC1472}"/>
                </a:ext>
              </a:extLst>
            </p:cNvPr>
            <p:cNvPicPr>
              <a:picLocks noChangeAspect="1"/>
            </p:cNvPicPr>
            <p:nvPr/>
          </p:nvPicPr>
          <p:blipFill>
            <a:blip r:embed="rId7"/>
            <a:stretch>
              <a:fillRect/>
            </a:stretch>
          </p:blipFill>
          <p:spPr>
            <a:xfrm>
              <a:off x="9708045" y="2857500"/>
              <a:ext cx="5143500" cy="5143500"/>
            </a:xfrm>
            <a:prstGeom prst="rect">
              <a:avLst/>
            </a:prstGeom>
          </p:spPr>
        </p:pic>
      </p:grpSp>
    </p:spTree>
    <p:extLst>
      <p:ext uri="{BB962C8B-B14F-4D97-AF65-F5344CB8AC3E}">
        <p14:creationId xmlns:p14="http://schemas.microsoft.com/office/powerpoint/2010/main" val="609513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39D8DF93-31C3-ACBC-A19F-CA690024A9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726F6F3-4B04-7479-C6F8-B95534577B1A}"/>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CFC18311-FAA5-279F-A340-B8281248A678}"/>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DA4E1AA1-EA1C-3E43-6328-974836179BBA}"/>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352B968C-110A-B388-5454-B85334D9B08E}"/>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A279DDDD-B9E6-0D1C-102C-7CC76871CEB2}"/>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AD75F1FB-F04A-BD5B-B02A-83066E445D15}"/>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19B1841D-C7DD-AE42-F35F-581C00000937}"/>
              </a:ext>
            </a:extLst>
          </p:cNvPr>
          <p:cNvPicPr>
            <a:picLocks noChangeAspect="1"/>
          </p:cNvPicPr>
          <p:nvPr/>
        </p:nvPicPr>
        <p:blipFill>
          <a:blip r:embed="rId6"/>
          <a:stretch>
            <a:fillRect/>
          </a:stretch>
        </p:blipFill>
        <p:spPr>
          <a:xfrm>
            <a:off x="13441977" y="114300"/>
            <a:ext cx="1585903" cy="1006621"/>
          </a:xfrm>
          <a:prstGeom prst="rect">
            <a:avLst/>
          </a:prstGeom>
        </p:spPr>
      </p:pic>
      <p:pic>
        <p:nvPicPr>
          <p:cNvPr id="10" name="Picture 9" descr="A magazine cover with a person's face&#10;&#10;AI-generated content may be incorrect.">
            <a:extLst>
              <a:ext uri="{FF2B5EF4-FFF2-40B4-BE49-F238E27FC236}">
                <a16:creationId xmlns:a16="http://schemas.microsoft.com/office/drawing/2014/main" id="{3579D94E-EB2F-CE20-020A-E833EDBBCF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34221" y="2992210"/>
            <a:ext cx="4704946" cy="6320656"/>
          </a:xfrm>
          <a:prstGeom prst="rect">
            <a:avLst/>
          </a:prstGeom>
          <a:ln>
            <a:solidFill>
              <a:schemeClr val="bg1">
                <a:lumMod val="65000"/>
              </a:schemeClr>
            </a:solidFill>
          </a:ln>
        </p:spPr>
      </p:pic>
      <p:pic>
        <p:nvPicPr>
          <p:cNvPr id="16" name="Picture 15">
            <a:extLst>
              <a:ext uri="{FF2B5EF4-FFF2-40B4-BE49-F238E27FC236}">
                <a16:creationId xmlns:a16="http://schemas.microsoft.com/office/drawing/2014/main" id="{B8130260-3681-C7FD-4A29-5FBDC150832C}"/>
              </a:ext>
            </a:extLst>
          </p:cNvPr>
          <p:cNvPicPr>
            <a:picLocks noChangeAspect="1"/>
          </p:cNvPicPr>
          <p:nvPr/>
        </p:nvPicPr>
        <p:blipFill>
          <a:blip r:embed="rId8"/>
          <a:stretch>
            <a:fillRect/>
          </a:stretch>
        </p:blipFill>
        <p:spPr>
          <a:xfrm>
            <a:off x="5006129" y="3001001"/>
            <a:ext cx="4279785" cy="6294932"/>
          </a:xfrm>
          <a:prstGeom prst="rect">
            <a:avLst/>
          </a:prstGeom>
          <a:ln>
            <a:solidFill>
              <a:schemeClr val="bg1">
                <a:lumMod val="65000"/>
              </a:schemeClr>
            </a:solidFill>
          </a:ln>
        </p:spPr>
      </p:pic>
      <p:sp>
        <p:nvSpPr>
          <p:cNvPr id="22" name="Title 1">
            <a:extLst>
              <a:ext uri="{FF2B5EF4-FFF2-40B4-BE49-F238E27FC236}">
                <a16:creationId xmlns:a16="http://schemas.microsoft.com/office/drawing/2014/main" id="{F6E1E7E3-7E60-1456-0F92-0CAAE1D5E985}"/>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Negocios Privados, Consecuencias Públicas</a:t>
            </a:r>
          </a:p>
          <a:p>
            <a:pPr algn="l"/>
            <a:endParaRPr lang="es-ES" sz="4800" b="1" noProof="0" dirty="0"/>
          </a:p>
        </p:txBody>
      </p:sp>
      <p:sp>
        <p:nvSpPr>
          <p:cNvPr id="23" name="Content Placeholder 2">
            <a:extLst>
              <a:ext uri="{FF2B5EF4-FFF2-40B4-BE49-F238E27FC236}">
                <a16:creationId xmlns:a16="http://schemas.microsoft.com/office/drawing/2014/main" id="{466C696E-4F6A-C09F-8131-8CA59E337FDC}"/>
              </a:ext>
            </a:extLst>
          </p:cNvPr>
          <p:cNvSpPr txBox="1">
            <a:spLocks/>
          </p:cNvSpPr>
          <p:nvPr/>
        </p:nvSpPr>
        <p:spPr>
          <a:xfrm>
            <a:off x="1019721" y="2327252"/>
            <a:ext cx="3238101" cy="67508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s-ES" dirty="0"/>
              <a:t>15</a:t>
            </a:r>
            <a:r>
              <a:rPr lang="es-ES" noProof="0" dirty="0"/>
              <a:t>/02/2025</a:t>
            </a:r>
          </a:p>
        </p:txBody>
      </p:sp>
      <p:sp>
        <p:nvSpPr>
          <p:cNvPr id="24" name="Content Placeholder 2">
            <a:extLst>
              <a:ext uri="{FF2B5EF4-FFF2-40B4-BE49-F238E27FC236}">
                <a16:creationId xmlns:a16="http://schemas.microsoft.com/office/drawing/2014/main" id="{D9CF62B7-DCA9-CBBB-B9A0-5C325047E9F0}"/>
              </a:ext>
            </a:extLst>
          </p:cNvPr>
          <p:cNvSpPr txBox="1">
            <a:spLocks/>
          </p:cNvSpPr>
          <p:nvPr/>
        </p:nvSpPr>
        <p:spPr>
          <a:xfrm>
            <a:off x="4992749" y="2317128"/>
            <a:ext cx="4293165" cy="67508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s-ES" dirty="0"/>
              <a:t>14</a:t>
            </a:r>
            <a:r>
              <a:rPr lang="es-ES" noProof="0" dirty="0"/>
              <a:t>/03/2025</a:t>
            </a:r>
          </a:p>
        </p:txBody>
      </p:sp>
      <p:sp>
        <p:nvSpPr>
          <p:cNvPr id="25" name="Content Placeholder 2">
            <a:extLst>
              <a:ext uri="{FF2B5EF4-FFF2-40B4-BE49-F238E27FC236}">
                <a16:creationId xmlns:a16="http://schemas.microsoft.com/office/drawing/2014/main" id="{D49FF2F8-8915-09A8-1B38-E0EEF2B1AFA2}"/>
              </a:ext>
            </a:extLst>
          </p:cNvPr>
          <p:cNvSpPr txBox="1">
            <a:spLocks/>
          </p:cNvSpPr>
          <p:nvPr/>
        </p:nvSpPr>
        <p:spPr>
          <a:xfrm>
            <a:off x="10034221" y="2321062"/>
            <a:ext cx="4704945" cy="67508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s-ES" noProof="0" dirty="0"/>
              <a:t>08/10/2025</a:t>
            </a:r>
          </a:p>
        </p:txBody>
      </p:sp>
      <p:pic>
        <p:nvPicPr>
          <p:cNvPr id="27" name="Picture 26">
            <a:extLst>
              <a:ext uri="{FF2B5EF4-FFF2-40B4-BE49-F238E27FC236}">
                <a16:creationId xmlns:a16="http://schemas.microsoft.com/office/drawing/2014/main" id="{5F2D8F08-500E-B31F-AC21-2565BE7BC072}"/>
              </a:ext>
            </a:extLst>
          </p:cNvPr>
          <p:cNvPicPr>
            <a:picLocks noChangeAspect="1"/>
          </p:cNvPicPr>
          <p:nvPr/>
        </p:nvPicPr>
        <p:blipFill>
          <a:blip r:embed="rId9"/>
          <a:stretch>
            <a:fillRect/>
          </a:stretch>
        </p:blipFill>
        <p:spPr>
          <a:xfrm>
            <a:off x="1019721" y="3002335"/>
            <a:ext cx="3238101" cy="6310531"/>
          </a:xfrm>
          <a:prstGeom prst="rect">
            <a:avLst/>
          </a:prstGeom>
          <a:ln>
            <a:solidFill>
              <a:schemeClr val="bg1">
                <a:lumMod val="65000"/>
              </a:schemeClr>
            </a:solidFill>
          </a:ln>
        </p:spPr>
      </p:pic>
    </p:spTree>
    <p:extLst>
      <p:ext uri="{BB962C8B-B14F-4D97-AF65-F5344CB8AC3E}">
        <p14:creationId xmlns:p14="http://schemas.microsoft.com/office/powerpoint/2010/main" val="1736072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27202F21-8167-CD3D-3B92-C96CFDFDBAB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C10A88B-F5CF-D2E6-C7A4-50C6D84F80ED}"/>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BD378CD5-92E0-76FF-A018-6092E44A1E06}"/>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CC6954AD-B4F2-61A2-AD92-89486048C492}"/>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A17689B6-5178-B772-8EB7-7A5E214FA9A1}"/>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EBA0CD97-4F8E-3100-4406-0F5417444685}"/>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5378A551-ACA4-426A-963C-1757D61881B3}"/>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E41596F8-F83C-93A8-93D0-95655A742434}"/>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E581C20F-4F87-B356-9A17-BB5C32C3BF7C}"/>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noProof="0" dirty="0"/>
              <a:t>Portal del Gobierno</a:t>
            </a:r>
          </a:p>
        </p:txBody>
      </p:sp>
      <p:grpSp>
        <p:nvGrpSpPr>
          <p:cNvPr id="14" name="Group 13">
            <a:extLst>
              <a:ext uri="{FF2B5EF4-FFF2-40B4-BE49-F238E27FC236}">
                <a16:creationId xmlns:a16="http://schemas.microsoft.com/office/drawing/2014/main" id="{116C3514-AE36-452A-DE00-8C7110FA2DBE}"/>
              </a:ext>
            </a:extLst>
          </p:cNvPr>
          <p:cNvGrpSpPr/>
          <p:nvPr/>
        </p:nvGrpSpPr>
        <p:grpSpPr>
          <a:xfrm>
            <a:off x="1219200" y="2137534"/>
            <a:ext cx="12573000" cy="6855173"/>
            <a:chOff x="1219200" y="2137534"/>
            <a:chExt cx="12573000" cy="6855173"/>
          </a:xfrm>
        </p:grpSpPr>
        <p:pic>
          <p:nvPicPr>
            <p:cNvPr id="9" name="Picture 8">
              <a:hlinkClick r:id="rId7"/>
              <a:extLst>
                <a:ext uri="{FF2B5EF4-FFF2-40B4-BE49-F238E27FC236}">
                  <a16:creationId xmlns:a16="http://schemas.microsoft.com/office/drawing/2014/main" id="{37A17353-4686-81D3-E925-036879F8BF97}"/>
                </a:ext>
              </a:extLst>
            </p:cNvPr>
            <p:cNvPicPr>
              <a:picLocks noChangeAspect="1"/>
            </p:cNvPicPr>
            <p:nvPr/>
          </p:nvPicPr>
          <p:blipFill>
            <a:blip r:embed="rId8"/>
            <a:stretch>
              <a:fillRect/>
            </a:stretch>
          </p:blipFill>
          <p:spPr>
            <a:xfrm>
              <a:off x="6553200" y="2137534"/>
              <a:ext cx="7239000" cy="6855173"/>
            </a:xfrm>
            <a:prstGeom prst="rect">
              <a:avLst/>
            </a:prstGeom>
            <a:ln>
              <a:solidFill>
                <a:schemeClr val="bg1">
                  <a:lumMod val="75000"/>
                </a:schemeClr>
              </a:solidFill>
            </a:ln>
          </p:spPr>
        </p:pic>
        <p:pic>
          <p:nvPicPr>
            <p:cNvPr id="10" name="Picture 9">
              <a:hlinkClick r:id="rId9"/>
              <a:extLst>
                <a:ext uri="{FF2B5EF4-FFF2-40B4-BE49-F238E27FC236}">
                  <a16:creationId xmlns:a16="http://schemas.microsoft.com/office/drawing/2014/main" id="{A9AE9F19-4D47-B826-6B28-47A6E859711F}"/>
                </a:ext>
              </a:extLst>
            </p:cNvPr>
            <p:cNvPicPr>
              <a:picLocks noChangeAspect="1"/>
            </p:cNvPicPr>
            <p:nvPr/>
          </p:nvPicPr>
          <p:blipFill>
            <a:blip r:embed="rId10"/>
            <a:stretch>
              <a:fillRect/>
            </a:stretch>
          </p:blipFill>
          <p:spPr>
            <a:xfrm>
              <a:off x="1219200" y="3615481"/>
              <a:ext cx="4174520" cy="3899277"/>
            </a:xfrm>
            <a:prstGeom prst="rect">
              <a:avLst/>
            </a:prstGeom>
          </p:spPr>
        </p:pic>
      </p:grpSp>
      <p:sp>
        <p:nvSpPr>
          <p:cNvPr id="11" name="Content Placeholder 2">
            <a:extLst>
              <a:ext uri="{FF2B5EF4-FFF2-40B4-BE49-F238E27FC236}">
                <a16:creationId xmlns:a16="http://schemas.microsoft.com/office/drawing/2014/main" id="{2AB0BBBA-76A0-9D15-955D-8ED9D2BF01F4}"/>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3200" b="1" noProof="0" dirty="0">
                <a:solidFill>
                  <a:srgbClr val="000000"/>
                </a:solidFill>
                <a:effectLst/>
                <a:latin typeface="Calibri" panose="020F0502020204030204" pitchFamily="34" charset="0"/>
              </a:rPr>
              <a:t>Consejo:</a:t>
            </a:r>
            <a:r>
              <a:rPr lang="es-ES" sz="3200" noProof="0" dirty="0">
                <a:solidFill>
                  <a:srgbClr val="000000"/>
                </a:solidFill>
                <a:effectLst/>
                <a:latin typeface="Calibri" panose="020F0502020204030204" pitchFamily="34" charset="0"/>
              </a:rPr>
              <a:t> Administraciones anteriores, funcionarios, ...</a:t>
            </a:r>
            <a:endParaRPr lang="es-ES" noProof="0" dirty="0"/>
          </a:p>
        </p:txBody>
      </p:sp>
    </p:spTree>
    <p:extLst>
      <p:ext uri="{BB962C8B-B14F-4D97-AF65-F5344CB8AC3E}">
        <p14:creationId xmlns:p14="http://schemas.microsoft.com/office/powerpoint/2010/main" val="3032233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05E5EC5B-7D93-6AF4-2DA6-4B235FD5F8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AD5B20D-4DE8-DB80-4A53-AE0326C517F2}"/>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A361AECE-4F57-2343-C880-258C1EB5B8EB}"/>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1901E58-3803-F0E7-5F56-1B238B8C3125}"/>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615DE696-6267-ECB7-7F06-18F3F33B7CDE}"/>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26C11EF6-6335-FDAC-25D4-28508CA9F9F8}"/>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072CA112-4F29-2A13-3DD3-691F705947CB}"/>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C6920243-E57F-C393-0DDD-898BE3D77692}"/>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3EE1C5A9-7F8B-9D1A-7CEB-57BEF737B1EB}"/>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Status</a:t>
            </a:r>
            <a:endParaRPr lang="es-ES" sz="4800" b="1" noProof="0" dirty="0"/>
          </a:p>
        </p:txBody>
      </p:sp>
      <p:sp>
        <p:nvSpPr>
          <p:cNvPr id="9" name="Content Placeholder 2">
            <a:extLst>
              <a:ext uri="{FF2B5EF4-FFF2-40B4-BE49-F238E27FC236}">
                <a16:creationId xmlns:a16="http://schemas.microsoft.com/office/drawing/2014/main" id="{39B13699-502C-07F7-40E3-1DB196702FE6}"/>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Cada dato puede llevar a más información. Revísalos todos.</a:t>
            </a:r>
          </a:p>
        </p:txBody>
      </p:sp>
      <p:sp>
        <p:nvSpPr>
          <p:cNvPr id="10" name="Content Placeholder 4">
            <a:extLst>
              <a:ext uri="{FF2B5EF4-FFF2-40B4-BE49-F238E27FC236}">
                <a16:creationId xmlns:a16="http://schemas.microsoft.com/office/drawing/2014/main" id="{7F543ADF-6E34-8692-8171-A0921DA4E16A}"/>
              </a:ext>
            </a:extLst>
          </p:cNvPr>
          <p:cNvSpPr txBox="1">
            <a:spLocks/>
          </p:cNvSpPr>
          <p:nvPr/>
        </p:nvSpPr>
        <p:spPr>
          <a:xfrm>
            <a:off x="581691" y="2442911"/>
            <a:ext cx="7113673" cy="6004284"/>
          </a:xfrm>
          <a:prstGeom prst="rect">
            <a:avLst/>
          </a:prstGeom>
          <a:ln>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400" b="1" dirty="0"/>
              <a:t>Nombre</a:t>
            </a:r>
            <a:r>
              <a:rPr lang="es-ES" sz="2400" dirty="0"/>
              <a:t>: Luís Montenegro</a:t>
            </a:r>
          </a:p>
          <a:p>
            <a:pPr marL="0" indent="0">
              <a:buNone/>
            </a:pPr>
            <a:r>
              <a:rPr lang="es-ES" sz="2400" b="1" dirty="0"/>
              <a:t>Nacimiento</a:t>
            </a:r>
            <a:r>
              <a:rPr lang="es-ES" sz="2400" dirty="0"/>
              <a:t>: 16/02/1973 - Porto</a:t>
            </a:r>
          </a:p>
          <a:p>
            <a:pPr marL="0" indent="0">
              <a:buNone/>
            </a:pPr>
            <a:r>
              <a:rPr lang="es-ES" sz="2400" b="1" dirty="0"/>
              <a:t>Estado civil</a:t>
            </a:r>
            <a:r>
              <a:rPr lang="es-ES" sz="2400" dirty="0"/>
              <a:t>: </a:t>
            </a:r>
          </a:p>
          <a:p>
            <a:pPr marL="114300" indent="0">
              <a:buNone/>
            </a:pPr>
            <a:r>
              <a:rPr lang="es-ES" sz="2000" dirty="0"/>
              <a:t>- Casado</a:t>
            </a:r>
          </a:p>
          <a:p>
            <a:pPr marL="114300" indent="0">
              <a:buNone/>
            </a:pPr>
            <a:r>
              <a:rPr lang="es-ES" sz="2000" dirty="0"/>
              <a:t>- 2 hijos</a:t>
            </a:r>
          </a:p>
          <a:p>
            <a:pPr marL="0" indent="0">
              <a:buNone/>
            </a:pPr>
            <a:r>
              <a:rPr lang="es-ES" sz="2400" b="1" dirty="0"/>
              <a:t>Educación</a:t>
            </a:r>
            <a:r>
              <a:rPr lang="es-ES" sz="2400" dirty="0"/>
              <a:t>: </a:t>
            </a:r>
          </a:p>
          <a:p>
            <a:pPr marL="114300" indent="0">
              <a:buNone/>
            </a:pPr>
            <a:r>
              <a:rPr lang="es-ES" sz="2000" dirty="0"/>
              <a:t>- Licenciado en Derecho - Universidad Católica Portuguesa - 1999</a:t>
            </a:r>
          </a:p>
          <a:p>
            <a:pPr marL="114300" indent="0">
              <a:buNone/>
            </a:pPr>
            <a:r>
              <a:rPr lang="es-ES" sz="2000" dirty="0"/>
              <a:t>- Postgrado en Protección de Datos Personales – INSEAD</a:t>
            </a:r>
          </a:p>
          <a:p>
            <a:pPr marL="114300" indent="0">
              <a:buNone/>
            </a:pPr>
            <a:r>
              <a:rPr lang="es-ES" sz="2000" dirty="0"/>
              <a:t>- Programa de Gestión Avanzada - INSEAD</a:t>
            </a:r>
          </a:p>
        </p:txBody>
      </p:sp>
      <p:sp>
        <p:nvSpPr>
          <p:cNvPr id="11" name="Content Placeholder 4">
            <a:extLst>
              <a:ext uri="{FF2B5EF4-FFF2-40B4-BE49-F238E27FC236}">
                <a16:creationId xmlns:a16="http://schemas.microsoft.com/office/drawing/2014/main" id="{DEE0BF8D-88F5-7886-B5D4-BD2300CCF77D}"/>
              </a:ext>
            </a:extLst>
          </p:cNvPr>
          <p:cNvSpPr txBox="1">
            <a:spLocks/>
          </p:cNvSpPr>
          <p:nvPr/>
        </p:nvSpPr>
        <p:spPr>
          <a:xfrm>
            <a:off x="7973927" y="2442911"/>
            <a:ext cx="7113673" cy="6004284"/>
          </a:xfrm>
          <a:prstGeom prst="rect">
            <a:avLst/>
          </a:prstGeom>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s-ES" sz="2400" b="1" noProof="0" dirty="0"/>
              <a:t>Empleo anterior:</a:t>
            </a:r>
          </a:p>
          <a:p>
            <a:pPr marL="457200" lvl="1" indent="-228600">
              <a:buNone/>
            </a:pPr>
            <a:r>
              <a:rPr lang="es-ES" sz="2000" noProof="0" dirty="0"/>
              <a:t>- Abogado – Fundador y socio del bufete SP&amp;M</a:t>
            </a:r>
          </a:p>
          <a:p>
            <a:pPr marL="457200" lvl="1" indent="-228600">
              <a:buNone/>
            </a:pPr>
            <a:r>
              <a:rPr lang="es-ES" sz="2000" noProof="0" dirty="0"/>
              <a:t>- Presidente de la Junta General del Grupo Ferpinta</a:t>
            </a:r>
          </a:p>
          <a:p>
            <a:pPr marL="457200" lvl="1" indent="-228600">
              <a:buNone/>
            </a:pPr>
            <a:r>
              <a:rPr lang="es-ES" sz="2000" noProof="0" dirty="0"/>
              <a:t>- Presidente de la Junta General de Rádio Popular</a:t>
            </a:r>
          </a:p>
          <a:p>
            <a:pPr marL="0" indent="0">
              <a:buNone/>
            </a:pPr>
            <a:r>
              <a:rPr lang="es-ES" sz="2400" b="1" noProof="0" dirty="0"/>
              <a:t>Político:</a:t>
            </a:r>
          </a:p>
          <a:p>
            <a:pPr marL="457200" lvl="1" indent="-228600">
              <a:buNone/>
            </a:pPr>
            <a:r>
              <a:rPr lang="es-ES" sz="2000" noProof="0" dirty="0"/>
              <a:t>- Miembro y presidente de la Asamblea Municipal de Espinho y concejal</a:t>
            </a:r>
          </a:p>
          <a:p>
            <a:pPr marL="457200" lvl="1" indent="-228600">
              <a:buNone/>
            </a:pPr>
            <a:r>
              <a:rPr lang="es-ES" sz="2000" noProof="0" dirty="0"/>
              <a:t>- Diputado en 2002, 2005, 2009, 2011 y 2015 (16 años)</a:t>
            </a:r>
          </a:p>
          <a:p>
            <a:pPr marL="457200" lvl="1" indent="-228600">
              <a:buNone/>
            </a:pPr>
            <a:r>
              <a:rPr lang="es-ES" sz="2000" noProof="0" dirty="0"/>
              <a:t>- Presidente del Grupo Parlamentario del PSD de 2011 a 2017</a:t>
            </a:r>
          </a:p>
          <a:p>
            <a:pPr marL="457200" lvl="1" indent="-228600">
              <a:buNone/>
            </a:pPr>
            <a:r>
              <a:rPr lang="es-ES" sz="2000" noProof="0" dirty="0"/>
              <a:t>- Líder del Partido Socialdemócrata (PSD) desde el 28 de mayo de 2022</a:t>
            </a:r>
            <a:endParaRPr lang="es-ES" sz="1600" noProof="0" dirty="0"/>
          </a:p>
        </p:txBody>
      </p:sp>
    </p:spTree>
    <p:extLst>
      <p:ext uri="{BB962C8B-B14F-4D97-AF65-F5344CB8AC3E}">
        <p14:creationId xmlns:p14="http://schemas.microsoft.com/office/powerpoint/2010/main" val="731054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93C37C09-CF50-DD49-3A98-3CCD4421DD1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F222F99-9392-1128-EFB3-F4354C71AFF3}"/>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08577375-5D5A-AD18-666B-4992357D1D93}"/>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04AB1F2-42D7-43C1-5B60-FF2A516E7EE1}"/>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D0C1D411-F314-C148-4D95-6EA5E243C4A2}"/>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4763419A-8212-CC31-4F7B-B44FBE8CF7BA}"/>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8FBDCE9A-B0B4-82D0-27BE-0B1D53E358BB}"/>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C58AA9E9-B2B9-9029-5FB7-6A6C4D1E49F5}"/>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0BD61570-6270-CCD7-4C0C-2999EC954D61}"/>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Portal de la Asamblea de la República</a:t>
            </a:r>
          </a:p>
        </p:txBody>
      </p:sp>
      <p:sp>
        <p:nvSpPr>
          <p:cNvPr id="9" name="Content Placeholder 2">
            <a:extLst>
              <a:ext uri="{FF2B5EF4-FFF2-40B4-BE49-F238E27FC236}">
                <a16:creationId xmlns:a16="http://schemas.microsoft.com/office/drawing/2014/main" id="{8065CB20-4922-7008-D90E-8D1698B2F32B}"/>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Registro de intereses</a:t>
            </a:r>
          </a:p>
        </p:txBody>
      </p:sp>
      <p:grpSp>
        <p:nvGrpSpPr>
          <p:cNvPr id="24" name="Group 23">
            <a:extLst>
              <a:ext uri="{FF2B5EF4-FFF2-40B4-BE49-F238E27FC236}">
                <a16:creationId xmlns:a16="http://schemas.microsoft.com/office/drawing/2014/main" id="{E289F29D-F716-5CFA-A6A5-E3144BDD8EF3}"/>
              </a:ext>
            </a:extLst>
          </p:cNvPr>
          <p:cNvGrpSpPr/>
          <p:nvPr/>
        </p:nvGrpSpPr>
        <p:grpSpPr>
          <a:xfrm>
            <a:off x="1219201" y="2366687"/>
            <a:ext cx="13404922" cy="6434966"/>
            <a:chOff x="1219201" y="2366687"/>
            <a:chExt cx="13404922" cy="6434966"/>
          </a:xfrm>
        </p:grpSpPr>
        <p:pic>
          <p:nvPicPr>
            <p:cNvPr id="13" name="Picture 12">
              <a:hlinkClick r:id="rId7"/>
              <a:extLst>
                <a:ext uri="{FF2B5EF4-FFF2-40B4-BE49-F238E27FC236}">
                  <a16:creationId xmlns:a16="http://schemas.microsoft.com/office/drawing/2014/main" id="{A165F05D-572B-4A0E-56F7-28F2BECB2CB4}"/>
                </a:ext>
              </a:extLst>
            </p:cNvPr>
            <p:cNvPicPr>
              <a:picLocks noChangeAspect="1"/>
            </p:cNvPicPr>
            <p:nvPr/>
          </p:nvPicPr>
          <p:blipFill>
            <a:blip r:embed="rId8"/>
            <a:stretch>
              <a:fillRect/>
            </a:stretch>
          </p:blipFill>
          <p:spPr>
            <a:xfrm>
              <a:off x="1219201" y="3637676"/>
              <a:ext cx="4174520" cy="3899276"/>
            </a:xfrm>
            <a:prstGeom prst="rect">
              <a:avLst/>
            </a:prstGeom>
            <a:ln>
              <a:solidFill>
                <a:schemeClr val="bg1">
                  <a:lumMod val="75000"/>
                </a:schemeClr>
              </a:solidFill>
            </a:ln>
          </p:spPr>
        </p:pic>
        <p:grpSp>
          <p:nvGrpSpPr>
            <p:cNvPr id="14" name="Group 13">
              <a:extLst>
                <a:ext uri="{FF2B5EF4-FFF2-40B4-BE49-F238E27FC236}">
                  <a16:creationId xmlns:a16="http://schemas.microsoft.com/office/drawing/2014/main" id="{A4A595F2-EF48-8D6E-3ED7-7C1B38D8541B}"/>
                </a:ext>
              </a:extLst>
            </p:cNvPr>
            <p:cNvGrpSpPr>
              <a:grpSpLocks noChangeAspect="1"/>
            </p:cNvGrpSpPr>
            <p:nvPr/>
          </p:nvGrpSpPr>
          <p:grpSpPr>
            <a:xfrm>
              <a:off x="5721277" y="2366687"/>
              <a:ext cx="8902846" cy="6434966"/>
              <a:chOff x="9226194" y="3555880"/>
              <a:chExt cx="6491363" cy="4347798"/>
            </a:xfrm>
          </p:grpSpPr>
          <p:pic>
            <p:nvPicPr>
              <p:cNvPr id="15" name="Picture 14">
                <a:hlinkClick r:id="rId9"/>
                <a:extLst>
                  <a:ext uri="{FF2B5EF4-FFF2-40B4-BE49-F238E27FC236}">
                    <a16:creationId xmlns:a16="http://schemas.microsoft.com/office/drawing/2014/main" id="{6D3D2F4A-CB2D-0124-4950-B5574230D881}"/>
                  </a:ext>
                </a:extLst>
              </p:cNvPr>
              <p:cNvPicPr>
                <a:picLocks noChangeAspect="1"/>
              </p:cNvPicPr>
              <p:nvPr/>
            </p:nvPicPr>
            <p:blipFill>
              <a:blip r:embed="rId10"/>
              <a:stretch>
                <a:fillRect/>
              </a:stretch>
            </p:blipFill>
            <p:spPr>
              <a:xfrm>
                <a:off x="9226194" y="3555880"/>
                <a:ext cx="6491363" cy="4347798"/>
              </a:xfrm>
              <a:prstGeom prst="rect">
                <a:avLst/>
              </a:prstGeom>
              <a:ln>
                <a:solidFill>
                  <a:schemeClr val="bg1">
                    <a:lumMod val="75000"/>
                  </a:schemeClr>
                </a:solidFill>
              </a:ln>
            </p:spPr>
          </p:pic>
          <p:sp>
            <p:nvSpPr>
              <p:cNvPr id="16" name="Rectangle 15">
                <a:extLst>
                  <a:ext uri="{FF2B5EF4-FFF2-40B4-BE49-F238E27FC236}">
                    <a16:creationId xmlns:a16="http://schemas.microsoft.com/office/drawing/2014/main" id="{0449A988-DF06-B6B9-8F2F-9407812DF791}"/>
                  </a:ext>
                </a:extLst>
              </p:cNvPr>
              <p:cNvSpPr/>
              <p:nvPr/>
            </p:nvSpPr>
            <p:spPr>
              <a:xfrm>
                <a:off x="13773150" y="6286500"/>
                <a:ext cx="479253" cy="144779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grpSp>
      </p:grpSp>
      <p:sp>
        <p:nvSpPr>
          <p:cNvPr id="17" name="TextBox 15">
            <a:extLst>
              <a:ext uri="{FF2B5EF4-FFF2-40B4-BE49-F238E27FC236}">
                <a16:creationId xmlns:a16="http://schemas.microsoft.com/office/drawing/2014/main" id="{C389D30C-2263-52D8-AB92-A2E4EA598803}"/>
              </a:ext>
            </a:extLst>
          </p:cNvPr>
          <p:cNvSpPr txBox="1"/>
          <p:nvPr/>
        </p:nvSpPr>
        <p:spPr>
          <a:xfrm>
            <a:off x="13938345" y="9571986"/>
            <a:ext cx="1005737" cy="266700"/>
          </a:xfrm>
          <a:prstGeom prst="rect">
            <a:avLst/>
          </a:prstGeom>
        </p:spPr>
        <p:txBody>
          <a:bodyPr lIns="0" tIns="0" rIns="0" bIns="0" rtlCol="0" anchor="t">
            <a:spAutoFit/>
          </a:bodyPr>
          <a:lstStyle/>
          <a:p>
            <a:pPr algn="r">
              <a:lnSpc>
                <a:spcPts val="2100"/>
              </a:lnSpc>
            </a:pPr>
            <a:r>
              <a:rPr lang="es-ES" sz="1500" b="1" noProof="0" dirty="0">
                <a:solidFill>
                  <a:srgbClr val="343434"/>
                </a:solidFill>
                <a:latin typeface="DM Sans Bold"/>
                <a:ea typeface="DM Sans Bold"/>
                <a:cs typeface="DM Sans Bold"/>
                <a:sym typeface="DM Sans Bold"/>
              </a:rPr>
              <a:t>Page </a:t>
            </a:r>
            <a:fld id="{F3EB4092-D53A-4A7A-82B5-61650A0387D5}" type="slidenum">
              <a:rPr lang="es-ES" sz="1500" b="1" noProof="0" smtClean="0">
                <a:solidFill>
                  <a:srgbClr val="343434"/>
                </a:solidFill>
                <a:latin typeface="DM Sans Bold"/>
                <a:ea typeface="DM Sans Bold"/>
                <a:cs typeface="DM Sans Bold"/>
                <a:sym typeface="DM Sans Bold"/>
              </a:rPr>
              <a:t>13</a:t>
            </a:fld>
            <a:endParaRPr lang="es-ES" sz="1500" b="1" noProof="0" dirty="0">
              <a:solidFill>
                <a:srgbClr val="343434"/>
              </a:solidFill>
              <a:latin typeface="DM Sans Bold"/>
              <a:ea typeface="DM Sans Bold"/>
              <a:cs typeface="DM Sans Bold"/>
              <a:sym typeface="DM Sans Bold"/>
            </a:endParaRPr>
          </a:p>
        </p:txBody>
      </p:sp>
    </p:spTree>
    <p:extLst>
      <p:ext uri="{BB962C8B-B14F-4D97-AF65-F5344CB8AC3E}">
        <p14:creationId xmlns:p14="http://schemas.microsoft.com/office/powerpoint/2010/main" val="2807027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906272ED-BE42-BCB6-2BA5-9062761EA8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7107DC-1D2B-0573-FA75-D357A13B9221}"/>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E2F110AC-FB28-AB56-3BB7-9B78F81861A0}"/>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157BA50E-0383-A5A5-A0CD-48BFB146D46C}"/>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8B541CE1-2717-BFFA-344B-70692D3FC440}"/>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CA26060F-D2BB-E0EA-BE6D-869317B73C66}"/>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A14D6A47-37F4-D821-1159-6D97DC7A96B4}"/>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DCECFDD3-5CFD-94C4-7937-BD29DB4D78FF}"/>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6F7885CC-75D0-2174-A854-943F56336C0E}"/>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Status</a:t>
            </a:r>
          </a:p>
        </p:txBody>
      </p:sp>
      <p:sp>
        <p:nvSpPr>
          <p:cNvPr id="9" name="Content Placeholder 2">
            <a:extLst>
              <a:ext uri="{FF2B5EF4-FFF2-40B4-BE49-F238E27FC236}">
                <a16:creationId xmlns:a16="http://schemas.microsoft.com/office/drawing/2014/main" id="{78103CF5-A4FF-1D70-7945-73CB8CFF3191}"/>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Familia, empresas,…</a:t>
            </a:r>
          </a:p>
        </p:txBody>
      </p:sp>
      <p:sp>
        <p:nvSpPr>
          <p:cNvPr id="10" name="Content Placeholder 4">
            <a:extLst>
              <a:ext uri="{FF2B5EF4-FFF2-40B4-BE49-F238E27FC236}">
                <a16:creationId xmlns:a16="http://schemas.microsoft.com/office/drawing/2014/main" id="{75A163CA-A0B4-EC96-DE24-EAA78698C69B}"/>
              </a:ext>
            </a:extLst>
          </p:cNvPr>
          <p:cNvSpPr txBox="1">
            <a:spLocks/>
          </p:cNvSpPr>
          <p:nvPr/>
        </p:nvSpPr>
        <p:spPr>
          <a:xfrm>
            <a:off x="581691" y="2442911"/>
            <a:ext cx="7113673" cy="6004284"/>
          </a:xfrm>
          <a:prstGeom prst="rect">
            <a:avLst/>
          </a:prstGeom>
          <a:ln>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400" b="1" dirty="0"/>
              <a:t>Nombre</a:t>
            </a:r>
            <a:r>
              <a:rPr lang="es-ES" sz="2400" dirty="0"/>
              <a:t>: Luís Montenegro</a:t>
            </a:r>
          </a:p>
          <a:p>
            <a:pPr marL="0" indent="0">
              <a:buNone/>
            </a:pPr>
            <a:r>
              <a:rPr lang="es-ES" sz="2400" b="1" dirty="0"/>
              <a:t>Nombre:</a:t>
            </a:r>
            <a:r>
              <a:rPr lang="es-ES" sz="2400" dirty="0"/>
              <a:t> </a:t>
            </a:r>
            <a:r>
              <a:rPr lang="es-ES" sz="2000" b="1" dirty="0">
                <a:solidFill>
                  <a:schemeClr val="tx2">
                    <a:lumMod val="60000"/>
                    <a:lumOff val="40000"/>
                  </a:schemeClr>
                </a:solidFill>
              </a:rPr>
              <a:t>Luís Filipe Montenegro Cardoso de Morais Esteves</a:t>
            </a:r>
          </a:p>
          <a:p>
            <a:pPr marL="0" indent="0">
              <a:buNone/>
            </a:pPr>
            <a:r>
              <a:rPr lang="es-ES" sz="2400" b="1" dirty="0"/>
              <a:t>Nacimiento</a:t>
            </a:r>
            <a:r>
              <a:rPr lang="es-ES" sz="2400" dirty="0"/>
              <a:t>: 16/02/1973 - Porto</a:t>
            </a:r>
          </a:p>
          <a:p>
            <a:pPr marL="0" indent="0">
              <a:buNone/>
            </a:pPr>
            <a:r>
              <a:rPr lang="es-ES" sz="2400" b="1" dirty="0"/>
              <a:t>Estado civil</a:t>
            </a:r>
            <a:r>
              <a:rPr lang="es-ES" sz="2400" dirty="0"/>
              <a:t>: </a:t>
            </a:r>
          </a:p>
          <a:p>
            <a:pPr marL="114300" indent="0">
              <a:buNone/>
            </a:pPr>
            <a:r>
              <a:rPr lang="es-ES" sz="2000" dirty="0"/>
              <a:t>- Casado - </a:t>
            </a:r>
            <a:r>
              <a:rPr lang="pt-BR" sz="2000" b="1" dirty="0">
                <a:solidFill>
                  <a:schemeClr val="tx2">
                    <a:lumMod val="60000"/>
                    <a:lumOff val="40000"/>
                  </a:schemeClr>
                </a:solidFill>
              </a:rPr>
              <a:t>Carla Maria Rodrigues Neto Montenegro</a:t>
            </a:r>
          </a:p>
          <a:p>
            <a:pPr marL="114300" indent="0">
              <a:buNone/>
            </a:pPr>
            <a:r>
              <a:rPr lang="es-ES" sz="2000" dirty="0"/>
              <a:t>       - </a:t>
            </a:r>
            <a:r>
              <a:rPr lang="es-ES" sz="2000" b="1" dirty="0">
                <a:solidFill>
                  <a:schemeClr val="tx2">
                    <a:lumMod val="60000"/>
                    <a:lumOff val="40000"/>
                  </a:schemeClr>
                </a:solidFill>
              </a:rPr>
              <a:t>Comunión de bienes adquiridos</a:t>
            </a:r>
          </a:p>
          <a:p>
            <a:pPr marL="114300" indent="0">
              <a:buNone/>
            </a:pPr>
            <a:r>
              <a:rPr lang="es-ES" sz="2000" dirty="0"/>
              <a:t>- 2 hijos</a:t>
            </a:r>
          </a:p>
          <a:p>
            <a:pPr marL="0" indent="0">
              <a:buNone/>
            </a:pPr>
            <a:r>
              <a:rPr lang="es-ES" sz="2400" b="1" dirty="0"/>
              <a:t>Educación</a:t>
            </a:r>
            <a:r>
              <a:rPr lang="es-ES" sz="2400" dirty="0"/>
              <a:t>: </a:t>
            </a:r>
          </a:p>
          <a:p>
            <a:pPr marL="114300" indent="0">
              <a:buNone/>
            </a:pPr>
            <a:r>
              <a:rPr lang="es-ES" sz="2000" dirty="0"/>
              <a:t>- Licenciado en Derecho - Universidad Católica Portuguesa - 1999</a:t>
            </a:r>
          </a:p>
          <a:p>
            <a:pPr marL="114300" indent="0">
              <a:buNone/>
            </a:pPr>
            <a:r>
              <a:rPr lang="es-ES" sz="2000" dirty="0"/>
              <a:t>- Postgrado en Protección de Datos Personales – INSEAD</a:t>
            </a:r>
          </a:p>
          <a:p>
            <a:pPr marL="114300" indent="0">
              <a:buNone/>
            </a:pPr>
            <a:r>
              <a:rPr lang="es-ES" sz="2000" dirty="0"/>
              <a:t>- Programa de Gestión Avanzada - INSEAD</a:t>
            </a:r>
          </a:p>
        </p:txBody>
      </p:sp>
      <p:sp>
        <p:nvSpPr>
          <p:cNvPr id="11" name="Content Placeholder 4">
            <a:extLst>
              <a:ext uri="{FF2B5EF4-FFF2-40B4-BE49-F238E27FC236}">
                <a16:creationId xmlns:a16="http://schemas.microsoft.com/office/drawing/2014/main" id="{E228D3B8-A5C0-DA0A-D28D-6B6A21F8AB16}"/>
              </a:ext>
            </a:extLst>
          </p:cNvPr>
          <p:cNvSpPr txBox="1">
            <a:spLocks/>
          </p:cNvSpPr>
          <p:nvPr/>
        </p:nvSpPr>
        <p:spPr>
          <a:xfrm>
            <a:off x="7973927" y="2442911"/>
            <a:ext cx="7113673" cy="6004284"/>
          </a:xfrm>
          <a:prstGeom prst="rect">
            <a:avLst/>
          </a:prstGeom>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s-ES" sz="2400" b="1" noProof="0" dirty="0"/>
              <a:t>Empleo anterior:</a:t>
            </a:r>
          </a:p>
          <a:p>
            <a:pPr marL="457200" lvl="1" indent="-228600">
              <a:buNone/>
            </a:pPr>
            <a:r>
              <a:rPr lang="es-ES" sz="2000" noProof="0" dirty="0"/>
              <a:t>- Abogado – Fundador y socio del bufete SP&amp;M - </a:t>
            </a:r>
            <a:r>
              <a:rPr lang="es-ES" sz="2000" b="1" noProof="0" dirty="0">
                <a:solidFill>
                  <a:schemeClr val="tx2">
                    <a:lumMod val="60000"/>
                    <a:lumOff val="40000"/>
                  </a:schemeClr>
                </a:solidFill>
              </a:rPr>
              <a:t>(50%)</a:t>
            </a:r>
          </a:p>
          <a:p>
            <a:pPr marL="457200" lvl="1" indent="-228600">
              <a:buNone/>
            </a:pPr>
            <a:r>
              <a:rPr lang="es-ES" sz="2000" noProof="0" dirty="0"/>
              <a:t>- Presidente de la Junta General del Grupo Ferpinta</a:t>
            </a:r>
          </a:p>
          <a:p>
            <a:pPr marL="457200" lvl="1" indent="-228600">
              <a:buNone/>
            </a:pPr>
            <a:r>
              <a:rPr lang="es-ES" sz="2000" noProof="0" dirty="0"/>
              <a:t>- Presidente de la Junta General de Rádio Popular</a:t>
            </a:r>
          </a:p>
          <a:p>
            <a:pPr marL="457200" lvl="1" indent="-228600">
              <a:buNone/>
            </a:pPr>
            <a:r>
              <a:rPr lang="es-ES" sz="2000" dirty="0"/>
              <a:t>- </a:t>
            </a:r>
            <a:r>
              <a:rPr lang="pt-BR" sz="2000" b="1" noProof="0" dirty="0">
                <a:solidFill>
                  <a:schemeClr val="tx2">
                    <a:lumMod val="60000"/>
                    <a:lumOff val="40000"/>
                  </a:schemeClr>
                </a:solidFill>
              </a:rPr>
              <a:t>Oliveiras Gold de Portugal, Lda (25%) - Bragança</a:t>
            </a:r>
          </a:p>
          <a:p>
            <a:pPr marL="457200" lvl="1" indent="-228600">
              <a:buNone/>
            </a:pPr>
            <a:r>
              <a:rPr lang="es-ES" sz="2000" dirty="0"/>
              <a:t>- </a:t>
            </a:r>
            <a:r>
              <a:rPr lang="pt-BR" sz="2000" b="1" noProof="0" dirty="0">
                <a:solidFill>
                  <a:schemeClr val="tx2">
                    <a:lumMod val="60000"/>
                    <a:lumOff val="40000"/>
                  </a:schemeClr>
                </a:solidFill>
              </a:rPr>
              <a:t>Luimonteago, Lda (95%) - Barcelos</a:t>
            </a:r>
          </a:p>
          <a:p>
            <a:pPr marL="0" indent="0">
              <a:buNone/>
            </a:pPr>
            <a:r>
              <a:rPr lang="es-ES" sz="2400" b="1" noProof="0" dirty="0"/>
              <a:t>Político:</a:t>
            </a:r>
          </a:p>
          <a:p>
            <a:pPr marL="457200" lvl="1" indent="-228600">
              <a:buNone/>
            </a:pPr>
            <a:r>
              <a:rPr lang="es-ES" sz="2000" noProof="0" dirty="0"/>
              <a:t>- Miembro y presidente de la Asamblea Municipal de Espinho y concejal</a:t>
            </a:r>
          </a:p>
          <a:p>
            <a:pPr marL="457200" lvl="1" indent="-228600">
              <a:buNone/>
            </a:pPr>
            <a:r>
              <a:rPr lang="es-ES" sz="2000" noProof="0" dirty="0"/>
              <a:t>- Diputado en 2002, 2005, 2009, 2011 y 2015 (16 años)</a:t>
            </a:r>
          </a:p>
          <a:p>
            <a:pPr marL="457200" lvl="1" indent="-228600">
              <a:buNone/>
            </a:pPr>
            <a:r>
              <a:rPr lang="es-ES" sz="2000" noProof="0" dirty="0"/>
              <a:t>- Presidente del Grupo Parlamentario del PSD de 2011 a 2017</a:t>
            </a:r>
          </a:p>
          <a:p>
            <a:pPr marL="457200" lvl="1" indent="-228600">
              <a:buNone/>
            </a:pPr>
            <a:r>
              <a:rPr lang="es-ES" sz="2000" noProof="0" dirty="0"/>
              <a:t>- Líder del Partido Socialdemócrata (PSD) desde el 28 de mayo de 2022</a:t>
            </a:r>
            <a:endParaRPr lang="es-ES" sz="1600" noProof="0" dirty="0"/>
          </a:p>
        </p:txBody>
      </p:sp>
    </p:spTree>
    <p:extLst>
      <p:ext uri="{BB962C8B-B14F-4D97-AF65-F5344CB8AC3E}">
        <p14:creationId xmlns:p14="http://schemas.microsoft.com/office/powerpoint/2010/main" val="153074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0E95472C-6530-2D55-8905-F90C34A34F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47AD92-9906-AE23-3698-023BDB7E11D9}"/>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892CBBF5-E13C-0540-AFD6-2A0F70A885D0}"/>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20EB5EC-F7A4-29A0-58E2-6A3D6192D000}"/>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87E6FC1B-CBBA-413E-FE00-D3CA2691A17F}"/>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926570A4-9CA6-BD13-3BA7-9B362ACE31B3}"/>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033BF700-E232-94ED-AEC5-2A4BD83E134D}"/>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90CEFD4D-3C0D-8D78-4D7F-4E0C51CFD5B1}"/>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75766FC7-2040-FBDC-8F8E-79141B46E9EE}"/>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Boletín Oficial Electrónico</a:t>
            </a:r>
          </a:p>
        </p:txBody>
      </p:sp>
      <p:grpSp>
        <p:nvGrpSpPr>
          <p:cNvPr id="27" name="Group 26">
            <a:extLst>
              <a:ext uri="{FF2B5EF4-FFF2-40B4-BE49-F238E27FC236}">
                <a16:creationId xmlns:a16="http://schemas.microsoft.com/office/drawing/2014/main" id="{29C567DD-DE4B-9A31-3C53-C84E08153182}"/>
              </a:ext>
            </a:extLst>
          </p:cNvPr>
          <p:cNvGrpSpPr/>
          <p:nvPr/>
        </p:nvGrpSpPr>
        <p:grpSpPr>
          <a:xfrm>
            <a:off x="1219200" y="2734144"/>
            <a:ext cx="13404922" cy="5681508"/>
            <a:chOff x="1219200" y="2734144"/>
            <a:chExt cx="13404922" cy="5681508"/>
          </a:xfrm>
        </p:grpSpPr>
        <p:pic>
          <p:nvPicPr>
            <p:cNvPr id="15" name="Picture 14">
              <a:hlinkClick r:id="rId7"/>
              <a:extLst>
                <a:ext uri="{FF2B5EF4-FFF2-40B4-BE49-F238E27FC236}">
                  <a16:creationId xmlns:a16="http://schemas.microsoft.com/office/drawing/2014/main" id="{66CF097D-D112-2423-BEA0-CE2F01B6C061}"/>
                </a:ext>
              </a:extLst>
            </p:cNvPr>
            <p:cNvPicPr>
              <a:picLocks noChangeAspect="1"/>
            </p:cNvPicPr>
            <p:nvPr/>
          </p:nvPicPr>
          <p:blipFill>
            <a:blip r:embed="rId8"/>
            <a:stretch>
              <a:fillRect/>
            </a:stretch>
          </p:blipFill>
          <p:spPr>
            <a:xfrm>
              <a:off x="1219200" y="3615481"/>
              <a:ext cx="4174520" cy="3913611"/>
            </a:xfrm>
            <a:prstGeom prst="rect">
              <a:avLst/>
            </a:prstGeom>
          </p:spPr>
        </p:pic>
        <p:pic>
          <p:nvPicPr>
            <p:cNvPr id="16" name="Picture 15">
              <a:extLst>
                <a:ext uri="{FF2B5EF4-FFF2-40B4-BE49-F238E27FC236}">
                  <a16:creationId xmlns:a16="http://schemas.microsoft.com/office/drawing/2014/main" id="{725CB390-4BD9-3DF4-68B3-118579FF6A8A}"/>
                </a:ext>
              </a:extLst>
            </p:cNvPr>
            <p:cNvPicPr>
              <a:picLocks noChangeAspect="1"/>
            </p:cNvPicPr>
            <p:nvPr/>
          </p:nvPicPr>
          <p:blipFill>
            <a:blip r:embed="rId9"/>
            <a:stretch>
              <a:fillRect/>
            </a:stretch>
          </p:blipFill>
          <p:spPr>
            <a:xfrm>
              <a:off x="5721276" y="2734144"/>
              <a:ext cx="8902846" cy="5681508"/>
            </a:xfrm>
            <a:prstGeom prst="rect">
              <a:avLst/>
            </a:prstGeom>
            <a:ln>
              <a:solidFill>
                <a:schemeClr val="bg1">
                  <a:lumMod val="75000"/>
                </a:schemeClr>
              </a:solidFill>
            </a:ln>
          </p:spPr>
        </p:pic>
      </p:grpSp>
    </p:spTree>
    <p:extLst>
      <p:ext uri="{BB962C8B-B14F-4D97-AF65-F5344CB8AC3E}">
        <p14:creationId xmlns:p14="http://schemas.microsoft.com/office/powerpoint/2010/main" val="3342840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EC0AEC45-1185-CFD9-1034-92E879B1CCF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5C3EA6-39EE-B76B-DB85-0AF5F1A4518D}"/>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BFDBB3CB-289C-35AA-2A34-BEDCFE509942}"/>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DB0A2719-290C-DA5F-259A-1F6FC7B74D5B}"/>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B6B02B23-97AA-8712-5C6D-02940DAF7697}"/>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D0549844-22A2-7F2A-814F-54E7D47D34F4}"/>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36C39F1C-01A0-C781-A1C8-66B2BF580B63}"/>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AF91A779-911A-3512-009A-72669426E2B2}"/>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CE29E618-8B37-C08D-59B2-F77E0DA941AA}"/>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Empresas</a:t>
            </a:r>
            <a:endParaRPr lang="es-ES" sz="4800" b="1" noProof="0" dirty="0"/>
          </a:p>
        </p:txBody>
      </p:sp>
      <p:sp>
        <p:nvSpPr>
          <p:cNvPr id="9" name="Content Placeholder 2">
            <a:extLst>
              <a:ext uri="{FF2B5EF4-FFF2-40B4-BE49-F238E27FC236}">
                <a16:creationId xmlns:a16="http://schemas.microsoft.com/office/drawing/2014/main" id="{D2364873-3E9E-5CC1-641C-1C81858104C5}"/>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Empresas, socios comerciales, clientes, ...</a:t>
            </a:r>
          </a:p>
        </p:txBody>
      </p:sp>
      <p:grpSp>
        <p:nvGrpSpPr>
          <p:cNvPr id="16" name="Group 15">
            <a:extLst>
              <a:ext uri="{FF2B5EF4-FFF2-40B4-BE49-F238E27FC236}">
                <a16:creationId xmlns:a16="http://schemas.microsoft.com/office/drawing/2014/main" id="{F02125A5-F538-9978-4BB2-CCABA961E722}"/>
              </a:ext>
            </a:extLst>
          </p:cNvPr>
          <p:cNvGrpSpPr/>
          <p:nvPr/>
        </p:nvGrpSpPr>
        <p:grpSpPr>
          <a:xfrm>
            <a:off x="2236532" y="2171700"/>
            <a:ext cx="10690736" cy="6687946"/>
            <a:chOff x="2536035" y="2205398"/>
            <a:chExt cx="10690736" cy="6687946"/>
          </a:xfrm>
        </p:grpSpPr>
        <p:graphicFrame>
          <p:nvGraphicFramePr>
            <p:cNvPr id="10" name="Table 5">
              <a:extLst>
                <a:ext uri="{FF2B5EF4-FFF2-40B4-BE49-F238E27FC236}">
                  <a16:creationId xmlns:a16="http://schemas.microsoft.com/office/drawing/2014/main" id="{0C4A4022-C812-7FDE-584A-A418D1E9EBAB}"/>
                </a:ext>
              </a:extLst>
            </p:cNvPr>
            <p:cNvGraphicFramePr>
              <a:graphicFrameLocks/>
            </p:cNvGraphicFramePr>
            <p:nvPr>
              <p:extLst>
                <p:ext uri="{D42A27DB-BD31-4B8C-83A1-F6EECF244321}">
                  <p14:modId xmlns:p14="http://schemas.microsoft.com/office/powerpoint/2010/main" val="1941980243"/>
                </p:ext>
              </p:extLst>
            </p:nvPr>
          </p:nvGraphicFramePr>
          <p:xfrm>
            <a:off x="2536035" y="2205398"/>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SP&amp;M, Sociedade de Advogados, RL </a:t>
                        </a:r>
                      </a:p>
                    </a:txBody>
                    <a:tcPr anchor="ctr">
                      <a:solidFill>
                        <a:schemeClr val="accent1">
                          <a:lumMod val="50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510445020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50%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1" name="Table 5">
              <a:extLst>
                <a:ext uri="{FF2B5EF4-FFF2-40B4-BE49-F238E27FC236}">
                  <a16:creationId xmlns:a16="http://schemas.microsoft.com/office/drawing/2014/main" id="{BEB02BAE-3060-72DE-5013-35CA07062039}"/>
                </a:ext>
              </a:extLst>
            </p:cNvPr>
            <p:cNvGraphicFramePr>
              <a:graphicFrameLocks/>
            </p:cNvGraphicFramePr>
            <p:nvPr>
              <p:extLst>
                <p:ext uri="{D42A27DB-BD31-4B8C-83A1-F6EECF244321}">
                  <p14:modId xmlns:p14="http://schemas.microsoft.com/office/powerpoint/2010/main" val="604090854"/>
                </p:ext>
              </p:extLst>
            </p:nvPr>
          </p:nvGraphicFramePr>
          <p:xfrm>
            <a:off x="2536035" y="4499971"/>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Luimonteago, Lda</a:t>
                        </a:r>
                      </a:p>
                    </a:txBody>
                    <a:tcPr anchor="ctr">
                      <a:solidFill>
                        <a:schemeClr val="accent1">
                          <a:lumMod val="50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510347070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95%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4.750€</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2" name="Table 5">
              <a:extLst>
                <a:ext uri="{FF2B5EF4-FFF2-40B4-BE49-F238E27FC236}">
                  <a16:creationId xmlns:a16="http://schemas.microsoft.com/office/drawing/2014/main" id="{B93C8F93-68A9-CF95-4794-ED0F4C676AFB}"/>
                </a:ext>
              </a:extLst>
            </p:cNvPr>
            <p:cNvGraphicFramePr>
              <a:graphicFrameLocks/>
            </p:cNvGraphicFramePr>
            <p:nvPr>
              <p:extLst>
                <p:ext uri="{D42A27DB-BD31-4B8C-83A1-F6EECF244321}">
                  <p14:modId xmlns:p14="http://schemas.microsoft.com/office/powerpoint/2010/main" val="3223719462"/>
                </p:ext>
              </p:extLst>
            </p:nvPr>
          </p:nvGraphicFramePr>
          <p:xfrm>
            <a:off x="2536035" y="6798951"/>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Oliveiras Gold de Portugal, Lda</a:t>
                        </a:r>
                      </a:p>
                    </a:txBody>
                    <a:tcPr anchor="ctr">
                      <a:solidFill>
                        <a:schemeClr val="accent1">
                          <a:lumMod val="50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510172466</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25%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1.200€</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3" name="Table 5">
              <a:extLst>
                <a:ext uri="{FF2B5EF4-FFF2-40B4-BE49-F238E27FC236}">
                  <a16:creationId xmlns:a16="http://schemas.microsoft.com/office/drawing/2014/main" id="{4A0A325C-5AC0-6747-95FE-21F42226F7CB}"/>
                </a:ext>
              </a:extLst>
            </p:cNvPr>
            <p:cNvGraphicFramePr>
              <a:graphicFrameLocks/>
            </p:cNvGraphicFramePr>
            <p:nvPr>
              <p:extLst>
                <p:ext uri="{D42A27DB-BD31-4B8C-83A1-F6EECF244321}">
                  <p14:modId xmlns:p14="http://schemas.microsoft.com/office/powerpoint/2010/main" val="1713363605"/>
                </p:ext>
              </p:extLst>
            </p:nvPr>
          </p:nvGraphicFramePr>
          <p:xfrm>
            <a:off x="8372025" y="2205398"/>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Grupo Ferpinta, SA</a:t>
                        </a:r>
                      </a:p>
                    </a:txBody>
                    <a:tcPr anchor="ctr">
                      <a:solidFill>
                        <a:schemeClr val="accent1">
                          <a:lumMod val="50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501756710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Presidente de la Junta General</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4" name="Table 5">
              <a:extLst>
                <a:ext uri="{FF2B5EF4-FFF2-40B4-BE49-F238E27FC236}">
                  <a16:creationId xmlns:a16="http://schemas.microsoft.com/office/drawing/2014/main" id="{E0C93758-6C35-636A-E5CC-7C5C93D004CD}"/>
                </a:ext>
              </a:extLst>
            </p:cNvPr>
            <p:cNvGraphicFramePr>
              <a:graphicFrameLocks/>
            </p:cNvGraphicFramePr>
            <p:nvPr>
              <p:extLst>
                <p:ext uri="{D42A27DB-BD31-4B8C-83A1-F6EECF244321}">
                  <p14:modId xmlns:p14="http://schemas.microsoft.com/office/powerpoint/2010/main" val="3864984405"/>
                </p:ext>
              </p:extLst>
            </p:nvPr>
          </p:nvGraphicFramePr>
          <p:xfrm>
            <a:off x="8372025" y="4499971"/>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Radio Popular - Eletrodomésticos, SA</a:t>
                        </a:r>
                      </a:p>
                    </a:txBody>
                    <a:tcPr anchor="ctr">
                      <a:solidFill>
                        <a:schemeClr val="accent1">
                          <a:lumMod val="50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500674205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Presidente de la Junta General</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pSp>
    </p:spTree>
    <p:extLst>
      <p:ext uri="{BB962C8B-B14F-4D97-AF65-F5344CB8AC3E}">
        <p14:creationId xmlns:p14="http://schemas.microsoft.com/office/powerpoint/2010/main" val="4287267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F99C8629-B1AD-8AE2-5D1D-97F445DF83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61BCE9-DA65-D16C-5D83-0DE4D0FB1E94}"/>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8E4D08E6-14BF-8357-5E1E-4FE9B6CC6D84}"/>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5336087-96A2-5A31-16C9-3EA65460E0D2}"/>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3D5F9B1A-0FB7-123E-32E2-9A49BF9925EC}"/>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3956F5FC-31CE-1F5C-52F9-3844AD1032B1}"/>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FB790D2E-668B-B1CF-D081-9D016F644AC6}"/>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ED92B8B3-6C39-8666-D5E7-69D979860593}"/>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E1926691-8B83-9E52-A167-C26CF3DDB6BA}"/>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Ministerio de Justicia – Publicación de Actos Societarios</a:t>
            </a:r>
          </a:p>
        </p:txBody>
      </p:sp>
      <p:sp>
        <p:nvSpPr>
          <p:cNvPr id="10" name="Content Placeholder 2">
            <a:extLst>
              <a:ext uri="{FF2B5EF4-FFF2-40B4-BE49-F238E27FC236}">
                <a16:creationId xmlns:a16="http://schemas.microsoft.com/office/drawing/2014/main" id="{6AFC61B4-8126-0718-E5AE-D5C8F2F7D79F}"/>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Empresas, socios comerciales, clientes, ...</a:t>
            </a:r>
          </a:p>
        </p:txBody>
      </p:sp>
      <p:grpSp>
        <p:nvGrpSpPr>
          <p:cNvPr id="16" name="Group 15">
            <a:extLst>
              <a:ext uri="{FF2B5EF4-FFF2-40B4-BE49-F238E27FC236}">
                <a16:creationId xmlns:a16="http://schemas.microsoft.com/office/drawing/2014/main" id="{170B5885-E9B0-1D32-F0C7-94886F4DBC69}"/>
              </a:ext>
            </a:extLst>
          </p:cNvPr>
          <p:cNvGrpSpPr/>
          <p:nvPr/>
        </p:nvGrpSpPr>
        <p:grpSpPr>
          <a:xfrm>
            <a:off x="1219201" y="2711747"/>
            <a:ext cx="13537320" cy="5926261"/>
            <a:chOff x="1219201" y="2711747"/>
            <a:chExt cx="13537320" cy="5926261"/>
          </a:xfrm>
        </p:grpSpPr>
        <p:pic>
          <p:nvPicPr>
            <p:cNvPr id="15" name="Picture 14">
              <a:extLst>
                <a:ext uri="{FF2B5EF4-FFF2-40B4-BE49-F238E27FC236}">
                  <a16:creationId xmlns:a16="http://schemas.microsoft.com/office/drawing/2014/main" id="{EA4DF52B-BCF3-5A5A-8B73-77A67EB88888}"/>
                </a:ext>
              </a:extLst>
            </p:cNvPr>
            <p:cNvPicPr>
              <a:picLocks noChangeAspect="1"/>
            </p:cNvPicPr>
            <p:nvPr/>
          </p:nvPicPr>
          <p:blipFill>
            <a:blip r:embed="rId7"/>
            <a:stretch>
              <a:fillRect/>
            </a:stretch>
          </p:blipFill>
          <p:spPr>
            <a:xfrm>
              <a:off x="5721276" y="2711747"/>
              <a:ext cx="9035245" cy="5926261"/>
            </a:xfrm>
            <a:prstGeom prst="rect">
              <a:avLst/>
            </a:prstGeom>
          </p:spPr>
        </p:pic>
        <p:pic>
          <p:nvPicPr>
            <p:cNvPr id="14" name="Picture 13">
              <a:hlinkClick r:id="rId8"/>
              <a:extLst>
                <a:ext uri="{FF2B5EF4-FFF2-40B4-BE49-F238E27FC236}">
                  <a16:creationId xmlns:a16="http://schemas.microsoft.com/office/drawing/2014/main" id="{738C361C-77A6-B0CB-5C46-675753B5F7C6}"/>
                </a:ext>
              </a:extLst>
            </p:cNvPr>
            <p:cNvPicPr>
              <a:picLocks noChangeAspect="1"/>
            </p:cNvPicPr>
            <p:nvPr/>
          </p:nvPicPr>
          <p:blipFill>
            <a:blip r:embed="rId9"/>
            <a:stretch>
              <a:fillRect/>
            </a:stretch>
          </p:blipFill>
          <p:spPr>
            <a:xfrm>
              <a:off x="1219201" y="3615481"/>
              <a:ext cx="4189866" cy="3913611"/>
            </a:xfrm>
            <a:prstGeom prst="rect">
              <a:avLst/>
            </a:prstGeom>
          </p:spPr>
        </p:pic>
      </p:grpSp>
    </p:spTree>
    <p:extLst>
      <p:ext uri="{BB962C8B-B14F-4D97-AF65-F5344CB8AC3E}">
        <p14:creationId xmlns:p14="http://schemas.microsoft.com/office/powerpoint/2010/main" val="1540068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29461A7B-81CF-F63B-3BDF-A51AD4CE192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6D77DC6-AE90-E28A-C70C-1BD404481CC3}"/>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D7D84CA3-6933-8207-5CF0-3079D3AE8DDF}"/>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275BF0FF-DA06-18DD-DDD9-247196ACDA2A}"/>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D51DD172-863A-979E-C8F7-5B8DA2DAAB58}"/>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706EA84A-EC74-2BD3-EC95-DC797946490C}"/>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39EAEBB5-CD77-C418-CCA9-F3CBE951DFDB}"/>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C646C48E-E78D-C7AE-57D1-D9A06974C89A}"/>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9F53EE6F-68B2-4F77-0393-604FEA8E9676}"/>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SP&amp;M, </a:t>
            </a:r>
            <a:r>
              <a:rPr lang="es-ES" sz="4800" b="1" dirty="0" err="1"/>
              <a:t>Sociedade</a:t>
            </a:r>
            <a:r>
              <a:rPr lang="es-ES" sz="4800" b="1" dirty="0"/>
              <a:t> de </a:t>
            </a:r>
            <a:r>
              <a:rPr lang="es-ES" sz="4800" b="1" dirty="0" err="1"/>
              <a:t>Advogados</a:t>
            </a:r>
            <a:r>
              <a:rPr lang="es-ES" sz="4800" b="1" dirty="0"/>
              <a:t>, RL - 510445020</a:t>
            </a:r>
          </a:p>
        </p:txBody>
      </p:sp>
      <p:pic>
        <p:nvPicPr>
          <p:cNvPr id="12" name="Picture 11">
            <a:hlinkClick r:id="rId7"/>
            <a:extLst>
              <a:ext uri="{FF2B5EF4-FFF2-40B4-BE49-F238E27FC236}">
                <a16:creationId xmlns:a16="http://schemas.microsoft.com/office/drawing/2014/main" id="{98FD2A9F-3461-69FE-12CA-88BAECDFC165}"/>
              </a:ext>
            </a:extLst>
          </p:cNvPr>
          <p:cNvPicPr>
            <a:picLocks noChangeAspect="1"/>
          </p:cNvPicPr>
          <p:nvPr/>
        </p:nvPicPr>
        <p:blipFill>
          <a:blip r:embed="rId8"/>
          <a:stretch>
            <a:fillRect/>
          </a:stretch>
        </p:blipFill>
        <p:spPr>
          <a:xfrm>
            <a:off x="1219201" y="3615481"/>
            <a:ext cx="4189866" cy="3913611"/>
          </a:xfrm>
          <a:prstGeom prst="rect">
            <a:avLst/>
          </a:prstGeom>
        </p:spPr>
      </p:pic>
      <p:sp>
        <p:nvSpPr>
          <p:cNvPr id="14" name="TextBox 7">
            <a:extLst>
              <a:ext uri="{FF2B5EF4-FFF2-40B4-BE49-F238E27FC236}">
                <a16:creationId xmlns:a16="http://schemas.microsoft.com/office/drawing/2014/main" id="{91C541C5-10F7-7889-2715-5FB4C90CD983}"/>
              </a:ext>
            </a:extLst>
          </p:cNvPr>
          <p:cNvSpPr txBox="1"/>
          <p:nvPr/>
        </p:nvSpPr>
        <p:spPr>
          <a:xfrm>
            <a:off x="9448800" y="5063910"/>
            <a:ext cx="4191000" cy="2454070"/>
          </a:xfrm>
          <a:prstGeom prst="rect">
            <a:avLst/>
          </a:prstGeom>
        </p:spPr>
        <p:txBody>
          <a:bodyPr wrap="square" lIns="0" tIns="0" rIns="0" bIns="0" rtlCol="0" anchor="t">
            <a:spAutoFit/>
          </a:bodyPr>
          <a:lstStyle/>
          <a:p>
            <a:pPr algn="l">
              <a:lnSpc>
                <a:spcPts val="16818"/>
              </a:lnSpc>
            </a:pPr>
            <a:r>
              <a:rPr lang="es-ES" sz="28700" b="1" noProof="0" dirty="0">
                <a:solidFill>
                  <a:srgbClr val="343434"/>
                </a:solidFill>
                <a:latin typeface="Cooper Hewitt Bold"/>
                <a:ea typeface="Cooper Hewitt Bold"/>
                <a:cs typeface="Cooper Hewitt Bold"/>
                <a:sym typeface="Cooper Hewitt Bold"/>
              </a:rPr>
              <a:t>?</a:t>
            </a:r>
          </a:p>
        </p:txBody>
      </p:sp>
    </p:spTree>
    <p:extLst>
      <p:ext uri="{BB962C8B-B14F-4D97-AF65-F5344CB8AC3E}">
        <p14:creationId xmlns:p14="http://schemas.microsoft.com/office/powerpoint/2010/main" val="1388964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5722334C-0D70-874E-C507-12BD10F209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D6CC7E-7E2E-1985-54AE-947C3F176B45}"/>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9A4EA73F-06D6-0C70-5721-E77C0ACDACA4}"/>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4F626934-82BA-7431-F90F-4847F79B14C4}"/>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6081FA01-BA7D-01B7-F181-A234DFC887A4}"/>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76CEAFFB-AF79-AB44-C53D-C7A8C13DC8AD}"/>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7D996F9E-895F-3D7E-DD19-CC8F3F33D42A}"/>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F3E314F8-0B59-0B16-9D88-1AB574FD1851}"/>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5E8D5D54-7BD4-155F-976D-1E084DB17B81}"/>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Status</a:t>
            </a:r>
            <a:endParaRPr lang="es-ES" sz="4800" b="1" noProof="0" dirty="0"/>
          </a:p>
        </p:txBody>
      </p:sp>
      <p:sp>
        <p:nvSpPr>
          <p:cNvPr id="9" name="Content Placeholder 2">
            <a:extLst>
              <a:ext uri="{FF2B5EF4-FFF2-40B4-BE49-F238E27FC236}">
                <a16:creationId xmlns:a16="http://schemas.microsoft.com/office/drawing/2014/main" id="{348770C2-6D96-6350-7F5A-E5EF7F4FECBD}"/>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La dirección es "única"</a:t>
            </a:r>
          </a:p>
        </p:txBody>
      </p:sp>
      <p:sp>
        <p:nvSpPr>
          <p:cNvPr id="10" name="Content Placeholder 4">
            <a:extLst>
              <a:ext uri="{FF2B5EF4-FFF2-40B4-BE49-F238E27FC236}">
                <a16:creationId xmlns:a16="http://schemas.microsoft.com/office/drawing/2014/main" id="{AD605DB1-DC4B-CE95-E3DB-734FCD195818}"/>
              </a:ext>
            </a:extLst>
          </p:cNvPr>
          <p:cNvSpPr txBox="1">
            <a:spLocks/>
          </p:cNvSpPr>
          <p:nvPr/>
        </p:nvSpPr>
        <p:spPr>
          <a:xfrm>
            <a:off x="581691" y="2442911"/>
            <a:ext cx="7113673" cy="6004284"/>
          </a:xfrm>
          <a:prstGeom prst="rect">
            <a:avLst/>
          </a:prstGeom>
          <a:ln>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400" b="1" dirty="0"/>
              <a:t>Nombre</a:t>
            </a:r>
            <a:r>
              <a:rPr lang="es-ES" sz="2400" dirty="0"/>
              <a:t>: Luís Montenegro</a:t>
            </a:r>
          </a:p>
          <a:p>
            <a:pPr marL="0" indent="0">
              <a:buNone/>
            </a:pPr>
            <a:r>
              <a:rPr lang="es-ES" sz="2400" b="1" dirty="0"/>
              <a:t>Nombre:</a:t>
            </a:r>
            <a:r>
              <a:rPr lang="es-ES" sz="2400" dirty="0"/>
              <a:t> </a:t>
            </a:r>
            <a:r>
              <a:rPr lang="es-ES" sz="2000" dirty="0"/>
              <a:t>Luís Filipe Montenegro Cardoso de Morais Esteves</a:t>
            </a:r>
          </a:p>
          <a:p>
            <a:pPr marL="0" indent="0">
              <a:buNone/>
            </a:pPr>
            <a:r>
              <a:rPr lang="es-ES" sz="2400" b="1" dirty="0"/>
              <a:t>NIF: </a:t>
            </a:r>
            <a:r>
              <a:rPr lang="es-ES" sz="2400" b="1" dirty="0">
                <a:solidFill>
                  <a:schemeClr val="tx2">
                    <a:lumMod val="60000"/>
                    <a:lumOff val="40000"/>
                  </a:schemeClr>
                </a:solidFill>
              </a:rPr>
              <a:t>205910254</a:t>
            </a:r>
          </a:p>
          <a:p>
            <a:pPr marL="0" indent="0">
              <a:buNone/>
            </a:pPr>
            <a:r>
              <a:rPr lang="es-ES" sz="2400" b="1" dirty="0"/>
              <a:t>Nacimiento</a:t>
            </a:r>
            <a:r>
              <a:rPr lang="es-ES" sz="2400" dirty="0"/>
              <a:t>: 16/02/1973 - Porto</a:t>
            </a:r>
          </a:p>
          <a:p>
            <a:pPr marL="0" indent="0">
              <a:buNone/>
            </a:pPr>
            <a:r>
              <a:rPr lang="es-ES" sz="2400" b="1" dirty="0"/>
              <a:t>Estado civil</a:t>
            </a:r>
            <a:r>
              <a:rPr lang="es-ES" sz="2400" dirty="0"/>
              <a:t>: </a:t>
            </a:r>
          </a:p>
          <a:p>
            <a:pPr marL="114300" indent="0">
              <a:buNone/>
            </a:pPr>
            <a:r>
              <a:rPr lang="es-ES" sz="2000" dirty="0"/>
              <a:t>- Casado - </a:t>
            </a:r>
            <a:r>
              <a:rPr lang="pt-BR" sz="2000" dirty="0"/>
              <a:t>Carla Maria Rodrigues Neto Montenegro</a:t>
            </a:r>
          </a:p>
          <a:p>
            <a:pPr marL="114300" indent="0">
              <a:buNone/>
            </a:pPr>
            <a:r>
              <a:rPr lang="es-ES" sz="2000" dirty="0"/>
              <a:t>       - Comunión de bienes adquiridos</a:t>
            </a:r>
          </a:p>
          <a:p>
            <a:pPr marL="114300" indent="0">
              <a:buNone/>
            </a:pPr>
            <a:r>
              <a:rPr lang="es-ES" sz="2000" dirty="0"/>
              <a:t>- 2 hijos</a:t>
            </a:r>
          </a:p>
          <a:p>
            <a:pPr marL="0" indent="0">
              <a:buNone/>
            </a:pPr>
            <a:r>
              <a:rPr lang="pt-BR" sz="2400" b="1" dirty="0"/>
              <a:t>Dirección:</a:t>
            </a:r>
          </a:p>
          <a:p>
            <a:pPr marL="119063" indent="0">
              <a:buNone/>
            </a:pPr>
            <a:r>
              <a:rPr lang="pt-BR" sz="2000" dirty="0"/>
              <a:t>- </a:t>
            </a:r>
            <a:r>
              <a:rPr lang="pt-BR" sz="2000" b="1" dirty="0">
                <a:solidFill>
                  <a:schemeClr val="tx2">
                    <a:lumMod val="60000"/>
                    <a:lumOff val="40000"/>
                  </a:schemeClr>
                </a:solidFill>
              </a:rPr>
              <a:t>Urbanização do Formal, nº 15</a:t>
            </a:r>
          </a:p>
          <a:p>
            <a:pPr marL="119063" indent="0">
              <a:buNone/>
            </a:pPr>
            <a:r>
              <a:rPr lang="pt-BR" sz="2000" dirty="0"/>
              <a:t>- </a:t>
            </a:r>
            <a:r>
              <a:rPr lang="pt-BR" sz="2000" b="1" dirty="0">
                <a:solidFill>
                  <a:schemeClr val="tx2">
                    <a:lumMod val="60000"/>
                    <a:lumOff val="40000"/>
                  </a:schemeClr>
                </a:solidFill>
              </a:rPr>
              <a:t>4500 - 669 Silvalde - Espinho</a:t>
            </a:r>
          </a:p>
          <a:p>
            <a:pPr marL="0" indent="0">
              <a:buNone/>
            </a:pPr>
            <a:r>
              <a:rPr lang="es-ES" sz="2400" b="1" dirty="0"/>
              <a:t>Educación</a:t>
            </a:r>
            <a:r>
              <a:rPr lang="es-ES" sz="2400" dirty="0"/>
              <a:t>: </a:t>
            </a:r>
          </a:p>
          <a:p>
            <a:pPr marL="114300" indent="0">
              <a:buNone/>
            </a:pPr>
            <a:r>
              <a:rPr lang="es-ES" sz="2000" dirty="0"/>
              <a:t>- Licenciado en Derecho - Universidad Católica Portuguesa - 1999</a:t>
            </a:r>
          </a:p>
          <a:p>
            <a:pPr marL="114300" indent="0">
              <a:buNone/>
            </a:pPr>
            <a:r>
              <a:rPr lang="es-ES" sz="2000" dirty="0"/>
              <a:t>- Postgrado en Protección de Datos Personales – INSEAD</a:t>
            </a:r>
          </a:p>
          <a:p>
            <a:pPr marL="114300" indent="0">
              <a:buNone/>
            </a:pPr>
            <a:r>
              <a:rPr lang="es-ES" sz="2000" dirty="0"/>
              <a:t>- Programa de Gestión Avanzada - INSEAD</a:t>
            </a:r>
          </a:p>
        </p:txBody>
      </p:sp>
      <p:sp>
        <p:nvSpPr>
          <p:cNvPr id="11" name="Content Placeholder 4">
            <a:extLst>
              <a:ext uri="{FF2B5EF4-FFF2-40B4-BE49-F238E27FC236}">
                <a16:creationId xmlns:a16="http://schemas.microsoft.com/office/drawing/2014/main" id="{2B09E455-781C-E648-07F6-A7E08983788B}"/>
              </a:ext>
            </a:extLst>
          </p:cNvPr>
          <p:cNvSpPr txBox="1">
            <a:spLocks/>
          </p:cNvSpPr>
          <p:nvPr/>
        </p:nvSpPr>
        <p:spPr>
          <a:xfrm>
            <a:off x="7973927" y="2442911"/>
            <a:ext cx="7113673" cy="6004284"/>
          </a:xfrm>
          <a:prstGeom prst="rect">
            <a:avLst/>
          </a:prstGeom>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s-ES" sz="2400" b="1" noProof="0" dirty="0"/>
              <a:t>Empleo anterior:</a:t>
            </a:r>
          </a:p>
          <a:p>
            <a:pPr marL="457200" lvl="1" indent="-228600">
              <a:buNone/>
            </a:pPr>
            <a:r>
              <a:rPr lang="es-ES" sz="2000" noProof="0" dirty="0"/>
              <a:t>- Abogado – Fundador y socio del bufete SP&amp;M - (50%)</a:t>
            </a:r>
          </a:p>
          <a:p>
            <a:pPr marL="457200" lvl="1" indent="-228600">
              <a:buNone/>
            </a:pPr>
            <a:r>
              <a:rPr lang="es-ES" sz="2000" noProof="0" dirty="0"/>
              <a:t>- Presidente de la Junta General del Grupo Ferpinta</a:t>
            </a:r>
          </a:p>
          <a:p>
            <a:pPr marL="457200" lvl="1" indent="-228600">
              <a:buNone/>
            </a:pPr>
            <a:r>
              <a:rPr lang="es-ES" sz="2000" noProof="0" dirty="0"/>
              <a:t>- Presidente de la Junta General de Rádio Popular</a:t>
            </a:r>
          </a:p>
          <a:p>
            <a:pPr marL="457200" lvl="1" indent="-228600">
              <a:buNone/>
            </a:pPr>
            <a:r>
              <a:rPr lang="es-ES" sz="2000" dirty="0"/>
              <a:t>- </a:t>
            </a:r>
            <a:r>
              <a:rPr lang="pt-BR" sz="2000" noProof="0" dirty="0"/>
              <a:t>Oliveiras Gold de Portugal, Lda (25%) - Bragança</a:t>
            </a:r>
          </a:p>
          <a:p>
            <a:pPr marL="457200" lvl="1" indent="-228600">
              <a:buNone/>
            </a:pPr>
            <a:r>
              <a:rPr lang="es-ES" sz="2000" dirty="0"/>
              <a:t>- </a:t>
            </a:r>
            <a:r>
              <a:rPr lang="pt-BR" sz="2000" noProof="0" dirty="0"/>
              <a:t>Luimonteago, Lda (95%) - Barcelos</a:t>
            </a:r>
          </a:p>
          <a:p>
            <a:pPr marL="0" indent="0">
              <a:buNone/>
            </a:pPr>
            <a:r>
              <a:rPr lang="es-ES" sz="2400" b="1" noProof="0" dirty="0"/>
              <a:t>Político:</a:t>
            </a:r>
          </a:p>
          <a:p>
            <a:pPr marL="457200" lvl="1" indent="-228600">
              <a:buNone/>
            </a:pPr>
            <a:r>
              <a:rPr lang="es-ES" sz="2000" noProof="0" dirty="0"/>
              <a:t>- Miembro y presidente de la Asamblea Municipal de Espinho y concejal</a:t>
            </a:r>
          </a:p>
          <a:p>
            <a:pPr marL="457200" lvl="1" indent="-228600">
              <a:buNone/>
            </a:pPr>
            <a:r>
              <a:rPr lang="es-ES" sz="2000" noProof="0" dirty="0"/>
              <a:t>- Diputado en 2002, 2005, 2009, 2011 y 2015 (16 años)</a:t>
            </a:r>
          </a:p>
          <a:p>
            <a:pPr marL="457200" lvl="1" indent="-228600">
              <a:buNone/>
            </a:pPr>
            <a:r>
              <a:rPr lang="es-ES" sz="2000" noProof="0" dirty="0"/>
              <a:t>- Presidente del Grupo Parlamentario del PSD de 2011 a 2017</a:t>
            </a:r>
          </a:p>
          <a:p>
            <a:pPr marL="457200" lvl="1" indent="-228600">
              <a:buNone/>
            </a:pPr>
            <a:r>
              <a:rPr lang="es-ES" sz="2000" noProof="0" dirty="0"/>
              <a:t>- Líder del Partido Socialdemócrata (PSD) desde el 28 de mayo de 2022</a:t>
            </a:r>
            <a:endParaRPr lang="es-ES" sz="1600" noProof="0" dirty="0"/>
          </a:p>
        </p:txBody>
      </p:sp>
    </p:spTree>
    <p:extLst>
      <p:ext uri="{BB962C8B-B14F-4D97-AF65-F5344CB8AC3E}">
        <p14:creationId xmlns:p14="http://schemas.microsoft.com/office/powerpoint/2010/main" val="4069197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92876A9D-2AFB-72DC-1A08-1BE3F600C60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42DDF06-CFF9-FB91-FC66-5FE0274D7BE3}"/>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3CDB7F10-5D43-7BC8-EA86-98927E5217C9}"/>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E7D6D2DB-EC7E-67F0-FFF2-C822C41DDADF}"/>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7D20FD2C-B71B-9A30-3672-E7AA5567487A}"/>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D67F9F57-01A1-75ED-B87D-C908B3EB47F9}"/>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7567BFFC-04FD-405B-1513-32C49A9A56E2}"/>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90BC129A-FAC0-9288-1C14-0D99D8A00CEB}"/>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69459FDC-E683-4923-0188-3F7301E0A239}"/>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SP&amp;M, </a:t>
            </a:r>
            <a:r>
              <a:rPr lang="es-ES" sz="4800" b="1" dirty="0" err="1"/>
              <a:t>Sociedade</a:t>
            </a:r>
            <a:r>
              <a:rPr lang="es-ES" sz="4800" b="1" dirty="0"/>
              <a:t> de </a:t>
            </a:r>
            <a:r>
              <a:rPr lang="es-ES" sz="4800" b="1" dirty="0" err="1"/>
              <a:t>Advogados</a:t>
            </a:r>
            <a:r>
              <a:rPr lang="es-ES" sz="4800" b="1" dirty="0"/>
              <a:t>, RL - 510445020</a:t>
            </a:r>
          </a:p>
        </p:txBody>
      </p:sp>
      <p:sp>
        <p:nvSpPr>
          <p:cNvPr id="9" name="Content Placeholder 2">
            <a:extLst>
              <a:ext uri="{FF2B5EF4-FFF2-40B4-BE49-F238E27FC236}">
                <a16:creationId xmlns:a16="http://schemas.microsoft.com/office/drawing/2014/main" id="{370F5E35-F677-30E4-73FF-4C831FFF37A3}"/>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La dirección es "única“. ¿Otras empresas en la misma dirección?</a:t>
            </a:r>
          </a:p>
        </p:txBody>
      </p:sp>
      <p:sp>
        <p:nvSpPr>
          <p:cNvPr id="10" name="Content Placeholder 2">
            <a:extLst>
              <a:ext uri="{FF2B5EF4-FFF2-40B4-BE49-F238E27FC236}">
                <a16:creationId xmlns:a16="http://schemas.microsoft.com/office/drawing/2014/main" id="{1BCA6623-5E0A-3421-96C6-3E146E6C9EFA}"/>
              </a:ext>
            </a:extLst>
          </p:cNvPr>
          <p:cNvSpPr txBox="1">
            <a:spLocks/>
          </p:cNvSpPr>
          <p:nvPr/>
        </p:nvSpPr>
        <p:spPr>
          <a:xfrm>
            <a:off x="860254" y="2620962"/>
            <a:ext cx="14167626" cy="63706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noProof="0" dirty="0"/>
              <a:t>Site einforma (</a:t>
            </a:r>
            <a:r>
              <a:rPr lang="es-ES" noProof="0" dirty="0">
                <a:solidFill>
                  <a:schemeClr val="tx2">
                    <a:lumMod val="40000"/>
                    <a:lumOff val="60000"/>
                  </a:schemeClr>
                </a:solidFill>
                <a:hlinkClick r:id="rId7">
                  <a:extLst>
                    <a:ext uri="{A12FA001-AC4F-418D-AE19-62706E023703}">
                      <ahyp:hlinkClr xmlns:ahyp="http://schemas.microsoft.com/office/drawing/2018/hyperlinkcolor" val="tx"/>
                    </a:ext>
                  </a:extLst>
                </a:hlinkClick>
              </a:rPr>
              <a:t>link</a:t>
            </a:r>
            <a:r>
              <a:rPr lang="es-ES" noProof="0" dirty="0"/>
              <a:t>)</a:t>
            </a:r>
          </a:p>
          <a:p>
            <a:r>
              <a:rPr lang="es-ES" sz="2400" noProof="0" dirty="0"/>
              <a:t>NIPC: 510445020</a:t>
            </a:r>
          </a:p>
          <a:p>
            <a:r>
              <a:rPr lang="es-ES" sz="2400" noProof="0" dirty="0"/>
              <a:t>Nombre: SOUSA PINHEIRO &amp; MARQUES - SOCIEDADE DE ADVOGADOS, SP, RL</a:t>
            </a:r>
          </a:p>
          <a:p>
            <a:r>
              <a:rPr lang="es-ES" sz="2400" noProof="0" dirty="0"/>
              <a:t>Nombres Anteriores: SOUSA PINHEIRO &amp; MONTENEGRO - SOCIEDADE DE ADVOGADOS, SP, RL</a:t>
            </a:r>
          </a:p>
          <a:p>
            <a:r>
              <a:rPr lang="es-ES" sz="2400" noProof="0" dirty="0"/>
              <a:t>Website: https://spm-advogados.com/</a:t>
            </a:r>
          </a:p>
          <a:p>
            <a:r>
              <a:rPr lang="es-ES" sz="2400" noProof="0" dirty="0"/>
              <a:t>DUNS: </a:t>
            </a:r>
          </a:p>
          <a:p>
            <a:r>
              <a:rPr lang="es-ES" sz="2400" noProof="0" dirty="0"/>
              <a:t>Dirección: PRAÇA BOM SUCESSO, 74/90 3º ESCRITÓRIO 7 – 4150-146 PORTO</a:t>
            </a:r>
          </a:p>
          <a:p>
            <a:r>
              <a:rPr lang="es-ES" sz="2400" noProof="0" dirty="0"/>
              <a:t>Teléfono:</a:t>
            </a:r>
          </a:p>
          <a:p>
            <a:r>
              <a:rPr lang="es-ES" sz="2400" noProof="0" dirty="0"/>
              <a:t>Email:</a:t>
            </a:r>
          </a:p>
          <a:p>
            <a:r>
              <a:rPr lang="es-ES" sz="2400" noProof="0" dirty="0"/>
              <a:t>CAE: 69101 - Atividades jurídicas, exceto dos cartórios notariais</a:t>
            </a:r>
            <a:endParaRPr lang="es-ES" noProof="0" dirty="0"/>
          </a:p>
          <a:p>
            <a:endParaRPr lang="es-ES" noProof="0" dirty="0"/>
          </a:p>
        </p:txBody>
      </p:sp>
    </p:spTree>
    <p:extLst>
      <p:ext uri="{BB962C8B-B14F-4D97-AF65-F5344CB8AC3E}">
        <p14:creationId xmlns:p14="http://schemas.microsoft.com/office/powerpoint/2010/main" val="2885514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4F32E84A-E6D3-64E3-DA20-4A5B827E3B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8C71941-DD5F-F48B-E7C1-E11D7DFFCEBC}"/>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B864B406-2E5B-C1E4-5D79-3C6436B84454}"/>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68596E93-05AB-7DB6-9184-D85EC7FAE9A5}"/>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F677FB65-45A2-C79C-4B91-AC94BF6A509F}"/>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AFCE5346-CDBB-C033-B9E8-C3CC980D4476}"/>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5CE9DC90-36E3-DF6F-B32C-F2EDB5374E71}"/>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BA1B0789-8A78-1583-274A-B7038076C260}"/>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7B3B0BE7-3DF3-55B6-C8B5-AF85E529D84D}"/>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SP&amp;M, </a:t>
            </a:r>
            <a:r>
              <a:rPr lang="es-ES" sz="4800" b="1" dirty="0" err="1"/>
              <a:t>Sociedade</a:t>
            </a:r>
            <a:r>
              <a:rPr lang="es-ES" sz="4800" b="1" dirty="0"/>
              <a:t> de </a:t>
            </a:r>
            <a:r>
              <a:rPr lang="es-ES" sz="4800" b="1" dirty="0" err="1"/>
              <a:t>Advogados</a:t>
            </a:r>
            <a:r>
              <a:rPr lang="es-ES" sz="4800" b="1" dirty="0"/>
              <a:t>, RL - 510445020</a:t>
            </a:r>
          </a:p>
        </p:txBody>
      </p:sp>
      <p:sp>
        <p:nvSpPr>
          <p:cNvPr id="9" name="Content Placeholder 2">
            <a:extLst>
              <a:ext uri="{FF2B5EF4-FFF2-40B4-BE49-F238E27FC236}">
                <a16:creationId xmlns:a16="http://schemas.microsoft.com/office/drawing/2014/main" id="{361B5661-D443-A39B-C48E-66F224F1FFBF}"/>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a:t>
            </a:r>
            <a:r>
              <a:rPr lang="es-ES" dirty="0" err="1"/>
              <a:t>Wayback</a:t>
            </a:r>
            <a:r>
              <a:rPr lang="es-ES" dirty="0"/>
              <a:t> todo</a:t>
            </a:r>
          </a:p>
        </p:txBody>
      </p:sp>
      <p:sp>
        <p:nvSpPr>
          <p:cNvPr id="11" name="Content Placeholder 2">
            <a:extLst>
              <a:ext uri="{FF2B5EF4-FFF2-40B4-BE49-F238E27FC236}">
                <a16:creationId xmlns:a16="http://schemas.microsoft.com/office/drawing/2014/main" id="{134160A4-CB7E-F173-2737-FCA09C4251E1}"/>
              </a:ext>
            </a:extLst>
          </p:cNvPr>
          <p:cNvSpPr txBox="1">
            <a:spLocks/>
          </p:cNvSpPr>
          <p:nvPr/>
        </p:nvSpPr>
        <p:spPr>
          <a:xfrm>
            <a:off x="860254" y="2620962"/>
            <a:ext cx="14167626" cy="63706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noProof="0" dirty="0"/>
              <a:t>SP&amp;M (</a:t>
            </a:r>
            <a:r>
              <a:rPr lang="es-ES" noProof="0" dirty="0">
                <a:solidFill>
                  <a:schemeClr val="tx2">
                    <a:lumMod val="40000"/>
                    <a:lumOff val="60000"/>
                  </a:schemeClr>
                </a:solidFill>
                <a:hlinkClick r:id="rId7">
                  <a:extLst>
                    <a:ext uri="{A12FA001-AC4F-418D-AE19-62706E023703}">
                      <ahyp:hlinkClr xmlns:ahyp="http://schemas.microsoft.com/office/drawing/2018/hyperlinkcolor" val="tx"/>
                    </a:ext>
                  </a:extLst>
                </a:hlinkClick>
              </a:rPr>
              <a:t>link</a:t>
            </a:r>
            <a:r>
              <a:rPr lang="es-ES" noProof="0" dirty="0"/>
              <a:t>)</a:t>
            </a:r>
          </a:p>
          <a:p>
            <a:r>
              <a:rPr lang="es-ES" sz="2400" noProof="0" dirty="0"/>
              <a:t>Socios: Paulo Sousa Pinheiro</a:t>
            </a:r>
          </a:p>
          <a:p>
            <a:endParaRPr lang="es-ES" sz="2400" noProof="0" dirty="0"/>
          </a:p>
          <a:p>
            <a:pPr marL="0" indent="0">
              <a:buNone/>
            </a:pPr>
            <a:r>
              <a:rPr lang="es-ES" noProof="0" dirty="0"/>
              <a:t>WaybackMachine: (</a:t>
            </a:r>
            <a:r>
              <a:rPr lang="es-ES" noProof="0" dirty="0">
                <a:solidFill>
                  <a:schemeClr val="tx2">
                    <a:lumMod val="40000"/>
                    <a:lumOff val="60000"/>
                  </a:schemeClr>
                </a:solidFill>
                <a:hlinkClick r:id="rId8">
                  <a:extLst>
                    <a:ext uri="{A12FA001-AC4F-418D-AE19-62706E023703}">
                      <ahyp:hlinkClr xmlns:ahyp="http://schemas.microsoft.com/office/drawing/2018/hyperlinkcolor" val="tx"/>
                    </a:ext>
                  </a:extLst>
                </a:hlinkClick>
              </a:rPr>
              <a:t>link</a:t>
            </a:r>
            <a:r>
              <a:rPr lang="es-ES" noProof="0" dirty="0"/>
              <a:t>)</a:t>
            </a:r>
          </a:p>
          <a:p>
            <a:r>
              <a:rPr lang="es-ES" sz="2400" noProof="0" dirty="0"/>
              <a:t>Email: lmontenegro@spm-advogados.com</a:t>
            </a:r>
          </a:p>
          <a:p>
            <a:r>
              <a:rPr lang="es-ES" sz="2400" noProof="0" dirty="0"/>
              <a:t>Abogado (cédula profesional n.º 44944P) – Inactivo (</a:t>
            </a:r>
            <a:r>
              <a:rPr lang="es-ES" sz="2400" noProof="0" dirty="0">
                <a:solidFill>
                  <a:schemeClr val="tx2">
                    <a:lumMod val="40000"/>
                    <a:lumOff val="60000"/>
                  </a:schemeClr>
                </a:solidFill>
                <a:hlinkClick r:id="rId9">
                  <a:extLst>
                    <a:ext uri="{A12FA001-AC4F-418D-AE19-62706E023703}">
                      <ahyp:hlinkClr xmlns:ahyp="http://schemas.microsoft.com/office/drawing/2018/hyperlinkcolor" val="tx"/>
                    </a:ext>
                  </a:extLst>
                </a:hlinkClick>
              </a:rPr>
              <a:t>portal </a:t>
            </a:r>
            <a:r>
              <a:rPr lang="es-ES" sz="2400" noProof="0" dirty="0" err="1">
                <a:solidFill>
                  <a:schemeClr val="tx2">
                    <a:lumMod val="40000"/>
                    <a:lumOff val="60000"/>
                  </a:schemeClr>
                </a:solidFill>
                <a:hlinkClick r:id="rId9">
                  <a:extLst>
                    <a:ext uri="{A12FA001-AC4F-418D-AE19-62706E023703}">
                      <ahyp:hlinkClr xmlns:ahyp="http://schemas.microsoft.com/office/drawing/2018/hyperlinkcolor" val="tx"/>
                    </a:ext>
                  </a:extLst>
                </a:hlinkClick>
              </a:rPr>
              <a:t>ordem</a:t>
            </a:r>
            <a:r>
              <a:rPr lang="es-ES" sz="2400" noProof="0" dirty="0">
                <a:solidFill>
                  <a:schemeClr val="tx2">
                    <a:lumMod val="40000"/>
                    <a:lumOff val="60000"/>
                  </a:schemeClr>
                </a:solidFill>
                <a:hlinkClick r:id="rId9">
                  <a:extLst>
                    <a:ext uri="{A12FA001-AC4F-418D-AE19-62706E023703}">
                      <ahyp:hlinkClr xmlns:ahyp="http://schemas.microsoft.com/office/drawing/2018/hyperlinkcolor" val="tx"/>
                    </a:ext>
                  </a:extLst>
                </a:hlinkClick>
              </a:rPr>
              <a:t> dos </a:t>
            </a:r>
            <a:r>
              <a:rPr lang="es-ES" sz="2400" noProof="0" dirty="0" err="1">
                <a:solidFill>
                  <a:schemeClr val="tx2">
                    <a:lumMod val="40000"/>
                    <a:lumOff val="60000"/>
                  </a:schemeClr>
                </a:solidFill>
                <a:hlinkClick r:id="rId9">
                  <a:extLst>
                    <a:ext uri="{A12FA001-AC4F-418D-AE19-62706E023703}">
                      <ahyp:hlinkClr xmlns:ahyp="http://schemas.microsoft.com/office/drawing/2018/hyperlinkcolor" val="tx"/>
                    </a:ext>
                  </a:extLst>
                </a:hlinkClick>
              </a:rPr>
              <a:t>advogados</a:t>
            </a:r>
            <a:r>
              <a:rPr lang="es-ES" sz="2400" noProof="0" dirty="0"/>
              <a:t>)</a:t>
            </a:r>
          </a:p>
          <a:p>
            <a:r>
              <a:rPr lang="es-ES" sz="2400" noProof="0" dirty="0"/>
              <a:t>Diputado en la Asamblea Metropolitana de Oporto</a:t>
            </a:r>
          </a:p>
        </p:txBody>
      </p:sp>
    </p:spTree>
    <p:extLst>
      <p:ext uri="{BB962C8B-B14F-4D97-AF65-F5344CB8AC3E}">
        <p14:creationId xmlns:p14="http://schemas.microsoft.com/office/powerpoint/2010/main" val="1874170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9F2B8DC0-DD18-6D2A-D590-B6C3DD0D0A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E3D1AD-5B0E-AF37-8B9A-9038D9562F4F}"/>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1DFBDD11-25FB-0AD8-4809-3D3A85B085A1}"/>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4AC547D-E424-6EE1-4698-F7A1F05EA967}"/>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6F540D05-6EFD-7C4E-7CDD-C4A7309AB2AE}"/>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6B9D6839-FED9-9BC3-6CA1-B4F510A16105}"/>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881FAC0F-7934-53F0-711C-4E0AD492E34E}"/>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A079D6DE-79AD-0143-8BEE-E3BB110DBD94}"/>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F4FA855D-1502-DAE2-C7E8-CB0F03DECAB5}"/>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Status</a:t>
            </a:r>
            <a:endParaRPr lang="es-ES" sz="4800" b="1" noProof="0" dirty="0"/>
          </a:p>
        </p:txBody>
      </p:sp>
      <p:sp>
        <p:nvSpPr>
          <p:cNvPr id="12" name="Content Placeholder 4">
            <a:extLst>
              <a:ext uri="{FF2B5EF4-FFF2-40B4-BE49-F238E27FC236}">
                <a16:creationId xmlns:a16="http://schemas.microsoft.com/office/drawing/2014/main" id="{CCDF0535-6AD7-6907-49D8-273B9BF90EF7}"/>
              </a:ext>
            </a:extLst>
          </p:cNvPr>
          <p:cNvSpPr txBox="1">
            <a:spLocks/>
          </p:cNvSpPr>
          <p:nvPr/>
        </p:nvSpPr>
        <p:spPr>
          <a:xfrm>
            <a:off x="581691" y="2442911"/>
            <a:ext cx="7113673" cy="6004284"/>
          </a:xfrm>
          <a:prstGeom prst="rect">
            <a:avLst/>
          </a:prstGeom>
          <a:ln>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400" b="1" dirty="0"/>
              <a:t>Nombre</a:t>
            </a:r>
            <a:r>
              <a:rPr lang="es-ES" sz="2400" dirty="0"/>
              <a:t>: Luís Montenegro</a:t>
            </a:r>
          </a:p>
          <a:p>
            <a:pPr marL="0" indent="0">
              <a:buNone/>
            </a:pPr>
            <a:r>
              <a:rPr lang="es-ES" sz="2400" b="1" dirty="0"/>
              <a:t>Nombre:</a:t>
            </a:r>
            <a:r>
              <a:rPr lang="es-ES" sz="2400" dirty="0"/>
              <a:t> </a:t>
            </a:r>
            <a:r>
              <a:rPr lang="es-ES" sz="2000" dirty="0"/>
              <a:t>Luís Filipe Montenegro Cardoso de Morais Esteves</a:t>
            </a:r>
          </a:p>
          <a:p>
            <a:pPr marL="0" indent="0">
              <a:buNone/>
            </a:pPr>
            <a:r>
              <a:rPr lang="es-ES" sz="2400" b="1" dirty="0"/>
              <a:t>NIF: </a:t>
            </a:r>
            <a:r>
              <a:rPr lang="es-ES" sz="2400" dirty="0"/>
              <a:t>205910254</a:t>
            </a:r>
          </a:p>
          <a:p>
            <a:pPr marL="0" indent="0">
              <a:buNone/>
            </a:pPr>
            <a:r>
              <a:rPr lang="es-ES" sz="2400" b="1" dirty="0"/>
              <a:t>Nacimiento</a:t>
            </a:r>
            <a:r>
              <a:rPr lang="es-ES" sz="2400" dirty="0"/>
              <a:t>: 16/02/1973 - Porto</a:t>
            </a:r>
          </a:p>
          <a:p>
            <a:pPr marL="0" indent="0">
              <a:buNone/>
            </a:pPr>
            <a:r>
              <a:rPr lang="es-ES" sz="2400" b="1" dirty="0"/>
              <a:t>Estado civil</a:t>
            </a:r>
            <a:r>
              <a:rPr lang="es-ES" sz="2400" dirty="0"/>
              <a:t>: </a:t>
            </a:r>
          </a:p>
          <a:p>
            <a:pPr marL="114300" indent="0">
              <a:buNone/>
            </a:pPr>
            <a:r>
              <a:rPr lang="es-ES" sz="2000" dirty="0"/>
              <a:t>- Casado - </a:t>
            </a:r>
            <a:r>
              <a:rPr lang="pt-BR" sz="2000" dirty="0"/>
              <a:t>Carla Maria Rodrigues Neto Montenegro</a:t>
            </a:r>
          </a:p>
          <a:p>
            <a:pPr marL="114300" indent="0">
              <a:buNone/>
            </a:pPr>
            <a:r>
              <a:rPr lang="es-ES" sz="2000" dirty="0"/>
              <a:t>       - Comunión de bienes adquiridos</a:t>
            </a:r>
          </a:p>
          <a:p>
            <a:pPr marL="114300" indent="0">
              <a:buNone/>
            </a:pPr>
            <a:r>
              <a:rPr lang="es-ES" sz="2000" dirty="0"/>
              <a:t>- 2 hijos</a:t>
            </a:r>
          </a:p>
          <a:p>
            <a:pPr marL="0" indent="0">
              <a:buNone/>
            </a:pPr>
            <a:r>
              <a:rPr lang="pt-BR" sz="2400" b="1" dirty="0"/>
              <a:t>Dirección:</a:t>
            </a:r>
          </a:p>
          <a:p>
            <a:pPr marL="119063" indent="0">
              <a:buNone/>
            </a:pPr>
            <a:r>
              <a:rPr lang="pt-BR" sz="2000" dirty="0"/>
              <a:t>- Urbanização do Formal, nº 15</a:t>
            </a:r>
          </a:p>
          <a:p>
            <a:pPr marL="119063" indent="0">
              <a:buNone/>
            </a:pPr>
            <a:r>
              <a:rPr lang="pt-BR" sz="2000" dirty="0"/>
              <a:t>- 4500 - 669 Silvalde - Espinho</a:t>
            </a:r>
          </a:p>
          <a:p>
            <a:pPr marL="0" indent="0">
              <a:buNone/>
            </a:pPr>
            <a:r>
              <a:rPr lang="es-ES" sz="2400" b="1" dirty="0"/>
              <a:t>Email: </a:t>
            </a:r>
            <a:r>
              <a:rPr lang="es-ES" sz="2400" b="1" dirty="0">
                <a:solidFill>
                  <a:schemeClr val="tx2">
                    <a:lumMod val="60000"/>
                    <a:lumOff val="40000"/>
                  </a:schemeClr>
                </a:solidFill>
              </a:rPr>
              <a:t>lmontenegro@spm-advogados.com</a:t>
            </a:r>
          </a:p>
          <a:p>
            <a:pPr marL="0" indent="0">
              <a:buNone/>
            </a:pPr>
            <a:r>
              <a:rPr lang="es-ES" sz="2400" b="1" dirty="0"/>
              <a:t>Educación</a:t>
            </a:r>
            <a:r>
              <a:rPr lang="es-ES" sz="2400" dirty="0"/>
              <a:t>: </a:t>
            </a:r>
          </a:p>
          <a:p>
            <a:pPr marL="114300" indent="0">
              <a:buNone/>
            </a:pPr>
            <a:r>
              <a:rPr lang="es-ES" sz="2000" dirty="0"/>
              <a:t>- Licenciado en Derecho - Universidad Católica Portuguesa - 1999</a:t>
            </a:r>
          </a:p>
          <a:p>
            <a:pPr marL="114300" indent="0">
              <a:buNone/>
            </a:pPr>
            <a:r>
              <a:rPr lang="es-ES" sz="2000" dirty="0"/>
              <a:t>- Postgrado en Protección de Datos Personales – INSEAD</a:t>
            </a:r>
          </a:p>
          <a:p>
            <a:pPr marL="114300" indent="0">
              <a:buNone/>
            </a:pPr>
            <a:r>
              <a:rPr lang="es-ES" sz="2000" dirty="0"/>
              <a:t>- Programa de Gestión Avanzada - INSEAD</a:t>
            </a:r>
          </a:p>
        </p:txBody>
      </p:sp>
      <p:sp>
        <p:nvSpPr>
          <p:cNvPr id="13" name="Content Placeholder 4">
            <a:extLst>
              <a:ext uri="{FF2B5EF4-FFF2-40B4-BE49-F238E27FC236}">
                <a16:creationId xmlns:a16="http://schemas.microsoft.com/office/drawing/2014/main" id="{4EBD08B2-D996-DC42-53BC-E5601536726B}"/>
              </a:ext>
            </a:extLst>
          </p:cNvPr>
          <p:cNvSpPr txBox="1">
            <a:spLocks/>
          </p:cNvSpPr>
          <p:nvPr/>
        </p:nvSpPr>
        <p:spPr>
          <a:xfrm>
            <a:off x="7973927" y="2442911"/>
            <a:ext cx="7113673" cy="6004284"/>
          </a:xfrm>
          <a:prstGeom prst="rect">
            <a:avLst/>
          </a:prstGeom>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s-ES" sz="2400" b="1" noProof="0" dirty="0"/>
              <a:t>Empleo anterior:</a:t>
            </a:r>
          </a:p>
          <a:p>
            <a:pPr marL="457200" lvl="1" indent="-228600">
              <a:buNone/>
            </a:pPr>
            <a:r>
              <a:rPr lang="es-ES" sz="2000" noProof="0" dirty="0"/>
              <a:t>- </a:t>
            </a:r>
            <a:r>
              <a:rPr lang="es-ES" sz="2000" b="1" dirty="0">
                <a:solidFill>
                  <a:schemeClr val="tx2">
                    <a:lumMod val="60000"/>
                    <a:lumOff val="40000"/>
                  </a:schemeClr>
                </a:solidFill>
              </a:rPr>
              <a:t>Abogado - 44944P</a:t>
            </a:r>
          </a:p>
          <a:p>
            <a:pPr marL="457200" lvl="1" indent="-228600">
              <a:buNone/>
            </a:pPr>
            <a:r>
              <a:rPr lang="es-ES" sz="2000" noProof="0" dirty="0"/>
              <a:t>- Abogado – Fundador y socio del bufete SP&amp;M - (50%)</a:t>
            </a:r>
          </a:p>
          <a:p>
            <a:pPr marL="457200" lvl="1" indent="-228600">
              <a:buNone/>
            </a:pPr>
            <a:r>
              <a:rPr lang="es-ES" sz="2000" noProof="0" dirty="0"/>
              <a:t>- Presidente de la Junta General del Grupo Ferpinta</a:t>
            </a:r>
          </a:p>
          <a:p>
            <a:pPr marL="457200" lvl="1" indent="-228600">
              <a:buNone/>
            </a:pPr>
            <a:r>
              <a:rPr lang="es-ES" sz="2000" noProof="0" dirty="0"/>
              <a:t>- Presidente de la Junta General de Rádio Popular</a:t>
            </a:r>
          </a:p>
          <a:p>
            <a:pPr marL="457200" lvl="1" indent="-228600">
              <a:buNone/>
            </a:pPr>
            <a:r>
              <a:rPr lang="es-ES" sz="2000" dirty="0"/>
              <a:t>- </a:t>
            </a:r>
            <a:r>
              <a:rPr lang="pt-BR" sz="2000" noProof="0" dirty="0"/>
              <a:t>Oliveiras Gold de Portugal, Lda (25%) - Bragança</a:t>
            </a:r>
          </a:p>
          <a:p>
            <a:pPr marL="457200" lvl="1" indent="-228600">
              <a:buNone/>
            </a:pPr>
            <a:r>
              <a:rPr lang="es-ES" sz="2000" dirty="0"/>
              <a:t>- </a:t>
            </a:r>
            <a:r>
              <a:rPr lang="pt-BR" sz="2000" noProof="0" dirty="0"/>
              <a:t>Luimonteago, Lda (95%) - Barcelos</a:t>
            </a:r>
          </a:p>
          <a:p>
            <a:pPr marL="0" indent="0">
              <a:buNone/>
            </a:pPr>
            <a:r>
              <a:rPr lang="es-ES" sz="2400" b="1" noProof="0" dirty="0"/>
              <a:t>Político:</a:t>
            </a:r>
          </a:p>
          <a:p>
            <a:pPr marL="457200" lvl="1" indent="-228600">
              <a:buNone/>
            </a:pPr>
            <a:r>
              <a:rPr lang="es-ES" sz="2000" noProof="0" dirty="0"/>
              <a:t>- Miembro y presidente de la Asamblea Municipal de Espinho y concejal</a:t>
            </a:r>
          </a:p>
          <a:p>
            <a:pPr marL="457200" lvl="1" indent="-228600">
              <a:buNone/>
            </a:pPr>
            <a:r>
              <a:rPr lang="es-ES" sz="2000" noProof="0" dirty="0"/>
              <a:t>- Diputado en 2002, 2005, 2009, 2011 y 2015 (16 años)</a:t>
            </a:r>
          </a:p>
          <a:p>
            <a:pPr marL="457200" lvl="1" indent="-228600">
              <a:buNone/>
            </a:pPr>
            <a:r>
              <a:rPr lang="es-ES" sz="2000" noProof="0" dirty="0"/>
              <a:t>- Presidente del Grupo Parlamentario del PSD de 2011 a 2017</a:t>
            </a:r>
          </a:p>
          <a:p>
            <a:pPr marL="457200" lvl="1" indent="-228600">
              <a:buNone/>
            </a:pPr>
            <a:r>
              <a:rPr lang="es-ES" sz="2000" noProof="0" dirty="0"/>
              <a:t>- Líder del Partido Socialdemócrata (PSD) desde el 28 de mayo de 2022</a:t>
            </a:r>
            <a:endParaRPr lang="es-ES" sz="1600" noProof="0" dirty="0"/>
          </a:p>
        </p:txBody>
      </p:sp>
    </p:spTree>
    <p:extLst>
      <p:ext uri="{BB962C8B-B14F-4D97-AF65-F5344CB8AC3E}">
        <p14:creationId xmlns:p14="http://schemas.microsoft.com/office/powerpoint/2010/main" val="2557419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02C63857-E09D-433D-185E-670DC868BBB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3EDAD4-D9F6-DB82-1BF1-630744AE7C35}"/>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942123FC-70AE-D531-0967-56B328B51C2E}"/>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E4051559-7A32-3C92-17C0-8BAF08F0131D}"/>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E60939DD-300C-B270-C55E-4DF85676DF1F}"/>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202070E9-1C8C-0160-CC0A-F6B05C583918}"/>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05586B80-59E6-73E4-20E3-8C97A1A02D3D}"/>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0033B882-9D39-CC91-5B8E-693B5CC6C0FC}"/>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1A9AB170-A757-8F72-5DDA-8056BB9B5266}"/>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Portal BASE</a:t>
            </a:r>
          </a:p>
        </p:txBody>
      </p:sp>
      <p:grpSp>
        <p:nvGrpSpPr>
          <p:cNvPr id="15" name="Group 14">
            <a:extLst>
              <a:ext uri="{FF2B5EF4-FFF2-40B4-BE49-F238E27FC236}">
                <a16:creationId xmlns:a16="http://schemas.microsoft.com/office/drawing/2014/main" id="{F1136E63-FE8C-37C6-F29F-44835FD4CBB2}"/>
              </a:ext>
            </a:extLst>
          </p:cNvPr>
          <p:cNvGrpSpPr/>
          <p:nvPr/>
        </p:nvGrpSpPr>
        <p:grpSpPr>
          <a:xfrm>
            <a:off x="1219201" y="1413598"/>
            <a:ext cx="13035152" cy="8603303"/>
            <a:chOff x="1219201" y="1413598"/>
            <a:chExt cx="13035152" cy="8603303"/>
          </a:xfrm>
        </p:grpSpPr>
        <p:pic>
          <p:nvPicPr>
            <p:cNvPr id="13" name="Picture 12">
              <a:hlinkClick r:id="rId7"/>
              <a:extLst>
                <a:ext uri="{FF2B5EF4-FFF2-40B4-BE49-F238E27FC236}">
                  <a16:creationId xmlns:a16="http://schemas.microsoft.com/office/drawing/2014/main" id="{3545CE76-D62B-58E2-2C6A-C3A64443F573}"/>
                </a:ext>
              </a:extLst>
            </p:cNvPr>
            <p:cNvPicPr>
              <a:picLocks noChangeAspect="1"/>
            </p:cNvPicPr>
            <p:nvPr/>
          </p:nvPicPr>
          <p:blipFill>
            <a:blip r:embed="rId8"/>
            <a:stretch>
              <a:fillRect/>
            </a:stretch>
          </p:blipFill>
          <p:spPr>
            <a:xfrm>
              <a:off x="1219201" y="3615481"/>
              <a:ext cx="4189867" cy="3913611"/>
            </a:xfrm>
            <a:prstGeom prst="rect">
              <a:avLst/>
            </a:prstGeom>
          </p:spPr>
        </p:pic>
        <p:pic>
          <p:nvPicPr>
            <p:cNvPr id="14" name="Picture 13">
              <a:hlinkClick r:id="rId9"/>
              <a:extLst>
                <a:ext uri="{FF2B5EF4-FFF2-40B4-BE49-F238E27FC236}">
                  <a16:creationId xmlns:a16="http://schemas.microsoft.com/office/drawing/2014/main" id="{C60F2001-B9CE-5A0D-7CC9-E585ADB1FE8C}"/>
                </a:ext>
              </a:extLst>
            </p:cNvPr>
            <p:cNvPicPr>
              <a:picLocks noChangeAspect="1"/>
            </p:cNvPicPr>
            <p:nvPr/>
          </p:nvPicPr>
          <p:blipFill>
            <a:blip r:embed="rId10"/>
            <a:stretch>
              <a:fillRect/>
            </a:stretch>
          </p:blipFill>
          <p:spPr>
            <a:xfrm>
              <a:off x="6143995" y="1413598"/>
              <a:ext cx="8110358" cy="8603303"/>
            </a:xfrm>
            <a:prstGeom prst="rect">
              <a:avLst/>
            </a:prstGeom>
          </p:spPr>
        </p:pic>
      </p:grpSp>
    </p:spTree>
    <p:extLst>
      <p:ext uri="{BB962C8B-B14F-4D97-AF65-F5344CB8AC3E}">
        <p14:creationId xmlns:p14="http://schemas.microsoft.com/office/powerpoint/2010/main" val="2928677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2CED2118-DD45-D7D1-D755-0EF2D09C20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1F3D09C-2A3E-93B2-F3E1-6811A5827D4C}"/>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099F711F-28CF-96A3-F21A-BA55244BEB16}"/>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D772A12F-76EF-9D03-0FAF-04F0DD9A07F7}"/>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2B73EAC6-46ED-CA95-CF6D-B23C13B739CB}"/>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A740C793-436D-080E-3FCB-20C6D3C531C2}"/>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36CAF962-F278-12ED-C66B-CC06671DB3A6}"/>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3B39B7C7-1213-3B67-6585-2E4CE6B8B671}"/>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CD20862F-CEE3-DC1A-BF91-1D63D32AB18A}"/>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SP&amp;M, </a:t>
            </a:r>
            <a:r>
              <a:rPr lang="es-ES" sz="4800" b="1" dirty="0" err="1"/>
              <a:t>Sociedade</a:t>
            </a:r>
            <a:r>
              <a:rPr lang="es-ES" sz="4800" b="1" dirty="0"/>
              <a:t> de </a:t>
            </a:r>
            <a:r>
              <a:rPr lang="es-ES" sz="4800" b="1" dirty="0" err="1"/>
              <a:t>Advogados</a:t>
            </a:r>
            <a:r>
              <a:rPr lang="es-ES" sz="4800" b="1" dirty="0"/>
              <a:t>, RL - 510445020</a:t>
            </a:r>
          </a:p>
        </p:txBody>
      </p:sp>
      <p:sp>
        <p:nvSpPr>
          <p:cNvPr id="10" name="Content Placeholder 2">
            <a:extLst>
              <a:ext uri="{FF2B5EF4-FFF2-40B4-BE49-F238E27FC236}">
                <a16:creationId xmlns:a16="http://schemas.microsoft.com/office/drawing/2014/main" id="{6966391A-6FF2-165E-8B9E-9F40B00D8E16}"/>
              </a:ext>
            </a:extLst>
          </p:cNvPr>
          <p:cNvSpPr txBox="1">
            <a:spLocks/>
          </p:cNvSpPr>
          <p:nvPr/>
        </p:nvSpPr>
        <p:spPr>
          <a:xfrm>
            <a:off x="860254" y="2620962"/>
            <a:ext cx="14167626" cy="63706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noProof="0" dirty="0"/>
              <a:t>Contratos Públicos</a:t>
            </a:r>
          </a:p>
          <a:p>
            <a:pPr marL="236538" indent="0">
              <a:buNone/>
            </a:pPr>
            <a:r>
              <a:rPr lang="es-ES" noProof="0" dirty="0"/>
              <a:t>Banco </a:t>
            </a:r>
            <a:r>
              <a:rPr lang="es-ES" noProof="0" dirty="0" err="1"/>
              <a:t>Português</a:t>
            </a:r>
            <a:r>
              <a:rPr lang="es-ES" noProof="0" dirty="0"/>
              <a:t> do Fomento</a:t>
            </a:r>
          </a:p>
          <a:p>
            <a:pPr marL="576263" lvl="1" indent="0">
              <a:buNone/>
            </a:pPr>
            <a:r>
              <a:rPr lang="es-ES" noProof="0" dirty="0"/>
              <a:t>2022 – 1 contrato – 100.000€</a:t>
            </a:r>
          </a:p>
          <a:p>
            <a:pPr marL="236538" indent="0">
              <a:buNone/>
            </a:pPr>
            <a:r>
              <a:rPr lang="es-ES" noProof="0" dirty="0" err="1"/>
              <a:t>Município</a:t>
            </a:r>
            <a:r>
              <a:rPr lang="es-ES" noProof="0" dirty="0"/>
              <a:t> de Espinho</a:t>
            </a:r>
          </a:p>
          <a:p>
            <a:pPr marL="576263" lvl="1" indent="0">
              <a:buNone/>
            </a:pPr>
            <a:r>
              <a:rPr lang="es-ES" noProof="0" dirty="0"/>
              <a:t>2014/2019 – 7 contratos – 337.311 €</a:t>
            </a:r>
          </a:p>
          <a:p>
            <a:pPr marL="236538" indent="0">
              <a:buNone/>
            </a:pPr>
            <a:r>
              <a:rPr lang="es-ES" noProof="0" dirty="0" err="1"/>
              <a:t>Município</a:t>
            </a:r>
            <a:r>
              <a:rPr lang="es-ES" noProof="0" dirty="0"/>
              <a:t> de Vagos</a:t>
            </a:r>
          </a:p>
          <a:p>
            <a:pPr marL="576263" lvl="1" indent="0">
              <a:buNone/>
            </a:pPr>
            <a:r>
              <a:rPr lang="es-ES" noProof="0" dirty="0"/>
              <a:t>2015/2021 – 5 contratos – 209.409 €</a:t>
            </a:r>
          </a:p>
          <a:p>
            <a:pPr marL="236538" indent="0">
              <a:buNone/>
            </a:pPr>
            <a:r>
              <a:rPr lang="es-ES" noProof="0" dirty="0" err="1"/>
              <a:t>Zendensino</a:t>
            </a:r>
            <a:endParaRPr lang="es-ES" noProof="0" dirty="0"/>
          </a:p>
          <a:p>
            <a:pPr marL="576263" lvl="1" indent="0">
              <a:buNone/>
            </a:pPr>
            <a:r>
              <a:rPr lang="es-ES" noProof="0" dirty="0"/>
              <a:t>2018/2020 – 2 contratos – 31.900 €</a:t>
            </a:r>
          </a:p>
          <a:p>
            <a:pPr marL="457200" lvl="1" indent="0">
              <a:buNone/>
            </a:pPr>
            <a:endParaRPr lang="es-ES" noProof="0" dirty="0"/>
          </a:p>
          <a:p>
            <a:pPr marL="236538" indent="0">
              <a:buNone/>
            </a:pPr>
            <a:r>
              <a:rPr lang="es-ES" noProof="0" dirty="0"/>
              <a:t>Total </a:t>
            </a:r>
            <a:r>
              <a:rPr lang="es-ES" b="1" noProof="0" dirty="0"/>
              <a:t>807.320€</a:t>
            </a:r>
          </a:p>
        </p:txBody>
      </p:sp>
      <p:pic>
        <p:nvPicPr>
          <p:cNvPr id="11" name="Graphic 10">
            <a:extLst>
              <a:ext uri="{FF2B5EF4-FFF2-40B4-BE49-F238E27FC236}">
                <a16:creationId xmlns:a16="http://schemas.microsoft.com/office/drawing/2014/main" id="{0460036B-2153-6D04-6560-5258CC1C8324}"/>
              </a:ext>
            </a:extLst>
          </p:cNvPr>
          <p:cNvPicPr>
            <a:picLocks noChangeAspect="1"/>
          </p:cNvPicPr>
          <p:nvPr/>
        </p:nvPicPr>
        <p:blipFill>
          <a:blip r:embed="rId7">
            <a:extLst>
              <a:ext uri="{96DAC541-7B7A-43D3-8B79-37D633B846F1}">
                <asvg:svgBlip xmlns:asvg="http://schemas.microsoft.com/office/drawing/2016/SVG/main" r:embed="rId8"/>
              </a:ext>
            </a:extLst>
          </a:blip>
          <a:srcRect l="10020" t="2545" r="8377" b="1031"/>
          <a:stretch>
            <a:fillRect/>
          </a:stretch>
        </p:blipFill>
        <p:spPr>
          <a:xfrm>
            <a:off x="7299960" y="2552700"/>
            <a:ext cx="7863840" cy="5852160"/>
          </a:xfrm>
          <a:prstGeom prst="rect">
            <a:avLst/>
          </a:prstGeom>
        </p:spPr>
      </p:pic>
    </p:spTree>
    <p:extLst>
      <p:ext uri="{BB962C8B-B14F-4D97-AF65-F5344CB8AC3E}">
        <p14:creationId xmlns:p14="http://schemas.microsoft.com/office/powerpoint/2010/main" val="3005188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EBEE51EE-DCBC-8330-C357-2B4AFBCDA7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0EF4536-7A6B-6BD0-F384-EDE620F24719}"/>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FA8F47D4-3952-D2B7-8F5C-A3E68C8D0CF4}"/>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F286562D-94A3-D057-DA90-4A708C32C23E}"/>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5A320626-7A5A-D9A8-B468-EB2B3DD83B7B}"/>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962A69F6-9265-61A0-C3F9-7034A45BD3C4}"/>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5A26ACF9-4F29-8B7D-15A8-A924353A61EA}"/>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B3419050-8664-09F1-D55A-86EC95A682CF}"/>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A44B94B3-77D1-4255-670E-0B50CAD673DC}"/>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Luimonteago, Lda - 510347070</a:t>
            </a:r>
          </a:p>
        </p:txBody>
      </p:sp>
      <p:grpSp>
        <p:nvGrpSpPr>
          <p:cNvPr id="15" name="Group 14">
            <a:extLst>
              <a:ext uri="{FF2B5EF4-FFF2-40B4-BE49-F238E27FC236}">
                <a16:creationId xmlns:a16="http://schemas.microsoft.com/office/drawing/2014/main" id="{1FECFC97-69C8-4046-1256-CC7CBDBC6ED2}"/>
              </a:ext>
            </a:extLst>
          </p:cNvPr>
          <p:cNvGrpSpPr/>
          <p:nvPr/>
        </p:nvGrpSpPr>
        <p:grpSpPr>
          <a:xfrm>
            <a:off x="1219200" y="1891118"/>
            <a:ext cx="11585603" cy="8133143"/>
            <a:chOff x="1219200" y="1891118"/>
            <a:chExt cx="11585603" cy="8133143"/>
          </a:xfrm>
        </p:grpSpPr>
        <p:pic>
          <p:nvPicPr>
            <p:cNvPr id="13" name="Picture 12">
              <a:hlinkClick r:id="rId7"/>
              <a:extLst>
                <a:ext uri="{FF2B5EF4-FFF2-40B4-BE49-F238E27FC236}">
                  <a16:creationId xmlns:a16="http://schemas.microsoft.com/office/drawing/2014/main" id="{03AF8877-BE1A-3719-634E-78D3FF8DAA5F}"/>
                </a:ext>
              </a:extLst>
            </p:cNvPr>
            <p:cNvPicPr>
              <a:picLocks noChangeAspect="1"/>
            </p:cNvPicPr>
            <p:nvPr/>
          </p:nvPicPr>
          <p:blipFill>
            <a:blip r:embed="rId8"/>
            <a:stretch>
              <a:fillRect/>
            </a:stretch>
          </p:blipFill>
          <p:spPr>
            <a:xfrm>
              <a:off x="1219200" y="4008051"/>
              <a:ext cx="4174521" cy="3899277"/>
            </a:xfrm>
            <a:prstGeom prst="rect">
              <a:avLst/>
            </a:prstGeom>
          </p:spPr>
        </p:pic>
        <p:pic>
          <p:nvPicPr>
            <p:cNvPr id="14" name="Picture 13">
              <a:extLst>
                <a:ext uri="{FF2B5EF4-FFF2-40B4-BE49-F238E27FC236}">
                  <a16:creationId xmlns:a16="http://schemas.microsoft.com/office/drawing/2014/main" id="{0C11E24D-AF84-A856-14B1-7F3D3437FA9D}"/>
                </a:ext>
              </a:extLst>
            </p:cNvPr>
            <p:cNvPicPr>
              <a:picLocks noChangeAspect="1"/>
            </p:cNvPicPr>
            <p:nvPr/>
          </p:nvPicPr>
          <p:blipFill>
            <a:blip r:embed="rId9"/>
            <a:stretch>
              <a:fillRect/>
            </a:stretch>
          </p:blipFill>
          <p:spPr>
            <a:xfrm>
              <a:off x="6934200" y="1891118"/>
              <a:ext cx="5870603" cy="8133143"/>
            </a:xfrm>
            <a:prstGeom prst="rect">
              <a:avLst/>
            </a:prstGeom>
          </p:spPr>
        </p:pic>
      </p:grpSp>
    </p:spTree>
    <p:extLst>
      <p:ext uri="{BB962C8B-B14F-4D97-AF65-F5344CB8AC3E}">
        <p14:creationId xmlns:p14="http://schemas.microsoft.com/office/powerpoint/2010/main" val="2222996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A5431511-02D4-A857-A33D-3961AB68C27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607EDFF-99BB-E31E-90D5-F9D78AAF1BFE}"/>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28AA4C93-DDDB-1348-ED76-6594C9283B9E}"/>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96BACC2B-6B32-5C04-FEF2-D2858B48126B}"/>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pic>
        <p:nvPicPr>
          <p:cNvPr id="16" name="Picture 15">
            <a:extLst>
              <a:ext uri="{FF2B5EF4-FFF2-40B4-BE49-F238E27FC236}">
                <a16:creationId xmlns:a16="http://schemas.microsoft.com/office/drawing/2014/main" id="{DB34DCDE-6C66-B936-F0F6-A8B969E767A3}"/>
              </a:ext>
            </a:extLst>
          </p:cNvPr>
          <p:cNvPicPr>
            <a:picLocks noChangeAspect="1"/>
          </p:cNvPicPr>
          <p:nvPr/>
        </p:nvPicPr>
        <p:blipFill>
          <a:blip r:embed="rId3"/>
          <a:stretch>
            <a:fillRect/>
          </a:stretch>
        </p:blipFill>
        <p:spPr>
          <a:xfrm>
            <a:off x="6931818" y="1891118"/>
            <a:ext cx="5872985" cy="8133143"/>
          </a:xfrm>
          <a:prstGeom prst="rect">
            <a:avLst/>
          </a:prstGeom>
          <a:ln>
            <a:solidFill>
              <a:schemeClr val="bg1">
                <a:lumMod val="65000"/>
              </a:schemeClr>
            </a:solidFill>
          </a:ln>
        </p:spPr>
      </p:pic>
      <p:sp>
        <p:nvSpPr>
          <p:cNvPr id="5" name="Freeform 5">
            <a:extLst>
              <a:ext uri="{FF2B5EF4-FFF2-40B4-BE49-F238E27FC236}">
                <a16:creationId xmlns:a16="http://schemas.microsoft.com/office/drawing/2014/main" id="{15B95F5F-0069-6F83-86EA-AC20A0D2C804}"/>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4"/>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D56CC330-03CB-30FD-DCB8-0823614EEF64}"/>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5">
              <a:extLst>
                <a:ext uri="{96DAC541-7B7A-43D3-8B79-37D633B846F1}">
                  <asvg:svgBlip xmlns:asvg="http://schemas.microsoft.com/office/drawing/2016/SVG/main" r:embed="rId6"/>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5BD6408E-1C2B-7308-645D-139BDBA17407}"/>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5">
              <a:extLst>
                <a:ext uri="{96DAC541-7B7A-43D3-8B79-37D633B846F1}">
                  <asvg:svgBlip xmlns:asvg="http://schemas.microsoft.com/office/drawing/2016/SVG/main" r:embed="rId6"/>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934E2191-1944-EBC5-62A0-422DBD203591}"/>
              </a:ext>
            </a:extLst>
          </p:cNvPr>
          <p:cNvPicPr>
            <a:picLocks noChangeAspect="1"/>
          </p:cNvPicPr>
          <p:nvPr/>
        </p:nvPicPr>
        <p:blipFill>
          <a:blip r:embed="rId7"/>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2339B10D-3695-A8B6-0D80-90F61D40254D}"/>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err="1"/>
              <a:t>Oliveiras</a:t>
            </a:r>
            <a:r>
              <a:rPr lang="es-ES" sz="4800" b="1" dirty="0"/>
              <a:t> Gold de Portugal, Lda - 510172466</a:t>
            </a:r>
          </a:p>
        </p:txBody>
      </p:sp>
      <p:pic>
        <p:nvPicPr>
          <p:cNvPr id="14" name="Picture 13">
            <a:hlinkClick r:id="rId8"/>
            <a:extLst>
              <a:ext uri="{FF2B5EF4-FFF2-40B4-BE49-F238E27FC236}">
                <a16:creationId xmlns:a16="http://schemas.microsoft.com/office/drawing/2014/main" id="{9492FE3F-F49C-BDEC-4C8A-289E4414EDD7}"/>
              </a:ext>
            </a:extLst>
          </p:cNvPr>
          <p:cNvPicPr>
            <a:picLocks noChangeAspect="1"/>
          </p:cNvPicPr>
          <p:nvPr/>
        </p:nvPicPr>
        <p:blipFill>
          <a:blip r:embed="rId9"/>
          <a:stretch>
            <a:fillRect/>
          </a:stretch>
        </p:blipFill>
        <p:spPr>
          <a:xfrm>
            <a:off x="1219200" y="4008051"/>
            <a:ext cx="4174521" cy="3899277"/>
          </a:xfrm>
          <a:prstGeom prst="rect">
            <a:avLst/>
          </a:prstGeom>
        </p:spPr>
      </p:pic>
    </p:spTree>
    <p:extLst>
      <p:ext uri="{BB962C8B-B14F-4D97-AF65-F5344CB8AC3E}">
        <p14:creationId xmlns:p14="http://schemas.microsoft.com/office/powerpoint/2010/main" val="3539996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752C82B6-67D7-8E75-EFF6-A0A8FB90FC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9353F03-BA22-D48B-78EC-F1732A8DC054}"/>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0BBC278A-15ED-1BDE-BCE3-0463EDB27CAA}"/>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ADB2B4C9-DF17-53D9-9C24-114E467FAF53}"/>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D430D488-7D7C-F6BF-582B-47F0A126821C}"/>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AA01F311-A56E-CEFD-0037-A7819CFA87DF}"/>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64FB052F-DF06-027C-87EA-3D8CB6C8F856}"/>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36831202-2353-BA69-4A4F-11B83A551017}"/>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23990E15-2C65-6D3A-AE7B-2A56CCF79EC0}"/>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err="1"/>
              <a:t>Semanário</a:t>
            </a:r>
            <a:r>
              <a:rPr lang="es-ES" sz="4800" b="1" dirty="0"/>
              <a:t> </a:t>
            </a:r>
            <a:r>
              <a:rPr lang="es-ES" sz="4800" b="1" dirty="0" err="1"/>
              <a:t>Expresso</a:t>
            </a:r>
            <a:endParaRPr lang="es-ES" sz="4800" b="1" dirty="0"/>
          </a:p>
        </p:txBody>
      </p:sp>
      <p:grpSp>
        <p:nvGrpSpPr>
          <p:cNvPr id="10" name="Group 9">
            <a:extLst>
              <a:ext uri="{FF2B5EF4-FFF2-40B4-BE49-F238E27FC236}">
                <a16:creationId xmlns:a16="http://schemas.microsoft.com/office/drawing/2014/main" id="{93F99DCD-5067-8085-1046-F251633FC343}"/>
              </a:ext>
            </a:extLst>
          </p:cNvPr>
          <p:cNvGrpSpPr/>
          <p:nvPr/>
        </p:nvGrpSpPr>
        <p:grpSpPr>
          <a:xfrm>
            <a:off x="3074497" y="2171485"/>
            <a:ext cx="9613812" cy="7600819"/>
            <a:chOff x="7315200" y="2599758"/>
            <a:chExt cx="9103618" cy="7191942"/>
          </a:xfrm>
        </p:grpSpPr>
        <p:pic>
          <p:nvPicPr>
            <p:cNvPr id="11" name="Picture 10">
              <a:hlinkClick r:id="rId7"/>
              <a:extLst>
                <a:ext uri="{FF2B5EF4-FFF2-40B4-BE49-F238E27FC236}">
                  <a16:creationId xmlns:a16="http://schemas.microsoft.com/office/drawing/2014/main" id="{20AECC6E-360A-9A2D-5ABC-4E4152E968FB}"/>
                </a:ext>
              </a:extLst>
            </p:cNvPr>
            <p:cNvPicPr>
              <a:picLocks noChangeAspect="1"/>
            </p:cNvPicPr>
            <p:nvPr/>
          </p:nvPicPr>
          <p:blipFill>
            <a:blip r:embed="rId8"/>
            <a:stretch>
              <a:fillRect/>
            </a:stretch>
          </p:blipFill>
          <p:spPr>
            <a:xfrm>
              <a:off x="7315200" y="2599758"/>
              <a:ext cx="9103618" cy="7191942"/>
            </a:xfrm>
            <a:prstGeom prst="rect">
              <a:avLst/>
            </a:prstGeom>
            <a:ln>
              <a:solidFill>
                <a:schemeClr val="bg1">
                  <a:lumMod val="65000"/>
                </a:schemeClr>
              </a:solidFill>
            </a:ln>
          </p:spPr>
        </p:pic>
        <p:sp>
          <p:nvSpPr>
            <p:cNvPr id="12" name="Rectangle 11">
              <a:extLst>
                <a:ext uri="{FF2B5EF4-FFF2-40B4-BE49-F238E27FC236}">
                  <a16:creationId xmlns:a16="http://schemas.microsoft.com/office/drawing/2014/main" id="{5646DCEA-BE9D-3700-7187-0C5C1F0AFD83}"/>
                </a:ext>
              </a:extLst>
            </p:cNvPr>
            <p:cNvSpPr/>
            <p:nvPr/>
          </p:nvSpPr>
          <p:spPr>
            <a:xfrm>
              <a:off x="7391400" y="5372100"/>
              <a:ext cx="8785963" cy="10668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solidFill>
                  <a:schemeClr val="bg1"/>
                </a:solidFill>
              </a:endParaRPr>
            </a:p>
          </p:txBody>
        </p:sp>
        <p:sp>
          <p:nvSpPr>
            <p:cNvPr id="13" name="Rectangle 12">
              <a:extLst>
                <a:ext uri="{FF2B5EF4-FFF2-40B4-BE49-F238E27FC236}">
                  <a16:creationId xmlns:a16="http://schemas.microsoft.com/office/drawing/2014/main" id="{2E264946-9613-24BC-0B8C-5E519AF6B1F4}"/>
                </a:ext>
              </a:extLst>
            </p:cNvPr>
            <p:cNvSpPr/>
            <p:nvPr/>
          </p:nvSpPr>
          <p:spPr>
            <a:xfrm>
              <a:off x="11696700" y="6745206"/>
              <a:ext cx="1219201" cy="30329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solidFill>
                  <a:schemeClr val="bg1"/>
                </a:solidFill>
              </a:endParaRPr>
            </a:p>
          </p:txBody>
        </p:sp>
      </p:grpSp>
    </p:spTree>
    <p:extLst>
      <p:ext uri="{BB962C8B-B14F-4D97-AF65-F5344CB8AC3E}">
        <p14:creationId xmlns:p14="http://schemas.microsoft.com/office/powerpoint/2010/main" val="1610994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ECACE929-5B37-3727-0828-9D9C399F5E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B57DC2-122A-350A-2DBE-8C3B04656C04}"/>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10BCDBBE-74D9-411E-F26F-071192A93ADA}"/>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D4171128-DD03-B992-A02F-6DA78CD0A743}"/>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55587B7F-4A5D-3BFE-D512-A144997BAE71}"/>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7A8C2327-C953-4409-6B73-4124C345B5E3}"/>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E807B9A9-E7AA-D391-95F9-AC030D94C5CD}"/>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2BEF1A3C-0B9D-18EA-B1D6-52A20E77CD47}"/>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AFB32017-0322-9789-1439-A3615F899E10}"/>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Empresas</a:t>
            </a:r>
            <a:endParaRPr lang="es-ES" sz="4800" b="1" noProof="0" dirty="0"/>
          </a:p>
        </p:txBody>
      </p:sp>
      <p:sp>
        <p:nvSpPr>
          <p:cNvPr id="9" name="Content Placeholder 2">
            <a:extLst>
              <a:ext uri="{FF2B5EF4-FFF2-40B4-BE49-F238E27FC236}">
                <a16:creationId xmlns:a16="http://schemas.microsoft.com/office/drawing/2014/main" id="{B8E06C06-C5AF-D0A3-3F0D-1EFB9E1E2578}"/>
              </a:ext>
            </a:extLst>
          </p:cNvPr>
          <p:cNvSpPr txBox="1">
            <a:spLocks/>
          </p:cNvSpPr>
          <p:nvPr/>
        </p:nvSpPr>
        <p:spPr>
          <a:xfrm>
            <a:off x="734927" y="9150175"/>
            <a:ext cx="14292953"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dirty="0"/>
              <a:t>Consejo:</a:t>
            </a:r>
            <a:r>
              <a:rPr lang="es-ES" dirty="0"/>
              <a:t> Empresas, socios comerciales, clientes, ...</a:t>
            </a:r>
          </a:p>
        </p:txBody>
      </p:sp>
      <p:graphicFrame>
        <p:nvGraphicFramePr>
          <p:cNvPr id="10" name="Table 5">
            <a:extLst>
              <a:ext uri="{FF2B5EF4-FFF2-40B4-BE49-F238E27FC236}">
                <a16:creationId xmlns:a16="http://schemas.microsoft.com/office/drawing/2014/main" id="{EDB7D8B1-1B26-B670-44C9-68020F125BBE}"/>
              </a:ext>
            </a:extLst>
          </p:cNvPr>
          <p:cNvGraphicFramePr>
            <a:graphicFrameLocks/>
          </p:cNvGraphicFramePr>
          <p:nvPr>
            <p:extLst>
              <p:ext uri="{D42A27DB-BD31-4B8C-83A1-F6EECF244321}">
                <p14:modId xmlns:p14="http://schemas.microsoft.com/office/powerpoint/2010/main" val="1262092021"/>
              </p:ext>
            </p:extLst>
          </p:nvPr>
        </p:nvGraphicFramePr>
        <p:xfrm>
          <a:off x="2236532" y="2171700"/>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SP&amp;M, Sociedade de Advogados, RL </a:t>
                      </a:r>
                    </a:p>
                  </a:txBody>
                  <a:tcPr anchor="ctr">
                    <a:solidFill>
                      <a:schemeClr val="tx1">
                        <a:lumMod val="65000"/>
                        <a:lumOff val="35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510445020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50%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a:t>
                      </a:r>
                    </a:p>
                  </a:txBody>
                  <a:tcPr>
                    <a:solidFill>
                      <a:schemeClr val="bg1">
                        <a:lumMod val="95000"/>
                      </a:schemeClr>
                    </a:solidFill>
                  </a:tcPr>
                </a:tc>
                <a:extLst>
                  <a:ext uri="{0D108BD9-81ED-4DB2-BD59-A6C34878D82A}">
                    <a16:rowId xmlns:a16="http://schemas.microsoft.com/office/drawing/2014/main" val="3288223916"/>
                  </a:ext>
                </a:extLst>
              </a:tr>
            </a:tbl>
          </a:graphicData>
        </a:graphic>
      </p:graphicFrame>
      <p:graphicFrame>
        <p:nvGraphicFramePr>
          <p:cNvPr id="11" name="Table 5">
            <a:extLst>
              <a:ext uri="{FF2B5EF4-FFF2-40B4-BE49-F238E27FC236}">
                <a16:creationId xmlns:a16="http://schemas.microsoft.com/office/drawing/2014/main" id="{B268B517-DF65-3E89-CDCA-213970029E20}"/>
              </a:ext>
            </a:extLst>
          </p:cNvPr>
          <p:cNvGraphicFramePr>
            <a:graphicFrameLocks/>
          </p:cNvGraphicFramePr>
          <p:nvPr>
            <p:extLst>
              <p:ext uri="{D42A27DB-BD31-4B8C-83A1-F6EECF244321}">
                <p14:modId xmlns:p14="http://schemas.microsoft.com/office/powerpoint/2010/main" val="1127421183"/>
              </p:ext>
            </p:extLst>
          </p:nvPr>
        </p:nvGraphicFramePr>
        <p:xfrm>
          <a:off x="2236532" y="4466273"/>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Luimonteago, Lda</a:t>
                      </a:r>
                    </a:p>
                  </a:txBody>
                  <a:tcPr anchor="ctr">
                    <a:solidFill>
                      <a:schemeClr val="tx1">
                        <a:lumMod val="65000"/>
                        <a:lumOff val="35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510347070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95%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4.750€</a:t>
                      </a:r>
                    </a:p>
                  </a:txBody>
                  <a:tcPr>
                    <a:solidFill>
                      <a:schemeClr val="bg1">
                        <a:lumMod val="95000"/>
                      </a:schemeClr>
                    </a:solidFill>
                  </a:tcPr>
                </a:tc>
                <a:extLst>
                  <a:ext uri="{0D108BD9-81ED-4DB2-BD59-A6C34878D82A}">
                    <a16:rowId xmlns:a16="http://schemas.microsoft.com/office/drawing/2014/main" val="3288223916"/>
                  </a:ext>
                </a:extLst>
              </a:tr>
            </a:tbl>
          </a:graphicData>
        </a:graphic>
      </p:graphicFrame>
      <p:graphicFrame>
        <p:nvGraphicFramePr>
          <p:cNvPr id="12" name="Table 5">
            <a:extLst>
              <a:ext uri="{FF2B5EF4-FFF2-40B4-BE49-F238E27FC236}">
                <a16:creationId xmlns:a16="http://schemas.microsoft.com/office/drawing/2014/main" id="{217847C0-721F-66FC-078B-0BF9D513EBB2}"/>
              </a:ext>
            </a:extLst>
          </p:cNvPr>
          <p:cNvGraphicFramePr>
            <a:graphicFrameLocks/>
          </p:cNvGraphicFramePr>
          <p:nvPr>
            <p:extLst>
              <p:ext uri="{D42A27DB-BD31-4B8C-83A1-F6EECF244321}">
                <p14:modId xmlns:p14="http://schemas.microsoft.com/office/powerpoint/2010/main" val="42391767"/>
              </p:ext>
            </p:extLst>
          </p:nvPr>
        </p:nvGraphicFramePr>
        <p:xfrm>
          <a:off x="2236532" y="6765253"/>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Oliveiras Gold de Portugal, Lda</a:t>
                      </a:r>
                    </a:p>
                  </a:txBody>
                  <a:tcPr anchor="ctr">
                    <a:solidFill>
                      <a:schemeClr val="tx1">
                        <a:lumMod val="65000"/>
                        <a:lumOff val="35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510172466</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25%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1.200€</a:t>
                      </a:r>
                    </a:p>
                  </a:txBody>
                  <a:tcPr>
                    <a:solidFill>
                      <a:schemeClr val="bg1">
                        <a:lumMod val="95000"/>
                      </a:schemeClr>
                    </a:solidFill>
                  </a:tcPr>
                </a:tc>
                <a:extLst>
                  <a:ext uri="{0D108BD9-81ED-4DB2-BD59-A6C34878D82A}">
                    <a16:rowId xmlns:a16="http://schemas.microsoft.com/office/drawing/2014/main" val="3288223916"/>
                  </a:ext>
                </a:extLst>
              </a:tr>
            </a:tbl>
          </a:graphicData>
        </a:graphic>
      </p:graphicFrame>
      <p:graphicFrame>
        <p:nvGraphicFramePr>
          <p:cNvPr id="13" name="Table 5">
            <a:extLst>
              <a:ext uri="{FF2B5EF4-FFF2-40B4-BE49-F238E27FC236}">
                <a16:creationId xmlns:a16="http://schemas.microsoft.com/office/drawing/2014/main" id="{7A31AA46-42F1-19D2-3B5E-1D3B8E9D58A1}"/>
              </a:ext>
            </a:extLst>
          </p:cNvPr>
          <p:cNvGraphicFramePr>
            <a:graphicFrameLocks/>
          </p:cNvGraphicFramePr>
          <p:nvPr>
            <p:extLst>
              <p:ext uri="{D42A27DB-BD31-4B8C-83A1-F6EECF244321}">
                <p14:modId xmlns:p14="http://schemas.microsoft.com/office/powerpoint/2010/main" val="64183420"/>
              </p:ext>
            </p:extLst>
          </p:nvPr>
        </p:nvGraphicFramePr>
        <p:xfrm>
          <a:off x="8072522" y="2171700"/>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Grupo Ferpinta, SA</a:t>
                      </a:r>
                    </a:p>
                  </a:txBody>
                  <a:tcPr anchor="ctr">
                    <a:solidFill>
                      <a:schemeClr val="tx1">
                        <a:lumMod val="65000"/>
                        <a:lumOff val="35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501756710</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Presidente de la Junta General</a:t>
                      </a:r>
                    </a:p>
                  </a:txBody>
                  <a:tcPr>
                    <a:solidFill>
                      <a:schemeClr val="bg1">
                        <a:lumMod val="95000"/>
                      </a:schemeClr>
                    </a:solidFill>
                  </a:tcPr>
                </a:tc>
                <a:extLst>
                  <a:ext uri="{0D108BD9-81ED-4DB2-BD59-A6C34878D82A}">
                    <a16:rowId xmlns:a16="http://schemas.microsoft.com/office/drawing/2014/main" val="3288223916"/>
                  </a:ext>
                </a:extLst>
              </a:tr>
            </a:tbl>
          </a:graphicData>
        </a:graphic>
      </p:graphicFrame>
      <p:graphicFrame>
        <p:nvGraphicFramePr>
          <p:cNvPr id="14" name="Table 5">
            <a:extLst>
              <a:ext uri="{FF2B5EF4-FFF2-40B4-BE49-F238E27FC236}">
                <a16:creationId xmlns:a16="http://schemas.microsoft.com/office/drawing/2014/main" id="{7A2430C6-6572-8A61-79DF-08976DBF2079}"/>
              </a:ext>
            </a:extLst>
          </p:cNvPr>
          <p:cNvGraphicFramePr>
            <a:graphicFrameLocks/>
          </p:cNvGraphicFramePr>
          <p:nvPr>
            <p:extLst>
              <p:ext uri="{D42A27DB-BD31-4B8C-83A1-F6EECF244321}">
                <p14:modId xmlns:p14="http://schemas.microsoft.com/office/powerpoint/2010/main" val="2109630859"/>
              </p:ext>
            </p:extLst>
          </p:nvPr>
        </p:nvGraphicFramePr>
        <p:xfrm>
          <a:off x="8072522" y="4466273"/>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2619954489"/>
                    </a:ext>
                  </a:extLst>
                </a:gridCol>
              </a:tblGrid>
              <a:tr h="377865">
                <a:tc>
                  <a:txBody>
                    <a:bodyPr/>
                    <a:lstStyle/>
                    <a:p>
                      <a:pPr algn="l"/>
                      <a:r>
                        <a:rPr lang="es-ES" sz="2400" noProof="0" dirty="0"/>
                        <a:t>Radio Popular - Eletrodomésticos, SA</a:t>
                      </a:r>
                    </a:p>
                  </a:txBody>
                  <a:tcPr anchor="ctr">
                    <a:solidFill>
                      <a:schemeClr val="tx1">
                        <a:lumMod val="65000"/>
                        <a:lumOff val="35000"/>
                      </a:schemeClr>
                    </a:solidFill>
                  </a:tcPr>
                </a:tc>
                <a:extLst>
                  <a:ext uri="{0D108BD9-81ED-4DB2-BD59-A6C34878D82A}">
                    <a16:rowId xmlns:a16="http://schemas.microsoft.com/office/drawing/2014/main" val="238952809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500674205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Posición – Presidente de la Junta General</a:t>
                      </a:r>
                    </a:p>
                  </a:txBody>
                  <a:tcPr>
                    <a:solidFill>
                      <a:schemeClr val="bg1">
                        <a:lumMod val="95000"/>
                      </a:schemeClr>
                    </a:solidFill>
                  </a:tcPr>
                </a:tc>
                <a:extLst>
                  <a:ext uri="{0D108BD9-81ED-4DB2-BD59-A6C34878D82A}">
                    <a16:rowId xmlns:a16="http://schemas.microsoft.com/office/drawing/2014/main" val="3288223916"/>
                  </a:ext>
                </a:extLst>
              </a:tr>
            </a:tbl>
          </a:graphicData>
        </a:graphic>
      </p:graphicFrame>
      <p:graphicFrame>
        <p:nvGraphicFramePr>
          <p:cNvPr id="15" name="Table 14">
            <a:extLst>
              <a:ext uri="{FF2B5EF4-FFF2-40B4-BE49-F238E27FC236}">
                <a16:creationId xmlns:a16="http://schemas.microsoft.com/office/drawing/2014/main" id="{F69AAA56-FED4-081E-B08D-ED94CA202061}"/>
              </a:ext>
            </a:extLst>
          </p:cNvPr>
          <p:cNvGraphicFramePr>
            <a:graphicFrameLocks noGrp="1"/>
          </p:cNvGraphicFramePr>
          <p:nvPr>
            <p:extLst>
              <p:ext uri="{D42A27DB-BD31-4B8C-83A1-F6EECF244321}">
                <p14:modId xmlns:p14="http://schemas.microsoft.com/office/powerpoint/2010/main" val="2896231478"/>
              </p:ext>
            </p:extLst>
          </p:nvPr>
        </p:nvGraphicFramePr>
        <p:xfrm>
          <a:off x="8072522" y="6765253"/>
          <a:ext cx="4854746" cy="2094393"/>
        </p:xfrm>
        <a:graphic>
          <a:graphicData uri="http://schemas.openxmlformats.org/drawingml/2006/table">
            <a:tbl>
              <a:tblPr firstRow="1" bandRow="1">
                <a:tableStyleId>{5C22544A-7EE6-4342-B048-85BDC9FD1C3A}</a:tableStyleId>
              </a:tblPr>
              <a:tblGrid>
                <a:gridCol w="4854746">
                  <a:extLst>
                    <a:ext uri="{9D8B030D-6E8A-4147-A177-3AD203B41FA5}">
                      <a16:colId xmlns:a16="http://schemas.microsoft.com/office/drawing/2014/main" val="3310387241"/>
                    </a:ext>
                  </a:extLst>
                </a:gridCol>
              </a:tblGrid>
              <a:tr h="377865">
                <a:tc>
                  <a:txBody>
                    <a:bodyPr/>
                    <a:lstStyle/>
                    <a:p>
                      <a:pPr algn="l"/>
                      <a:r>
                        <a:rPr lang="es-ES" sz="2400" noProof="0" dirty="0" err="1"/>
                        <a:t>Spinumviva</a:t>
                      </a:r>
                      <a:r>
                        <a:rPr lang="es-ES" sz="2400" noProof="0" dirty="0"/>
                        <a:t>, Lda</a:t>
                      </a:r>
                    </a:p>
                  </a:txBody>
                  <a:tcPr anchor="ctr">
                    <a:solidFill>
                      <a:schemeClr val="tx2">
                        <a:lumMod val="75000"/>
                      </a:schemeClr>
                    </a:solidFill>
                  </a:tcPr>
                </a:tc>
                <a:extLst>
                  <a:ext uri="{0D108BD9-81ED-4DB2-BD59-A6C34878D82A}">
                    <a16:rowId xmlns:a16="http://schemas.microsoft.com/office/drawing/2014/main" val="1490259954"/>
                  </a:ext>
                </a:extLst>
              </a:tr>
              <a:tr h="1637193">
                <a:tc>
                  <a:txBody>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NIF – 516195174</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Cargo – 62.5%</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s-ES" sz="2000" kern="1200" noProof="0" dirty="0">
                          <a:solidFill>
                            <a:schemeClr val="dk1"/>
                          </a:solidFill>
                          <a:latin typeface="+mn-lt"/>
                          <a:ea typeface="+mn-ea"/>
                          <a:cs typeface="+mn-cs"/>
                        </a:rPr>
                        <a:t>Share – 3.750€</a:t>
                      </a:r>
                    </a:p>
                  </a:txBody>
                  <a:tcPr>
                    <a:solidFill>
                      <a:schemeClr val="tx2">
                        <a:lumMod val="20000"/>
                        <a:lumOff val="80000"/>
                      </a:schemeClr>
                    </a:solidFill>
                  </a:tcPr>
                </a:tc>
                <a:extLst>
                  <a:ext uri="{0D108BD9-81ED-4DB2-BD59-A6C34878D82A}">
                    <a16:rowId xmlns:a16="http://schemas.microsoft.com/office/drawing/2014/main" val="2212561031"/>
                  </a:ext>
                </a:extLst>
              </a:tr>
            </a:tbl>
          </a:graphicData>
        </a:graphic>
      </p:graphicFrame>
    </p:spTree>
    <p:extLst>
      <p:ext uri="{BB962C8B-B14F-4D97-AF65-F5344CB8AC3E}">
        <p14:creationId xmlns:p14="http://schemas.microsoft.com/office/powerpoint/2010/main" val="405184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07B096CB-8F4D-F898-7456-E2523AED241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8BCF4BE-068B-A512-2EE4-18F71C399956}"/>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55D333F2-844D-55FF-5F7D-81DFCF220071}"/>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D326150B-F2AB-B1C2-56E8-A516A34CC589}"/>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pic>
        <p:nvPicPr>
          <p:cNvPr id="16" name="Picture 15">
            <a:extLst>
              <a:ext uri="{FF2B5EF4-FFF2-40B4-BE49-F238E27FC236}">
                <a16:creationId xmlns:a16="http://schemas.microsoft.com/office/drawing/2014/main" id="{A5B61B75-2B6D-4523-B975-7FA3C7117451}"/>
              </a:ext>
            </a:extLst>
          </p:cNvPr>
          <p:cNvPicPr>
            <a:picLocks noChangeAspect="1"/>
          </p:cNvPicPr>
          <p:nvPr/>
        </p:nvPicPr>
        <p:blipFill>
          <a:blip r:embed="rId3"/>
          <a:stretch>
            <a:fillRect/>
          </a:stretch>
        </p:blipFill>
        <p:spPr>
          <a:xfrm>
            <a:off x="6935494" y="1891118"/>
            <a:ext cx="5909507" cy="8133143"/>
          </a:xfrm>
          <a:prstGeom prst="rect">
            <a:avLst/>
          </a:prstGeom>
          <a:ln>
            <a:solidFill>
              <a:schemeClr val="bg1">
                <a:lumMod val="65000"/>
              </a:schemeClr>
            </a:solidFill>
          </a:ln>
        </p:spPr>
      </p:pic>
      <p:sp>
        <p:nvSpPr>
          <p:cNvPr id="5" name="Freeform 5">
            <a:extLst>
              <a:ext uri="{FF2B5EF4-FFF2-40B4-BE49-F238E27FC236}">
                <a16:creationId xmlns:a16="http://schemas.microsoft.com/office/drawing/2014/main" id="{B3EB9387-32D1-4277-7707-DDA2C2DF1C5D}"/>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4"/>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CCFBA448-ADAB-C73B-2590-5724E86D5710}"/>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5">
              <a:extLst>
                <a:ext uri="{96DAC541-7B7A-43D3-8B79-37D633B846F1}">
                  <asvg:svgBlip xmlns:asvg="http://schemas.microsoft.com/office/drawing/2016/SVG/main" r:embed="rId6"/>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FB9793D3-89AC-F173-2FDD-86F4673D2820}"/>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5">
              <a:extLst>
                <a:ext uri="{96DAC541-7B7A-43D3-8B79-37D633B846F1}">
                  <asvg:svgBlip xmlns:asvg="http://schemas.microsoft.com/office/drawing/2016/SVG/main" r:embed="rId6"/>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71C19053-3714-06FE-76CD-52852517C528}"/>
              </a:ext>
            </a:extLst>
          </p:cNvPr>
          <p:cNvPicPr>
            <a:picLocks noChangeAspect="1"/>
          </p:cNvPicPr>
          <p:nvPr/>
        </p:nvPicPr>
        <p:blipFill>
          <a:blip r:embed="rId7"/>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46EF4544-B963-95E1-3717-57A238728838}"/>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err="1"/>
              <a:t>Spinumviva</a:t>
            </a:r>
            <a:r>
              <a:rPr lang="es-ES" sz="4800" b="1" dirty="0"/>
              <a:t>, Lda - 516195174</a:t>
            </a:r>
          </a:p>
        </p:txBody>
      </p:sp>
      <p:pic>
        <p:nvPicPr>
          <p:cNvPr id="14" name="Picture 13">
            <a:hlinkClick r:id="rId8"/>
            <a:extLst>
              <a:ext uri="{FF2B5EF4-FFF2-40B4-BE49-F238E27FC236}">
                <a16:creationId xmlns:a16="http://schemas.microsoft.com/office/drawing/2014/main" id="{5780D36E-E43B-FF01-B85C-28211ED52372}"/>
              </a:ext>
            </a:extLst>
          </p:cNvPr>
          <p:cNvPicPr>
            <a:picLocks noChangeAspect="1"/>
          </p:cNvPicPr>
          <p:nvPr/>
        </p:nvPicPr>
        <p:blipFill>
          <a:blip r:embed="rId9"/>
          <a:stretch>
            <a:fillRect/>
          </a:stretch>
        </p:blipFill>
        <p:spPr>
          <a:xfrm>
            <a:off x="1219200" y="4008051"/>
            <a:ext cx="4174521" cy="3899277"/>
          </a:xfrm>
          <a:prstGeom prst="rect">
            <a:avLst/>
          </a:prstGeom>
        </p:spPr>
      </p:pic>
    </p:spTree>
    <p:extLst>
      <p:ext uri="{BB962C8B-B14F-4D97-AF65-F5344CB8AC3E}">
        <p14:creationId xmlns:p14="http://schemas.microsoft.com/office/powerpoint/2010/main" val="2678768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4A07B0E9-F3E3-DDC7-BA6A-99B8044EC5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5C52872-D01F-C331-0FFB-557A6ED6C1CC}"/>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C2230704-0E40-49E7-07A4-1D931A8897E8}"/>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E2ED892-FA53-F4A0-0E20-C508669FE03F}"/>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4119C955-6F8D-E588-0861-0760A66B9E0C}"/>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58AF3F52-DF58-43F2-17FA-47DE89FBA66E}"/>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758F70DE-48CF-2250-F5AD-C5A85D8ABE11}"/>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19F0926B-89DC-FAE8-FCF2-A2BD2C82143C}"/>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74516555-1ABA-D222-1DBE-A9B238F1B371}"/>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Status</a:t>
            </a:r>
            <a:endParaRPr lang="es-ES" sz="4800" b="1" noProof="0" dirty="0"/>
          </a:p>
        </p:txBody>
      </p:sp>
      <p:sp>
        <p:nvSpPr>
          <p:cNvPr id="12" name="Content Placeholder 4">
            <a:extLst>
              <a:ext uri="{FF2B5EF4-FFF2-40B4-BE49-F238E27FC236}">
                <a16:creationId xmlns:a16="http://schemas.microsoft.com/office/drawing/2014/main" id="{A8586047-0B84-6DDB-FCFF-6AE569F46480}"/>
              </a:ext>
            </a:extLst>
          </p:cNvPr>
          <p:cNvSpPr txBox="1">
            <a:spLocks/>
          </p:cNvSpPr>
          <p:nvPr/>
        </p:nvSpPr>
        <p:spPr>
          <a:xfrm>
            <a:off x="581691" y="2442911"/>
            <a:ext cx="7113673" cy="6004284"/>
          </a:xfrm>
          <a:prstGeom prst="rect">
            <a:avLst/>
          </a:prstGeom>
          <a:ln>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400" b="1" dirty="0"/>
              <a:t>Nombre</a:t>
            </a:r>
            <a:r>
              <a:rPr lang="es-ES" sz="2400" dirty="0"/>
              <a:t>: Luís Montenegro</a:t>
            </a:r>
          </a:p>
          <a:p>
            <a:pPr marL="0" indent="0">
              <a:buNone/>
            </a:pPr>
            <a:r>
              <a:rPr lang="es-ES" sz="2400" b="1" dirty="0"/>
              <a:t>Nombre:</a:t>
            </a:r>
            <a:r>
              <a:rPr lang="es-ES" sz="2400" dirty="0"/>
              <a:t> </a:t>
            </a:r>
            <a:r>
              <a:rPr lang="es-ES" sz="2000" dirty="0"/>
              <a:t>Luís Filipe Montenegro Cardoso de Morais Esteves</a:t>
            </a:r>
          </a:p>
          <a:p>
            <a:pPr marL="0" indent="0">
              <a:buNone/>
            </a:pPr>
            <a:r>
              <a:rPr lang="es-ES" sz="2400" b="1" dirty="0"/>
              <a:t>NIF: </a:t>
            </a:r>
            <a:r>
              <a:rPr lang="es-ES" sz="2400" dirty="0"/>
              <a:t>205910254</a:t>
            </a:r>
          </a:p>
          <a:p>
            <a:pPr marL="0" indent="0">
              <a:buNone/>
            </a:pPr>
            <a:r>
              <a:rPr lang="es-ES" sz="2400" b="1" dirty="0"/>
              <a:t>Nacimiento</a:t>
            </a:r>
            <a:r>
              <a:rPr lang="es-ES" sz="2400" dirty="0"/>
              <a:t>: 16/02/1973 - Porto</a:t>
            </a:r>
          </a:p>
          <a:p>
            <a:pPr marL="0" indent="0">
              <a:buNone/>
            </a:pPr>
            <a:r>
              <a:rPr lang="es-ES" sz="2400" b="1" dirty="0"/>
              <a:t>Estado civil</a:t>
            </a:r>
            <a:r>
              <a:rPr lang="es-ES" sz="2400" dirty="0"/>
              <a:t>: </a:t>
            </a:r>
          </a:p>
          <a:p>
            <a:pPr marL="114300" indent="0">
              <a:buNone/>
            </a:pPr>
            <a:r>
              <a:rPr lang="es-ES" sz="2000" dirty="0"/>
              <a:t>- Casado - </a:t>
            </a:r>
            <a:r>
              <a:rPr lang="pt-BR" sz="2000" dirty="0"/>
              <a:t>Carla Maria Rodrigues Neto Montenegro</a:t>
            </a:r>
          </a:p>
          <a:p>
            <a:pPr marL="114300" indent="0">
              <a:buNone/>
            </a:pPr>
            <a:r>
              <a:rPr lang="es-ES" sz="2000" dirty="0"/>
              <a:t>       - Comunión de bienes adquiridos</a:t>
            </a:r>
          </a:p>
          <a:p>
            <a:pPr marL="114300" indent="0">
              <a:buNone/>
            </a:pPr>
            <a:r>
              <a:rPr lang="es-ES" sz="2000" dirty="0"/>
              <a:t>- </a:t>
            </a:r>
            <a:r>
              <a:rPr lang="es-ES" sz="2000" b="1" dirty="0">
                <a:solidFill>
                  <a:schemeClr val="tx2">
                    <a:lumMod val="60000"/>
                    <a:lumOff val="40000"/>
                  </a:schemeClr>
                </a:solidFill>
              </a:rPr>
              <a:t>Hugo Filipe Neto Montenegro</a:t>
            </a:r>
          </a:p>
          <a:p>
            <a:pPr marL="114300" indent="0">
              <a:buNone/>
            </a:pPr>
            <a:r>
              <a:rPr lang="es-ES" sz="2000" dirty="0"/>
              <a:t>- </a:t>
            </a:r>
            <a:r>
              <a:rPr lang="es-ES" sz="2000" b="1" dirty="0">
                <a:solidFill>
                  <a:schemeClr val="tx2">
                    <a:lumMod val="60000"/>
                    <a:lumOff val="40000"/>
                  </a:schemeClr>
                </a:solidFill>
              </a:rPr>
              <a:t>Diogo Luís Neto Montenegro</a:t>
            </a:r>
          </a:p>
          <a:p>
            <a:pPr marL="0" indent="0">
              <a:buNone/>
            </a:pPr>
            <a:r>
              <a:rPr lang="pt-BR" sz="2400" b="1" dirty="0"/>
              <a:t>Dirección:</a:t>
            </a:r>
          </a:p>
          <a:p>
            <a:pPr marL="119063" indent="0">
              <a:buNone/>
            </a:pPr>
            <a:r>
              <a:rPr lang="pt-BR" sz="2000" dirty="0"/>
              <a:t>- </a:t>
            </a:r>
            <a:r>
              <a:rPr lang="pt-BR" sz="2000" b="1" dirty="0">
                <a:solidFill>
                  <a:schemeClr val="tx2">
                    <a:lumMod val="60000"/>
                    <a:lumOff val="40000"/>
                  </a:schemeClr>
                </a:solidFill>
              </a:rPr>
              <a:t>Avenida 8, nº 320</a:t>
            </a:r>
          </a:p>
          <a:p>
            <a:pPr marL="119063" indent="0">
              <a:buNone/>
            </a:pPr>
            <a:r>
              <a:rPr lang="pt-BR" sz="2000" dirty="0"/>
              <a:t>- </a:t>
            </a:r>
            <a:r>
              <a:rPr lang="pt-BR" sz="2000" b="1" dirty="0">
                <a:solidFill>
                  <a:schemeClr val="tx2">
                    <a:lumMod val="60000"/>
                    <a:lumOff val="40000"/>
                  </a:schemeClr>
                </a:solidFill>
              </a:rPr>
              <a:t>4500 - 205 Espinho</a:t>
            </a:r>
          </a:p>
          <a:p>
            <a:pPr marL="0" indent="0">
              <a:buNone/>
            </a:pPr>
            <a:r>
              <a:rPr lang="es-ES" sz="2400" b="1" dirty="0"/>
              <a:t>Email: </a:t>
            </a:r>
            <a:r>
              <a:rPr lang="es-ES" sz="2400" dirty="0"/>
              <a:t>lmontenegro@spm-advogados.com</a:t>
            </a:r>
          </a:p>
          <a:p>
            <a:pPr marL="0" indent="0">
              <a:buNone/>
            </a:pPr>
            <a:r>
              <a:rPr lang="es-ES" sz="2400" b="1" dirty="0"/>
              <a:t>Educación</a:t>
            </a:r>
            <a:r>
              <a:rPr lang="es-ES" sz="2400" dirty="0"/>
              <a:t>: </a:t>
            </a:r>
          </a:p>
          <a:p>
            <a:pPr marL="114300" indent="0">
              <a:buNone/>
            </a:pPr>
            <a:r>
              <a:rPr lang="es-ES" sz="2000" dirty="0"/>
              <a:t>- Licenciado en Derecho - Universidad Católica Portuguesa - 1999</a:t>
            </a:r>
          </a:p>
          <a:p>
            <a:pPr marL="114300" indent="0">
              <a:buNone/>
            </a:pPr>
            <a:r>
              <a:rPr lang="es-ES" sz="2000" dirty="0"/>
              <a:t>- Postgrado en Protección de Datos Personales – INSEAD</a:t>
            </a:r>
          </a:p>
          <a:p>
            <a:pPr marL="114300" indent="0">
              <a:buNone/>
            </a:pPr>
            <a:r>
              <a:rPr lang="es-ES" sz="2000" dirty="0"/>
              <a:t>- Programa de Gestión Avanzada - INSEAD</a:t>
            </a:r>
          </a:p>
        </p:txBody>
      </p:sp>
      <p:sp>
        <p:nvSpPr>
          <p:cNvPr id="13" name="Content Placeholder 4">
            <a:extLst>
              <a:ext uri="{FF2B5EF4-FFF2-40B4-BE49-F238E27FC236}">
                <a16:creationId xmlns:a16="http://schemas.microsoft.com/office/drawing/2014/main" id="{EE7B9823-6FBF-6A59-C38C-789C33157D67}"/>
              </a:ext>
            </a:extLst>
          </p:cNvPr>
          <p:cNvSpPr txBox="1">
            <a:spLocks/>
          </p:cNvSpPr>
          <p:nvPr/>
        </p:nvSpPr>
        <p:spPr>
          <a:xfrm>
            <a:off x="7973927" y="2442911"/>
            <a:ext cx="7113673" cy="6004284"/>
          </a:xfrm>
          <a:prstGeom prst="rect">
            <a:avLst/>
          </a:prstGeom>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s-ES" sz="2400" b="1" noProof="0" dirty="0"/>
              <a:t>Empleo anterior:</a:t>
            </a:r>
          </a:p>
          <a:p>
            <a:pPr marL="457200" lvl="1" indent="-228600">
              <a:buNone/>
            </a:pPr>
            <a:r>
              <a:rPr lang="es-ES" sz="2000" noProof="0" dirty="0"/>
              <a:t>- Abogado - 44944P</a:t>
            </a:r>
          </a:p>
          <a:p>
            <a:pPr marL="457200" lvl="1" indent="-228600">
              <a:buNone/>
            </a:pPr>
            <a:r>
              <a:rPr lang="es-ES" sz="2000" noProof="0" dirty="0"/>
              <a:t>- Abogado – Fundador y socio del bufete SP&amp;M - (50%)</a:t>
            </a:r>
          </a:p>
          <a:p>
            <a:pPr marL="457200" lvl="1" indent="-228600">
              <a:buNone/>
            </a:pPr>
            <a:r>
              <a:rPr lang="es-ES" sz="2000" noProof="0" dirty="0"/>
              <a:t>- Presidente de la Junta General del Grupo Ferpinta</a:t>
            </a:r>
          </a:p>
          <a:p>
            <a:pPr marL="457200" lvl="1" indent="-228600">
              <a:buNone/>
            </a:pPr>
            <a:r>
              <a:rPr lang="es-ES" sz="2000" noProof="0" dirty="0"/>
              <a:t>- Presidente de la Junta General de Rádio Popular</a:t>
            </a:r>
          </a:p>
          <a:p>
            <a:pPr marL="457200" lvl="1" indent="-228600">
              <a:buNone/>
            </a:pPr>
            <a:r>
              <a:rPr lang="es-ES" sz="2000" dirty="0"/>
              <a:t>- </a:t>
            </a:r>
            <a:r>
              <a:rPr lang="pt-BR" sz="2000" noProof="0" dirty="0"/>
              <a:t>Oliveiras Gold de Portugal, Lda (25%) - Bragança</a:t>
            </a:r>
          </a:p>
          <a:p>
            <a:pPr marL="457200" lvl="1" indent="-228600">
              <a:buNone/>
            </a:pPr>
            <a:r>
              <a:rPr lang="es-ES" sz="2000" dirty="0"/>
              <a:t>- </a:t>
            </a:r>
            <a:r>
              <a:rPr lang="pt-BR" sz="2000" noProof="0" dirty="0"/>
              <a:t>Luimonteago, Lda (95%) - Barcelos</a:t>
            </a:r>
          </a:p>
          <a:p>
            <a:pPr marL="0" indent="0">
              <a:buNone/>
            </a:pPr>
            <a:r>
              <a:rPr lang="es-ES" sz="2400" b="1" noProof="0" dirty="0"/>
              <a:t>Político:</a:t>
            </a:r>
          </a:p>
          <a:p>
            <a:pPr marL="457200" lvl="1" indent="-228600">
              <a:buNone/>
            </a:pPr>
            <a:r>
              <a:rPr lang="es-ES" sz="2000" noProof="0" dirty="0"/>
              <a:t>- Miembro y presidente de la Asamblea Municipal de Espinho y concejal</a:t>
            </a:r>
          </a:p>
          <a:p>
            <a:pPr marL="457200" lvl="1" indent="-228600">
              <a:buNone/>
            </a:pPr>
            <a:r>
              <a:rPr lang="es-ES" sz="2000" noProof="0" dirty="0"/>
              <a:t>- Diputado en 2002, 2005, 2009, 2011 y 2015 (16 años)</a:t>
            </a:r>
          </a:p>
          <a:p>
            <a:pPr marL="457200" lvl="1" indent="-228600">
              <a:buNone/>
            </a:pPr>
            <a:r>
              <a:rPr lang="es-ES" sz="2000" noProof="0" dirty="0"/>
              <a:t>- Presidente del Grupo Parlamentario del PSD de 2011 a 2017</a:t>
            </a:r>
          </a:p>
          <a:p>
            <a:pPr marL="457200" lvl="1" indent="-228600">
              <a:buNone/>
            </a:pPr>
            <a:r>
              <a:rPr lang="es-ES" sz="2000" noProof="0" dirty="0"/>
              <a:t>- Líder del Partido Socialdemócrata (PSD) desde el 28 de mayo de 2022</a:t>
            </a:r>
            <a:endParaRPr lang="es-ES" sz="1600" noProof="0" dirty="0"/>
          </a:p>
        </p:txBody>
      </p:sp>
    </p:spTree>
    <p:extLst>
      <p:ext uri="{BB962C8B-B14F-4D97-AF65-F5344CB8AC3E}">
        <p14:creationId xmlns:p14="http://schemas.microsoft.com/office/powerpoint/2010/main" val="2566774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DAB93B1B-7957-8B49-6D47-8F8E569D91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BE3554-4382-2494-116F-9E29C7A7D85A}"/>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A2635865-69C7-BF5A-F5C9-C268B2A50EC2}"/>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AD6F0BE6-D861-8B96-E2EE-2968422E8E0F}"/>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4C8F38F7-EAA3-3E63-FEF8-A3019CE817E2}"/>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C801A355-3D2A-AEB6-2CDD-D8C043B6646C}"/>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AB7BFD5C-8809-3270-0239-E35A975C67BE}"/>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C59B013A-5CFC-0F06-0854-74DF14093B55}"/>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3F0AD3B8-4446-D5FF-D2C2-43E5B9F10C83}"/>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err="1"/>
              <a:t>Spinumviva</a:t>
            </a:r>
            <a:r>
              <a:rPr lang="es-ES" sz="4800" b="1" dirty="0"/>
              <a:t>, Lda - 516195174</a:t>
            </a:r>
          </a:p>
        </p:txBody>
      </p:sp>
      <p:pic>
        <p:nvPicPr>
          <p:cNvPr id="10" name="Picture 9">
            <a:hlinkClick r:id="rId7"/>
            <a:extLst>
              <a:ext uri="{FF2B5EF4-FFF2-40B4-BE49-F238E27FC236}">
                <a16:creationId xmlns:a16="http://schemas.microsoft.com/office/drawing/2014/main" id="{84FF3288-1509-028D-193E-6AA62DF3C251}"/>
              </a:ext>
            </a:extLst>
          </p:cNvPr>
          <p:cNvPicPr>
            <a:picLocks noChangeAspect="1"/>
          </p:cNvPicPr>
          <p:nvPr/>
        </p:nvPicPr>
        <p:blipFill>
          <a:blip r:embed="rId8"/>
          <a:stretch>
            <a:fillRect/>
          </a:stretch>
        </p:blipFill>
        <p:spPr>
          <a:xfrm>
            <a:off x="2117631" y="2455611"/>
            <a:ext cx="11527544" cy="6855728"/>
          </a:xfrm>
          <a:prstGeom prst="rect">
            <a:avLst/>
          </a:prstGeom>
          <a:ln>
            <a:solidFill>
              <a:schemeClr val="bg1">
                <a:lumMod val="65000"/>
              </a:schemeClr>
            </a:solidFill>
          </a:ln>
        </p:spPr>
      </p:pic>
    </p:spTree>
    <p:extLst>
      <p:ext uri="{BB962C8B-B14F-4D97-AF65-F5344CB8AC3E}">
        <p14:creationId xmlns:p14="http://schemas.microsoft.com/office/powerpoint/2010/main" val="919563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EC11BA1E-F3DD-F5BC-EFC0-EF96329FEEF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65C359E-D340-7EFC-AFFE-E6F59E06111B}"/>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E6442761-944B-B2B2-6ED5-C05621649507}"/>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5D8F0333-B0F7-143D-4264-D258C88D5B3A}"/>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9658E65F-E5C7-37CD-FF42-F1821D6FB61D}"/>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DFF6BB99-035C-7572-7C7F-54D4E552680C}"/>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AFBCCC92-4FF4-CC90-3E5B-53675AD035D3}"/>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B51905B5-6DBE-7A22-B5BC-D88E9026C3C1}"/>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EC9CDD3A-1168-3961-7349-D758D3D06026}"/>
              </a:ext>
            </a:extLst>
          </p:cNvPr>
          <p:cNvSpPr txBox="1">
            <a:spLocks/>
          </p:cNvSpPr>
          <p:nvPr/>
        </p:nvSpPr>
        <p:spPr>
          <a:xfrm>
            <a:off x="734927" y="800100"/>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Status</a:t>
            </a:r>
            <a:endParaRPr lang="es-ES" sz="4800" b="1" noProof="0" dirty="0"/>
          </a:p>
        </p:txBody>
      </p:sp>
      <p:sp>
        <p:nvSpPr>
          <p:cNvPr id="12" name="Content Placeholder 4">
            <a:extLst>
              <a:ext uri="{FF2B5EF4-FFF2-40B4-BE49-F238E27FC236}">
                <a16:creationId xmlns:a16="http://schemas.microsoft.com/office/drawing/2014/main" id="{AD97D2ED-D476-0AAB-C452-6D8E9D11E310}"/>
              </a:ext>
            </a:extLst>
          </p:cNvPr>
          <p:cNvSpPr txBox="1">
            <a:spLocks/>
          </p:cNvSpPr>
          <p:nvPr/>
        </p:nvSpPr>
        <p:spPr>
          <a:xfrm>
            <a:off x="581691" y="1664528"/>
            <a:ext cx="7113673" cy="6004284"/>
          </a:xfrm>
          <a:prstGeom prst="rect">
            <a:avLst/>
          </a:prstGeom>
          <a:ln>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2000" b="1" dirty="0"/>
              <a:t>Nombre</a:t>
            </a:r>
            <a:r>
              <a:rPr lang="es-ES" sz="2000" dirty="0"/>
              <a:t>: Luís Montenegro</a:t>
            </a:r>
          </a:p>
          <a:p>
            <a:pPr marL="0" indent="0">
              <a:buNone/>
            </a:pPr>
            <a:r>
              <a:rPr lang="es-ES" sz="2000" b="1" dirty="0"/>
              <a:t>Nombre:</a:t>
            </a:r>
            <a:r>
              <a:rPr lang="es-ES" sz="2000" dirty="0"/>
              <a:t> Luís Filipe Montenegro Cardoso de Morais Esteves</a:t>
            </a:r>
          </a:p>
          <a:p>
            <a:pPr marL="0" indent="0">
              <a:buNone/>
            </a:pPr>
            <a:r>
              <a:rPr lang="es-ES" sz="2000" b="1" dirty="0"/>
              <a:t>NIF: </a:t>
            </a:r>
            <a:r>
              <a:rPr lang="es-ES" sz="2000" dirty="0"/>
              <a:t>205910254</a:t>
            </a:r>
          </a:p>
          <a:p>
            <a:pPr marL="0" indent="0">
              <a:buNone/>
            </a:pPr>
            <a:r>
              <a:rPr lang="es-ES" sz="2000" b="1" dirty="0"/>
              <a:t>Nacimiento</a:t>
            </a:r>
            <a:r>
              <a:rPr lang="es-ES" sz="2000" dirty="0"/>
              <a:t>: 16/02/1973 - Porto</a:t>
            </a:r>
          </a:p>
          <a:p>
            <a:pPr marL="0" indent="0">
              <a:buNone/>
            </a:pPr>
            <a:r>
              <a:rPr lang="es-ES" sz="2000" b="1" dirty="0"/>
              <a:t>Estado civil</a:t>
            </a:r>
            <a:r>
              <a:rPr lang="es-ES" sz="2000" dirty="0"/>
              <a:t>: </a:t>
            </a:r>
          </a:p>
          <a:p>
            <a:pPr marL="114300" indent="0">
              <a:buNone/>
            </a:pPr>
            <a:r>
              <a:rPr lang="es-ES" sz="2000" dirty="0"/>
              <a:t>- Casado - </a:t>
            </a:r>
            <a:r>
              <a:rPr lang="pt-BR" sz="2000" dirty="0"/>
              <a:t>Carla Maria Rodrigues Neto Montenegro</a:t>
            </a:r>
          </a:p>
          <a:p>
            <a:pPr marL="114300" indent="0">
              <a:buNone/>
            </a:pPr>
            <a:r>
              <a:rPr lang="es-ES" sz="2000" dirty="0"/>
              <a:t>       - Comunión de bienes adquiridos</a:t>
            </a:r>
          </a:p>
          <a:p>
            <a:pPr marL="114300" indent="0">
              <a:buNone/>
            </a:pPr>
            <a:r>
              <a:rPr lang="es-ES" sz="2000" dirty="0"/>
              <a:t>- Hugo Filipe Neto Montenegro – </a:t>
            </a:r>
            <a:r>
              <a:rPr lang="es-ES" sz="2000" b="1" dirty="0">
                <a:solidFill>
                  <a:schemeClr val="tx2">
                    <a:lumMod val="60000"/>
                    <a:lumOff val="40000"/>
                  </a:schemeClr>
                </a:solidFill>
              </a:rPr>
              <a:t>9251XXXXX</a:t>
            </a:r>
          </a:p>
          <a:p>
            <a:pPr marL="114300" indent="0">
              <a:buNone/>
            </a:pPr>
            <a:r>
              <a:rPr lang="es-ES" sz="2000" dirty="0"/>
              <a:t>- Diogo Luís Neto Montenegro</a:t>
            </a:r>
          </a:p>
          <a:p>
            <a:pPr marL="0" indent="0">
              <a:buNone/>
            </a:pPr>
            <a:r>
              <a:rPr lang="pt-BR" sz="2000" b="1" dirty="0"/>
              <a:t>Dirección:</a:t>
            </a:r>
          </a:p>
          <a:p>
            <a:pPr marL="119063" indent="0">
              <a:buNone/>
            </a:pPr>
            <a:r>
              <a:rPr lang="pt-BR" sz="2000" dirty="0"/>
              <a:t>- Avenida 8, nº 320</a:t>
            </a:r>
          </a:p>
          <a:p>
            <a:pPr marL="119063" indent="0">
              <a:buNone/>
            </a:pPr>
            <a:r>
              <a:rPr lang="pt-BR" sz="2000" dirty="0"/>
              <a:t>- 4500 - 205 Espinho</a:t>
            </a:r>
          </a:p>
          <a:p>
            <a:pPr marL="0" indent="0">
              <a:buNone/>
            </a:pPr>
            <a:r>
              <a:rPr lang="es-ES" sz="2000" b="1" dirty="0"/>
              <a:t>Email:</a:t>
            </a:r>
          </a:p>
          <a:p>
            <a:pPr marL="115888" indent="0">
              <a:buNone/>
            </a:pPr>
            <a:r>
              <a:rPr lang="pt-BR" sz="2000" dirty="0"/>
              <a:t>- </a:t>
            </a:r>
            <a:r>
              <a:rPr lang="es-ES" sz="2000" dirty="0"/>
              <a:t>lmontenegro@spm-advogados.com</a:t>
            </a:r>
          </a:p>
          <a:p>
            <a:pPr marL="115888" indent="0">
              <a:buNone/>
            </a:pPr>
            <a:r>
              <a:rPr lang="es-ES" sz="2000" dirty="0"/>
              <a:t>- </a:t>
            </a:r>
            <a:r>
              <a:rPr lang="es-ES" sz="2000" b="1" dirty="0">
                <a:solidFill>
                  <a:schemeClr val="tx2">
                    <a:lumMod val="60000"/>
                    <a:lumOff val="40000"/>
                  </a:schemeClr>
                </a:solidFill>
              </a:rPr>
              <a:t>spinumviva@gmail.com</a:t>
            </a:r>
          </a:p>
          <a:p>
            <a:pPr marL="0" indent="0">
              <a:buNone/>
            </a:pPr>
            <a:r>
              <a:rPr lang="es-ES" sz="2000" b="1" dirty="0"/>
              <a:t>Teléfono:</a:t>
            </a:r>
          </a:p>
          <a:p>
            <a:pPr marL="115888" indent="0">
              <a:buNone/>
            </a:pPr>
            <a:r>
              <a:rPr lang="es-ES" sz="2000" dirty="0"/>
              <a:t>- </a:t>
            </a:r>
            <a:r>
              <a:rPr lang="es-ES" sz="2000" b="1" dirty="0">
                <a:solidFill>
                  <a:schemeClr val="tx2">
                    <a:lumMod val="60000"/>
                    <a:lumOff val="40000"/>
                  </a:schemeClr>
                </a:solidFill>
              </a:rPr>
              <a:t>9685XXXXX</a:t>
            </a:r>
            <a:endParaRPr lang="es-ES" sz="2000" dirty="0"/>
          </a:p>
          <a:p>
            <a:pPr marL="0" indent="0">
              <a:buNone/>
            </a:pPr>
            <a:r>
              <a:rPr lang="es-ES" sz="2000" b="1" dirty="0"/>
              <a:t>Educación</a:t>
            </a:r>
            <a:r>
              <a:rPr lang="es-ES" sz="2000" dirty="0"/>
              <a:t>: </a:t>
            </a:r>
          </a:p>
          <a:p>
            <a:pPr marL="114300" indent="0">
              <a:buNone/>
            </a:pPr>
            <a:r>
              <a:rPr lang="es-ES" sz="2000" dirty="0"/>
              <a:t>- Licenciado en Derecho - Universidad Católica Portuguesa - 1999</a:t>
            </a:r>
          </a:p>
          <a:p>
            <a:pPr marL="114300" indent="0">
              <a:buNone/>
            </a:pPr>
            <a:r>
              <a:rPr lang="es-ES" sz="2000" dirty="0"/>
              <a:t>- Postgrado en Protección de Datos Personales – INSEAD</a:t>
            </a:r>
          </a:p>
          <a:p>
            <a:pPr marL="114300" indent="0">
              <a:buNone/>
            </a:pPr>
            <a:r>
              <a:rPr lang="es-ES" sz="2000" dirty="0"/>
              <a:t>- Programa de Gestión Avanzada - INSEAD</a:t>
            </a:r>
          </a:p>
        </p:txBody>
      </p:sp>
      <p:sp>
        <p:nvSpPr>
          <p:cNvPr id="13" name="Content Placeholder 4">
            <a:extLst>
              <a:ext uri="{FF2B5EF4-FFF2-40B4-BE49-F238E27FC236}">
                <a16:creationId xmlns:a16="http://schemas.microsoft.com/office/drawing/2014/main" id="{C3BAD3CA-45DC-1255-EF8A-97C2AAC7199A}"/>
              </a:ext>
            </a:extLst>
          </p:cNvPr>
          <p:cNvSpPr txBox="1">
            <a:spLocks/>
          </p:cNvSpPr>
          <p:nvPr/>
        </p:nvSpPr>
        <p:spPr>
          <a:xfrm>
            <a:off x="7973927" y="1664528"/>
            <a:ext cx="7113673" cy="6004284"/>
          </a:xfrm>
          <a:prstGeom prst="rect">
            <a:avLst/>
          </a:prstGeom>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r>
              <a:rPr lang="es-ES" sz="2400" b="1" noProof="0" dirty="0"/>
              <a:t>Empleo anterior:</a:t>
            </a:r>
          </a:p>
          <a:p>
            <a:pPr marL="457200" lvl="1" indent="-228600">
              <a:buNone/>
            </a:pPr>
            <a:r>
              <a:rPr lang="es-ES" sz="2000" noProof="0" dirty="0"/>
              <a:t>- Abogado - 44944P</a:t>
            </a:r>
          </a:p>
          <a:p>
            <a:pPr marL="457200" lvl="1" indent="-228600">
              <a:buNone/>
            </a:pPr>
            <a:r>
              <a:rPr lang="es-ES" sz="2000" noProof="0" dirty="0"/>
              <a:t>- Abogado – Fundador y socio del bufete SP&amp;M - (50%)</a:t>
            </a:r>
          </a:p>
          <a:p>
            <a:pPr marL="457200" lvl="1" indent="-228600">
              <a:buNone/>
            </a:pPr>
            <a:r>
              <a:rPr lang="es-ES" sz="2000" noProof="0" dirty="0"/>
              <a:t>- Presidente de la Junta General del Grupo Ferpinta</a:t>
            </a:r>
          </a:p>
          <a:p>
            <a:pPr marL="457200" lvl="1" indent="-228600">
              <a:buNone/>
            </a:pPr>
            <a:r>
              <a:rPr lang="es-ES" sz="2000" noProof="0" dirty="0"/>
              <a:t>- Presidente de la Junta General de Rádio Popular</a:t>
            </a:r>
          </a:p>
          <a:p>
            <a:pPr marL="457200" lvl="1" indent="-228600">
              <a:buNone/>
            </a:pPr>
            <a:r>
              <a:rPr lang="es-ES" sz="2000" dirty="0"/>
              <a:t>- </a:t>
            </a:r>
            <a:r>
              <a:rPr lang="pt-BR" sz="2000" noProof="0" dirty="0"/>
              <a:t>Oliveiras Gold de Portugal, Lda (25%) - Bragança</a:t>
            </a:r>
          </a:p>
          <a:p>
            <a:pPr marL="457200" lvl="1" indent="-228600">
              <a:buNone/>
            </a:pPr>
            <a:r>
              <a:rPr lang="es-ES" sz="2000" dirty="0"/>
              <a:t>- </a:t>
            </a:r>
            <a:r>
              <a:rPr lang="pt-BR" sz="2000" noProof="0" dirty="0"/>
              <a:t>Luimonteago, Lda (95%) - Barcelos</a:t>
            </a:r>
          </a:p>
          <a:p>
            <a:pPr marL="0" indent="0">
              <a:buNone/>
            </a:pPr>
            <a:r>
              <a:rPr lang="es-ES" sz="2400" b="1" noProof="0" dirty="0"/>
              <a:t>Político:</a:t>
            </a:r>
          </a:p>
          <a:p>
            <a:pPr marL="457200" lvl="1" indent="-228600">
              <a:buNone/>
            </a:pPr>
            <a:r>
              <a:rPr lang="es-ES" sz="2000" noProof="0" dirty="0"/>
              <a:t>- Miembro y presidente de la Asamblea Municipal de Espinho y concejal</a:t>
            </a:r>
          </a:p>
          <a:p>
            <a:pPr marL="457200" lvl="1" indent="-228600">
              <a:buNone/>
            </a:pPr>
            <a:r>
              <a:rPr lang="es-ES" sz="2000" noProof="0" dirty="0"/>
              <a:t>- Diputado en 2002, 2005, 2009, 2011 y 2015 (16 años)</a:t>
            </a:r>
          </a:p>
          <a:p>
            <a:pPr marL="457200" lvl="1" indent="-228600">
              <a:buNone/>
            </a:pPr>
            <a:r>
              <a:rPr lang="es-ES" sz="2000" noProof="0" dirty="0"/>
              <a:t>- Presidente del Grupo Parlamentario del PSD de 2011 a 2017</a:t>
            </a:r>
          </a:p>
          <a:p>
            <a:pPr marL="457200" lvl="1" indent="-228600">
              <a:buNone/>
            </a:pPr>
            <a:r>
              <a:rPr lang="es-ES" sz="2000" noProof="0" dirty="0"/>
              <a:t>- Líder del Partido Socialdemócrata (PSD) desde el 28 de mayo de 2022</a:t>
            </a:r>
            <a:endParaRPr lang="es-ES" sz="1600" noProof="0" dirty="0"/>
          </a:p>
        </p:txBody>
      </p:sp>
      <p:sp>
        <p:nvSpPr>
          <p:cNvPr id="9" name="Content Placeholder 2">
            <a:extLst>
              <a:ext uri="{FF2B5EF4-FFF2-40B4-BE49-F238E27FC236}">
                <a16:creationId xmlns:a16="http://schemas.microsoft.com/office/drawing/2014/main" id="{4FCA9470-5BF3-C5CB-1238-379CC3F4B4DA}"/>
              </a:ext>
            </a:extLst>
          </p:cNvPr>
          <p:cNvSpPr txBox="1">
            <a:spLocks/>
          </p:cNvSpPr>
          <p:nvPr/>
        </p:nvSpPr>
        <p:spPr>
          <a:xfrm>
            <a:off x="609600" y="9486900"/>
            <a:ext cx="16665746" cy="6885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noProof="0" dirty="0"/>
              <a:t>Consejo</a:t>
            </a:r>
            <a:r>
              <a:rPr lang="es-ES" noProof="0" dirty="0"/>
              <a:t>: Automatizar tareas</a:t>
            </a:r>
          </a:p>
        </p:txBody>
      </p:sp>
    </p:spTree>
    <p:extLst>
      <p:ext uri="{BB962C8B-B14F-4D97-AF65-F5344CB8AC3E}">
        <p14:creationId xmlns:p14="http://schemas.microsoft.com/office/powerpoint/2010/main" val="3169131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B24001F3-F347-04C1-B0F1-30E281837C4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7F3C4D1-34C5-F0C2-BABF-C7CAA98E5DCE}"/>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7C986769-5D58-CAD2-3E79-2680AB8E3AFB}"/>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BE91B562-0645-8427-3505-C7789830F61E}"/>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FB545624-6449-1368-1BA3-D64CA0E09E43}"/>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5DA998C6-F406-AA07-E4DE-9A4258D1621B}"/>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FC7254F1-3F07-5DD5-B7E8-B6F553E8EFA0}"/>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A698CDAD-E09D-41A0-62B2-33A9BE76808A}"/>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D26F9827-5EE7-82A4-D263-72DC15E9E9D5}"/>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Portal SICAE</a:t>
            </a:r>
          </a:p>
        </p:txBody>
      </p:sp>
      <p:pic>
        <p:nvPicPr>
          <p:cNvPr id="11" name="Picture 10">
            <a:hlinkClick r:id="rId7"/>
            <a:extLst>
              <a:ext uri="{FF2B5EF4-FFF2-40B4-BE49-F238E27FC236}">
                <a16:creationId xmlns:a16="http://schemas.microsoft.com/office/drawing/2014/main" id="{1323A418-9670-124F-5386-3209C04D97BA}"/>
              </a:ext>
            </a:extLst>
          </p:cNvPr>
          <p:cNvPicPr>
            <a:picLocks noChangeAspect="1"/>
          </p:cNvPicPr>
          <p:nvPr/>
        </p:nvPicPr>
        <p:blipFill>
          <a:blip r:embed="rId8"/>
          <a:stretch>
            <a:fillRect/>
          </a:stretch>
        </p:blipFill>
        <p:spPr>
          <a:xfrm>
            <a:off x="734927" y="3438385"/>
            <a:ext cx="4543706" cy="4259724"/>
          </a:xfrm>
          <a:prstGeom prst="rect">
            <a:avLst/>
          </a:prstGeom>
        </p:spPr>
      </p:pic>
      <p:graphicFrame>
        <p:nvGraphicFramePr>
          <p:cNvPr id="12" name="Table 5">
            <a:extLst>
              <a:ext uri="{FF2B5EF4-FFF2-40B4-BE49-F238E27FC236}">
                <a16:creationId xmlns:a16="http://schemas.microsoft.com/office/drawing/2014/main" id="{6A0116F9-67C6-2468-8789-9631FC8D7FC2}"/>
              </a:ext>
            </a:extLst>
          </p:cNvPr>
          <p:cNvGraphicFramePr>
            <a:graphicFrameLocks/>
          </p:cNvGraphicFramePr>
          <p:nvPr>
            <p:extLst>
              <p:ext uri="{D42A27DB-BD31-4B8C-83A1-F6EECF244321}">
                <p14:modId xmlns:p14="http://schemas.microsoft.com/office/powerpoint/2010/main" val="3818199412"/>
              </p:ext>
            </p:extLst>
          </p:nvPr>
        </p:nvGraphicFramePr>
        <p:xfrm>
          <a:off x="5626376" y="3774499"/>
          <a:ext cx="9189680" cy="3587496"/>
        </p:xfrm>
        <a:graphic>
          <a:graphicData uri="http://schemas.openxmlformats.org/drawingml/2006/table">
            <a:tbl>
              <a:tblPr firstRow="1" bandRow="1">
                <a:tableStyleId>{5C22544A-7EE6-4342-B048-85BDC9FD1C3A}</a:tableStyleId>
              </a:tblPr>
              <a:tblGrid>
                <a:gridCol w="951857">
                  <a:extLst>
                    <a:ext uri="{9D8B030D-6E8A-4147-A177-3AD203B41FA5}">
                      <a16:colId xmlns:a16="http://schemas.microsoft.com/office/drawing/2014/main" val="4289972319"/>
                    </a:ext>
                  </a:extLst>
                </a:gridCol>
                <a:gridCol w="8237823">
                  <a:extLst>
                    <a:ext uri="{9D8B030D-6E8A-4147-A177-3AD203B41FA5}">
                      <a16:colId xmlns:a16="http://schemas.microsoft.com/office/drawing/2014/main" val="2619954489"/>
                    </a:ext>
                  </a:extLst>
                </a:gridCol>
              </a:tblGrid>
              <a:tr h="291619">
                <a:tc>
                  <a:txBody>
                    <a:bodyPr/>
                    <a:lstStyle/>
                    <a:p>
                      <a:pPr algn="l"/>
                      <a:r>
                        <a:rPr lang="es-ES" sz="3200" noProof="0" dirty="0"/>
                        <a:t>CAE</a:t>
                      </a:r>
                    </a:p>
                  </a:txBody>
                  <a:tcPr anchor="ctr">
                    <a:solidFill>
                      <a:schemeClr val="accent6">
                        <a:lumMod val="50000"/>
                      </a:schemeClr>
                    </a:solidFill>
                  </a:tcPr>
                </a:tc>
                <a:tc>
                  <a:txBody>
                    <a:bodyPr/>
                    <a:lstStyle/>
                    <a:p>
                      <a:pPr algn="l"/>
                      <a:r>
                        <a:rPr lang="es-ES" sz="3200" noProof="0" dirty="0"/>
                        <a:t>Código de </a:t>
                      </a:r>
                      <a:r>
                        <a:rPr lang="es-ES" sz="3200" noProof="0" dirty="0" err="1"/>
                        <a:t>Actividade</a:t>
                      </a:r>
                      <a:r>
                        <a:rPr lang="es-ES" sz="3200" noProof="0" dirty="0"/>
                        <a:t> Económica</a:t>
                      </a:r>
                    </a:p>
                  </a:txBody>
                  <a:tcPr anchor="ctr">
                    <a:solidFill>
                      <a:schemeClr val="accent6">
                        <a:lumMod val="50000"/>
                      </a:schemeClr>
                    </a:solidFill>
                  </a:tcPr>
                </a:tc>
                <a:extLst>
                  <a:ext uri="{0D108BD9-81ED-4DB2-BD59-A6C34878D82A}">
                    <a16:rowId xmlns:a16="http://schemas.microsoft.com/office/drawing/2014/main" val="2389528094"/>
                  </a:ext>
                </a:extLst>
              </a:tr>
              <a:tr h="365690">
                <a:tc>
                  <a:txBody>
                    <a:bodyPr/>
                    <a:lstStyle/>
                    <a:p>
                      <a:pPr algn="ctr">
                        <a:lnSpc>
                          <a:spcPct val="150000"/>
                        </a:lnSpc>
                      </a:pPr>
                      <a:r>
                        <a:rPr lang="es-ES" sz="2000" noProof="0" dirty="0"/>
                        <a:t>70200</a:t>
                      </a:r>
                    </a:p>
                  </a:txBody>
                  <a:tcPr anchor="ctr">
                    <a:no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2000" kern="1200" noProof="0" dirty="0">
                          <a:solidFill>
                            <a:schemeClr val="dk1"/>
                          </a:solidFill>
                          <a:latin typeface="+mn-lt"/>
                          <a:ea typeface="+mn-ea"/>
                          <a:cs typeface="+mn-cs"/>
                        </a:rPr>
                        <a:t>(702) Actividades de </a:t>
                      </a:r>
                      <a:r>
                        <a:rPr lang="es-ES" sz="2000" kern="1200" noProof="0" dirty="0" err="1">
                          <a:solidFill>
                            <a:schemeClr val="dk1"/>
                          </a:solidFill>
                          <a:latin typeface="+mn-lt"/>
                          <a:ea typeface="+mn-ea"/>
                          <a:cs typeface="+mn-cs"/>
                        </a:rPr>
                        <a:t>consultoria</a:t>
                      </a:r>
                      <a:r>
                        <a:rPr lang="es-ES" sz="2000" kern="1200" noProof="0" dirty="0">
                          <a:solidFill>
                            <a:schemeClr val="dk1"/>
                          </a:solidFill>
                          <a:latin typeface="+mn-lt"/>
                          <a:ea typeface="+mn-ea"/>
                          <a:cs typeface="+mn-cs"/>
                        </a:rPr>
                        <a:t> para os </a:t>
                      </a:r>
                      <a:r>
                        <a:rPr lang="es-ES" sz="2000" kern="1200" noProof="0" dirty="0" err="1">
                          <a:solidFill>
                            <a:schemeClr val="dk1"/>
                          </a:solidFill>
                          <a:latin typeface="+mn-lt"/>
                          <a:ea typeface="+mn-ea"/>
                          <a:cs typeface="+mn-cs"/>
                        </a:rPr>
                        <a:t>negócios</a:t>
                      </a:r>
                      <a:r>
                        <a:rPr lang="es-ES" sz="2000" kern="1200" noProof="0" dirty="0">
                          <a:solidFill>
                            <a:schemeClr val="dk1"/>
                          </a:solidFill>
                          <a:latin typeface="+mn-lt"/>
                          <a:ea typeface="+mn-ea"/>
                          <a:cs typeface="+mn-cs"/>
                        </a:rPr>
                        <a:t> e a </a:t>
                      </a:r>
                      <a:r>
                        <a:rPr lang="es-ES" sz="2000" kern="1200" noProof="0" dirty="0" err="1">
                          <a:solidFill>
                            <a:schemeClr val="dk1"/>
                          </a:solidFill>
                          <a:latin typeface="+mn-lt"/>
                          <a:ea typeface="+mn-ea"/>
                          <a:cs typeface="+mn-cs"/>
                        </a:rPr>
                        <a:t>gestão</a:t>
                      </a:r>
                      <a:endParaRPr lang="es-ES" sz="2000" kern="1200" noProof="0" dirty="0">
                        <a:solidFill>
                          <a:schemeClr val="dk1"/>
                        </a:solidFill>
                        <a:latin typeface="+mn-lt"/>
                        <a:ea typeface="+mn-ea"/>
                        <a:cs typeface="+mn-cs"/>
                      </a:endParaRPr>
                    </a:p>
                  </a:txBody>
                  <a:tcPr anchor="ctr">
                    <a:noFill/>
                  </a:tcPr>
                </a:tc>
                <a:extLst>
                  <a:ext uri="{0D108BD9-81ED-4DB2-BD59-A6C34878D82A}">
                    <a16:rowId xmlns:a16="http://schemas.microsoft.com/office/drawing/2014/main" val="4113203488"/>
                  </a:ext>
                </a:extLst>
              </a:tr>
              <a:tr h="365690">
                <a:tc>
                  <a:txBody>
                    <a:bodyPr/>
                    <a:lstStyle/>
                    <a:p>
                      <a:pPr algn="ctr">
                        <a:lnSpc>
                          <a:spcPct val="150000"/>
                        </a:lnSpc>
                      </a:pPr>
                      <a:r>
                        <a:rPr lang="es-ES" sz="2000" noProof="0" dirty="0"/>
                        <a:t>74992</a:t>
                      </a:r>
                    </a:p>
                  </a:txBody>
                  <a:tcPr anchor="ctr">
                    <a:no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2000" kern="1200" noProof="0" dirty="0" err="1">
                          <a:solidFill>
                            <a:schemeClr val="dk1"/>
                          </a:solidFill>
                          <a:latin typeface="+mn-lt"/>
                          <a:ea typeface="+mn-ea"/>
                          <a:cs typeface="+mn-cs"/>
                        </a:rPr>
                        <a:t>Outras</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atividades</a:t>
                      </a:r>
                      <a:r>
                        <a:rPr lang="es-ES" sz="2000" kern="1200" noProof="0" dirty="0">
                          <a:solidFill>
                            <a:schemeClr val="dk1"/>
                          </a:solidFill>
                          <a:latin typeface="+mn-lt"/>
                          <a:ea typeface="+mn-ea"/>
                          <a:cs typeface="+mn-cs"/>
                        </a:rPr>
                        <a:t> de </a:t>
                      </a:r>
                      <a:r>
                        <a:rPr lang="es-ES" sz="2000" kern="1200" noProof="0" dirty="0" err="1">
                          <a:solidFill>
                            <a:schemeClr val="dk1"/>
                          </a:solidFill>
                          <a:latin typeface="+mn-lt"/>
                          <a:ea typeface="+mn-ea"/>
                          <a:cs typeface="+mn-cs"/>
                        </a:rPr>
                        <a:t>consultoria</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cientificas</a:t>
                      </a:r>
                      <a:r>
                        <a:rPr lang="es-ES" sz="2000" kern="1200" noProof="0" dirty="0">
                          <a:solidFill>
                            <a:schemeClr val="dk1"/>
                          </a:solidFill>
                          <a:latin typeface="+mn-lt"/>
                          <a:ea typeface="+mn-ea"/>
                          <a:cs typeface="+mn-cs"/>
                        </a:rPr>
                        <a:t>, técnicas e similares, diversas</a:t>
                      </a:r>
                    </a:p>
                  </a:txBody>
                  <a:tcPr anchor="ctr">
                    <a:noFill/>
                  </a:tcPr>
                </a:tc>
                <a:extLst>
                  <a:ext uri="{0D108BD9-81ED-4DB2-BD59-A6C34878D82A}">
                    <a16:rowId xmlns:a16="http://schemas.microsoft.com/office/drawing/2014/main" val="3288223916"/>
                  </a:ext>
                </a:extLst>
              </a:tr>
              <a:tr h="365690">
                <a:tc>
                  <a:txBody>
                    <a:bodyPr/>
                    <a:lstStyle/>
                    <a:p>
                      <a:pPr algn="ctr">
                        <a:lnSpc>
                          <a:spcPct val="150000"/>
                        </a:lnSpc>
                      </a:pPr>
                      <a:r>
                        <a:rPr lang="es-ES" sz="2000" noProof="0" dirty="0"/>
                        <a:t>01210</a:t>
                      </a:r>
                    </a:p>
                  </a:txBody>
                  <a:tcPr anchor="ctr">
                    <a:no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2000" kern="1200" noProof="0" dirty="0">
                          <a:solidFill>
                            <a:schemeClr val="dk1"/>
                          </a:solidFill>
                          <a:latin typeface="+mn-lt"/>
                          <a:ea typeface="+mn-ea"/>
                          <a:cs typeface="+mn-cs"/>
                        </a:rPr>
                        <a:t>Viticultura</a:t>
                      </a:r>
                    </a:p>
                  </a:txBody>
                  <a:tcPr anchor="ctr">
                    <a:noFill/>
                  </a:tcPr>
                </a:tc>
                <a:extLst>
                  <a:ext uri="{0D108BD9-81ED-4DB2-BD59-A6C34878D82A}">
                    <a16:rowId xmlns:a16="http://schemas.microsoft.com/office/drawing/2014/main" val="2972557987"/>
                  </a:ext>
                </a:extLst>
              </a:tr>
              <a:tr h="365690">
                <a:tc>
                  <a:txBody>
                    <a:bodyPr/>
                    <a:lstStyle/>
                    <a:p>
                      <a:pPr algn="ctr">
                        <a:lnSpc>
                          <a:spcPct val="150000"/>
                        </a:lnSpc>
                      </a:pPr>
                      <a:r>
                        <a:rPr lang="es-ES" sz="2000" noProof="0" dirty="0"/>
                        <a:t>68200</a:t>
                      </a:r>
                    </a:p>
                  </a:txBody>
                  <a:tcPr anchor="ctr">
                    <a:no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2000" kern="1200" noProof="0" dirty="0" err="1">
                          <a:solidFill>
                            <a:schemeClr val="dk1"/>
                          </a:solidFill>
                          <a:latin typeface="+mn-lt"/>
                          <a:ea typeface="+mn-ea"/>
                          <a:cs typeface="+mn-cs"/>
                        </a:rPr>
                        <a:t>Arrendamento</a:t>
                      </a:r>
                      <a:r>
                        <a:rPr lang="es-ES" sz="2000" kern="1200" noProof="0" dirty="0">
                          <a:solidFill>
                            <a:schemeClr val="dk1"/>
                          </a:solidFill>
                          <a:latin typeface="+mn-lt"/>
                          <a:ea typeface="+mn-ea"/>
                          <a:cs typeface="+mn-cs"/>
                        </a:rPr>
                        <a:t> e </a:t>
                      </a:r>
                      <a:r>
                        <a:rPr lang="es-ES" sz="2000" kern="1200" noProof="0" dirty="0" err="1">
                          <a:solidFill>
                            <a:schemeClr val="dk1"/>
                          </a:solidFill>
                          <a:latin typeface="+mn-lt"/>
                          <a:ea typeface="+mn-ea"/>
                          <a:cs typeface="+mn-cs"/>
                        </a:rPr>
                        <a:t>exploração</a:t>
                      </a:r>
                      <a:r>
                        <a:rPr lang="es-ES" sz="2000" kern="1200" noProof="0" dirty="0">
                          <a:solidFill>
                            <a:schemeClr val="dk1"/>
                          </a:solidFill>
                          <a:latin typeface="+mn-lt"/>
                          <a:ea typeface="+mn-ea"/>
                          <a:cs typeface="+mn-cs"/>
                        </a:rPr>
                        <a:t> de </a:t>
                      </a:r>
                      <a:r>
                        <a:rPr lang="es-ES" sz="2000" kern="1200" noProof="0" dirty="0" err="1">
                          <a:solidFill>
                            <a:schemeClr val="dk1"/>
                          </a:solidFill>
                          <a:latin typeface="+mn-lt"/>
                          <a:ea typeface="+mn-ea"/>
                          <a:cs typeface="+mn-cs"/>
                        </a:rPr>
                        <a:t>bens</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imobiliários</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próprios</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ou</a:t>
                      </a:r>
                      <a:r>
                        <a:rPr lang="es-ES" sz="2000" kern="1200" noProof="0" dirty="0">
                          <a:solidFill>
                            <a:schemeClr val="dk1"/>
                          </a:solidFill>
                          <a:latin typeface="+mn-lt"/>
                          <a:ea typeface="+mn-ea"/>
                          <a:cs typeface="+mn-cs"/>
                        </a:rPr>
                        <a:t> em </a:t>
                      </a:r>
                      <a:r>
                        <a:rPr lang="es-ES" sz="2000" kern="1200" noProof="0" dirty="0" err="1">
                          <a:solidFill>
                            <a:schemeClr val="dk1"/>
                          </a:solidFill>
                          <a:latin typeface="+mn-lt"/>
                          <a:ea typeface="+mn-ea"/>
                          <a:cs typeface="+mn-cs"/>
                        </a:rPr>
                        <a:t>locação</a:t>
                      </a:r>
                      <a:endParaRPr lang="es-ES" sz="2000" kern="1200" noProof="0" dirty="0">
                        <a:solidFill>
                          <a:schemeClr val="dk1"/>
                        </a:solidFill>
                        <a:latin typeface="+mn-lt"/>
                        <a:ea typeface="+mn-ea"/>
                        <a:cs typeface="+mn-cs"/>
                      </a:endParaRPr>
                    </a:p>
                  </a:txBody>
                  <a:tcPr anchor="ctr">
                    <a:noFill/>
                  </a:tcPr>
                </a:tc>
                <a:extLst>
                  <a:ext uri="{0D108BD9-81ED-4DB2-BD59-A6C34878D82A}">
                    <a16:rowId xmlns:a16="http://schemas.microsoft.com/office/drawing/2014/main" val="2677210948"/>
                  </a:ext>
                </a:extLst>
              </a:tr>
              <a:tr h="365690">
                <a:tc>
                  <a:txBody>
                    <a:bodyPr/>
                    <a:lstStyle/>
                    <a:p>
                      <a:pPr algn="ctr">
                        <a:lnSpc>
                          <a:spcPct val="150000"/>
                        </a:lnSpc>
                      </a:pPr>
                      <a:r>
                        <a:rPr lang="es-ES" sz="2000" noProof="0" dirty="0"/>
                        <a:t>68110</a:t>
                      </a:r>
                    </a:p>
                  </a:txBody>
                  <a:tcPr anchor="ctr">
                    <a:no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2000" kern="1200" noProof="0" dirty="0">
                          <a:solidFill>
                            <a:schemeClr val="dk1"/>
                          </a:solidFill>
                          <a:latin typeface="+mn-lt"/>
                          <a:ea typeface="+mn-ea"/>
                          <a:cs typeface="+mn-cs"/>
                        </a:rPr>
                        <a:t>Compra e venda de </a:t>
                      </a:r>
                      <a:r>
                        <a:rPr lang="es-ES" sz="2000" kern="1200" noProof="0" dirty="0" err="1">
                          <a:solidFill>
                            <a:schemeClr val="dk1"/>
                          </a:solidFill>
                          <a:latin typeface="+mn-lt"/>
                          <a:ea typeface="+mn-ea"/>
                          <a:cs typeface="+mn-cs"/>
                        </a:rPr>
                        <a:t>bens</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imobiliários</a:t>
                      </a:r>
                      <a:endParaRPr lang="es-ES" sz="2000" kern="1200" noProof="0" dirty="0">
                        <a:solidFill>
                          <a:schemeClr val="dk1"/>
                        </a:solidFill>
                        <a:latin typeface="+mn-lt"/>
                        <a:ea typeface="+mn-ea"/>
                        <a:cs typeface="+mn-cs"/>
                      </a:endParaRPr>
                    </a:p>
                  </a:txBody>
                  <a:tcPr anchor="ctr">
                    <a:noFill/>
                  </a:tcPr>
                </a:tc>
                <a:extLst>
                  <a:ext uri="{0D108BD9-81ED-4DB2-BD59-A6C34878D82A}">
                    <a16:rowId xmlns:a16="http://schemas.microsoft.com/office/drawing/2014/main" val="4152743046"/>
                  </a:ext>
                </a:extLst>
              </a:tr>
              <a:tr h="365690">
                <a:tc>
                  <a:txBody>
                    <a:bodyPr/>
                    <a:lstStyle/>
                    <a:p>
                      <a:pPr algn="ctr">
                        <a:lnSpc>
                          <a:spcPct val="150000"/>
                        </a:lnSpc>
                      </a:pPr>
                      <a:r>
                        <a:rPr lang="es-ES" sz="2000" noProof="0" dirty="0"/>
                        <a:t>11021</a:t>
                      </a:r>
                    </a:p>
                  </a:txBody>
                  <a:tcPr anchor="ctr">
                    <a:no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2000" kern="1200" noProof="0" dirty="0" err="1">
                          <a:solidFill>
                            <a:schemeClr val="dk1"/>
                          </a:solidFill>
                          <a:latin typeface="+mn-lt"/>
                          <a:ea typeface="+mn-ea"/>
                          <a:cs typeface="+mn-cs"/>
                        </a:rPr>
                        <a:t>Produção</a:t>
                      </a:r>
                      <a:r>
                        <a:rPr lang="es-ES" sz="2000" kern="1200" noProof="0" dirty="0">
                          <a:solidFill>
                            <a:schemeClr val="dk1"/>
                          </a:solidFill>
                          <a:latin typeface="+mn-lt"/>
                          <a:ea typeface="+mn-ea"/>
                          <a:cs typeface="+mn-cs"/>
                        </a:rPr>
                        <a:t> de </a:t>
                      </a:r>
                      <a:r>
                        <a:rPr lang="es-ES" sz="2000" kern="1200" noProof="0" dirty="0" err="1">
                          <a:solidFill>
                            <a:schemeClr val="dk1"/>
                          </a:solidFill>
                          <a:latin typeface="+mn-lt"/>
                          <a:ea typeface="+mn-ea"/>
                          <a:cs typeface="+mn-cs"/>
                        </a:rPr>
                        <a:t>vinhos</a:t>
                      </a:r>
                      <a:r>
                        <a:rPr lang="es-ES" sz="2000" kern="1200" noProof="0" dirty="0">
                          <a:solidFill>
                            <a:schemeClr val="dk1"/>
                          </a:solidFill>
                          <a:latin typeface="+mn-lt"/>
                          <a:ea typeface="+mn-ea"/>
                          <a:cs typeface="+mn-cs"/>
                        </a:rPr>
                        <a:t> </a:t>
                      </a:r>
                      <a:r>
                        <a:rPr lang="es-ES" sz="2000" kern="1200" noProof="0" dirty="0" err="1">
                          <a:solidFill>
                            <a:schemeClr val="dk1"/>
                          </a:solidFill>
                          <a:latin typeface="+mn-lt"/>
                          <a:ea typeface="+mn-ea"/>
                          <a:cs typeface="+mn-cs"/>
                        </a:rPr>
                        <a:t>comuns</a:t>
                      </a:r>
                      <a:r>
                        <a:rPr lang="es-ES" sz="2000" kern="1200" noProof="0" dirty="0">
                          <a:solidFill>
                            <a:schemeClr val="dk1"/>
                          </a:solidFill>
                          <a:latin typeface="+mn-lt"/>
                          <a:ea typeface="+mn-ea"/>
                          <a:cs typeface="+mn-cs"/>
                        </a:rPr>
                        <a:t> e licorosos</a:t>
                      </a:r>
                    </a:p>
                  </a:txBody>
                  <a:tcPr anchor="ctr">
                    <a:noFill/>
                  </a:tcPr>
                </a:tc>
                <a:extLst>
                  <a:ext uri="{0D108BD9-81ED-4DB2-BD59-A6C34878D82A}">
                    <a16:rowId xmlns:a16="http://schemas.microsoft.com/office/drawing/2014/main" val="903533393"/>
                  </a:ext>
                </a:extLst>
              </a:tr>
            </a:tbl>
          </a:graphicData>
        </a:graphic>
      </p:graphicFrame>
    </p:spTree>
    <p:extLst>
      <p:ext uri="{BB962C8B-B14F-4D97-AF65-F5344CB8AC3E}">
        <p14:creationId xmlns:p14="http://schemas.microsoft.com/office/powerpoint/2010/main" val="3669053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80277148-AC31-69EB-24EF-1927E2B1FEC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881003-155C-EC6A-C903-3AE9C6358B11}"/>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36882023-C201-975B-B2DD-695F0FC07ACA}"/>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68B7C8E6-B67B-18A8-589C-95F07AEE3B7B}"/>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30A829DC-2057-C9E8-9C9F-907357748650}"/>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87816CF1-D17B-BB2D-1104-05DD71BFC9D7}"/>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642D25F0-899F-D752-7298-E2DBECDAF030}"/>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86CBB9E2-1134-AF5C-0309-E91A6E1C4C33}"/>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545CD813-7261-C0D9-6117-F8830581B746}"/>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noProof="0" dirty="0"/>
              <a:t>Portal del Gobierno</a:t>
            </a:r>
          </a:p>
        </p:txBody>
      </p:sp>
      <p:pic>
        <p:nvPicPr>
          <p:cNvPr id="48" name="Picture 47">
            <a:extLst>
              <a:ext uri="{FF2B5EF4-FFF2-40B4-BE49-F238E27FC236}">
                <a16:creationId xmlns:a16="http://schemas.microsoft.com/office/drawing/2014/main" id="{A212D8A9-30E7-5106-A48D-1C95F838511B}"/>
              </a:ext>
            </a:extLst>
          </p:cNvPr>
          <p:cNvPicPr>
            <a:picLocks noChangeAspect="1"/>
          </p:cNvPicPr>
          <p:nvPr/>
        </p:nvPicPr>
        <p:blipFill>
          <a:blip r:embed="rId7"/>
          <a:stretch>
            <a:fillRect/>
          </a:stretch>
        </p:blipFill>
        <p:spPr>
          <a:xfrm>
            <a:off x="228600" y="2713859"/>
            <a:ext cx="14799280" cy="5706241"/>
          </a:xfrm>
          <a:prstGeom prst="rect">
            <a:avLst/>
          </a:prstGeom>
        </p:spPr>
      </p:pic>
    </p:spTree>
    <p:extLst>
      <p:ext uri="{BB962C8B-B14F-4D97-AF65-F5344CB8AC3E}">
        <p14:creationId xmlns:p14="http://schemas.microsoft.com/office/powerpoint/2010/main" val="1306870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03F93932-CBC2-84FA-25D8-9943653184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7BD788-E6E0-A39F-54FE-843A2915D56E}"/>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D8A02FF2-1CFA-9A48-EEB9-C04AEE1B5B1F}"/>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A2F7C532-5F29-8127-8739-EBAB5C5F6813}"/>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71EEDB91-E793-3CBA-E2F6-50EF6030096A}"/>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F3A7C52D-F621-4E16-9D8D-EC6531F5E5BA}"/>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5800DBC2-0D8E-02BF-0E79-A2DD47205EAF}"/>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BC5584F7-817D-3116-09E3-A7D5E86A52F3}"/>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8" name="Title 1">
            <a:extLst>
              <a:ext uri="{FF2B5EF4-FFF2-40B4-BE49-F238E27FC236}">
                <a16:creationId xmlns:a16="http://schemas.microsoft.com/office/drawing/2014/main" id="{7F5CF98E-04CC-04F2-3947-1B048F633458}"/>
              </a:ext>
            </a:extLst>
          </p:cNvPr>
          <p:cNvSpPr txBox="1">
            <a:spLocks/>
          </p:cNvSpPr>
          <p:nvPr/>
        </p:nvSpPr>
        <p:spPr>
          <a:xfrm>
            <a:off x="734927" y="1154872"/>
            <a:ext cx="14292953" cy="9826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4800" b="1" dirty="0"/>
              <a:t>Conclusión</a:t>
            </a:r>
            <a:endParaRPr lang="es-ES" sz="4800" b="1" noProof="0" dirty="0"/>
          </a:p>
        </p:txBody>
      </p:sp>
      <p:sp>
        <p:nvSpPr>
          <p:cNvPr id="10" name="Content Placeholder 2">
            <a:extLst>
              <a:ext uri="{FF2B5EF4-FFF2-40B4-BE49-F238E27FC236}">
                <a16:creationId xmlns:a16="http://schemas.microsoft.com/office/drawing/2014/main" id="{634A1979-47AC-2F13-1D71-949E8E1F3FF0}"/>
              </a:ext>
            </a:extLst>
          </p:cNvPr>
          <p:cNvSpPr txBox="1">
            <a:spLocks/>
          </p:cNvSpPr>
          <p:nvPr/>
        </p:nvSpPr>
        <p:spPr>
          <a:xfrm>
            <a:off x="860254" y="2620962"/>
            <a:ext cx="13312946" cy="66373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4000" noProof="0" dirty="0"/>
              <a:t>Este caso ejemplifica el poder de OSINT para transformar datos públicos dispersos (noticias, registros, redes sociales) en inteligencia procesable. Siguiendo estos pasos, cualquier persona con acceso a internet podría haber descifrado el escándalo que derrocó al gobierno de Portugal en 2025.</a:t>
            </a:r>
          </a:p>
          <a:p>
            <a:pPr marL="0" indent="0">
              <a:buNone/>
            </a:pPr>
            <a:endParaRPr lang="es-ES" sz="4000" noProof="0" dirty="0"/>
          </a:p>
          <a:p>
            <a:pPr marL="0" indent="0">
              <a:buNone/>
            </a:pPr>
            <a:r>
              <a:rPr lang="es-ES" sz="4000" noProof="0" dirty="0"/>
              <a:t>Las consecuencias subrayan una lección más amplia: en una era de transparencia, las empresas privadas no pueden escapar del escrutinio público cuando OSINT está en juego.</a:t>
            </a:r>
            <a:endParaRPr lang="es-ES" sz="5400" noProof="0" dirty="0"/>
          </a:p>
        </p:txBody>
      </p:sp>
      <p:sp>
        <p:nvSpPr>
          <p:cNvPr id="11" name="TextBox 15">
            <a:extLst>
              <a:ext uri="{FF2B5EF4-FFF2-40B4-BE49-F238E27FC236}">
                <a16:creationId xmlns:a16="http://schemas.microsoft.com/office/drawing/2014/main" id="{2A229EAE-4B88-39CB-A1CB-0D24E6F1840F}"/>
              </a:ext>
            </a:extLst>
          </p:cNvPr>
          <p:cNvSpPr txBox="1"/>
          <p:nvPr/>
        </p:nvSpPr>
        <p:spPr>
          <a:xfrm>
            <a:off x="16253564" y="8991600"/>
            <a:ext cx="803404" cy="266700"/>
          </a:xfrm>
          <a:prstGeom prst="rect">
            <a:avLst/>
          </a:prstGeom>
        </p:spPr>
        <p:txBody>
          <a:bodyPr wrap="square" lIns="0" tIns="0" rIns="0" bIns="0" rtlCol="0" anchor="t">
            <a:spAutoFit/>
          </a:bodyPr>
          <a:lstStyle/>
          <a:p>
            <a:pPr algn="r">
              <a:lnSpc>
                <a:spcPts val="2100"/>
              </a:lnSpc>
            </a:pPr>
            <a:r>
              <a:rPr lang="es-ES" sz="1500" b="1" noProof="0" dirty="0">
                <a:solidFill>
                  <a:srgbClr val="343434"/>
                </a:solidFill>
                <a:latin typeface="DM Sans Bold"/>
                <a:ea typeface="DM Sans Bold"/>
                <a:cs typeface="DM Sans Bold"/>
                <a:sym typeface="DM Sans Bold"/>
              </a:rPr>
              <a:t>Page </a:t>
            </a:r>
            <a:fld id="{F3EB4092-D53A-4A7A-82B5-61650A0387D5}" type="slidenum">
              <a:rPr lang="es-ES" sz="1500" b="1" noProof="0" smtClean="0">
                <a:solidFill>
                  <a:srgbClr val="343434"/>
                </a:solidFill>
                <a:latin typeface="DM Sans Bold"/>
                <a:ea typeface="DM Sans Bold"/>
                <a:cs typeface="DM Sans Bold"/>
                <a:sym typeface="DM Sans Bold"/>
              </a:rPr>
              <a:t>35</a:t>
            </a:fld>
            <a:endParaRPr lang="es-ES" sz="1500" b="1" noProof="0" dirty="0">
              <a:solidFill>
                <a:srgbClr val="343434"/>
              </a:solidFill>
              <a:latin typeface="DM Sans Bold"/>
              <a:ea typeface="DM Sans Bold"/>
              <a:cs typeface="DM Sans Bold"/>
              <a:sym typeface="DM Sans Bold"/>
            </a:endParaRPr>
          </a:p>
        </p:txBody>
      </p:sp>
    </p:spTree>
    <p:extLst>
      <p:ext uri="{BB962C8B-B14F-4D97-AF65-F5344CB8AC3E}">
        <p14:creationId xmlns:p14="http://schemas.microsoft.com/office/powerpoint/2010/main" val="287844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7367BCA1-3655-25B6-4414-8EF36B3E93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44F289-02A6-6123-2296-626C3F498EE4}"/>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5C8515C1-7DC7-6B41-1C6E-1FC6F06F3016}"/>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DB6B6B4B-033E-916E-42F1-2A3646E8588E}"/>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86E6F11A-2E01-EA33-0ED1-D437D5A4300C}"/>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BB3D5627-CA0D-65EC-55CF-DE6F0ACFB826}"/>
              </a:ext>
            </a:extLst>
          </p:cNvPr>
          <p:cNvSpPr/>
          <p:nvPr/>
        </p:nvSpPr>
        <p:spPr>
          <a:xfrm rot="-5400000">
            <a:off x="15231187" y="6778108"/>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D4AA7EC2-6A4C-B7D3-AF9C-C08E333C9E94}"/>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4A0644E7-FBB2-117C-4DF4-6E15C5CC7B54}"/>
              </a:ext>
            </a:extLst>
          </p:cNvPr>
          <p:cNvPicPr>
            <a:picLocks noChangeAspect="1"/>
          </p:cNvPicPr>
          <p:nvPr/>
        </p:nvPicPr>
        <p:blipFill>
          <a:blip r:embed="rId6"/>
          <a:stretch>
            <a:fillRect/>
          </a:stretch>
        </p:blipFill>
        <p:spPr>
          <a:xfrm>
            <a:off x="13441977" y="114300"/>
            <a:ext cx="1585903" cy="1006621"/>
          </a:xfrm>
          <a:prstGeom prst="rect">
            <a:avLst/>
          </a:prstGeom>
        </p:spPr>
      </p:pic>
      <p:grpSp>
        <p:nvGrpSpPr>
          <p:cNvPr id="33" name="Group 32">
            <a:extLst>
              <a:ext uri="{FF2B5EF4-FFF2-40B4-BE49-F238E27FC236}">
                <a16:creationId xmlns:a16="http://schemas.microsoft.com/office/drawing/2014/main" id="{AC4ED85E-AC80-26C5-7AC3-3A154A128669}"/>
              </a:ext>
            </a:extLst>
          </p:cNvPr>
          <p:cNvGrpSpPr/>
          <p:nvPr/>
        </p:nvGrpSpPr>
        <p:grpSpPr>
          <a:xfrm>
            <a:off x="1095375" y="1307963"/>
            <a:ext cx="16097250" cy="8557515"/>
            <a:chOff x="133350" y="1562099"/>
            <a:chExt cx="16097250" cy="8557515"/>
          </a:xfrm>
        </p:grpSpPr>
        <p:graphicFrame>
          <p:nvGraphicFramePr>
            <p:cNvPr id="8" name="Table 5">
              <a:extLst>
                <a:ext uri="{FF2B5EF4-FFF2-40B4-BE49-F238E27FC236}">
                  <a16:creationId xmlns:a16="http://schemas.microsoft.com/office/drawing/2014/main" id="{90A141D6-1C08-75E3-924C-1D069A8BE4F0}"/>
                </a:ext>
              </a:extLst>
            </p:cNvPr>
            <p:cNvGraphicFramePr>
              <a:graphicFrameLocks/>
            </p:cNvGraphicFramePr>
            <p:nvPr>
              <p:extLst>
                <p:ext uri="{D42A27DB-BD31-4B8C-83A1-F6EECF244321}">
                  <p14:modId xmlns:p14="http://schemas.microsoft.com/office/powerpoint/2010/main" val="3673645311"/>
                </p:ext>
              </p:extLst>
            </p:nvPr>
          </p:nvGraphicFramePr>
          <p:xfrm>
            <a:off x="133350" y="1562100"/>
            <a:ext cx="5276850" cy="2317533"/>
          </p:xfrm>
          <a:graphic>
            <a:graphicData uri="http://schemas.openxmlformats.org/drawingml/2006/table">
              <a:tbl>
                <a:tblPr firstRow="1" bandRow="1">
                  <a:tableStyleId>{5C22544A-7EE6-4342-B048-85BDC9FD1C3A}</a:tableStyleId>
                </a:tblPr>
                <a:tblGrid>
                  <a:gridCol w="1623868">
                    <a:extLst>
                      <a:ext uri="{9D8B030D-6E8A-4147-A177-3AD203B41FA5}">
                        <a16:colId xmlns:a16="http://schemas.microsoft.com/office/drawing/2014/main" val="4289972319"/>
                      </a:ext>
                    </a:extLst>
                  </a:gridCol>
                  <a:gridCol w="3652982">
                    <a:extLst>
                      <a:ext uri="{9D8B030D-6E8A-4147-A177-3AD203B41FA5}">
                        <a16:colId xmlns:a16="http://schemas.microsoft.com/office/drawing/2014/main" val="2619954489"/>
                      </a:ext>
                    </a:extLst>
                  </a:gridCol>
                </a:tblGrid>
                <a:tr h="435139">
                  <a:tc>
                    <a:txBody>
                      <a:bodyPr/>
                      <a:lstStyle/>
                      <a:p>
                        <a:pPr algn="l"/>
                        <a:r>
                          <a:rPr lang="es-ES" noProof="0" dirty="0"/>
                          <a:t>Portal</a:t>
                        </a:r>
                      </a:p>
                    </a:txBody>
                    <a:tcPr anchor="ctr">
                      <a:solidFill>
                        <a:schemeClr val="tx2">
                          <a:lumMod val="75000"/>
                        </a:schemeClr>
                      </a:solidFill>
                    </a:tcPr>
                  </a:tc>
                  <a:tc>
                    <a:txBody>
                      <a:bodyPr/>
                      <a:lstStyle/>
                      <a:p>
                        <a:pPr algn="l"/>
                        <a:r>
                          <a:rPr lang="es-ES" noProof="0" dirty="0"/>
                          <a:t>Portal do </a:t>
                        </a:r>
                        <a:r>
                          <a:rPr lang="es-ES" noProof="0" dirty="0" err="1"/>
                          <a:t>Governo</a:t>
                        </a:r>
                        <a:endParaRPr lang="es-ES" noProof="0" dirty="0"/>
                      </a:p>
                    </a:txBody>
                    <a:tcPr anchor="ctr">
                      <a:solidFill>
                        <a:schemeClr val="tx2">
                          <a:lumMod val="75000"/>
                        </a:schemeClr>
                      </a:solidFill>
                    </a:tcPr>
                  </a:tc>
                  <a:extLst>
                    <a:ext uri="{0D108BD9-81ED-4DB2-BD59-A6C34878D82A}">
                      <a16:rowId xmlns:a16="http://schemas.microsoft.com/office/drawing/2014/main" val="2389528094"/>
                    </a:ext>
                  </a:extLst>
                </a:tr>
                <a:tr h="1597468">
                  <a:tc>
                    <a:txBody>
                      <a:bodyPr/>
                      <a:lstStyle/>
                      <a:p>
                        <a:pPr>
                          <a:lnSpc>
                            <a:spcPct val="150000"/>
                          </a:lnSpc>
                        </a:pPr>
                        <a:endParaRPr lang="es-ES" noProof="0" dirty="0"/>
                      </a:p>
                    </a:txBody>
                    <a:tcPr>
                      <a:solidFill>
                        <a:schemeClr val="tx2">
                          <a:lumMod val="20000"/>
                          <a:lumOff val="80000"/>
                        </a:schemeClr>
                      </a:solidFill>
                    </a:tcPr>
                  </a:tc>
                  <a:tc>
                    <a:txBody>
                      <a:bodyPr/>
                      <a:lstStyle/>
                      <a:p>
                        <a:pPr marL="0" marR="0" lvl="0" indent="287338"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p>
                        <a:pPr marL="0" marR="0" lvl="0" indent="287338"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err="1">
                            <a:solidFill>
                              <a:schemeClr val="dk1"/>
                            </a:solidFill>
                            <a:latin typeface="+mn-lt"/>
                            <a:ea typeface="+mn-ea"/>
                            <a:cs typeface="+mn-cs"/>
                          </a:rPr>
                          <a:t>Membros</a:t>
                        </a:r>
                        <a:r>
                          <a:rPr lang="es-ES" sz="1600" kern="1200" noProof="0" dirty="0">
                            <a:solidFill>
                              <a:schemeClr val="dk1"/>
                            </a:solidFill>
                            <a:latin typeface="+mn-lt"/>
                            <a:ea typeface="+mn-ea"/>
                            <a:cs typeface="+mn-cs"/>
                          </a:rPr>
                          <a:t> do </a:t>
                        </a:r>
                        <a:r>
                          <a:rPr lang="es-ES" sz="1600" kern="1200" noProof="0" dirty="0" err="1">
                            <a:solidFill>
                              <a:schemeClr val="dk1"/>
                            </a:solidFill>
                            <a:latin typeface="+mn-lt"/>
                            <a:ea typeface="+mn-ea"/>
                            <a:cs typeface="+mn-cs"/>
                          </a:rPr>
                          <a:t>Governo</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7"/>
                          </a:rPr>
                          <a:t>link</a:t>
                        </a:r>
                        <a:r>
                          <a:rPr lang="es-ES" sz="1600" kern="1200" noProof="0" dirty="0">
                            <a:solidFill>
                              <a:schemeClr val="dk1"/>
                            </a:solidFill>
                            <a:latin typeface="+mn-lt"/>
                            <a:ea typeface="+mn-ea"/>
                            <a:cs typeface="+mn-cs"/>
                          </a:rPr>
                          <a:t>)</a:t>
                        </a:r>
                      </a:p>
                      <a:p>
                        <a:pPr marL="0" lvl="1" indent="508000">
                          <a:lnSpc>
                            <a:spcPct val="150000"/>
                          </a:lnSpc>
                          <a:buFont typeface="Arial" panose="020B0604020202020204" pitchFamily="34" charset="0"/>
                          <a:buNone/>
                        </a:pPr>
                        <a:r>
                          <a:rPr lang="es-ES" sz="1600" kern="1200" noProof="0" dirty="0" err="1">
                            <a:solidFill>
                              <a:schemeClr val="dk1"/>
                            </a:solidFill>
                            <a:latin typeface="+mn-lt"/>
                            <a:ea typeface="+mn-ea"/>
                            <a:cs typeface="+mn-cs"/>
                          </a:rPr>
                          <a:t>Primeiro</a:t>
                        </a:r>
                        <a:r>
                          <a:rPr lang="es-ES" sz="1600" kern="1200" noProof="0" dirty="0">
                            <a:solidFill>
                              <a:schemeClr val="dk1"/>
                            </a:solidFill>
                            <a:latin typeface="+mn-lt"/>
                            <a:ea typeface="+mn-ea"/>
                            <a:cs typeface="+mn-cs"/>
                          </a:rPr>
                          <a:t>-Ministro (</a:t>
                        </a:r>
                        <a:r>
                          <a:rPr lang="es-ES" sz="1600" kern="1200" noProof="0" dirty="0">
                            <a:solidFill>
                              <a:schemeClr val="dk1"/>
                            </a:solidFill>
                            <a:latin typeface="+mn-lt"/>
                            <a:ea typeface="+mn-ea"/>
                            <a:cs typeface="+mn-cs"/>
                            <a:hlinkClick r:id="rId8"/>
                          </a:rPr>
                          <a:t>link</a:t>
                        </a:r>
                        <a:r>
                          <a:rPr lang="es-ES" sz="1600" kern="1200" noProof="0" dirty="0">
                            <a:solidFill>
                              <a:schemeClr val="dk1"/>
                            </a:solidFill>
                            <a:latin typeface="+mn-lt"/>
                            <a:ea typeface="+mn-ea"/>
                            <a:cs typeface="+mn-cs"/>
                          </a:rPr>
                          <a:t>)</a:t>
                        </a:r>
                      </a:p>
                      <a:p>
                        <a:pPr marL="0" marR="0" lvl="0" indent="287338"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Redes </a:t>
                        </a:r>
                        <a:r>
                          <a:rPr lang="es-ES" sz="1600" kern="1200" noProof="0" dirty="0" err="1">
                            <a:solidFill>
                              <a:schemeClr val="dk1"/>
                            </a:solidFill>
                            <a:latin typeface="+mn-lt"/>
                            <a:ea typeface="+mn-ea"/>
                            <a:cs typeface="+mn-cs"/>
                          </a:rPr>
                          <a:t>sociais</a:t>
                        </a:r>
                        <a:endParaRPr lang="es-ES" sz="1600" kern="1200" noProof="0" dirty="0">
                          <a:solidFill>
                            <a:schemeClr val="dk1"/>
                          </a:solidFill>
                          <a:latin typeface="+mn-lt"/>
                          <a:ea typeface="+mn-ea"/>
                          <a:cs typeface="+mn-cs"/>
                        </a:endParaRP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s-ES" sz="1600" kern="1200" noProof="0" dirty="0">
                          <a:solidFill>
                            <a:schemeClr val="dk1"/>
                          </a:solidFill>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4" name="Table 5">
              <a:extLst>
                <a:ext uri="{FF2B5EF4-FFF2-40B4-BE49-F238E27FC236}">
                  <a16:creationId xmlns:a16="http://schemas.microsoft.com/office/drawing/2014/main" id="{6A43D09A-5221-B43B-EDDA-D86E2E3AE587}"/>
                </a:ext>
              </a:extLst>
            </p:cNvPr>
            <p:cNvGraphicFramePr>
              <a:graphicFrameLocks/>
            </p:cNvGraphicFramePr>
            <p:nvPr>
              <p:extLst>
                <p:ext uri="{D42A27DB-BD31-4B8C-83A1-F6EECF244321}">
                  <p14:modId xmlns:p14="http://schemas.microsoft.com/office/powerpoint/2010/main" val="2796196159"/>
                </p:ext>
              </p:extLst>
            </p:nvPr>
          </p:nvGraphicFramePr>
          <p:xfrm>
            <a:off x="5543550" y="1562100"/>
            <a:ext cx="5276850" cy="2317533"/>
          </p:xfrm>
          <a:graphic>
            <a:graphicData uri="http://schemas.openxmlformats.org/drawingml/2006/table">
              <a:tbl>
                <a:tblPr firstRow="1" bandRow="1">
                  <a:tableStyleId>{5C22544A-7EE6-4342-B048-85BDC9FD1C3A}</a:tableStyleId>
                </a:tblPr>
                <a:tblGrid>
                  <a:gridCol w="1623868">
                    <a:extLst>
                      <a:ext uri="{9D8B030D-6E8A-4147-A177-3AD203B41FA5}">
                        <a16:colId xmlns:a16="http://schemas.microsoft.com/office/drawing/2014/main" val="4289972319"/>
                      </a:ext>
                    </a:extLst>
                  </a:gridCol>
                  <a:gridCol w="3652982">
                    <a:extLst>
                      <a:ext uri="{9D8B030D-6E8A-4147-A177-3AD203B41FA5}">
                        <a16:colId xmlns:a16="http://schemas.microsoft.com/office/drawing/2014/main" val="2619954489"/>
                      </a:ext>
                    </a:extLst>
                  </a:gridCol>
                </a:tblGrid>
                <a:tr h="435139">
                  <a:tc>
                    <a:txBody>
                      <a:bodyPr/>
                      <a:lstStyle/>
                      <a:p>
                        <a:pPr algn="l"/>
                        <a:r>
                          <a:rPr lang="es-ES" noProof="0" dirty="0"/>
                          <a:t>Portal</a:t>
                        </a:r>
                      </a:p>
                    </a:txBody>
                    <a:tcPr anchor="ctr">
                      <a:solidFill>
                        <a:schemeClr val="tx2">
                          <a:lumMod val="75000"/>
                        </a:schemeClr>
                      </a:solidFill>
                    </a:tcPr>
                  </a:tc>
                  <a:tc>
                    <a:txBody>
                      <a:bodyPr/>
                      <a:lstStyle/>
                      <a:p>
                        <a:pPr algn="l"/>
                        <a:r>
                          <a:rPr lang="es-ES" noProof="0" dirty="0"/>
                          <a:t>Portal do </a:t>
                        </a:r>
                        <a:r>
                          <a:rPr lang="es-ES" noProof="0" dirty="0" err="1"/>
                          <a:t>Governo</a:t>
                        </a:r>
                        <a:endParaRPr lang="es-ES" noProof="0" dirty="0"/>
                      </a:p>
                    </a:txBody>
                    <a:tcPr anchor="ctr">
                      <a:solidFill>
                        <a:schemeClr val="tx2">
                          <a:lumMod val="75000"/>
                        </a:schemeClr>
                      </a:solidFill>
                    </a:tcPr>
                  </a:tc>
                  <a:extLst>
                    <a:ext uri="{0D108BD9-81ED-4DB2-BD59-A6C34878D82A}">
                      <a16:rowId xmlns:a16="http://schemas.microsoft.com/office/drawing/2014/main" val="2389528094"/>
                    </a:ext>
                  </a:extLst>
                </a:tr>
                <a:tr h="1597468">
                  <a:tc>
                    <a:txBody>
                      <a:bodyPr/>
                      <a:lstStyle/>
                      <a:p>
                        <a:pPr>
                          <a:lnSpc>
                            <a:spcPct val="150000"/>
                          </a:lnSpc>
                        </a:pPr>
                        <a:endParaRPr lang="es-ES" noProof="0" dirty="0"/>
                      </a:p>
                    </a:txBody>
                    <a:tcPr>
                      <a:solidFill>
                        <a:schemeClr val="tx2">
                          <a:lumMod val="20000"/>
                          <a:lumOff val="80000"/>
                        </a:schemeClr>
                      </a:solidFill>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Consultar e pesquisar todas as </a:t>
                        </a:r>
                        <a:r>
                          <a:rPr lang="es-ES" sz="1600" kern="1200" noProof="0" dirty="0" err="1">
                            <a:solidFill>
                              <a:schemeClr val="dk1"/>
                            </a:solidFill>
                            <a:latin typeface="+mn-lt"/>
                            <a:ea typeface="+mn-ea"/>
                            <a:cs typeface="+mn-cs"/>
                          </a:rPr>
                          <a:t>publicações</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9"/>
                          </a:rPr>
                          <a:t>link</a:t>
                        </a:r>
                        <a:r>
                          <a:rPr lang="es-ES" sz="1600" kern="1200" noProof="0" dirty="0">
                            <a:solidFill>
                              <a:schemeClr val="dk1"/>
                            </a:solidFill>
                            <a:latin typeface="+mn-lt"/>
                            <a:ea typeface="+mn-ea"/>
                            <a:cs typeface="+mn-cs"/>
                          </a:rPr>
                          <a:t>)</a:t>
                        </a:r>
                      </a:p>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5" name="Table 5">
              <a:extLst>
                <a:ext uri="{FF2B5EF4-FFF2-40B4-BE49-F238E27FC236}">
                  <a16:creationId xmlns:a16="http://schemas.microsoft.com/office/drawing/2014/main" id="{BFB4EE08-69C7-50B7-435B-E8C3DEAD0959}"/>
                </a:ext>
              </a:extLst>
            </p:cNvPr>
            <p:cNvGraphicFramePr>
              <a:graphicFrameLocks/>
            </p:cNvGraphicFramePr>
            <p:nvPr>
              <p:extLst>
                <p:ext uri="{D42A27DB-BD31-4B8C-83A1-F6EECF244321}">
                  <p14:modId xmlns:p14="http://schemas.microsoft.com/office/powerpoint/2010/main" val="3101917413"/>
                </p:ext>
              </p:extLst>
            </p:nvPr>
          </p:nvGraphicFramePr>
          <p:xfrm>
            <a:off x="10953750" y="1562099"/>
            <a:ext cx="5276850" cy="8557515"/>
          </p:xfrm>
          <a:graphic>
            <a:graphicData uri="http://schemas.openxmlformats.org/drawingml/2006/table">
              <a:tbl>
                <a:tblPr firstRow="1" bandRow="1">
                  <a:tableStyleId>{5C22544A-7EE6-4342-B048-85BDC9FD1C3A}</a:tableStyleId>
                </a:tblPr>
                <a:tblGrid>
                  <a:gridCol w="5276850">
                    <a:extLst>
                      <a:ext uri="{9D8B030D-6E8A-4147-A177-3AD203B41FA5}">
                        <a16:colId xmlns:a16="http://schemas.microsoft.com/office/drawing/2014/main" val="4289972319"/>
                      </a:ext>
                    </a:extLst>
                  </a:gridCol>
                </a:tblGrid>
                <a:tr h="457201">
                  <a:tc>
                    <a:txBody>
                      <a:bodyPr/>
                      <a:lstStyle/>
                      <a:p>
                        <a:pPr algn="l"/>
                        <a:endParaRPr lang="es-ES" noProof="0" dirty="0"/>
                      </a:p>
                    </a:txBody>
                    <a:tcPr anchor="ctr">
                      <a:solidFill>
                        <a:schemeClr val="tx2">
                          <a:lumMod val="75000"/>
                        </a:schemeClr>
                      </a:solidFill>
                    </a:tcPr>
                  </a:tc>
                  <a:extLst>
                    <a:ext uri="{0D108BD9-81ED-4DB2-BD59-A6C34878D82A}">
                      <a16:rowId xmlns:a16="http://schemas.microsoft.com/office/drawing/2014/main" val="2389528094"/>
                    </a:ext>
                  </a:extLst>
                </a:tr>
                <a:tr h="6808200">
                  <a:tc>
                    <a:txBody>
                      <a:bodyPr/>
                      <a:lstStyle/>
                      <a:p>
                        <a:pPr marL="338138"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https://www.doutorfinancas.pt/empresas/como-obter-informacoes-sobre-uma-empresa/</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https://transparencia.gov.pt/</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Pesquisa de </a:t>
                        </a:r>
                        <a:r>
                          <a:rPr lang="es-ES" sz="1600" kern="1200" noProof="0" dirty="0" err="1">
                            <a:solidFill>
                              <a:schemeClr val="dk1"/>
                            </a:solidFill>
                            <a:latin typeface="+mn-lt"/>
                            <a:ea typeface="+mn-ea"/>
                            <a:cs typeface="+mn-cs"/>
                          </a:rPr>
                          <a:t>bens</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penhorados</a:t>
                        </a:r>
                        <a:r>
                          <a:rPr lang="es-ES" sz="1600" kern="1200" noProof="0" dirty="0">
                            <a:solidFill>
                              <a:schemeClr val="dk1"/>
                            </a:solidFill>
                            <a:latin typeface="+mn-lt"/>
                            <a:ea typeface="+mn-ea"/>
                            <a:cs typeface="+mn-cs"/>
                          </a:rPr>
                          <a:t> – </a:t>
                        </a:r>
                        <a:r>
                          <a:rPr lang="es-ES" sz="1600" kern="1200" noProof="0" dirty="0" err="1">
                            <a:solidFill>
                              <a:schemeClr val="dk1"/>
                            </a:solidFill>
                            <a:latin typeface="+mn-lt"/>
                            <a:ea typeface="+mn-ea"/>
                            <a:cs typeface="+mn-cs"/>
                          </a:rPr>
                          <a:t>não</a:t>
                        </a:r>
                        <a:r>
                          <a:rPr lang="es-ES" sz="1600" kern="1200" noProof="0" dirty="0">
                            <a:solidFill>
                              <a:schemeClr val="dk1"/>
                            </a:solidFill>
                            <a:latin typeface="+mn-lt"/>
                            <a:ea typeface="+mn-ea"/>
                            <a:cs typeface="+mn-cs"/>
                          </a:rPr>
                          <a:t> oficial (</a:t>
                        </a:r>
                        <a:r>
                          <a:rPr lang="es-ES" sz="1600" kern="1200" noProof="0" dirty="0">
                            <a:solidFill>
                              <a:schemeClr val="dk1"/>
                            </a:solidFill>
                            <a:latin typeface="+mn-lt"/>
                            <a:ea typeface="+mn-ea"/>
                            <a:cs typeface="+mn-cs"/>
                            <a:hlinkClick r:id="rId10"/>
                          </a:rPr>
                          <a:t>link</a:t>
                        </a:r>
                        <a:r>
                          <a:rPr lang="es-ES" sz="1600" kern="1200" noProof="0" dirty="0">
                            <a:solidFill>
                              <a:schemeClr val="dk1"/>
                            </a:solidFill>
                            <a:latin typeface="+mn-lt"/>
                            <a:ea typeface="+mn-ea"/>
                            <a:cs typeface="+mn-cs"/>
                          </a:rPr>
                          <a:t>)</a:t>
                        </a: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Pesquisa de </a:t>
                        </a:r>
                        <a:r>
                          <a:rPr lang="es-ES" sz="1600" kern="1200" noProof="0" dirty="0" err="1">
                            <a:solidFill>
                              <a:schemeClr val="dk1"/>
                            </a:solidFill>
                            <a:latin typeface="+mn-lt"/>
                            <a:ea typeface="+mn-ea"/>
                            <a:cs typeface="+mn-cs"/>
                          </a:rPr>
                          <a:t>bens</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penhorados</a:t>
                        </a:r>
                        <a:r>
                          <a:rPr lang="es-ES" sz="1600" kern="1200" noProof="0" dirty="0">
                            <a:solidFill>
                              <a:schemeClr val="dk1"/>
                            </a:solidFill>
                            <a:latin typeface="+mn-lt"/>
                            <a:ea typeface="+mn-ea"/>
                            <a:cs typeface="+mn-cs"/>
                          </a:rPr>
                          <a:t> – </a:t>
                        </a:r>
                        <a:r>
                          <a:rPr lang="es-ES" sz="1600" kern="1200" noProof="0" dirty="0" err="1">
                            <a:solidFill>
                              <a:schemeClr val="dk1"/>
                            </a:solidFill>
                            <a:latin typeface="+mn-lt"/>
                            <a:ea typeface="+mn-ea"/>
                            <a:cs typeface="+mn-cs"/>
                          </a:rPr>
                          <a:t>não</a:t>
                        </a:r>
                        <a:r>
                          <a:rPr lang="es-ES" sz="1600" kern="1200" noProof="0" dirty="0">
                            <a:solidFill>
                              <a:schemeClr val="dk1"/>
                            </a:solidFill>
                            <a:latin typeface="+mn-lt"/>
                            <a:ea typeface="+mn-ea"/>
                            <a:cs typeface="+mn-cs"/>
                          </a:rPr>
                          <a:t> oficial (</a:t>
                        </a:r>
                        <a:r>
                          <a:rPr lang="es-ES" sz="1600" kern="1200" noProof="0" dirty="0">
                            <a:solidFill>
                              <a:schemeClr val="dk1"/>
                            </a:solidFill>
                            <a:latin typeface="+mn-lt"/>
                            <a:ea typeface="+mn-ea"/>
                            <a:cs typeface="+mn-cs"/>
                            <a:hlinkClick r:id="rId11"/>
                          </a:rPr>
                          <a:t>link</a:t>
                        </a:r>
                        <a:r>
                          <a:rPr lang="es-ES" sz="1600" kern="1200" noProof="0" dirty="0">
                            <a:solidFill>
                              <a:schemeClr val="dk1"/>
                            </a:solidFill>
                            <a:latin typeface="+mn-lt"/>
                            <a:ea typeface="+mn-ea"/>
                            <a:cs typeface="+mn-cs"/>
                          </a:rPr>
                          <a:t>)</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https://geneall.net/</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https://www.einforma.pt/</a:t>
                        </a: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https://www.iberinform.pt</a:t>
                        </a: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https://www.racius.com</a:t>
                        </a: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https://www.rigorbiz.pt/</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https://www.emailondeck.com/</a:t>
                        </a: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https://temp-mail.org/</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rPr>
                          <a:t>https://www.playmakerstats.com/</a:t>
                        </a:r>
                      </a:p>
                      <a:p>
                        <a:pPr marL="338138"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p>
                        <a:pPr marL="338138" indent="0">
                          <a:lnSpc>
                            <a:spcPct val="150000"/>
                          </a:lnSpc>
                          <a:buFont typeface="Arial" panose="020B0604020202020204" pitchFamily="34" charset="0"/>
                          <a:buNone/>
                        </a:pPr>
                        <a:r>
                          <a:rPr lang="es-ES" sz="1600" kern="1200" noProof="0" dirty="0">
                            <a:solidFill>
                              <a:schemeClr val="dk1"/>
                            </a:solidFill>
                            <a:latin typeface="+mn-lt"/>
                            <a:ea typeface="+mn-ea"/>
                            <a:cs typeface="+mn-cs"/>
                            <a:hlinkClick r:id="rId12"/>
                          </a:rPr>
                          <a:t>https://www.pai.pt/</a:t>
                        </a:r>
                        <a:endParaRPr lang="es-ES" sz="1600" kern="1200" noProof="0" dirty="0">
                          <a:solidFill>
                            <a:schemeClr val="dk1"/>
                          </a:solidFill>
                          <a:latin typeface="+mn-lt"/>
                          <a:ea typeface="+mn-ea"/>
                          <a:cs typeface="+mn-cs"/>
                        </a:endParaRPr>
                      </a:p>
                      <a:p>
                        <a:pPr marL="0" indent="0">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18" name="Table 5">
              <a:extLst>
                <a:ext uri="{FF2B5EF4-FFF2-40B4-BE49-F238E27FC236}">
                  <a16:creationId xmlns:a16="http://schemas.microsoft.com/office/drawing/2014/main" id="{13DC9F15-4C26-11F1-9673-F49036C1642C}"/>
                </a:ext>
              </a:extLst>
            </p:cNvPr>
            <p:cNvGraphicFramePr>
              <a:graphicFrameLocks/>
            </p:cNvGraphicFramePr>
            <p:nvPr>
              <p:extLst>
                <p:ext uri="{D42A27DB-BD31-4B8C-83A1-F6EECF244321}">
                  <p14:modId xmlns:p14="http://schemas.microsoft.com/office/powerpoint/2010/main" val="118836573"/>
                </p:ext>
              </p:extLst>
            </p:nvPr>
          </p:nvGraphicFramePr>
          <p:xfrm>
            <a:off x="133350" y="4128334"/>
            <a:ext cx="5276850" cy="2683293"/>
          </p:xfrm>
          <a:graphic>
            <a:graphicData uri="http://schemas.openxmlformats.org/drawingml/2006/table">
              <a:tbl>
                <a:tblPr firstRow="1" bandRow="1">
                  <a:tableStyleId>{5C22544A-7EE6-4342-B048-85BDC9FD1C3A}</a:tableStyleId>
                </a:tblPr>
                <a:tblGrid>
                  <a:gridCol w="1623868">
                    <a:extLst>
                      <a:ext uri="{9D8B030D-6E8A-4147-A177-3AD203B41FA5}">
                        <a16:colId xmlns:a16="http://schemas.microsoft.com/office/drawing/2014/main" val="4289972319"/>
                      </a:ext>
                    </a:extLst>
                  </a:gridCol>
                  <a:gridCol w="3652982">
                    <a:extLst>
                      <a:ext uri="{9D8B030D-6E8A-4147-A177-3AD203B41FA5}">
                        <a16:colId xmlns:a16="http://schemas.microsoft.com/office/drawing/2014/main" val="2619954489"/>
                      </a:ext>
                    </a:extLst>
                  </a:gridCol>
                </a:tblGrid>
                <a:tr h="435139">
                  <a:tc>
                    <a:txBody>
                      <a:bodyPr/>
                      <a:lstStyle/>
                      <a:p>
                        <a:pPr algn="l"/>
                        <a:r>
                          <a:rPr lang="es-ES" noProof="0" dirty="0"/>
                          <a:t>Portal</a:t>
                        </a:r>
                      </a:p>
                    </a:txBody>
                    <a:tcPr anchor="ctr">
                      <a:solidFill>
                        <a:schemeClr val="tx2">
                          <a:lumMod val="75000"/>
                        </a:schemeClr>
                      </a:solidFill>
                    </a:tcPr>
                  </a:tc>
                  <a:tc>
                    <a:txBody>
                      <a:bodyPr/>
                      <a:lstStyle/>
                      <a:p>
                        <a:pPr algn="l"/>
                        <a:r>
                          <a:rPr lang="es-ES" noProof="0" dirty="0"/>
                          <a:t>Portal do </a:t>
                        </a:r>
                        <a:r>
                          <a:rPr lang="es-ES" noProof="0" dirty="0" err="1"/>
                          <a:t>Governo</a:t>
                        </a:r>
                        <a:endParaRPr lang="es-ES" noProof="0" dirty="0"/>
                      </a:p>
                    </a:txBody>
                    <a:tcPr anchor="ctr">
                      <a:solidFill>
                        <a:schemeClr val="tx2">
                          <a:lumMod val="75000"/>
                        </a:schemeClr>
                      </a:solidFill>
                    </a:tcPr>
                  </a:tc>
                  <a:extLst>
                    <a:ext uri="{0D108BD9-81ED-4DB2-BD59-A6C34878D82A}">
                      <a16:rowId xmlns:a16="http://schemas.microsoft.com/office/drawing/2014/main" val="2389528094"/>
                    </a:ext>
                  </a:extLst>
                </a:tr>
                <a:tr h="1597468">
                  <a:tc>
                    <a:txBody>
                      <a:bodyPr/>
                      <a:lstStyle/>
                      <a:p>
                        <a:pPr>
                          <a:lnSpc>
                            <a:spcPct val="150000"/>
                          </a:lnSpc>
                        </a:pPr>
                        <a:endParaRPr lang="es-ES" noProof="0" dirty="0"/>
                      </a:p>
                    </a:txBody>
                    <a:tcPr>
                      <a:solidFill>
                        <a:schemeClr val="tx2">
                          <a:lumMod val="20000"/>
                          <a:lumOff val="80000"/>
                        </a:schemeClr>
                      </a:solidFill>
                    </a:tcPr>
                  </a:tc>
                  <a:tc>
                    <a:txBody>
                      <a:bodyPr/>
                      <a:lstStyle/>
                      <a:p>
                        <a:pPr marL="0" indent="287338">
                          <a:lnSpc>
                            <a:spcPct val="150000"/>
                          </a:lnSpc>
                          <a:buFont typeface="Arial" panose="020B0604020202020204" pitchFamily="34" charset="0"/>
                          <a:buNone/>
                        </a:pPr>
                        <a:r>
                          <a:rPr lang="es-ES" sz="1600" kern="1200" noProof="0" dirty="0">
                            <a:solidFill>
                              <a:schemeClr val="dk1"/>
                            </a:solidFill>
                            <a:latin typeface="+mn-lt"/>
                            <a:ea typeface="+mn-ea"/>
                            <a:cs typeface="+mn-cs"/>
                          </a:rPr>
                          <a:t>Deputados em </a:t>
                        </a:r>
                        <a:r>
                          <a:rPr lang="es-ES" sz="1600" kern="1200" noProof="0" dirty="0" err="1">
                            <a:solidFill>
                              <a:schemeClr val="dk1"/>
                            </a:solidFill>
                            <a:latin typeface="+mn-lt"/>
                            <a:ea typeface="+mn-ea"/>
                            <a:cs typeface="+mn-cs"/>
                          </a:rPr>
                          <a:t>funções</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13"/>
                          </a:rPr>
                          <a:t>link</a:t>
                        </a:r>
                        <a:r>
                          <a:rPr lang="es-ES" sz="1600" kern="1200" noProof="0" dirty="0">
                            <a:solidFill>
                              <a:schemeClr val="dk1"/>
                            </a:solidFill>
                            <a:latin typeface="+mn-lt"/>
                            <a:ea typeface="+mn-ea"/>
                            <a:cs typeface="+mn-cs"/>
                          </a:rPr>
                          <a:t>)</a:t>
                        </a:r>
                      </a:p>
                      <a:p>
                        <a:pPr marL="0" indent="287338">
                          <a:lnSpc>
                            <a:spcPct val="150000"/>
                          </a:lnSpc>
                          <a:buFont typeface="Arial" panose="020B0604020202020204" pitchFamily="34" charset="0"/>
                          <a:buNone/>
                        </a:pPr>
                        <a:r>
                          <a:rPr lang="es-ES" sz="1600" kern="1200" noProof="0" dirty="0" err="1">
                            <a:solidFill>
                              <a:schemeClr val="dk1"/>
                            </a:solidFill>
                            <a:latin typeface="+mn-lt"/>
                            <a:ea typeface="+mn-ea"/>
                            <a:cs typeface="+mn-cs"/>
                          </a:rPr>
                          <a:t>Informação</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Pessoal</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14"/>
                          </a:rPr>
                          <a:t>link</a:t>
                        </a:r>
                        <a:r>
                          <a:rPr lang="es-ES" sz="1600" kern="1200" noProof="0" dirty="0">
                            <a:solidFill>
                              <a:schemeClr val="dk1"/>
                            </a:solidFill>
                            <a:latin typeface="+mn-lt"/>
                            <a:ea typeface="+mn-ea"/>
                            <a:cs typeface="+mn-cs"/>
                          </a:rPr>
                          <a:t>)</a:t>
                        </a:r>
                      </a:p>
                      <a:p>
                        <a:pPr marL="0" indent="287338">
                          <a:lnSpc>
                            <a:spcPct val="150000"/>
                          </a:lnSpc>
                          <a:buFont typeface="Arial" panose="020B0604020202020204" pitchFamily="34" charset="0"/>
                          <a:buNone/>
                        </a:pPr>
                        <a:r>
                          <a:rPr lang="es-ES" sz="1600" kern="1200" noProof="0" dirty="0" err="1">
                            <a:solidFill>
                              <a:schemeClr val="dk1"/>
                            </a:solidFill>
                            <a:latin typeface="+mn-lt"/>
                            <a:ea typeface="+mn-ea"/>
                            <a:cs typeface="+mn-cs"/>
                          </a:rPr>
                          <a:t>Registo</a:t>
                        </a:r>
                        <a:r>
                          <a:rPr lang="es-ES" sz="1600" kern="1200" noProof="0" dirty="0">
                            <a:solidFill>
                              <a:schemeClr val="dk1"/>
                            </a:solidFill>
                            <a:latin typeface="+mn-lt"/>
                            <a:ea typeface="+mn-ea"/>
                            <a:cs typeface="+mn-cs"/>
                          </a:rPr>
                          <a:t> de </a:t>
                        </a:r>
                        <a:r>
                          <a:rPr lang="es-ES" sz="1600" kern="1200" noProof="0" dirty="0" err="1">
                            <a:solidFill>
                              <a:schemeClr val="dk1"/>
                            </a:solidFill>
                            <a:latin typeface="+mn-lt"/>
                            <a:ea typeface="+mn-ea"/>
                            <a:cs typeface="+mn-cs"/>
                          </a:rPr>
                          <a:t>interesses</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15"/>
                          </a:rPr>
                          <a:t>link</a:t>
                        </a:r>
                        <a:r>
                          <a:rPr lang="es-ES" sz="1600" kern="1200" noProof="0" dirty="0">
                            <a:solidFill>
                              <a:schemeClr val="dk1"/>
                            </a:solidFill>
                            <a:latin typeface="+mn-lt"/>
                            <a:ea typeface="+mn-ea"/>
                            <a:cs typeface="+mn-cs"/>
                          </a:rPr>
                          <a:t>)</a:t>
                        </a:r>
                      </a:p>
                      <a:p>
                        <a:pPr marL="0" indent="287338">
                          <a:lnSpc>
                            <a:spcPct val="150000"/>
                          </a:lnSpc>
                          <a:buFont typeface="Arial" panose="020B0604020202020204" pitchFamily="34" charset="0"/>
                          <a:buNone/>
                        </a:pPr>
                        <a:r>
                          <a:rPr lang="es-ES" sz="1600" kern="1200" noProof="0" dirty="0" err="1">
                            <a:solidFill>
                              <a:schemeClr val="dk1"/>
                            </a:solidFill>
                            <a:latin typeface="+mn-lt"/>
                            <a:ea typeface="+mn-ea"/>
                            <a:cs typeface="+mn-cs"/>
                          </a:rPr>
                          <a:t>Participação</a:t>
                        </a:r>
                        <a:r>
                          <a:rPr lang="es-ES" sz="1600" kern="1200" noProof="0" dirty="0">
                            <a:solidFill>
                              <a:schemeClr val="dk1"/>
                            </a:solidFill>
                            <a:latin typeface="+mn-lt"/>
                            <a:ea typeface="+mn-ea"/>
                            <a:cs typeface="+mn-cs"/>
                          </a:rPr>
                          <a:t> em empresas (</a:t>
                        </a:r>
                        <a:r>
                          <a:rPr lang="es-ES" sz="1600" kern="1200" noProof="0" dirty="0">
                            <a:solidFill>
                              <a:schemeClr val="dk1"/>
                            </a:solidFill>
                            <a:latin typeface="+mn-lt"/>
                            <a:ea typeface="+mn-ea"/>
                            <a:cs typeface="+mn-cs"/>
                            <a:hlinkClick r:id="rId16"/>
                          </a:rPr>
                          <a:t>link</a:t>
                        </a:r>
                        <a:r>
                          <a:rPr lang="es-ES" sz="1600" kern="1200" noProof="0" dirty="0">
                            <a:solidFill>
                              <a:schemeClr val="dk1"/>
                            </a:solidFill>
                            <a:latin typeface="+mn-lt"/>
                            <a:ea typeface="+mn-ea"/>
                            <a:cs typeface="+mn-cs"/>
                          </a:rPr>
                          <a:t>)</a:t>
                        </a:r>
                      </a:p>
                      <a:p>
                        <a:pPr marL="0" indent="287338">
                          <a:lnSpc>
                            <a:spcPct val="150000"/>
                          </a:lnSpc>
                          <a:buFont typeface="Arial" panose="020B0604020202020204" pitchFamily="34" charset="0"/>
                          <a:buNone/>
                        </a:pPr>
                        <a:r>
                          <a:rPr lang="es-ES" sz="1600" kern="1200" noProof="0" dirty="0">
                            <a:solidFill>
                              <a:schemeClr val="dk1"/>
                            </a:solidFill>
                            <a:latin typeface="+mn-lt"/>
                            <a:ea typeface="+mn-ea"/>
                            <a:cs typeface="+mn-cs"/>
                          </a:rPr>
                          <a:t>Dados </a:t>
                        </a:r>
                        <a:r>
                          <a:rPr lang="es-ES" sz="1600" kern="1200" noProof="0" dirty="0" err="1">
                            <a:solidFill>
                              <a:schemeClr val="dk1"/>
                            </a:solidFill>
                            <a:latin typeface="+mn-lt"/>
                            <a:ea typeface="+mn-ea"/>
                            <a:cs typeface="+mn-cs"/>
                          </a:rPr>
                          <a:t>Abertos</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17"/>
                          </a:rPr>
                          <a:t>link</a:t>
                        </a:r>
                        <a:r>
                          <a:rPr lang="es-ES" sz="1600" kern="1200" noProof="0" dirty="0">
                            <a:solidFill>
                              <a:schemeClr val="dk1"/>
                            </a:solidFill>
                            <a:latin typeface="+mn-lt"/>
                            <a:ea typeface="+mn-ea"/>
                            <a:cs typeface="+mn-cs"/>
                          </a:rPr>
                          <a:t>)</a:t>
                        </a:r>
                      </a:p>
                      <a:p>
                        <a:pPr marL="0" indent="287338">
                          <a:lnSpc>
                            <a:spcPct val="150000"/>
                          </a:lnSpc>
                          <a:buFont typeface="Arial" panose="020B0604020202020204" pitchFamily="34" charset="0"/>
                          <a:buNone/>
                        </a:pPr>
                        <a:endParaRPr lang="es-ES" sz="1600" kern="1200" noProof="0" dirty="0">
                          <a:solidFill>
                            <a:schemeClr val="dk1"/>
                          </a:solidFill>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20" name="Table 5">
              <a:extLst>
                <a:ext uri="{FF2B5EF4-FFF2-40B4-BE49-F238E27FC236}">
                  <a16:creationId xmlns:a16="http://schemas.microsoft.com/office/drawing/2014/main" id="{AB26895C-55FC-A3BD-E31A-2A5D7BE8C2B6}"/>
                </a:ext>
              </a:extLst>
            </p:cNvPr>
            <p:cNvGraphicFramePr>
              <a:graphicFrameLocks/>
            </p:cNvGraphicFramePr>
            <p:nvPr>
              <p:extLst>
                <p:ext uri="{D42A27DB-BD31-4B8C-83A1-F6EECF244321}">
                  <p14:modId xmlns:p14="http://schemas.microsoft.com/office/powerpoint/2010/main" val="41575916"/>
                </p:ext>
              </p:extLst>
            </p:nvPr>
          </p:nvGraphicFramePr>
          <p:xfrm>
            <a:off x="5543550" y="4128334"/>
            <a:ext cx="5276850" cy="2683293"/>
          </p:xfrm>
          <a:graphic>
            <a:graphicData uri="http://schemas.openxmlformats.org/drawingml/2006/table">
              <a:tbl>
                <a:tblPr firstRow="1" bandRow="1">
                  <a:tableStyleId>{5C22544A-7EE6-4342-B048-85BDC9FD1C3A}</a:tableStyleId>
                </a:tblPr>
                <a:tblGrid>
                  <a:gridCol w="1623868">
                    <a:extLst>
                      <a:ext uri="{9D8B030D-6E8A-4147-A177-3AD203B41FA5}">
                        <a16:colId xmlns:a16="http://schemas.microsoft.com/office/drawing/2014/main" val="4289972319"/>
                      </a:ext>
                    </a:extLst>
                  </a:gridCol>
                  <a:gridCol w="3652982">
                    <a:extLst>
                      <a:ext uri="{9D8B030D-6E8A-4147-A177-3AD203B41FA5}">
                        <a16:colId xmlns:a16="http://schemas.microsoft.com/office/drawing/2014/main" val="2619954489"/>
                      </a:ext>
                    </a:extLst>
                  </a:gridCol>
                </a:tblGrid>
                <a:tr h="435139">
                  <a:tc>
                    <a:txBody>
                      <a:bodyPr/>
                      <a:lstStyle/>
                      <a:p>
                        <a:pPr algn="l"/>
                        <a:r>
                          <a:rPr lang="es-ES" noProof="0" dirty="0"/>
                          <a:t>Portal</a:t>
                        </a:r>
                      </a:p>
                    </a:txBody>
                    <a:tcPr anchor="ctr">
                      <a:solidFill>
                        <a:schemeClr val="tx2">
                          <a:lumMod val="75000"/>
                        </a:schemeClr>
                      </a:solidFill>
                    </a:tcPr>
                  </a:tc>
                  <a:tc>
                    <a:txBody>
                      <a:bodyPr/>
                      <a:lstStyle/>
                      <a:p>
                        <a:pPr algn="l"/>
                        <a:r>
                          <a:rPr lang="es-ES" noProof="0" dirty="0"/>
                          <a:t>DRE</a:t>
                        </a:r>
                      </a:p>
                    </a:txBody>
                    <a:tcPr anchor="ctr">
                      <a:solidFill>
                        <a:schemeClr val="tx2">
                          <a:lumMod val="75000"/>
                        </a:schemeClr>
                      </a:solidFill>
                    </a:tcPr>
                  </a:tc>
                  <a:extLst>
                    <a:ext uri="{0D108BD9-81ED-4DB2-BD59-A6C34878D82A}">
                      <a16:rowId xmlns:a16="http://schemas.microsoft.com/office/drawing/2014/main" val="2389528094"/>
                    </a:ext>
                  </a:extLst>
                </a:tr>
                <a:tr h="1597468">
                  <a:tc>
                    <a:txBody>
                      <a:bodyPr/>
                      <a:lstStyle/>
                      <a:p>
                        <a:pPr>
                          <a:lnSpc>
                            <a:spcPct val="150000"/>
                          </a:lnSpc>
                        </a:pPr>
                        <a:endParaRPr lang="es-ES" noProof="0" dirty="0"/>
                      </a:p>
                    </a:txBody>
                    <a:tcPr>
                      <a:solidFill>
                        <a:schemeClr val="tx2">
                          <a:lumMod val="20000"/>
                          <a:lumOff val="80000"/>
                        </a:schemeClr>
                      </a:solidFill>
                    </a:tcPr>
                  </a:tc>
                  <a:tc>
                    <a:txBody>
                      <a:bodyPr/>
                      <a:lstStyle/>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Pesquisa (</a:t>
                        </a:r>
                        <a:r>
                          <a:rPr lang="es-ES" sz="1600" kern="1200" noProof="0" dirty="0">
                            <a:solidFill>
                              <a:schemeClr val="dk1"/>
                            </a:solidFill>
                            <a:latin typeface="+mn-lt"/>
                            <a:ea typeface="+mn-ea"/>
                            <a:cs typeface="+mn-cs"/>
                            <a:hlinkClick r:id="rId18"/>
                          </a:rPr>
                          <a:t>link</a:t>
                        </a:r>
                        <a:r>
                          <a:rPr lang="es-ES" sz="1600" kern="1200" noProof="0" dirty="0">
                            <a:solidFill>
                              <a:schemeClr val="dk1"/>
                            </a:solidFill>
                            <a:latin typeface="+mn-lt"/>
                            <a:ea typeface="+mn-ea"/>
                            <a:cs typeface="+mn-cs"/>
                          </a:rPr>
                          <a:t>)</a:t>
                        </a: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Site alternativo – DRE Tretas (</a:t>
                        </a:r>
                        <a:r>
                          <a:rPr lang="es-ES" sz="1600" kern="1200" noProof="0" dirty="0">
                            <a:solidFill>
                              <a:schemeClr val="dk1"/>
                            </a:solidFill>
                            <a:latin typeface="+mn-lt"/>
                            <a:ea typeface="+mn-ea"/>
                            <a:cs typeface="+mn-cs"/>
                            <a:hlinkClick r:id="rId19"/>
                          </a:rPr>
                          <a:t>link</a:t>
                        </a:r>
                        <a:r>
                          <a:rPr lang="es-ES" sz="1600" kern="1200" noProof="0" dirty="0">
                            <a:solidFill>
                              <a:schemeClr val="dk1"/>
                            </a:solidFill>
                            <a:latin typeface="+mn-lt"/>
                            <a:ea typeface="+mn-ea"/>
                            <a:cs typeface="+mn-cs"/>
                          </a:rPr>
                          <a:t>)</a:t>
                        </a: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endParaRPr lang="es-ES" sz="1600" kern="1200" noProof="0" dirty="0">
                          <a:solidFill>
                            <a:schemeClr val="dk1"/>
                          </a:solidFill>
                          <a:latin typeface="+mn-lt"/>
                          <a:ea typeface="+mn-ea"/>
                          <a:cs typeface="+mn-cs"/>
                        </a:endParaRP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s-ES" sz="1600" kern="1200" noProof="0" dirty="0">
                          <a:solidFill>
                            <a:schemeClr val="dk1"/>
                          </a:solidFill>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21" name="Table 5">
              <a:extLst>
                <a:ext uri="{FF2B5EF4-FFF2-40B4-BE49-F238E27FC236}">
                  <a16:creationId xmlns:a16="http://schemas.microsoft.com/office/drawing/2014/main" id="{9DEDD027-8CCE-F840-8B0B-6301836914A4}"/>
                </a:ext>
              </a:extLst>
            </p:cNvPr>
            <p:cNvGraphicFramePr>
              <a:graphicFrameLocks/>
            </p:cNvGraphicFramePr>
            <p:nvPr>
              <p:extLst>
                <p:ext uri="{D42A27DB-BD31-4B8C-83A1-F6EECF244321}">
                  <p14:modId xmlns:p14="http://schemas.microsoft.com/office/powerpoint/2010/main" val="1770722800"/>
                </p:ext>
              </p:extLst>
            </p:nvPr>
          </p:nvGraphicFramePr>
          <p:xfrm>
            <a:off x="133350" y="7065445"/>
            <a:ext cx="5276850" cy="3049053"/>
          </p:xfrm>
          <a:graphic>
            <a:graphicData uri="http://schemas.openxmlformats.org/drawingml/2006/table">
              <a:tbl>
                <a:tblPr firstRow="1" bandRow="1">
                  <a:tableStyleId>{5C22544A-7EE6-4342-B048-85BDC9FD1C3A}</a:tableStyleId>
                </a:tblPr>
                <a:tblGrid>
                  <a:gridCol w="1623868">
                    <a:extLst>
                      <a:ext uri="{9D8B030D-6E8A-4147-A177-3AD203B41FA5}">
                        <a16:colId xmlns:a16="http://schemas.microsoft.com/office/drawing/2014/main" val="4289972319"/>
                      </a:ext>
                    </a:extLst>
                  </a:gridCol>
                  <a:gridCol w="3652982">
                    <a:extLst>
                      <a:ext uri="{9D8B030D-6E8A-4147-A177-3AD203B41FA5}">
                        <a16:colId xmlns:a16="http://schemas.microsoft.com/office/drawing/2014/main" val="2619954489"/>
                      </a:ext>
                    </a:extLst>
                  </a:gridCol>
                </a:tblGrid>
                <a:tr h="435139">
                  <a:tc>
                    <a:txBody>
                      <a:bodyPr/>
                      <a:lstStyle/>
                      <a:p>
                        <a:pPr algn="l"/>
                        <a:r>
                          <a:rPr lang="es-ES" noProof="0" dirty="0"/>
                          <a:t>Portal</a:t>
                        </a:r>
                      </a:p>
                    </a:txBody>
                    <a:tcPr anchor="ctr">
                      <a:solidFill>
                        <a:schemeClr val="tx2">
                          <a:lumMod val="75000"/>
                        </a:schemeClr>
                      </a:solidFill>
                    </a:tcPr>
                  </a:tc>
                  <a:tc>
                    <a:txBody>
                      <a:bodyPr/>
                      <a:lstStyle/>
                      <a:p>
                        <a:pPr algn="l"/>
                        <a:r>
                          <a:rPr lang="es-ES" noProof="0" dirty="0"/>
                          <a:t>Portal BASE</a:t>
                        </a:r>
                      </a:p>
                    </a:txBody>
                    <a:tcPr anchor="ctr">
                      <a:solidFill>
                        <a:schemeClr val="tx2">
                          <a:lumMod val="75000"/>
                        </a:schemeClr>
                      </a:solidFill>
                    </a:tcPr>
                  </a:tc>
                  <a:extLst>
                    <a:ext uri="{0D108BD9-81ED-4DB2-BD59-A6C34878D82A}">
                      <a16:rowId xmlns:a16="http://schemas.microsoft.com/office/drawing/2014/main" val="2389528094"/>
                    </a:ext>
                  </a:extLst>
                </a:tr>
                <a:tr h="1597468">
                  <a:tc>
                    <a:txBody>
                      <a:bodyPr/>
                      <a:lstStyle/>
                      <a:p>
                        <a:pPr>
                          <a:lnSpc>
                            <a:spcPct val="150000"/>
                          </a:lnSpc>
                        </a:pPr>
                        <a:endParaRPr lang="es-ES" noProof="0" dirty="0"/>
                      </a:p>
                    </a:txBody>
                    <a:tcPr>
                      <a:solidFill>
                        <a:schemeClr val="tx2">
                          <a:lumMod val="20000"/>
                          <a:lumOff val="80000"/>
                        </a:schemeClr>
                      </a:solidFill>
                    </a:tcPr>
                  </a:tc>
                  <a:tc>
                    <a:txBody>
                      <a:bodyPr/>
                      <a:lstStyle/>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O Portal BASE centraliza a </a:t>
                        </a:r>
                        <a:r>
                          <a:rPr lang="es-ES" sz="1600" kern="1200" noProof="0" dirty="0" err="1">
                            <a:solidFill>
                              <a:schemeClr val="dk1"/>
                            </a:solidFill>
                            <a:latin typeface="+mn-lt"/>
                            <a:ea typeface="+mn-ea"/>
                            <a:cs typeface="+mn-cs"/>
                          </a:rPr>
                          <a:t>informação</a:t>
                        </a:r>
                        <a:r>
                          <a:rPr lang="es-ES" sz="1600" kern="1200" noProof="0" dirty="0">
                            <a:solidFill>
                              <a:schemeClr val="dk1"/>
                            </a:solidFill>
                            <a:latin typeface="+mn-lt"/>
                            <a:ea typeface="+mn-ea"/>
                            <a:cs typeface="+mn-cs"/>
                          </a:rPr>
                          <a:t> sobre os contratos públicos (</a:t>
                        </a:r>
                        <a:r>
                          <a:rPr lang="es-ES" sz="1600" kern="1200" noProof="0" dirty="0">
                            <a:solidFill>
                              <a:schemeClr val="dk1"/>
                            </a:solidFill>
                            <a:latin typeface="+mn-lt"/>
                            <a:ea typeface="+mn-ea"/>
                            <a:cs typeface="+mn-cs"/>
                            <a:hlinkClick r:id="rId20"/>
                          </a:rPr>
                          <a:t>link</a:t>
                        </a:r>
                        <a:r>
                          <a:rPr lang="es-ES" sz="1600" kern="1200" noProof="0" dirty="0">
                            <a:solidFill>
                              <a:schemeClr val="dk1"/>
                            </a:solidFill>
                            <a:latin typeface="+mn-lt"/>
                            <a:ea typeface="+mn-ea"/>
                            <a:cs typeface="+mn-cs"/>
                          </a:rPr>
                          <a:t>)</a:t>
                        </a: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Contratos (</a:t>
                        </a:r>
                        <a:r>
                          <a:rPr lang="es-ES" sz="1600" kern="1200" noProof="0" dirty="0">
                            <a:solidFill>
                              <a:schemeClr val="dk1"/>
                            </a:solidFill>
                            <a:latin typeface="+mn-lt"/>
                            <a:ea typeface="+mn-ea"/>
                            <a:cs typeface="+mn-cs"/>
                            <a:hlinkClick r:id="rId21"/>
                          </a:rPr>
                          <a:t>link</a:t>
                        </a:r>
                        <a:r>
                          <a:rPr lang="es-ES" sz="1600" kern="1200" noProof="0" dirty="0">
                            <a:solidFill>
                              <a:schemeClr val="dk1"/>
                            </a:solidFill>
                            <a:latin typeface="+mn-lt"/>
                            <a:ea typeface="+mn-ea"/>
                            <a:cs typeface="+mn-cs"/>
                          </a:rPr>
                          <a:t>)</a:t>
                        </a: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err="1">
                            <a:solidFill>
                              <a:schemeClr val="dk1"/>
                            </a:solidFill>
                            <a:latin typeface="+mn-lt"/>
                            <a:ea typeface="+mn-ea"/>
                            <a:cs typeface="+mn-cs"/>
                          </a:rPr>
                          <a:t>Anúncios</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22"/>
                          </a:rPr>
                          <a:t>link</a:t>
                        </a:r>
                        <a:r>
                          <a:rPr lang="es-ES" sz="1600" kern="1200" noProof="0" dirty="0">
                            <a:solidFill>
                              <a:schemeClr val="dk1"/>
                            </a:solidFill>
                            <a:latin typeface="+mn-lt"/>
                            <a:ea typeface="+mn-ea"/>
                            <a:cs typeface="+mn-cs"/>
                          </a:rPr>
                          <a:t>)</a:t>
                        </a: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Entidades (</a:t>
                        </a:r>
                        <a:r>
                          <a:rPr lang="es-ES" sz="1600" kern="1200" noProof="0" dirty="0">
                            <a:solidFill>
                              <a:schemeClr val="dk1"/>
                            </a:solidFill>
                            <a:latin typeface="+mn-lt"/>
                            <a:ea typeface="+mn-ea"/>
                            <a:cs typeface="+mn-cs"/>
                            <a:hlinkClick r:id="rId23"/>
                          </a:rPr>
                          <a:t>link</a:t>
                        </a:r>
                        <a:r>
                          <a:rPr lang="es-ES" sz="1600" kern="1200" noProof="0" dirty="0">
                            <a:solidFill>
                              <a:schemeClr val="dk1"/>
                            </a:solidFill>
                            <a:latin typeface="+mn-lt"/>
                            <a:ea typeface="+mn-ea"/>
                            <a:cs typeface="+mn-cs"/>
                          </a:rPr>
                          <a:t>)</a:t>
                        </a:r>
                      </a:p>
                      <a:p>
                        <a:pPr marL="287338" marR="0" lvl="1"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Empresas e </a:t>
                        </a:r>
                        <a:r>
                          <a:rPr lang="es-ES" sz="1600" kern="1200" noProof="0" dirty="0" err="1">
                            <a:solidFill>
                              <a:schemeClr val="dk1"/>
                            </a:solidFill>
                            <a:latin typeface="+mn-lt"/>
                            <a:ea typeface="+mn-ea"/>
                            <a:cs typeface="+mn-cs"/>
                          </a:rPr>
                          <a:t>Pessoas</a:t>
                        </a:r>
                        <a:endParaRPr lang="es-ES" sz="1600" kern="1200" noProof="0" dirty="0">
                          <a:solidFill>
                            <a:schemeClr val="dk1"/>
                          </a:solidFill>
                          <a:latin typeface="+mn-lt"/>
                          <a:ea typeface="+mn-ea"/>
                          <a:cs typeface="+mn-cs"/>
                        </a:endParaRPr>
                      </a:p>
                      <a:p>
                        <a:pPr marL="287338"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tabLst/>
                          <a:defRPr/>
                        </a:pPr>
                        <a:r>
                          <a:rPr lang="es-ES" sz="1600" kern="1200" noProof="0" dirty="0">
                            <a:solidFill>
                              <a:schemeClr val="dk1"/>
                            </a:solidFill>
                            <a:latin typeface="+mn-lt"/>
                            <a:ea typeface="+mn-ea"/>
                            <a:cs typeface="+mn-cs"/>
                          </a:rPr>
                          <a:t>Indicadores (</a:t>
                        </a:r>
                        <a:r>
                          <a:rPr lang="es-ES" sz="1600" kern="1200" noProof="0" dirty="0">
                            <a:solidFill>
                              <a:schemeClr val="dk1"/>
                            </a:solidFill>
                            <a:latin typeface="+mn-lt"/>
                            <a:ea typeface="+mn-ea"/>
                            <a:cs typeface="+mn-cs"/>
                            <a:hlinkClick r:id="rId24"/>
                          </a:rPr>
                          <a:t>link</a:t>
                        </a:r>
                        <a:r>
                          <a:rPr lang="es-ES" sz="1600" kern="1200" noProof="0" dirty="0">
                            <a:solidFill>
                              <a:schemeClr val="dk1"/>
                            </a:solidFill>
                            <a:latin typeface="+mn-lt"/>
                            <a:ea typeface="+mn-ea"/>
                            <a:cs typeface="+mn-cs"/>
                          </a:rPr>
                          <a:t>)</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graphicFrame>
          <p:nvGraphicFramePr>
            <p:cNvPr id="22" name="Table 5">
              <a:extLst>
                <a:ext uri="{FF2B5EF4-FFF2-40B4-BE49-F238E27FC236}">
                  <a16:creationId xmlns:a16="http://schemas.microsoft.com/office/drawing/2014/main" id="{9E39314A-97C7-B986-8752-7B000EB85ECC}"/>
                </a:ext>
              </a:extLst>
            </p:cNvPr>
            <p:cNvGraphicFramePr>
              <a:graphicFrameLocks/>
            </p:cNvGraphicFramePr>
            <p:nvPr>
              <p:extLst>
                <p:ext uri="{D42A27DB-BD31-4B8C-83A1-F6EECF244321}">
                  <p14:modId xmlns:p14="http://schemas.microsoft.com/office/powerpoint/2010/main" val="1310064593"/>
                </p:ext>
              </p:extLst>
            </p:nvPr>
          </p:nvGraphicFramePr>
          <p:xfrm>
            <a:off x="5543550" y="7065445"/>
            <a:ext cx="5276850" cy="3049053"/>
          </p:xfrm>
          <a:graphic>
            <a:graphicData uri="http://schemas.openxmlformats.org/drawingml/2006/table">
              <a:tbl>
                <a:tblPr firstRow="1" bandRow="1">
                  <a:tableStyleId>{5C22544A-7EE6-4342-B048-85BDC9FD1C3A}</a:tableStyleId>
                </a:tblPr>
                <a:tblGrid>
                  <a:gridCol w="5276850">
                    <a:extLst>
                      <a:ext uri="{9D8B030D-6E8A-4147-A177-3AD203B41FA5}">
                        <a16:colId xmlns:a16="http://schemas.microsoft.com/office/drawing/2014/main" val="4289972319"/>
                      </a:ext>
                    </a:extLst>
                  </a:gridCol>
                </a:tblGrid>
                <a:tr h="435139">
                  <a:tc>
                    <a:txBody>
                      <a:bodyPr/>
                      <a:lstStyle/>
                      <a:p>
                        <a:pPr algn="l"/>
                        <a:endParaRPr lang="es-ES" noProof="0" dirty="0"/>
                      </a:p>
                    </a:txBody>
                    <a:tcPr anchor="ctr">
                      <a:solidFill>
                        <a:schemeClr val="tx2">
                          <a:lumMod val="75000"/>
                        </a:schemeClr>
                      </a:solidFill>
                    </a:tcPr>
                  </a:tc>
                  <a:extLst>
                    <a:ext uri="{0D108BD9-81ED-4DB2-BD59-A6C34878D82A}">
                      <a16:rowId xmlns:a16="http://schemas.microsoft.com/office/drawing/2014/main" val="2389528094"/>
                    </a:ext>
                  </a:extLst>
                </a:tr>
                <a:tr h="1597468">
                  <a:tc>
                    <a:txBody>
                      <a:bodyPr/>
                      <a:lstStyle/>
                      <a:p>
                        <a:pPr marL="0" indent="0">
                          <a:lnSpc>
                            <a:spcPct val="150000"/>
                          </a:lnSpc>
                          <a:buFont typeface="Arial" panose="020B0604020202020204" pitchFamily="34" charset="0"/>
                          <a:buNone/>
                        </a:pPr>
                        <a:r>
                          <a:rPr lang="es-ES" sz="1600" kern="1200" noProof="0" dirty="0">
                            <a:solidFill>
                              <a:schemeClr val="dk1"/>
                            </a:solidFill>
                            <a:latin typeface="+mn-lt"/>
                            <a:ea typeface="+mn-ea"/>
                            <a:cs typeface="+mn-cs"/>
                          </a:rPr>
                          <a:t>Lista de </a:t>
                        </a:r>
                        <a:r>
                          <a:rPr lang="es-ES" sz="1600" kern="1200" noProof="0" dirty="0" err="1">
                            <a:solidFill>
                              <a:schemeClr val="dk1"/>
                            </a:solidFill>
                            <a:latin typeface="+mn-lt"/>
                            <a:ea typeface="+mn-ea"/>
                            <a:cs typeface="+mn-cs"/>
                          </a:rPr>
                          <a:t>subvenções</a:t>
                        </a:r>
                        <a:r>
                          <a:rPr lang="es-ES" sz="1600" kern="1200" noProof="0" dirty="0">
                            <a:solidFill>
                              <a:schemeClr val="dk1"/>
                            </a:solidFill>
                            <a:latin typeface="+mn-lt"/>
                            <a:ea typeface="+mn-ea"/>
                            <a:cs typeface="+mn-cs"/>
                          </a:rPr>
                          <a:t> e </a:t>
                        </a:r>
                        <a:r>
                          <a:rPr lang="es-ES" sz="1600" kern="1200" noProof="0" dirty="0" err="1">
                            <a:solidFill>
                              <a:schemeClr val="dk1"/>
                            </a:solidFill>
                            <a:latin typeface="+mn-lt"/>
                            <a:ea typeface="+mn-ea"/>
                            <a:cs typeface="+mn-cs"/>
                          </a:rPr>
                          <a:t>benefícios</a:t>
                        </a:r>
                        <a:r>
                          <a:rPr lang="es-ES" sz="1600" kern="1200" noProof="0" dirty="0">
                            <a:solidFill>
                              <a:schemeClr val="dk1"/>
                            </a:solidFill>
                            <a:latin typeface="+mn-lt"/>
                            <a:ea typeface="+mn-ea"/>
                            <a:cs typeface="+mn-cs"/>
                          </a:rPr>
                          <a:t> públicos e de </a:t>
                        </a:r>
                        <a:r>
                          <a:rPr lang="es-ES" sz="1600" kern="1200" noProof="0" dirty="0" err="1">
                            <a:solidFill>
                              <a:schemeClr val="dk1"/>
                            </a:solidFill>
                            <a:latin typeface="+mn-lt"/>
                            <a:ea typeface="+mn-ea"/>
                            <a:cs typeface="+mn-cs"/>
                          </a:rPr>
                          <a:t>doações</a:t>
                        </a:r>
                        <a:r>
                          <a:rPr lang="es-ES" sz="1600" kern="1200" noProof="0" dirty="0">
                            <a:solidFill>
                              <a:schemeClr val="dk1"/>
                            </a:solidFill>
                            <a:latin typeface="+mn-lt"/>
                            <a:ea typeface="+mn-ea"/>
                            <a:cs typeface="+mn-cs"/>
                          </a:rPr>
                          <a:t> (IGF) (</a:t>
                        </a:r>
                        <a:r>
                          <a:rPr lang="es-ES" sz="1600" kern="1200" noProof="0" dirty="0">
                            <a:solidFill>
                              <a:schemeClr val="dk1"/>
                            </a:solidFill>
                            <a:latin typeface="+mn-lt"/>
                            <a:ea typeface="+mn-ea"/>
                            <a:cs typeface="+mn-cs"/>
                            <a:hlinkClick r:id="rId25"/>
                          </a:rPr>
                          <a:t>link</a:t>
                        </a:r>
                        <a:r>
                          <a:rPr lang="es-ES" sz="1600" kern="1200" noProof="0" dirty="0">
                            <a:solidFill>
                              <a:schemeClr val="dk1"/>
                            </a:solidFill>
                            <a:latin typeface="+mn-lt"/>
                            <a:ea typeface="+mn-ea"/>
                            <a:cs typeface="+mn-cs"/>
                          </a:rPr>
                          <a:t>)</a:t>
                        </a:r>
                      </a:p>
                      <a:p>
                        <a:pPr marL="0" indent="0">
                          <a:lnSpc>
                            <a:spcPct val="150000"/>
                          </a:lnSpc>
                          <a:buFont typeface="Arial" panose="020B0604020202020204" pitchFamily="34" charset="0"/>
                          <a:buNone/>
                        </a:pPr>
                        <a:r>
                          <a:rPr lang="es-ES" sz="1600" kern="1200" noProof="0" dirty="0">
                            <a:solidFill>
                              <a:schemeClr val="dk1"/>
                            </a:solidFill>
                            <a:latin typeface="+mn-lt"/>
                            <a:ea typeface="+mn-ea"/>
                            <a:cs typeface="+mn-cs"/>
                          </a:rPr>
                          <a:t>Lista pública de </a:t>
                        </a:r>
                        <a:r>
                          <a:rPr lang="es-ES" sz="1600" kern="1200" noProof="0" dirty="0" err="1">
                            <a:solidFill>
                              <a:schemeClr val="dk1"/>
                            </a:solidFill>
                            <a:latin typeface="+mn-lt"/>
                            <a:ea typeface="+mn-ea"/>
                            <a:cs typeface="+mn-cs"/>
                          </a:rPr>
                          <a:t>execuções</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26"/>
                          </a:rPr>
                          <a:t>link</a:t>
                        </a:r>
                        <a:r>
                          <a:rPr lang="es-ES" sz="1600" kern="1200" noProof="0" dirty="0">
                            <a:solidFill>
                              <a:schemeClr val="dk1"/>
                            </a:solidFill>
                            <a:latin typeface="+mn-lt"/>
                            <a:ea typeface="+mn-ea"/>
                            <a:cs typeface="+mn-cs"/>
                          </a:rPr>
                          <a:t>)</a:t>
                        </a:r>
                      </a:p>
                      <a:p>
                        <a:pPr marL="0" indent="0">
                          <a:lnSpc>
                            <a:spcPct val="150000"/>
                          </a:lnSpc>
                          <a:buFont typeface="Arial" panose="020B0604020202020204" pitchFamily="34" charset="0"/>
                          <a:buNone/>
                        </a:pPr>
                        <a:r>
                          <a:rPr lang="es-ES" sz="1600" kern="1200" noProof="0" dirty="0">
                            <a:solidFill>
                              <a:schemeClr val="dk1"/>
                            </a:solidFill>
                            <a:latin typeface="+mn-lt"/>
                            <a:ea typeface="+mn-ea"/>
                            <a:cs typeface="+mn-cs"/>
                          </a:rPr>
                          <a:t>Venda de </a:t>
                        </a:r>
                        <a:r>
                          <a:rPr lang="es-ES" sz="1600" kern="1200" noProof="0" dirty="0" err="1">
                            <a:solidFill>
                              <a:schemeClr val="dk1"/>
                            </a:solidFill>
                            <a:latin typeface="+mn-lt"/>
                            <a:ea typeface="+mn-ea"/>
                            <a:cs typeface="+mn-cs"/>
                          </a:rPr>
                          <a:t>Bens</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Penhorados</a:t>
                        </a:r>
                        <a:r>
                          <a:rPr lang="es-ES" sz="1600" kern="1200" noProof="0" dirty="0">
                            <a:solidFill>
                              <a:schemeClr val="dk1"/>
                            </a:solidFill>
                            <a:latin typeface="+mn-lt"/>
                            <a:ea typeface="+mn-ea"/>
                            <a:cs typeface="+mn-cs"/>
                          </a:rPr>
                          <a:t> em </a:t>
                        </a:r>
                        <a:r>
                          <a:rPr lang="es-ES" sz="1600" kern="1200" noProof="0" dirty="0" err="1">
                            <a:solidFill>
                              <a:schemeClr val="dk1"/>
                            </a:solidFill>
                            <a:latin typeface="+mn-lt"/>
                            <a:ea typeface="+mn-ea"/>
                            <a:cs typeface="+mn-cs"/>
                          </a:rPr>
                          <a:t>Processos</a:t>
                        </a:r>
                        <a:r>
                          <a:rPr lang="es-ES" sz="1600" kern="1200" noProof="0" dirty="0">
                            <a:solidFill>
                              <a:schemeClr val="dk1"/>
                            </a:solidFill>
                            <a:latin typeface="+mn-lt"/>
                            <a:ea typeface="+mn-ea"/>
                            <a:cs typeface="+mn-cs"/>
                          </a:rPr>
                          <a:t> Executivos (</a:t>
                        </a:r>
                        <a:r>
                          <a:rPr lang="es-ES" sz="1600" kern="1200" noProof="0" dirty="0">
                            <a:solidFill>
                              <a:schemeClr val="dk1"/>
                            </a:solidFill>
                            <a:latin typeface="+mn-lt"/>
                            <a:ea typeface="+mn-ea"/>
                            <a:cs typeface="+mn-cs"/>
                            <a:hlinkClick r:id="rId27"/>
                          </a:rPr>
                          <a:t>link</a:t>
                        </a:r>
                        <a:r>
                          <a:rPr lang="es-ES" sz="1600" kern="1200" noProof="0" dirty="0">
                            <a:solidFill>
                              <a:schemeClr val="dk1"/>
                            </a:solidFill>
                            <a:latin typeface="+mn-lt"/>
                            <a:ea typeface="+mn-ea"/>
                            <a:cs typeface="+mn-cs"/>
                          </a:rPr>
                          <a:t>)</a:t>
                        </a:r>
                      </a:p>
                      <a:p>
                        <a:pPr marL="0" indent="0">
                          <a:lnSpc>
                            <a:spcPct val="150000"/>
                          </a:lnSpc>
                          <a:buFont typeface="Arial" panose="020B0604020202020204" pitchFamily="34" charset="0"/>
                          <a:buNone/>
                        </a:pPr>
                        <a:r>
                          <a:rPr lang="es-ES" sz="1600" kern="1200" noProof="0" dirty="0">
                            <a:solidFill>
                              <a:schemeClr val="dk1"/>
                            </a:solidFill>
                            <a:latin typeface="+mn-lt"/>
                            <a:ea typeface="+mn-ea"/>
                            <a:cs typeface="+mn-cs"/>
                          </a:rPr>
                          <a:t>Lista de </a:t>
                        </a:r>
                        <a:r>
                          <a:rPr lang="es-ES" sz="1600" kern="1200" noProof="0" dirty="0" err="1">
                            <a:solidFill>
                              <a:schemeClr val="dk1"/>
                            </a:solidFill>
                            <a:latin typeface="+mn-lt"/>
                            <a:ea typeface="+mn-ea"/>
                            <a:cs typeface="+mn-cs"/>
                          </a:rPr>
                          <a:t>devedores</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na</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Segurança</a:t>
                        </a:r>
                        <a:r>
                          <a:rPr lang="es-ES" sz="1600" kern="1200" noProof="0" dirty="0">
                            <a:solidFill>
                              <a:schemeClr val="dk1"/>
                            </a:solidFill>
                            <a:latin typeface="+mn-lt"/>
                            <a:ea typeface="+mn-ea"/>
                            <a:cs typeface="+mn-cs"/>
                          </a:rPr>
                          <a:t> Social (</a:t>
                        </a:r>
                        <a:r>
                          <a:rPr lang="es-ES" sz="1600" kern="1200" noProof="0" dirty="0">
                            <a:solidFill>
                              <a:schemeClr val="dk1"/>
                            </a:solidFill>
                            <a:latin typeface="+mn-lt"/>
                            <a:ea typeface="+mn-ea"/>
                            <a:cs typeface="+mn-cs"/>
                            <a:hlinkClick r:id="rId28"/>
                          </a:rPr>
                          <a:t>link</a:t>
                        </a:r>
                        <a:r>
                          <a:rPr lang="es-ES" sz="1600" kern="1200" noProof="0" dirty="0">
                            <a:solidFill>
                              <a:schemeClr val="dk1"/>
                            </a:solidFill>
                            <a:latin typeface="+mn-lt"/>
                            <a:ea typeface="+mn-ea"/>
                            <a:cs typeface="+mn-cs"/>
                          </a:rPr>
                          <a:t>)</a:t>
                        </a:r>
                      </a:p>
                      <a:p>
                        <a:pPr marL="0" indent="0">
                          <a:lnSpc>
                            <a:spcPct val="150000"/>
                          </a:lnSpc>
                          <a:buFont typeface="Arial" panose="020B0604020202020204" pitchFamily="34" charset="0"/>
                          <a:buNone/>
                        </a:pPr>
                        <a:r>
                          <a:rPr lang="es-ES" sz="1600" kern="1200" noProof="0" dirty="0">
                            <a:solidFill>
                              <a:schemeClr val="dk1"/>
                            </a:solidFill>
                            <a:latin typeface="+mn-lt"/>
                            <a:ea typeface="+mn-ea"/>
                            <a:cs typeface="+mn-cs"/>
                          </a:rPr>
                          <a:t>Listas de </a:t>
                        </a:r>
                        <a:r>
                          <a:rPr lang="es-ES" sz="1600" kern="1200" noProof="0" dirty="0" err="1">
                            <a:solidFill>
                              <a:schemeClr val="dk1"/>
                            </a:solidFill>
                            <a:latin typeface="+mn-lt"/>
                            <a:ea typeface="+mn-ea"/>
                            <a:cs typeface="+mn-cs"/>
                          </a:rPr>
                          <a:t>Devedores</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na</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Autoridade</a:t>
                        </a:r>
                        <a:r>
                          <a:rPr lang="es-ES" sz="1600" kern="1200" noProof="0" dirty="0">
                            <a:solidFill>
                              <a:schemeClr val="dk1"/>
                            </a:solidFill>
                            <a:latin typeface="+mn-lt"/>
                            <a:ea typeface="+mn-ea"/>
                            <a:cs typeface="+mn-cs"/>
                          </a:rPr>
                          <a:t> </a:t>
                        </a:r>
                        <a:r>
                          <a:rPr lang="es-ES" sz="1600" kern="1200" noProof="0" dirty="0" err="1">
                            <a:solidFill>
                              <a:schemeClr val="dk1"/>
                            </a:solidFill>
                            <a:latin typeface="+mn-lt"/>
                            <a:ea typeface="+mn-ea"/>
                            <a:cs typeface="+mn-cs"/>
                          </a:rPr>
                          <a:t>Tributária</a:t>
                        </a:r>
                        <a:r>
                          <a:rPr lang="es-ES" sz="1600" kern="1200" noProof="0" dirty="0">
                            <a:solidFill>
                              <a:schemeClr val="dk1"/>
                            </a:solidFill>
                            <a:latin typeface="+mn-lt"/>
                            <a:ea typeface="+mn-ea"/>
                            <a:cs typeface="+mn-cs"/>
                          </a:rPr>
                          <a:t> e </a:t>
                        </a:r>
                        <a:r>
                          <a:rPr lang="es-ES" sz="1600" kern="1200" noProof="0" dirty="0" err="1">
                            <a:solidFill>
                              <a:schemeClr val="dk1"/>
                            </a:solidFill>
                            <a:latin typeface="+mn-lt"/>
                            <a:ea typeface="+mn-ea"/>
                            <a:cs typeface="+mn-cs"/>
                          </a:rPr>
                          <a:t>Aduaneira</a:t>
                        </a:r>
                        <a:r>
                          <a:rPr lang="es-ES" sz="1600" kern="1200" noProof="0" dirty="0">
                            <a:solidFill>
                              <a:schemeClr val="dk1"/>
                            </a:solidFill>
                            <a:latin typeface="+mn-lt"/>
                            <a:ea typeface="+mn-ea"/>
                            <a:cs typeface="+mn-cs"/>
                          </a:rPr>
                          <a:t> (</a:t>
                        </a:r>
                        <a:r>
                          <a:rPr lang="es-ES" sz="1600" kern="1200" noProof="0" dirty="0">
                            <a:solidFill>
                              <a:schemeClr val="dk1"/>
                            </a:solidFill>
                            <a:latin typeface="+mn-lt"/>
                            <a:ea typeface="+mn-ea"/>
                            <a:cs typeface="+mn-cs"/>
                            <a:hlinkClick r:id="rId29"/>
                          </a:rPr>
                          <a:t>link</a:t>
                        </a:r>
                        <a:r>
                          <a:rPr lang="es-ES" sz="1600" kern="1200" noProof="0" dirty="0">
                            <a:solidFill>
                              <a:schemeClr val="dk1"/>
                            </a:solidFill>
                            <a:latin typeface="+mn-lt"/>
                            <a:ea typeface="+mn-ea"/>
                            <a:cs typeface="+mn-cs"/>
                          </a:rPr>
                          <a:t>)</a:t>
                        </a:r>
                      </a:p>
                    </a:txBody>
                    <a:tcPr>
                      <a:solidFill>
                        <a:schemeClr val="tx2">
                          <a:lumMod val="20000"/>
                          <a:lumOff val="80000"/>
                        </a:schemeClr>
                      </a:solidFill>
                    </a:tcPr>
                  </a:tc>
                  <a:extLst>
                    <a:ext uri="{0D108BD9-81ED-4DB2-BD59-A6C34878D82A}">
                      <a16:rowId xmlns:a16="http://schemas.microsoft.com/office/drawing/2014/main" val="3288223916"/>
                    </a:ext>
                  </a:extLst>
                </a:tr>
              </a:tbl>
            </a:graphicData>
          </a:graphic>
        </p:graphicFrame>
        <p:pic>
          <p:nvPicPr>
            <p:cNvPr id="23" name="Picture 22">
              <a:hlinkClick r:id="rId30"/>
              <a:extLst>
                <a:ext uri="{FF2B5EF4-FFF2-40B4-BE49-F238E27FC236}">
                  <a16:creationId xmlns:a16="http://schemas.microsoft.com/office/drawing/2014/main" id="{0E09DDEA-10F8-BA06-94E2-BB2E6169F052}"/>
                </a:ext>
              </a:extLst>
            </p:cNvPr>
            <p:cNvPicPr>
              <a:picLocks noChangeAspect="1"/>
            </p:cNvPicPr>
            <p:nvPr/>
          </p:nvPicPr>
          <p:blipFill>
            <a:blip r:embed="rId31"/>
            <a:stretch>
              <a:fillRect/>
            </a:stretch>
          </p:blipFill>
          <p:spPr>
            <a:xfrm>
              <a:off x="241767" y="2300804"/>
              <a:ext cx="1381524" cy="1290434"/>
            </a:xfrm>
            <a:prstGeom prst="rect">
              <a:avLst/>
            </a:prstGeom>
          </p:spPr>
        </p:pic>
        <p:pic>
          <p:nvPicPr>
            <p:cNvPr id="26" name="Picture 25">
              <a:hlinkClick r:id="rId32"/>
              <a:extLst>
                <a:ext uri="{FF2B5EF4-FFF2-40B4-BE49-F238E27FC236}">
                  <a16:creationId xmlns:a16="http://schemas.microsoft.com/office/drawing/2014/main" id="{FC809270-BE47-AB3D-4244-06A79CC3F458}"/>
                </a:ext>
              </a:extLst>
            </p:cNvPr>
            <p:cNvPicPr>
              <a:picLocks noChangeAspect="1"/>
            </p:cNvPicPr>
            <p:nvPr/>
          </p:nvPicPr>
          <p:blipFill>
            <a:blip r:embed="rId33"/>
            <a:stretch>
              <a:fillRect/>
            </a:stretch>
          </p:blipFill>
          <p:spPr>
            <a:xfrm>
              <a:off x="241767" y="4870668"/>
              <a:ext cx="1381524" cy="1290434"/>
            </a:xfrm>
            <a:prstGeom prst="rect">
              <a:avLst/>
            </a:prstGeom>
          </p:spPr>
        </p:pic>
        <p:pic>
          <p:nvPicPr>
            <p:cNvPr id="29" name="Picture 28">
              <a:hlinkClick r:id="rId20"/>
              <a:extLst>
                <a:ext uri="{FF2B5EF4-FFF2-40B4-BE49-F238E27FC236}">
                  <a16:creationId xmlns:a16="http://schemas.microsoft.com/office/drawing/2014/main" id="{CA9B379F-B53C-7C37-D152-7671B2BCF296}"/>
                </a:ext>
              </a:extLst>
            </p:cNvPr>
            <p:cNvPicPr>
              <a:picLocks noChangeAspect="1"/>
            </p:cNvPicPr>
            <p:nvPr/>
          </p:nvPicPr>
          <p:blipFill>
            <a:blip r:embed="rId34"/>
            <a:stretch>
              <a:fillRect/>
            </a:stretch>
          </p:blipFill>
          <p:spPr>
            <a:xfrm>
              <a:off x="241767" y="7775769"/>
              <a:ext cx="1381524" cy="1290434"/>
            </a:xfrm>
            <a:prstGeom prst="rect">
              <a:avLst/>
            </a:prstGeom>
          </p:spPr>
        </p:pic>
        <p:pic>
          <p:nvPicPr>
            <p:cNvPr id="31" name="Picture 30">
              <a:hlinkClick r:id="rId35"/>
              <a:extLst>
                <a:ext uri="{FF2B5EF4-FFF2-40B4-BE49-F238E27FC236}">
                  <a16:creationId xmlns:a16="http://schemas.microsoft.com/office/drawing/2014/main" id="{FBE77A94-FC1A-8DCA-A643-F929FB1F6D9A}"/>
                </a:ext>
              </a:extLst>
            </p:cNvPr>
            <p:cNvPicPr>
              <a:picLocks noChangeAspect="1"/>
            </p:cNvPicPr>
            <p:nvPr/>
          </p:nvPicPr>
          <p:blipFill>
            <a:blip r:embed="rId36"/>
            <a:stretch>
              <a:fillRect/>
            </a:stretch>
          </p:blipFill>
          <p:spPr>
            <a:xfrm>
              <a:off x="5654275" y="2300804"/>
              <a:ext cx="1381524" cy="1290434"/>
            </a:xfrm>
            <a:prstGeom prst="rect">
              <a:avLst/>
            </a:prstGeom>
          </p:spPr>
        </p:pic>
        <p:pic>
          <p:nvPicPr>
            <p:cNvPr id="32" name="Picture 31">
              <a:hlinkClick r:id="rId37"/>
              <a:extLst>
                <a:ext uri="{FF2B5EF4-FFF2-40B4-BE49-F238E27FC236}">
                  <a16:creationId xmlns:a16="http://schemas.microsoft.com/office/drawing/2014/main" id="{1863D2FE-8496-A964-234C-688C72C5ADB0}"/>
                </a:ext>
              </a:extLst>
            </p:cNvPr>
            <p:cNvPicPr>
              <a:picLocks noChangeAspect="1"/>
            </p:cNvPicPr>
            <p:nvPr/>
          </p:nvPicPr>
          <p:blipFill>
            <a:blip r:embed="rId38"/>
            <a:stretch>
              <a:fillRect/>
            </a:stretch>
          </p:blipFill>
          <p:spPr>
            <a:xfrm>
              <a:off x="5659336" y="4870668"/>
              <a:ext cx="1376463" cy="1290434"/>
            </a:xfrm>
            <a:prstGeom prst="rect">
              <a:avLst/>
            </a:prstGeom>
          </p:spPr>
        </p:pic>
      </p:grpSp>
    </p:spTree>
    <p:extLst>
      <p:ext uri="{BB962C8B-B14F-4D97-AF65-F5344CB8AC3E}">
        <p14:creationId xmlns:p14="http://schemas.microsoft.com/office/powerpoint/2010/main" val="4125495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a:extLst>
            <a:ext uri="{FF2B5EF4-FFF2-40B4-BE49-F238E27FC236}">
              <a16:creationId xmlns:a16="http://schemas.microsoft.com/office/drawing/2014/main" id="{E4178372-B9E3-E158-F71A-7F64F0EE782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C3F6C8-CF95-E5F7-8209-AC7D61CABF27}"/>
              </a:ext>
            </a:extLst>
          </p:cNvPr>
          <p:cNvGrpSpPr/>
          <p:nvPr/>
        </p:nvGrpSpPr>
        <p:grpSpPr>
          <a:xfrm>
            <a:off x="0" y="0"/>
            <a:ext cx="15163799" cy="10287000"/>
            <a:chOff x="0" y="0"/>
            <a:chExt cx="3757500" cy="3077761"/>
          </a:xfrm>
        </p:grpSpPr>
        <p:sp>
          <p:nvSpPr>
            <p:cNvPr id="3" name="Freeform 3">
              <a:extLst>
                <a:ext uri="{FF2B5EF4-FFF2-40B4-BE49-F238E27FC236}">
                  <a16:creationId xmlns:a16="http://schemas.microsoft.com/office/drawing/2014/main" id="{133E6682-1B2E-B46C-2980-BA868357E7C7}"/>
                </a:ext>
              </a:extLst>
            </p:cNvPr>
            <p:cNvSpPr/>
            <p:nvPr/>
          </p:nvSpPr>
          <p:spPr>
            <a:xfrm>
              <a:off x="0" y="0"/>
              <a:ext cx="3757500" cy="3077761"/>
            </a:xfrm>
            <a:custGeom>
              <a:avLst/>
              <a:gdLst/>
              <a:ahLst/>
              <a:cxnLst/>
              <a:rect l="l" t="t" r="r" b="b"/>
              <a:pathLst>
                <a:path w="3757500" h="3077761">
                  <a:moveTo>
                    <a:pt x="27675" y="0"/>
                  </a:moveTo>
                  <a:lnTo>
                    <a:pt x="3729825" y="0"/>
                  </a:lnTo>
                  <a:cubicBezTo>
                    <a:pt x="3745109" y="0"/>
                    <a:pt x="3757500" y="12391"/>
                    <a:pt x="3757500" y="27675"/>
                  </a:cubicBezTo>
                  <a:lnTo>
                    <a:pt x="3757500" y="3050085"/>
                  </a:lnTo>
                  <a:cubicBezTo>
                    <a:pt x="3757500" y="3065370"/>
                    <a:pt x="3745109" y="3077761"/>
                    <a:pt x="3729825" y="3077761"/>
                  </a:cubicBezTo>
                  <a:lnTo>
                    <a:pt x="27675" y="3077761"/>
                  </a:lnTo>
                  <a:cubicBezTo>
                    <a:pt x="12391" y="3077761"/>
                    <a:pt x="0" y="3065370"/>
                    <a:pt x="0" y="3050085"/>
                  </a:cubicBezTo>
                  <a:lnTo>
                    <a:pt x="0" y="27675"/>
                  </a:lnTo>
                  <a:cubicBezTo>
                    <a:pt x="0" y="12391"/>
                    <a:pt x="12391" y="0"/>
                    <a:pt x="27675" y="0"/>
                  </a:cubicBezTo>
                  <a:close/>
                </a:path>
              </a:pathLst>
            </a:custGeom>
            <a:solidFill>
              <a:srgbClr val="FFFFFF"/>
            </a:solidFill>
          </p:spPr>
          <p:txBody>
            <a:bodyPr/>
            <a:lstStyle/>
            <a:p>
              <a:endParaRPr lang="es-ES"/>
            </a:p>
          </p:txBody>
        </p:sp>
        <p:sp>
          <p:nvSpPr>
            <p:cNvPr id="4" name="TextBox 4">
              <a:extLst>
                <a:ext uri="{FF2B5EF4-FFF2-40B4-BE49-F238E27FC236}">
                  <a16:creationId xmlns:a16="http://schemas.microsoft.com/office/drawing/2014/main" id="{06BF2A68-DA04-F5FA-2DA6-E6EAF204451E}"/>
                </a:ext>
              </a:extLst>
            </p:cNvPr>
            <p:cNvSpPr txBox="1"/>
            <p:nvPr/>
          </p:nvSpPr>
          <p:spPr>
            <a:xfrm>
              <a:off x="0" y="-47625"/>
              <a:ext cx="3757500" cy="3125386"/>
            </a:xfrm>
            <a:prstGeom prst="rect">
              <a:avLst/>
            </a:prstGeom>
          </p:spPr>
          <p:txBody>
            <a:bodyPr lIns="50800" tIns="50800" rIns="50800" bIns="50800" rtlCol="0" anchor="ctr"/>
            <a:lstStyle/>
            <a:p>
              <a:pPr algn="ctr">
                <a:lnSpc>
                  <a:spcPts val="3149"/>
                </a:lnSpc>
              </a:pPr>
              <a:endParaRPr/>
            </a:p>
          </p:txBody>
        </p:sp>
      </p:grpSp>
      <p:sp>
        <p:nvSpPr>
          <p:cNvPr id="5" name="Freeform 5">
            <a:extLst>
              <a:ext uri="{FF2B5EF4-FFF2-40B4-BE49-F238E27FC236}">
                <a16:creationId xmlns:a16="http://schemas.microsoft.com/office/drawing/2014/main" id="{C0C14BBD-9461-6975-E126-D3EE56F936D9}"/>
              </a:ext>
            </a:extLst>
          </p:cNvPr>
          <p:cNvSpPr/>
          <p:nvPr/>
        </p:nvSpPr>
        <p:spPr>
          <a:xfrm>
            <a:off x="0" y="0"/>
            <a:ext cx="4173282" cy="849495"/>
          </a:xfrm>
          <a:custGeom>
            <a:avLst/>
            <a:gdLst/>
            <a:ahLst/>
            <a:cxnLst/>
            <a:rect l="l" t="t" r="r" b="b"/>
            <a:pathLst>
              <a:path w="4173282" h="849495">
                <a:moveTo>
                  <a:pt x="0" y="0"/>
                </a:moveTo>
                <a:lnTo>
                  <a:pt x="4173282" y="0"/>
                </a:lnTo>
                <a:lnTo>
                  <a:pt x="4173282" y="849495"/>
                </a:lnTo>
                <a:lnTo>
                  <a:pt x="0" y="849495"/>
                </a:lnTo>
                <a:lnTo>
                  <a:pt x="0" y="0"/>
                </a:lnTo>
                <a:close/>
              </a:path>
            </a:pathLst>
          </a:custGeom>
          <a:blipFill>
            <a:blip r:embed="rId3"/>
            <a:stretch>
              <a:fillRect t="-62101" b="-63881"/>
            </a:stretch>
          </a:blipFill>
        </p:spPr>
        <p:txBody>
          <a:bodyPr/>
          <a:lstStyle/>
          <a:p>
            <a:endParaRPr lang="es-ES"/>
          </a:p>
        </p:txBody>
      </p:sp>
      <p:sp>
        <p:nvSpPr>
          <p:cNvPr id="6" name="Freeform 6">
            <a:extLst>
              <a:ext uri="{FF2B5EF4-FFF2-40B4-BE49-F238E27FC236}">
                <a16:creationId xmlns:a16="http://schemas.microsoft.com/office/drawing/2014/main" id="{8EEBCC22-29C3-0662-9F68-5FA5A12D3718}"/>
              </a:ext>
            </a:extLst>
          </p:cNvPr>
          <p:cNvSpPr/>
          <p:nvPr/>
        </p:nvSpPr>
        <p:spPr>
          <a:xfrm rot="-5400000">
            <a:off x="14801850" y="6800849"/>
            <a:ext cx="3848100" cy="3124201"/>
          </a:xfrm>
          <a:custGeom>
            <a:avLst/>
            <a:gdLst/>
            <a:ahLst/>
            <a:cxnLst/>
            <a:rect l="l" t="t" r="r" b="b"/>
            <a:pathLst>
              <a:path w="5957691" h="5957691">
                <a:moveTo>
                  <a:pt x="0" y="0"/>
                </a:moveTo>
                <a:lnTo>
                  <a:pt x="5957692" y="0"/>
                </a:lnTo>
                <a:lnTo>
                  <a:pt x="5957692"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l="-74292" r="1" b="-48662"/>
            </a:stretch>
          </a:blipFill>
        </p:spPr>
        <p:txBody>
          <a:bodyPr/>
          <a:lstStyle/>
          <a:p>
            <a:endParaRPr lang="es-ES"/>
          </a:p>
        </p:txBody>
      </p:sp>
      <p:sp>
        <p:nvSpPr>
          <p:cNvPr id="7" name="Freeform 7">
            <a:extLst>
              <a:ext uri="{FF2B5EF4-FFF2-40B4-BE49-F238E27FC236}">
                <a16:creationId xmlns:a16="http://schemas.microsoft.com/office/drawing/2014/main" id="{2CA52BF8-4033-07C8-3A94-D8B2746CD773}"/>
              </a:ext>
            </a:extLst>
          </p:cNvPr>
          <p:cNvSpPr/>
          <p:nvPr/>
        </p:nvSpPr>
        <p:spPr>
          <a:xfrm rot="-5400000">
            <a:off x="13747054" y="1416744"/>
            <a:ext cx="5957691" cy="312420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t="1" b="-37043"/>
            </a:stretch>
          </a:blipFill>
        </p:spPr>
        <p:txBody>
          <a:bodyPr/>
          <a:lstStyle/>
          <a:p>
            <a:endParaRPr lang="es-ES"/>
          </a:p>
        </p:txBody>
      </p:sp>
      <p:pic>
        <p:nvPicPr>
          <p:cNvPr id="19" name="Picture 18">
            <a:extLst>
              <a:ext uri="{FF2B5EF4-FFF2-40B4-BE49-F238E27FC236}">
                <a16:creationId xmlns:a16="http://schemas.microsoft.com/office/drawing/2014/main" id="{13581ED1-9996-6983-4908-58F4A2EA4BD1}"/>
              </a:ext>
            </a:extLst>
          </p:cNvPr>
          <p:cNvPicPr>
            <a:picLocks noChangeAspect="1"/>
          </p:cNvPicPr>
          <p:nvPr/>
        </p:nvPicPr>
        <p:blipFill>
          <a:blip r:embed="rId6"/>
          <a:stretch>
            <a:fillRect/>
          </a:stretch>
        </p:blipFill>
        <p:spPr>
          <a:xfrm>
            <a:off x="13441977" y="114300"/>
            <a:ext cx="1585903" cy="1006621"/>
          </a:xfrm>
          <a:prstGeom prst="rect">
            <a:avLst/>
          </a:prstGeom>
        </p:spPr>
      </p:pic>
      <p:sp>
        <p:nvSpPr>
          <p:cNvPr id="11" name="Freeform 4">
            <a:extLst>
              <a:ext uri="{FF2B5EF4-FFF2-40B4-BE49-F238E27FC236}">
                <a16:creationId xmlns:a16="http://schemas.microsoft.com/office/drawing/2014/main" id="{918D92A5-A305-0FA3-6953-B949F9FCEB0C}"/>
              </a:ext>
            </a:extLst>
          </p:cNvPr>
          <p:cNvSpPr/>
          <p:nvPr/>
        </p:nvSpPr>
        <p:spPr>
          <a:xfrm>
            <a:off x="2682531" y="3158205"/>
            <a:ext cx="936193" cy="887460"/>
          </a:xfrm>
          <a:custGeom>
            <a:avLst/>
            <a:gdLst/>
            <a:ahLst/>
            <a:cxnLst/>
            <a:rect l="l" t="t" r="r" b="b"/>
            <a:pathLst>
              <a:path w="936193" h="887460">
                <a:moveTo>
                  <a:pt x="0" y="0"/>
                </a:moveTo>
                <a:lnTo>
                  <a:pt x="936193" y="0"/>
                </a:lnTo>
                <a:lnTo>
                  <a:pt x="936193" y="887460"/>
                </a:lnTo>
                <a:lnTo>
                  <a:pt x="0" y="8874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ES" noProof="0" dirty="0"/>
          </a:p>
        </p:txBody>
      </p:sp>
      <p:sp>
        <p:nvSpPr>
          <p:cNvPr id="15" name="Freeform 6">
            <a:extLst>
              <a:ext uri="{FF2B5EF4-FFF2-40B4-BE49-F238E27FC236}">
                <a16:creationId xmlns:a16="http://schemas.microsoft.com/office/drawing/2014/main" id="{B93408B7-2479-9D6F-C742-8EFAE8F26DB2}"/>
              </a:ext>
            </a:extLst>
          </p:cNvPr>
          <p:cNvSpPr/>
          <p:nvPr/>
        </p:nvSpPr>
        <p:spPr>
          <a:xfrm>
            <a:off x="11957923" y="3117613"/>
            <a:ext cx="889362" cy="887460"/>
          </a:xfrm>
          <a:custGeom>
            <a:avLst/>
            <a:gdLst/>
            <a:ahLst/>
            <a:cxnLst/>
            <a:rect l="l" t="t" r="r" b="b"/>
            <a:pathLst>
              <a:path w="889362" h="887460">
                <a:moveTo>
                  <a:pt x="0" y="0"/>
                </a:moveTo>
                <a:lnTo>
                  <a:pt x="889362" y="0"/>
                </a:lnTo>
                <a:lnTo>
                  <a:pt x="889362" y="887460"/>
                </a:lnTo>
                <a:lnTo>
                  <a:pt x="0" y="8874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ES" noProof="0" dirty="0"/>
          </a:p>
        </p:txBody>
      </p:sp>
      <p:sp>
        <p:nvSpPr>
          <p:cNvPr id="10" name="TextBox 15">
            <a:extLst>
              <a:ext uri="{FF2B5EF4-FFF2-40B4-BE49-F238E27FC236}">
                <a16:creationId xmlns:a16="http://schemas.microsoft.com/office/drawing/2014/main" id="{BE010629-60A1-72E2-6D30-03166F9DEF06}"/>
              </a:ext>
            </a:extLst>
          </p:cNvPr>
          <p:cNvSpPr txBox="1"/>
          <p:nvPr/>
        </p:nvSpPr>
        <p:spPr>
          <a:xfrm>
            <a:off x="5238033" y="1659016"/>
            <a:ext cx="5216414" cy="1020985"/>
          </a:xfrm>
          <a:prstGeom prst="rect">
            <a:avLst/>
          </a:prstGeom>
        </p:spPr>
        <p:txBody>
          <a:bodyPr lIns="0" tIns="0" rIns="0" bIns="0" rtlCol="0" anchor="t">
            <a:spAutoFit/>
          </a:bodyPr>
          <a:lstStyle/>
          <a:p>
            <a:pPr algn="ctr">
              <a:lnSpc>
                <a:spcPts val="8400"/>
              </a:lnSpc>
            </a:pPr>
            <a:r>
              <a:rPr lang="es-ES" sz="6000" b="1" noProof="0" dirty="0">
                <a:solidFill>
                  <a:srgbClr val="343434"/>
                </a:solidFill>
                <a:latin typeface="Cooper Hewitt Bold" panose="020B0604020202020204" charset="0"/>
                <a:ea typeface="Cooper Hewitt Bold" panose="020B0604020202020204" charset="0"/>
                <a:cs typeface="Cooper Hewitt"/>
                <a:sym typeface="Cooper Hewitt"/>
              </a:rPr>
              <a:t>FUTURO</a:t>
            </a:r>
          </a:p>
        </p:txBody>
      </p:sp>
      <p:sp>
        <p:nvSpPr>
          <p:cNvPr id="12" name="TextBox 16">
            <a:extLst>
              <a:ext uri="{FF2B5EF4-FFF2-40B4-BE49-F238E27FC236}">
                <a16:creationId xmlns:a16="http://schemas.microsoft.com/office/drawing/2014/main" id="{89FD3A41-1C4C-9BBC-68F2-7A7F42569AC3}"/>
              </a:ext>
            </a:extLst>
          </p:cNvPr>
          <p:cNvSpPr txBox="1"/>
          <p:nvPr/>
        </p:nvSpPr>
        <p:spPr>
          <a:xfrm>
            <a:off x="1476192" y="4169740"/>
            <a:ext cx="3348869" cy="342594"/>
          </a:xfrm>
          <a:prstGeom prst="rect">
            <a:avLst/>
          </a:prstGeom>
        </p:spPr>
        <p:txBody>
          <a:bodyPr wrap="square" lIns="0" tIns="0" rIns="0" bIns="0" rtlCol="0" anchor="t">
            <a:spAutoFit/>
          </a:bodyPr>
          <a:lstStyle/>
          <a:p>
            <a:pPr algn="ctr">
              <a:lnSpc>
                <a:spcPts val="2800"/>
              </a:lnSpc>
            </a:pPr>
            <a:r>
              <a:rPr lang="es-ES" sz="2000" b="1" noProof="0" dirty="0">
                <a:solidFill>
                  <a:srgbClr val="343434"/>
                </a:solidFill>
                <a:latin typeface="DM Sans Bold"/>
                <a:ea typeface="DM Sans Bold"/>
                <a:cs typeface="DM Sans Bold"/>
                <a:sym typeface="DM Sans Bold"/>
              </a:rPr>
              <a:t>BASE DE DATOS PÚBLICA</a:t>
            </a:r>
          </a:p>
        </p:txBody>
      </p:sp>
      <p:sp>
        <p:nvSpPr>
          <p:cNvPr id="21" name="TextBox 18">
            <a:extLst>
              <a:ext uri="{FF2B5EF4-FFF2-40B4-BE49-F238E27FC236}">
                <a16:creationId xmlns:a16="http://schemas.microsoft.com/office/drawing/2014/main" id="{577F392E-7E93-99AA-56EF-E1676B08FEF9}"/>
              </a:ext>
            </a:extLst>
          </p:cNvPr>
          <p:cNvSpPr txBox="1"/>
          <p:nvPr/>
        </p:nvSpPr>
        <p:spPr>
          <a:xfrm>
            <a:off x="6674779" y="4169740"/>
            <a:ext cx="2434469" cy="349250"/>
          </a:xfrm>
          <a:prstGeom prst="rect">
            <a:avLst/>
          </a:prstGeom>
        </p:spPr>
        <p:txBody>
          <a:bodyPr lIns="0" tIns="0" rIns="0" bIns="0" rtlCol="0" anchor="t">
            <a:spAutoFit/>
          </a:bodyPr>
          <a:lstStyle/>
          <a:p>
            <a:pPr marL="0" lvl="0" indent="0" algn="ctr">
              <a:lnSpc>
                <a:spcPts val="2800"/>
              </a:lnSpc>
              <a:spcBef>
                <a:spcPct val="0"/>
              </a:spcBef>
            </a:pPr>
            <a:r>
              <a:rPr lang="es-ES" sz="2000" b="1" u="none" strike="noStrike" noProof="0" dirty="0">
                <a:solidFill>
                  <a:srgbClr val="343434"/>
                </a:solidFill>
                <a:latin typeface="DM Sans Bold"/>
                <a:ea typeface="DM Sans Bold"/>
                <a:cs typeface="DM Sans Bold"/>
                <a:sym typeface="DM Sans Bold"/>
              </a:rPr>
              <a:t>AUTOMATIZACIÓN</a:t>
            </a:r>
          </a:p>
        </p:txBody>
      </p:sp>
      <p:sp>
        <p:nvSpPr>
          <p:cNvPr id="23" name="TextBox 20">
            <a:extLst>
              <a:ext uri="{FF2B5EF4-FFF2-40B4-BE49-F238E27FC236}">
                <a16:creationId xmlns:a16="http://schemas.microsoft.com/office/drawing/2014/main" id="{2DD6F32D-120F-DD71-B76F-3DD13FFE97AD}"/>
              </a:ext>
            </a:extLst>
          </p:cNvPr>
          <p:cNvSpPr txBox="1"/>
          <p:nvPr/>
        </p:nvSpPr>
        <p:spPr>
          <a:xfrm>
            <a:off x="10958966" y="4169740"/>
            <a:ext cx="2728640" cy="342594"/>
          </a:xfrm>
          <a:prstGeom prst="rect">
            <a:avLst/>
          </a:prstGeom>
        </p:spPr>
        <p:txBody>
          <a:bodyPr wrap="square" lIns="0" tIns="0" rIns="0" bIns="0" rtlCol="0" anchor="t">
            <a:spAutoFit/>
          </a:bodyPr>
          <a:lstStyle/>
          <a:p>
            <a:pPr marL="0" lvl="0" indent="0" algn="ctr">
              <a:lnSpc>
                <a:spcPts val="2800"/>
              </a:lnSpc>
              <a:spcBef>
                <a:spcPct val="0"/>
              </a:spcBef>
            </a:pPr>
            <a:r>
              <a:rPr lang="es-ES" sz="2000" b="1" u="none" strike="noStrike" noProof="0" dirty="0">
                <a:solidFill>
                  <a:srgbClr val="343434"/>
                </a:solidFill>
                <a:latin typeface="DM Sans Bold"/>
                <a:ea typeface="DM Sans Bold"/>
                <a:cs typeface="DM Sans Bold"/>
                <a:sym typeface="DM Sans Bold"/>
              </a:rPr>
              <a:t>ANÁLISIS DE DATOS</a:t>
            </a:r>
          </a:p>
        </p:txBody>
      </p:sp>
      <p:sp>
        <p:nvSpPr>
          <p:cNvPr id="13" name="Freeform 5">
            <a:extLst>
              <a:ext uri="{FF2B5EF4-FFF2-40B4-BE49-F238E27FC236}">
                <a16:creationId xmlns:a16="http://schemas.microsoft.com/office/drawing/2014/main" id="{1E53BF90-50B5-3769-6275-ECF0421B51BE}"/>
              </a:ext>
            </a:extLst>
          </p:cNvPr>
          <p:cNvSpPr/>
          <p:nvPr/>
        </p:nvSpPr>
        <p:spPr>
          <a:xfrm>
            <a:off x="7451795" y="2857500"/>
            <a:ext cx="788891" cy="1220381"/>
          </a:xfrm>
          <a:custGeom>
            <a:avLst/>
            <a:gdLst/>
            <a:ahLst/>
            <a:cxnLst/>
            <a:rect l="l" t="t" r="r" b="b"/>
            <a:pathLst>
              <a:path w="2597247" h="4793577">
                <a:moveTo>
                  <a:pt x="0" y="0"/>
                </a:moveTo>
                <a:lnTo>
                  <a:pt x="2597247" y="0"/>
                </a:lnTo>
                <a:lnTo>
                  <a:pt x="2597247" y="4793577"/>
                </a:lnTo>
                <a:lnTo>
                  <a:pt x="0" y="479357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ES" noProof="0" dirty="0"/>
          </a:p>
        </p:txBody>
      </p:sp>
      <p:sp>
        <p:nvSpPr>
          <p:cNvPr id="26" name="Content Placeholder 2">
            <a:extLst>
              <a:ext uri="{FF2B5EF4-FFF2-40B4-BE49-F238E27FC236}">
                <a16:creationId xmlns:a16="http://schemas.microsoft.com/office/drawing/2014/main" id="{7AEEAC48-D9D5-0986-6990-3E9810ADAA7F}"/>
              </a:ext>
            </a:extLst>
          </p:cNvPr>
          <p:cNvSpPr txBox="1">
            <a:spLocks/>
          </p:cNvSpPr>
          <p:nvPr/>
        </p:nvSpPr>
        <p:spPr>
          <a:xfrm>
            <a:off x="4123467" y="4798941"/>
            <a:ext cx="7445546" cy="185975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noProof="0" dirty="0"/>
              <a:t>Mapear las personas y entidades clave </a:t>
            </a:r>
          </a:p>
          <a:p>
            <a:r>
              <a:rPr lang="es-ES" noProof="0" dirty="0"/>
              <a:t>Rastrear conexiones financieras</a:t>
            </a:r>
          </a:p>
        </p:txBody>
      </p:sp>
      <p:sp>
        <p:nvSpPr>
          <p:cNvPr id="29" name="Content Placeholder 2">
            <a:extLst>
              <a:ext uri="{FF2B5EF4-FFF2-40B4-BE49-F238E27FC236}">
                <a16:creationId xmlns:a16="http://schemas.microsoft.com/office/drawing/2014/main" id="{B54760A5-0797-35E1-85E9-C5064C3E5B27}"/>
              </a:ext>
            </a:extLst>
          </p:cNvPr>
          <p:cNvSpPr txBox="1">
            <a:spLocks/>
          </p:cNvSpPr>
          <p:nvPr/>
        </p:nvSpPr>
        <p:spPr>
          <a:xfrm>
            <a:off x="2758081" y="6102583"/>
            <a:ext cx="10267864" cy="79796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b="1" noProof="0" dirty="0"/>
              <a:t>Transparencia para todos los políticos/servidores públicos.</a:t>
            </a:r>
          </a:p>
        </p:txBody>
      </p:sp>
      <p:sp>
        <p:nvSpPr>
          <p:cNvPr id="9" name="Content Placeholder 2">
            <a:extLst>
              <a:ext uri="{FF2B5EF4-FFF2-40B4-BE49-F238E27FC236}">
                <a16:creationId xmlns:a16="http://schemas.microsoft.com/office/drawing/2014/main" id="{993AC55D-8697-4056-9002-5874A9109B85}"/>
              </a:ext>
            </a:extLst>
          </p:cNvPr>
          <p:cNvSpPr txBox="1">
            <a:spLocks/>
          </p:cNvSpPr>
          <p:nvPr/>
        </p:nvSpPr>
        <p:spPr>
          <a:xfrm>
            <a:off x="1902953" y="7941597"/>
            <a:ext cx="11886574" cy="79796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s-ES" sz="4400" b="1" noProof="0" dirty="0"/>
              <a:t>DEMOCRACY ENDS WHEN PEOPLE ARE AFRAID TO TELL THE TRUTH</a:t>
            </a:r>
          </a:p>
        </p:txBody>
      </p:sp>
    </p:spTree>
    <p:extLst>
      <p:ext uri="{BB962C8B-B14F-4D97-AF65-F5344CB8AC3E}">
        <p14:creationId xmlns:p14="http://schemas.microsoft.com/office/powerpoint/2010/main" val="489123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2" name="Group 12"/>
          <p:cNvGrpSpPr/>
          <p:nvPr/>
        </p:nvGrpSpPr>
        <p:grpSpPr>
          <a:xfrm>
            <a:off x="4480185" y="7179784"/>
            <a:ext cx="656528" cy="656528"/>
            <a:chOff x="0" y="0"/>
            <a:chExt cx="875371" cy="875371"/>
          </a:xfrm>
        </p:grpSpPr>
        <p:grpSp>
          <p:nvGrpSpPr>
            <p:cNvPr id="13" name="Group 13"/>
            <p:cNvGrpSpPr/>
            <p:nvPr/>
          </p:nvGrpSpPr>
          <p:grpSpPr>
            <a:xfrm>
              <a:off x="109564" y="99542"/>
              <a:ext cx="656243" cy="676288"/>
              <a:chOff x="0" y="0"/>
              <a:chExt cx="129628" cy="133588"/>
            </a:xfrm>
          </p:grpSpPr>
          <p:sp>
            <p:nvSpPr>
              <p:cNvPr id="14" name="Freeform 14"/>
              <p:cNvSpPr/>
              <p:nvPr/>
            </p:nvSpPr>
            <p:spPr>
              <a:xfrm>
                <a:off x="0" y="0"/>
                <a:ext cx="129628" cy="133588"/>
              </a:xfrm>
              <a:custGeom>
                <a:avLst/>
                <a:gdLst/>
                <a:ahLst/>
                <a:cxnLst/>
                <a:rect l="l" t="t" r="r" b="b"/>
                <a:pathLst>
                  <a:path w="129628" h="133588">
                    <a:moveTo>
                      <a:pt x="64814" y="0"/>
                    </a:moveTo>
                    <a:lnTo>
                      <a:pt x="64814" y="0"/>
                    </a:lnTo>
                    <a:cubicBezTo>
                      <a:pt x="82004" y="0"/>
                      <a:pt x="98490" y="6829"/>
                      <a:pt x="110645" y="18984"/>
                    </a:cubicBezTo>
                    <a:cubicBezTo>
                      <a:pt x="122800" y="31139"/>
                      <a:pt x="129628" y="47624"/>
                      <a:pt x="129628" y="64814"/>
                    </a:cubicBezTo>
                    <a:lnTo>
                      <a:pt x="129628" y="68774"/>
                    </a:lnTo>
                    <a:cubicBezTo>
                      <a:pt x="129628" y="104570"/>
                      <a:pt x="100610" y="133588"/>
                      <a:pt x="64814" y="133588"/>
                    </a:cubicBezTo>
                    <a:lnTo>
                      <a:pt x="64814" y="133588"/>
                    </a:lnTo>
                    <a:cubicBezTo>
                      <a:pt x="47624" y="133588"/>
                      <a:pt x="31139" y="126759"/>
                      <a:pt x="18984" y="114604"/>
                    </a:cubicBezTo>
                    <a:cubicBezTo>
                      <a:pt x="6829" y="102449"/>
                      <a:pt x="0" y="85963"/>
                      <a:pt x="0" y="68774"/>
                    </a:cubicBezTo>
                    <a:lnTo>
                      <a:pt x="0" y="64814"/>
                    </a:lnTo>
                    <a:cubicBezTo>
                      <a:pt x="0" y="29018"/>
                      <a:pt x="29018" y="0"/>
                      <a:pt x="64814" y="0"/>
                    </a:cubicBezTo>
                    <a:close/>
                  </a:path>
                </a:pathLst>
              </a:custGeom>
              <a:solidFill>
                <a:srgbClr val="FFFFFF"/>
              </a:solidFill>
            </p:spPr>
            <p:txBody>
              <a:bodyPr/>
              <a:lstStyle/>
              <a:p>
                <a:endParaRPr lang="es-ES"/>
              </a:p>
            </p:txBody>
          </p:sp>
          <p:sp>
            <p:nvSpPr>
              <p:cNvPr id="15" name="TextBox 15"/>
              <p:cNvSpPr txBox="1"/>
              <p:nvPr/>
            </p:nvSpPr>
            <p:spPr>
              <a:xfrm>
                <a:off x="0" y="57150"/>
                <a:ext cx="129628" cy="76438"/>
              </a:xfrm>
              <a:prstGeom prst="rect">
                <a:avLst/>
              </a:prstGeom>
            </p:spPr>
            <p:txBody>
              <a:bodyPr lIns="50800" tIns="50800" rIns="50800" bIns="50800" rtlCol="0" anchor="ctr"/>
              <a:lstStyle/>
              <a:p>
                <a:pPr algn="ctr">
                  <a:lnSpc>
                    <a:spcPts val="2069"/>
                  </a:lnSpc>
                </a:pPr>
                <a:endParaRPr/>
              </a:p>
            </p:txBody>
          </p:sp>
        </p:grpSp>
        <p:sp>
          <p:nvSpPr>
            <p:cNvPr id="16" name="Freeform 16"/>
            <p:cNvSpPr/>
            <p:nvPr/>
          </p:nvSpPr>
          <p:spPr>
            <a:xfrm>
              <a:off x="0" y="0"/>
              <a:ext cx="875371" cy="875371"/>
            </a:xfrm>
            <a:custGeom>
              <a:avLst/>
              <a:gdLst/>
              <a:ahLst/>
              <a:cxnLst/>
              <a:rect l="l" t="t" r="r" b="b"/>
              <a:pathLst>
                <a:path w="875371" h="875371">
                  <a:moveTo>
                    <a:pt x="0" y="0"/>
                  </a:moveTo>
                  <a:lnTo>
                    <a:pt x="875371" y="0"/>
                  </a:lnTo>
                  <a:lnTo>
                    <a:pt x="875371" y="875371"/>
                  </a:lnTo>
                  <a:lnTo>
                    <a:pt x="0" y="875371"/>
                  </a:lnTo>
                  <a:lnTo>
                    <a:pt x="0" y="0"/>
                  </a:lnTo>
                  <a:close/>
                </a:path>
              </a:pathLst>
            </a:custGeom>
            <a:blipFill>
              <a:blip r:embed="rId3"/>
              <a:stretch>
                <a:fillRect/>
              </a:stretch>
            </a:blipFill>
          </p:spPr>
          <p:txBody>
            <a:bodyPr/>
            <a:lstStyle/>
            <a:p>
              <a:endParaRPr lang="es-ES"/>
            </a:p>
          </p:txBody>
        </p:sp>
      </p:grpSp>
      <p:sp>
        <p:nvSpPr>
          <p:cNvPr id="2" name="Freeform 2"/>
          <p:cNvSpPr/>
          <p:nvPr/>
        </p:nvSpPr>
        <p:spPr>
          <a:xfrm>
            <a:off x="13665540" y="-1794526"/>
            <a:ext cx="4571512" cy="13876052"/>
          </a:xfrm>
          <a:custGeom>
            <a:avLst/>
            <a:gdLst/>
            <a:ahLst/>
            <a:cxnLst/>
            <a:rect l="l" t="t" r="r" b="b"/>
            <a:pathLst>
              <a:path w="9244920" h="13876052">
                <a:moveTo>
                  <a:pt x="0" y="0"/>
                </a:moveTo>
                <a:lnTo>
                  <a:pt x="9244920" y="0"/>
                </a:lnTo>
                <a:lnTo>
                  <a:pt x="9244920" y="13876052"/>
                </a:lnTo>
                <a:lnTo>
                  <a:pt x="0" y="13876052"/>
                </a:lnTo>
                <a:lnTo>
                  <a:pt x="0" y="0"/>
                </a:lnTo>
                <a:close/>
              </a:path>
            </a:pathLst>
          </a:custGeom>
          <a:blipFill>
            <a:blip r:embed="rId4"/>
            <a:stretch>
              <a:fillRect r="-102229"/>
            </a:stretch>
          </a:blipFill>
        </p:spPr>
        <p:txBody>
          <a:bodyPr/>
          <a:lstStyle/>
          <a:p>
            <a:endParaRPr lang="es-ES"/>
          </a:p>
        </p:txBody>
      </p:sp>
      <p:sp>
        <p:nvSpPr>
          <p:cNvPr id="4" name="TextBox 4"/>
          <p:cNvSpPr txBox="1"/>
          <p:nvPr/>
        </p:nvSpPr>
        <p:spPr>
          <a:xfrm>
            <a:off x="2184774" y="2910070"/>
            <a:ext cx="10893622" cy="3077766"/>
          </a:xfrm>
          <a:prstGeom prst="rect">
            <a:avLst/>
          </a:prstGeom>
        </p:spPr>
        <p:txBody>
          <a:bodyPr lIns="0" tIns="0" rIns="0" bIns="0" rtlCol="0" anchor="t">
            <a:spAutoFit/>
          </a:bodyPr>
          <a:lstStyle/>
          <a:p>
            <a:pPr algn="ctr">
              <a:lnSpc>
                <a:spcPts val="12038"/>
              </a:lnSpc>
            </a:pPr>
            <a:r>
              <a:rPr lang="en-US" sz="8598" dirty="0">
                <a:solidFill>
                  <a:srgbClr val="8FE3FD"/>
                </a:solidFill>
                <a:latin typeface="Pattanakarn Expanded"/>
                <a:ea typeface="Pattanakarn Expanded"/>
                <a:cs typeface="Pattanakarn Expanded"/>
                <a:sym typeface="Pattanakarn Expanded"/>
              </a:rPr>
              <a:t>Muchas Gracias</a:t>
            </a:r>
          </a:p>
          <a:p>
            <a:pPr marL="0" lvl="0" indent="0" algn="ctr">
              <a:lnSpc>
                <a:spcPts val="12038"/>
              </a:lnSpc>
              <a:spcBef>
                <a:spcPct val="0"/>
              </a:spcBef>
            </a:pPr>
            <a:endParaRPr lang="en-US" sz="8598" dirty="0">
              <a:solidFill>
                <a:srgbClr val="8FE3FD"/>
              </a:solidFill>
              <a:latin typeface="Pattanakarn Expanded"/>
              <a:ea typeface="Pattanakarn Expanded"/>
              <a:cs typeface="Pattanakarn Expanded"/>
              <a:sym typeface="Pattanakarn Expanded"/>
            </a:endParaRPr>
          </a:p>
        </p:txBody>
      </p:sp>
      <p:sp>
        <p:nvSpPr>
          <p:cNvPr id="5" name="Freeform 5"/>
          <p:cNvSpPr/>
          <p:nvPr/>
        </p:nvSpPr>
        <p:spPr>
          <a:xfrm>
            <a:off x="4315004" y="6229520"/>
            <a:ext cx="986891" cy="721664"/>
          </a:xfrm>
          <a:custGeom>
            <a:avLst/>
            <a:gdLst/>
            <a:ahLst/>
            <a:cxnLst/>
            <a:rect l="l" t="t" r="r" b="b"/>
            <a:pathLst>
              <a:path w="986891" h="721664">
                <a:moveTo>
                  <a:pt x="0" y="0"/>
                </a:moveTo>
                <a:lnTo>
                  <a:pt x="986891" y="0"/>
                </a:lnTo>
                <a:lnTo>
                  <a:pt x="986891" y="721664"/>
                </a:lnTo>
                <a:lnTo>
                  <a:pt x="0" y="721664"/>
                </a:lnTo>
                <a:lnTo>
                  <a:pt x="0" y="0"/>
                </a:lnTo>
                <a:close/>
              </a:path>
            </a:pathLst>
          </a:custGeom>
          <a:blipFill>
            <a:blip r:embed="rId5"/>
            <a:stretch>
              <a:fillRect/>
            </a:stretch>
          </a:blipFill>
        </p:spPr>
        <p:txBody>
          <a:bodyPr/>
          <a:lstStyle/>
          <a:p>
            <a:endParaRPr lang="es-ES"/>
          </a:p>
        </p:txBody>
      </p:sp>
      <p:sp>
        <p:nvSpPr>
          <p:cNvPr id="18" name="Freeform 17">
            <a:extLst>
              <a:ext uri="{FF2B5EF4-FFF2-40B4-BE49-F238E27FC236}">
                <a16:creationId xmlns:a16="http://schemas.microsoft.com/office/drawing/2014/main" id="{F46255DF-E90F-C4E4-FA66-B2C11CB02F2B}"/>
              </a:ext>
            </a:extLst>
          </p:cNvPr>
          <p:cNvSpPr/>
          <p:nvPr/>
        </p:nvSpPr>
        <p:spPr>
          <a:xfrm rot="5400000">
            <a:off x="-83036" y="5226535"/>
            <a:ext cx="5143500" cy="4977431"/>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6">
              <a:extLst>
                <a:ext uri="{96DAC541-7B7A-43D3-8B79-37D633B846F1}">
                  <asvg:svgBlip xmlns:asvg="http://schemas.microsoft.com/office/drawing/2016/SVG/main" r:embed="rId7"/>
                </a:ext>
              </a:extLst>
            </a:blip>
            <a:stretch>
              <a:fillRect r="-15830" b="-19694"/>
            </a:stretch>
          </a:blipFill>
        </p:spPr>
        <p:txBody>
          <a:bodyPr/>
          <a:lstStyle/>
          <a:p>
            <a:endParaRPr lang="es-ES"/>
          </a:p>
        </p:txBody>
      </p:sp>
      <p:sp>
        <p:nvSpPr>
          <p:cNvPr id="3" name="TextBox 3"/>
          <p:cNvSpPr txBox="1"/>
          <p:nvPr/>
        </p:nvSpPr>
        <p:spPr>
          <a:xfrm>
            <a:off x="2312916" y="4267476"/>
            <a:ext cx="10637338" cy="1023614"/>
          </a:xfrm>
          <a:prstGeom prst="rect">
            <a:avLst/>
          </a:prstGeom>
        </p:spPr>
        <p:txBody>
          <a:bodyPr lIns="0" tIns="0" rIns="0" bIns="0" rtlCol="0" anchor="t">
            <a:spAutoFit/>
          </a:bodyPr>
          <a:lstStyle/>
          <a:p>
            <a:pPr marL="0" lvl="0" indent="0" algn="ctr">
              <a:lnSpc>
                <a:spcPts val="8243"/>
              </a:lnSpc>
            </a:pPr>
            <a:r>
              <a:rPr lang="en-US" sz="6106" spc="195" dirty="0" err="1">
                <a:solidFill>
                  <a:srgbClr val="FFFFFF"/>
                </a:solidFill>
                <a:latin typeface="Saira"/>
                <a:ea typeface="Saira"/>
                <a:cs typeface="Saira"/>
                <a:sym typeface="Saira"/>
              </a:rPr>
              <a:t>por</a:t>
            </a:r>
            <a:r>
              <a:rPr lang="en-US" sz="6106" spc="195" dirty="0">
                <a:solidFill>
                  <a:srgbClr val="FFFFFF"/>
                </a:solidFill>
                <a:latin typeface="Saira"/>
                <a:ea typeface="Saira"/>
                <a:cs typeface="Saira"/>
                <a:sym typeface="Saira"/>
              </a:rPr>
              <a:t> </a:t>
            </a:r>
            <a:r>
              <a:rPr lang="en-US" sz="6106" spc="195" dirty="0" err="1">
                <a:solidFill>
                  <a:srgbClr val="FFFFFF"/>
                </a:solidFill>
                <a:latin typeface="Saira"/>
                <a:ea typeface="Saira"/>
                <a:cs typeface="Saira"/>
                <a:sym typeface="Saira"/>
              </a:rPr>
              <a:t>su</a:t>
            </a:r>
            <a:r>
              <a:rPr lang="en-US" sz="6106" spc="195" dirty="0">
                <a:solidFill>
                  <a:srgbClr val="FFFFFF"/>
                </a:solidFill>
                <a:latin typeface="Saira"/>
                <a:ea typeface="Saira"/>
                <a:cs typeface="Saira"/>
                <a:sym typeface="Saira"/>
              </a:rPr>
              <a:t> </a:t>
            </a:r>
            <a:r>
              <a:rPr lang="en-US" sz="6106" spc="195" dirty="0" err="1">
                <a:solidFill>
                  <a:srgbClr val="FFFFFF"/>
                </a:solidFill>
                <a:latin typeface="Saira"/>
                <a:ea typeface="Saira"/>
                <a:cs typeface="Saira"/>
                <a:sym typeface="Saira"/>
              </a:rPr>
              <a:t>atención</a:t>
            </a:r>
            <a:endParaRPr lang="en-US" sz="6106" u="none" strike="noStrike" spc="195" dirty="0">
              <a:solidFill>
                <a:srgbClr val="FFFFFF"/>
              </a:solidFill>
              <a:latin typeface="Saira"/>
              <a:ea typeface="Saira"/>
              <a:cs typeface="Saira"/>
              <a:sym typeface="Saira"/>
            </a:endParaRPr>
          </a:p>
        </p:txBody>
      </p:sp>
      <p:pic>
        <p:nvPicPr>
          <p:cNvPr id="17" name="Picture 16" descr="Cartoon person in a suit and glasses&#10;&#10;AI-generated content may be incorrect.">
            <a:extLst>
              <a:ext uri="{FF2B5EF4-FFF2-40B4-BE49-F238E27FC236}">
                <a16:creationId xmlns:a16="http://schemas.microsoft.com/office/drawing/2014/main" id="{599DD399-38B8-43A2-B29C-95AFD6DDB446}"/>
              </a:ext>
            </a:extLst>
          </p:cNvPr>
          <p:cNvPicPr>
            <a:picLocks noChangeAspect="1"/>
          </p:cNvPicPr>
          <p:nvPr/>
        </p:nvPicPr>
        <p:blipFill>
          <a:blip r:embed="rId8"/>
          <a:stretch>
            <a:fillRect/>
          </a:stretch>
        </p:blipFill>
        <p:spPr>
          <a:xfrm>
            <a:off x="8897913" y="5764174"/>
            <a:ext cx="3414513" cy="3414513"/>
          </a:xfrm>
          <a:prstGeom prst="rect">
            <a:avLst/>
          </a:prstGeom>
        </p:spPr>
      </p:pic>
      <p:sp>
        <p:nvSpPr>
          <p:cNvPr id="20" name="TextBox 19">
            <a:extLst>
              <a:ext uri="{FF2B5EF4-FFF2-40B4-BE49-F238E27FC236}">
                <a16:creationId xmlns:a16="http://schemas.microsoft.com/office/drawing/2014/main" id="{C21FF1C6-A1A7-D84C-449A-4C8869718918}"/>
              </a:ext>
            </a:extLst>
          </p:cNvPr>
          <p:cNvSpPr txBox="1"/>
          <p:nvPr/>
        </p:nvSpPr>
        <p:spPr>
          <a:xfrm>
            <a:off x="5564574" y="7209821"/>
            <a:ext cx="2736831" cy="523220"/>
          </a:xfrm>
          <a:prstGeom prst="rect">
            <a:avLst/>
          </a:prstGeom>
          <a:noFill/>
        </p:spPr>
        <p:txBody>
          <a:bodyPr wrap="square">
            <a:spAutoFit/>
          </a:bodyPr>
          <a:lstStyle/>
          <a:p>
            <a:r>
              <a:rPr lang="en-US" sz="2800" dirty="0" err="1">
                <a:solidFill>
                  <a:schemeClr val="bg1"/>
                </a:solidFill>
              </a:rPr>
              <a:t>pedroaovieira</a:t>
            </a:r>
            <a:endParaRPr lang="en-US" sz="2800" dirty="0">
              <a:solidFill>
                <a:schemeClr val="bg1"/>
              </a:solidFill>
            </a:endParaRPr>
          </a:p>
        </p:txBody>
      </p:sp>
      <p:sp>
        <p:nvSpPr>
          <p:cNvPr id="21" name="TextBox 20">
            <a:extLst>
              <a:ext uri="{FF2B5EF4-FFF2-40B4-BE49-F238E27FC236}">
                <a16:creationId xmlns:a16="http://schemas.microsoft.com/office/drawing/2014/main" id="{238E6252-6577-7081-45DE-A1226A074D17}"/>
              </a:ext>
            </a:extLst>
          </p:cNvPr>
          <p:cNvSpPr txBox="1"/>
          <p:nvPr/>
        </p:nvSpPr>
        <p:spPr>
          <a:xfrm>
            <a:off x="5564574" y="6328742"/>
            <a:ext cx="2736831" cy="523220"/>
          </a:xfrm>
          <a:prstGeom prst="rect">
            <a:avLst/>
          </a:prstGeom>
          <a:noFill/>
        </p:spPr>
        <p:txBody>
          <a:bodyPr wrap="square">
            <a:spAutoFit/>
          </a:bodyPr>
          <a:lstStyle/>
          <a:p>
            <a:r>
              <a:rPr lang="en-US" sz="2800" dirty="0">
                <a:solidFill>
                  <a:schemeClr val="bg1"/>
                </a:solidFill>
              </a:rPr>
              <a:t>@shell5pt</a:t>
            </a:r>
          </a:p>
        </p:txBody>
      </p:sp>
      <p:sp>
        <p:nvSpPr>
          <p:cNvPr id="6" name="TextBox 5">
            <a:extLst>
              <a:ext uri="{FF2B5EF4-FFF2-40B4-BE49-F238E27FC236}">
                <a16:creationId xmlns:a16="http://schemas.microsoft.com/office/drawing/2014/main" id="{3B3EBE72-EC38-DB2D-8D75-3AE6A8152F82}"/>
              </a:ext>
            </a:extLst>
          </p:cNvPr>
          <p:cNvSpPr txBox="1"/>
          <p:nvPr/>
        </p:nvSpPr>
        <p:spPr>
          <a:xfrm>
            <a:off x="5564574" y="8090900"/>
            <a:ext cx="3300682" cy="523220"/>
          </a:xfrm>
          <a:prstGeom prst="rect">
            <a:avLst/>
          </a:prstGeom>
          <a:noFill/>
        </p:spPr>
        <p:txBody>
          <a:bodyPr wrap="square">
            <a:spAutoFit/>
          </a:bodyPr>
          <a:lstStyle/>
          <a:p>
            <a:r>
              <a:rPr lang="en-US" sz="2800" dirty="0" err="1">
                <a:solidFill>
                  <a:schemeClr val="bg1"/>
                </a:solidFill>
              </a:rPr>
              <a:t>pedroaovieira</a:t>
            </a:r>
            <a:r>
              <a:rPr lang="en-US" sz="2800" dirty="0">
                <a:solidFill>
                  <a:schemeClr val="bg1"/>
                </a:solidFill>
              </a:rPr>
              <a:t>/</a:t>
            </a:r>
            <a:r>
              <a:rPr lang="en-US" sz="2800" dirty="0" err="1">
                <a:solidFill>
                  <a:schemeClr val="bg1"/>
                </a:solidFill>
              </a:rPr>
              <a:t>osint</a:t>
            </a:r>
            <a:endParaRPr lang="en-US" sz="2800" dirty="0">
              <a:solidFill>
                <a:schemeClr val="bg1"/>
              </a:solidFill>
            </a:endParaRPr>
          </a:p>
        </p:txBody>
      </p:sp>
      <p:pic>
        <p:nvPicPr>
          <p:cNvPr id="10" name="Picture 9">
            <a:extLst>
              <a:ext uri="{FF2B5EF4-FFF2-40B4-BE49-F238E27FC236}">
                <a16:creationId xmlns:a16="http://schemas.microsoft.com/office/drawing/2014/main" id="{8EFF173C-E6AD-2607-146F-364698A11677}"/>
              </a:ext>
            </a:extLst>
          </p:cNvPr>
          <p:cNvPicPr>
            <a:picLocks noChangeAspect="1"/>
          </p:cNvPicPr>
          <p:nvPr/>
        </p:nvPicPr>
        <p:blipFill>
          <a:blip r:embed="rId9"/>
          <a:stretch>
            <a:fillRect/>
          </a:stretch>
        </p:blipFill>
        <p:spPr>
          <a:xfrm>
            <a:off x="4466872" y="8064912"/>
            <a:ext cx="664521" cy="65836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B3D59">
                <a:alpha val="100000"/>
              </a:srgbClr>
            </a:gs>
            <a:gs pos="100000">
              <a:srgbClr val="03060C">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4608485" y="57645"/>
            <a:ext cx="9071031" cy="10229355"/>
          </a:xfrm>
          <a:custGeom>
            <a:avLst/>
            <a:gdLst/>
            <a:ahLst/>
            <a:cxnLst/>
            <a:rect l="l" t="t" r="r" b="b"/>
            <a:pathLst>
              <a:path w="9071031" h="10229355">
                <a:moveTo>
                  <a:pt x="0" y="0"/>
                </a:moveTo>
                <a:lnTo>
                  <a:pt x="9071030" y="0"/>
                </a:lnTo>
                <a:lnTo>
                  <a:pt x="9071030" y="10229355"/>
                </a:lnTo>
                <a:lnTo>
                  <a:pt x="0" y="10229355"/>
                </a:lnTo>
                <a:lnTo>
                  <a:pt x="0" y="0"/>
                </a:lnTo>
                <a:close/>
              </a:path>
            </a:pathLst>
          </a:custGeom>
          <a:blipFill>
            <a:blip r:embed="rId3"/>
            <a:stretch>
              <a:fillRect/>
            </a:stretch>
          </a:blipFill>
        </p:spPr>
        <p:txBody>
          <a:bodyPr/>
          <a:lstStyle/>
          <a:p>
            <a:endParaRPr lang="es-ES"/>
          </a:p>
        </p:txBody>
      </p:sp>
      <p:sp>
        <p:nvSpPr>
          <p:cNvPr id="4" name="Freeform 4"/>
          <p:cNvSpPr/>
          <p:nvPr/>
        </p:nvSpPr>
        <p:spPr>
          <a:xfrm rot="5400000">
            <a:off x="-83037" y="5226537"/>
            <a:ext cx="5143501" cy="4977430"/>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r="-15830" b="-19694"/>
            </a:stretch>
          </a:blipFill>
        </p:spPr>
        <p:txBody>
          <a:bodyPr/>
          <a:lstStyle/>
          <a:p>
            <a:endParaRPr lang="es-ES"/>
          </a:p>
        </p:txBody>
      </p:sp>
      <p:sp>
        <p:nvSpPr>
          <p:cNvPr id="5" name="Freeform 4">
            <a:extLst>
              <a:ext uri="{FF2B5EF4-FFF2-40B4-BE49-F238E27FC236}">
                <a16:creationId xmlns:a16="http://schemas.microsoft.com/office/drawing/2014/main" id="{69671601-3D12-B943-1918-E6A3E4304A1B}"/>
              </a:ext>
            </a:extLst>
          </p:cNvPr>
          <p:cNvSpPr/>
          <p:nvPr/>
        </p:nvSpPr>
        <p:spPr>
          <a:xfrm rot="-5400000">
            <a:off x="12554237" y="223927"/>
            <a:ext cx="5957691" cy="5509835"/>
          </a:xfrm>
          <a:custGeom>
            <a:avLst/>
            <a:gdLst/>
            <a:ahLst/>
            <a:cxnLst/>
            <a:rect l="l" t="t" r="r" b="b"/>
            <a:pathLst>
              <a:path w="5957691" h="5957691">
                <a:moveTo>
                  <a:pt x="0" y="0"/>
                </a:moveTo>
                <a:lnTo>
                  <a:pt x="5957691" y="0"/>
                </a:lnTo>
                <a:lnTo>
                  <a:pt x="5957691" y="5957691"/>
                </a:lnTo>
                <a:lnTo>
                  <a:pt x="0" y="5957691"/>
                </a:lnTo>
                <a:lnTo>
                  <a:pt x="0" y="0"/>
                </a:lnTo>
                <a:close/>
              </a:path>
            </a:pathLst>
          </a:custGeom>
          <a:blipFill>
            <a:blip r:embed="rId4">
              <a:extLst>
                <a:ext uri="{96DAC541-7B7A-43D3-8B79-37D633B846F1}">
                  <asvg:svgBlip xmlns:asvg="http://schemas.microsoft.com/office/drawing/2016/SVG/main" r:embed="rId5"/>
                </a:ext>
              </a:extLst>
            </a:blip>
            <a:stretch>
              <a:fillRect b="-8128"/>
            </a:stretch>
          </a:blipFill>
        </p:spPr>
        <p:txBody>
          <a:bodyPr/>
          <a:lstStyle/>
          <a:p>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698</TotalTime>
  <Words>4319</Words>
  <Application>Microsoft Office PowerPoint</Application>
  <PresentationFormat>Custom</PresentationFormat>
  <Paragraphs>584</Paragraphs>
  <Slides>39</Slides>
  <Notes>39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Cooper Hewitt Bold</vt:lpstr>
      <vt:lpstr>DM Sans Bold</vt:lpstr>
      <vt:lpstr>DM Sans</vt:lpstr>
      <vt:lpstr>Calibri</vt:lpstr>
      <vt:lpstr>Cooper Hewitt</vt:lpstr>
      <vt:lpstr>Arial</vt:lpstr>
      <vt:lpstr>Aptos</vt:lpstr>
      <vt:lpstr>Saira</vt:lpstr>
      <vt:lpstr>Pattanakarn Expanded</vt:lpstr>
      <vt:lpstr>Saira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 OsintomátiCOPS Brasil 2025</dc:title>
  <cp:lastModifiedBy>Pedro Vieira</cp:lastModifiedBy>
  <cp:revision>47</cp:revision>
  <dcterms:created xsi:type="dcterms:W3CDTF">2006-08-16T00:00:00Z</dcterms:created>
  <dcterms:modified xsi:type="dcterms:W3CDTF">2025-11-07T23:06:49Z</dcterms:modified>
  <dc:identifier>DAGuo9WZ1i0</dc:identifier>
</cp:coreProperties>
</file>