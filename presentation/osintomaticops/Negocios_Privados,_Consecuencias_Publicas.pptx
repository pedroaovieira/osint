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1"/>
  </p:notesMasterIdLst>
  <p:sldIdLst>
    <p:sldId id="256" r:id="rId2"/>
    <p:sldId id="268" r:id="rId3"/>
    <p:sldId id="270" r:id="rId4"/>
    <p:sldId id="258" r:id="rId5"/>
    <p:sldId id="269" r:id="rId6"/>
    <p:sldId id="271" r:id="rId7"/>
    <p:sldId id="272" r:id="rId8"/>
    <p:sldId id="273" r:id="rId9"/>
    <p:sldId id="274" r:id="rId10"/>
    <p:sldId id="307" r:id="rId11"/>
    <p:sldId id="276" r:id="rId12"/>
    <p:sldId id="275"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308" r:id="rId29"/>
    <p:sldId id="293" r:id="rId30"/>
    <p:sldId id="310" r:id="rId31"/>
    <p:sldId id="294" r:id="rId32"/>
    <p:sldId id="311" r:id="rId33"/>
    <p:sldId id="297" r:id="rId34"/>
    <p:sldId id="301" r:id="rId35"/>
    <p:sldId id="303" r:id="rId36"/>
    <p:sldId id="304" r:id="rId37"/>
    <p:sldId id="305" r:id="rId38"/>
    <p:sldId id="262" r:id="rId39"/>
    <p:sldId id="264" r:id="rId40"/>
  </p:sldIdLst>
  <p:sldSz cx="18288000" cy="10287000"/>
  <p:notesSz cx="6858000" cy="9144000"/>
  <p:embeddedFontLst>
    <p:embeddedFont>
      <p:font typeface="Cooper Hewitt" panose="020B0604020202020204" charset="0"/>
      <p:regular r:id="rId42"/>
    </p:embeddedFont>
    <p:embeddedFont>
      <p:font typeface="Cooper Hewitt Bold" panose="020B0604020202020204" charset="0"/>
      <p:regular r:id="rId43"/>
    </p:embeddedFont>
    <p:embeddedFont>
      <p:font typeface="DM Sans" pitchFamily="2" charset="0"/>
      <p:regular r:id="rId44"/>
      <p:bold r:id="rId45"/>
      <p:italic r:id="rId46"/>
      <p:boldItalic r:id="rId47"/>
    </p:embeddedFont>
    <p:embeddedFont>
      <p:font typeface="DM Sans Bold" charset="0"/>
      <p:regular r:id="rId48"/>
    </p:embeddedFont>
    <p:embeddedFont>
      <p:font typeface="Pattanakarn Expanded" panose="020B0604020202020204" charset="-34"/>
      <p:regular r:id="rId49"/>
    </p:embeddedFont>
    <p:embeddedFont>
      <p:font typeface="Saira" panose="020B0604020202020204" charset="0"/>
      <p:regular r:id="rId50"/>
    </p:embeddedFont>
    <p:embeddedFont>
      <p:font typeface="Saira Light" panose="020B0604020202020204" charset="0"/>
      <p:regular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87772" autoAdjust="0"/>
  </p:normalViewPr>
  <p:slideViewPr>
    <p:cSldViewPr>
      <p:cViewPr varScale="1">
        <p:scale>
          <a:sx n="56" d="100"/>
          <a:sy n="56" d="100"/>
        </p:scale>
        <p:origin x="816" y="2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8" Type="http://schemas.openxmlformats.org/officeDocument/2006/relationships/slide" Target="slides/slide7.xml"/><Relationship Id="rId51" Type="http://schemas.openxmlformats.org/officeDocument/2006/relationships/font" Target="fonts/font10.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759606E-8F8C-46E6-B4A5-E9D4FDF0A303}"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de-DE"/>
        </a:p>
      </dgm:t>
    </dgm:pt>
    <dgm:pt modelId="{E4DD2DCE-6ADE-42A0-8A00-C6F3F365A26B}">
      <dgm:prSet phldrT="[Text]"/>
      <dgm:spPr>
        <a:solidFill>
          <a:schemeClr val="tx2">
            <a:lumMod val="20000"/>
            <a:lumOff val="80000"/>
          </a:schemeClr>
        </a:solidFill>
      </dgm:spPr>
      <dgm:t>
        <a:bodyPr/>
        <a:lstStyle/>
        <a:p>
          <a:r>
            <a:rPr lang="es-ES" noProof="0" dirty="0">
              <a:solidFill>
                <a:schemeClr val="tx1"/>
              </a:solidFill>
            </a:rPr>
            <a:t>OSINT</a:t>
          </a:r>
        </a:p>
      </dgm:t>
    </dgm:pt>
    <dgm:pt modelId="{DD953020-148C-4CC3-BC67-71AAF0BC95CE}" type="parTrans" cxnId="{16B9EE9A-E111-4D9E-9CD9-D1F766F9D8D8}">
      <dgm:prSet/>
      <dgm:spPr/>
      <dgm:t>
        <a:bodyPr/>
        <a:lstStyle/>
        <a:p>
          <a:endParaRPr lang="de-DE"/>
        </a:p>
      </dgm:t>
    </dgm:pt>
    <dgm:pt modelId="{95E61F59-8332-43EC-97E6-9194DD0F6BA5}" type="sibTrans" cxnId="{16B9EE9A-E111-4D9E-9CD9-D1F766F9D8D8}">
      <dgm:prSet/>
      <dgm:spPr/>
      <dgm:t>
        <a:bodyPr/>
        <a:lstStyle/>
        <a:p>
          <a:endParaRPr lang="de-DE"/>
        </a:p>
      </dgm:t>
    </dgm:pt>
    <dgm:pt modelId="{46C02386-F1CA-434D-A82F-93433FD3D345}">
      <dgm:prSet phldrT="[Text]"/>
      <dgm:spPr>
        <a:solidFill>
          <a:schemeClr val="tx2">
            <a:lumMod val="20000"/>
            <a:lumOff val="80000"/>
          </a:schemeClr>
        </a:solidFill>
      </dgm:spPr>
      <dgm:t>
        <a:bodyPr/>
        <a:lstStyle/>
        <a:p>
          <a:r>
            <a:rPr lang="es-ES" noProof="0" dirty="0">
              <a:solidFill>
                <a:schemeClr val="tx1"/>
              </a:solidFill>
            </a:rPr>
            <a:t>Primer Ministro</a:t>
          </a:r>
        </a:p>
      </dgm:t>
    </dgm:pt>
    <dgm:pt modelId="{62787198-15BC-4CDA-AE6F-9BF5EDA1802F}" type="parTrans" cxnId="{03054909-0353-41E4-922D-6B264DB6DE5B}">
      <dgm:prSet/>
      <dgm:spPr/>
      <dgm:t>
        <a:bodyPr/>
        <a:lstStyle/>
        <a:p>
          <a:endParaRPr lang="en-US"/>
        </a:p>
      </dgm:t>
    </dgm:pt>
    <dgm:pt modelId="{7DDDC6FD-AF16-4A53-B819-656C79F3932E}" type="sibTrans" cxnId="{03054909-0353-41E4-922D-6B264DB6DE5B}">
      <dgm:prSet/>
      <dgm:spPr/>
      <dgm:t>
        <a:bodyPr/>
        <a:lstStyle/>
        <a:p>
          <a:endParaRPr lang="en-US"/>
        </a:p>
      </dgm:t>
    </dgm:pt>
    <dgm:pt modelId="{55850409-4DE0-454C-A21C-B1F663681D7A}" type="pres">
      <dgm:prSet presAssocID="{7759606E-8F8C-46E6-B4A5-E9D4FDF0A303}" presName="Name0" presStyleCnt="0">
        <dgm:presLayoutVars>
          <dgm:chMax val="7"/>
          <dgm:chPref val="7"/>
          <dgm:dir/>
        </dgm:presLayoutVars>
      </dgm:prSet>
      <dgm:spPr/>
    </dgm:pt>
    <dgm:pt modelId="{8E6B8565-0C85-42A9-9335-A8077DD5C6AA}" type="pres">
      <dgm:prSet presAssocID="{7759606E-8F8C-46E6-B4A5-E9D4FDF0A303}" presName="Name1" presStyleCnt="0"/>
      <dgm:spPr/>
    </dgm:pt>
    <dgm:pt modelId="{B9E3A042-9F5D-48AF-997C-8315DAD36198}" type="pres">
      <dgm:prSet presAssocID="{7759606E-8F8C-46E6-B4A5-E9D4FDF0A303}" presName="cycle" presStyleCnt="0"/>
      <dgm:spPr/>
    </dgm:pt>
    <dgm:pt modelId="{FB24CC59-8232-4E9A-BAB1-D60D51A29459}" type="pres">
      <dgm:prSet presAssocID="{7759606E-8F8C-46E6-B4A5-E9D4FDF0A303}" presName="srcNode" presStyleLbl="node1" presStyleIdx="0" presStyleCnt="2"/>
      <dgm:spPr/>
    </dgm:pt>
    <dgm:pt modelId="{FC97BD6D-CD99-4821-80ED-782211115F1A}" type="pres">
      <dgm:prSet presAssocID="{7759606E-8F8C-46E6-B4A5-E9D4FDF0A303}" presName="conn" presStyleLbl="parChTrans1D2" presStyleIdx="0" presStyleCnt="1"/>
      <dgm:spPr/>
    </dgm:pt>
    <dgm:pt modelId="{29E6EA9F-4111-4090-BC7A-02D89083AA83}" type="pres">
      <dgm:prSet presAssocID="{7759606E-8F8C-46E6-B4A5-E9D4FDF0A303}" presName="extraNode" presStyleLbl="node1" presStyleIdx="0" presStyleCnt="2"/>
      <dgm:spPr/>
    </dgm:pt>
    <dgm:pt modelId="{A4208F82-C493-4577-B79D-AF15C3CCDFB0}" type="pres">
      <dgm:prSet presAssocID="{7759606E-8F8C-46E6-B4A5-E9D4FDF0A303}" presName="dstNode" presStyleLbl="node1" presStyleIdx="0" presStyleCnt="2"/>
      <dgm:spPr/>
    </dgm:pt>
    <dgm:pt modelId="{F0B29C53-122E-4A18-AF50-18967326F7A7}" type="pres">
      <dgm:prSet presAssocID="{E4DD2DCE-6ADE-42A0-8A00-C6F3F365A26B}" presName="text_1" presStyleLbl="node1" presStyleIdx="0" presStyleCnt="2">
        <dgm:presLayoutVars>
          <dgm:bulletEnabled val="1"/>
        </dgm:presLayoutVars>
      </dgm:prSet>
      <dgm:spPr/>
    </dgm:pt>
    <dgm:pt modelId="{5DDD9621-F94A-400A-AEEF-5E415336D924}" type="pres">
      <dgm:prSet presAssocID="{E4DD2DCE-6ADE-42A0-8A00-C6F3F365A26B}" presName="accent_1" presStyleCnt="0"/>
      <dgm:spPr/>
    </dgm:pt>
    <dgm:pt modelId="{A839D322-B1CB-4685-8BE1-D7C4CBA1DED5}" type="pres">
      <dgm:prSet presAssocID="{E4DD2DCE-6ADE-42A0-8A00-C6F3F365A26B}" presName="accentRepeatNode" presStyleLbl="solidFgAcc1" presStyleIdx="0" presStyleCnt="2"/>
      <dgm:spPr>
        <a:solidFill>
          <a:schemeClr val="tx2">
            <a:lumMod val="40000"/>
            <a:lumOff val="60000"/>
          </a:schemeClr>
        </a:solidFill>
        <a:ln>
          <a:solidFill>
            <a:schemeClr val="tx2">
              <a:lumMod val="75000"/>
            </a:schemeClr>
          </a:solidFill>
        </a:ln>
      </dgm:spPr>
    </dgm:pt>
    <dgm:pt modelId="{7F3312BA-69D3-442F-B82A-B05F70439E2B}" type="pres">
      <dgm:prSet presAssocID="{46C02386-F1CA-434D-A82F-93433FD3D345}" presName="text_2" presStyleLbl="node1" presStyleIdx="1" presStyleCnt="2">
        <dgm:presLayoutVars>
          <dgm:bulletEnabled val="1"/>
        </dgm:presLayoutVars>
      </dgm:prSet>
      <dgm:spPr/>
    </dgm:pt>
    <dgm:pt modelId="{2EE8ADB2-DBF1-4560-934B-2321B71E4618}" type="pres">
      <dgm:prSet presAssocID="{46C02386-F1CA-434D-A82F-93433FD3D345}" presName="accent_2" presStyleCnt="0"/>
      <dgm:spPr/>
    </dgm:pt>
    <dgm:pt modelId="{B45A13D0-BCAB-4182-B0B2-95E4541F1250}" type="pres">
      <dgm:prSet presAssocID="{46C02386-F1CA-434D-A82F-93433FD3D345}" presName="accentRepeatNode" presStyleLbl="solidFgAcc1" presStyleIdx="1" presStyleCnt="2"/>
      <dgm:spPr>
        <a:solidFill>
          <a:schemeClr val="tx2">
            <a:lumMod val="40000"/>
            <a:lumOff val="60000"/>
          </a:schemeClr>
        </a:solidFill>
        <a:ln>
          <a:solidFill>
            <a:schemeClr val="tx2">
              <a:lumMod val="75000"/>
            </a:schemeClr>
          </a:solidFill>
        </a:ln>
      </dgm:spPr>
    </dgm:pt>
  </dgm:ptLst>
  <dgm:cxnLst>
    <dgm:cxn modelId="{03054909-0353-41E4-922D-6B264DB6DE5B}" srcId="{7759606E-8F8C-46E6-B4A5-E9D4FDF0A303}" destId="{46C02386-F1CA-434D-A82F-93433FD3D345}" srcOrd="1" destOrd="0" parTransId="{62787198-15BC-4CDA-AE6F-9BF5EDA1802F}" sibTransId="{7DDDC6FD-AF16-4A53-B819-656C79F3932E}"/>
    <dgm:cxn modelId="{C064C653-D523-4B73-B549-40A570A7606B}" type="presOf" srcId="{46C02386-F1CA-434D-A82F-93433FD3D345}" destId="{7F3312BA-69D3-442F-B82A-B05F70439E2B}" srcOrd="0" destOrd="0" presId="urn:microsoft.com/office/officeart/2008/layout/VerticalCurvedList"/>
    <dgm:cxn modelId="{9732017D-71CA-44DB-A6F3-55EC042D1CD8}" type="presOf" srcId="{7759606E-8F8C-46E6-B4A5-E9D4FDF0A303}" destId="{55850409-4DE0-454C-A21C-B1F663681D7A}" srcOrd="0" destOrd="0" presId="urn:microsoft.com/office/officeart/2008/layout/VerticalCurvedList"/>
    <dgm:cxn modelId="{16B9EE9A-E111-4D9E-9CD9-D1F766F9D8D8}" srcId="{7759606E-8F8C-46E6-B4A5-E9D4FDF0A303}" destId="{E4DD2DCE-6ADE-42A0-8A00-C6F3F365A26B}" srcOrd="0" destOrd="0" parTransId="{DD953020-148C-4CC3-BC67-71AAF0BC95CE}" sibTransId="{95E61F59-8332-43EC-97E6-9194DD0F6BA5}"/>
    <dgm:cxn modelId="{288A80B8-99B6-4D71-A975-FE4C7AACB279}" type="presOf" srcId="{E4DD2DCE-6ADE-42A0-8A00-C6F3F365A26B}" destId="{F0B29C53-122E-4A18-AF50-18967326F7A7}" srcOrd="0" destOrd="0" presId="urn:microsoft.com/office/officeart/2008/layout/VerticalCurvedList"/>
    <dgm:cxn modelId="{3F4250DD-C633-4BA2-A64B-EF59FB6933AF}" type="presOf" srcId="{95E61F59-8332-43EC-97E6-9194DD0F6BA5}" destId="{FC97BD6D-CD99-4821-80ED-782211115F1A}" srcOrd="0" destOrd="0" presId="urn:microsoft.com/office/officeart/2008/layout/VerticalCurvedList"/>
    <dgm:cxn modelId="{8230AFCF-8038-4B0A-9AD5-191B05E4B705}" type="presParOf" srcId="{55850409-4DE0-454C-A21C-B1F663681D7A}" destId="{8E6B8565-0C85-42A9-9335-A8077DD5C6AA}" srcOrd="0" destOrd="0" presId="urn:microsoft.com/office/officeart/2008/layout/VerticalCurvedList"/>
    <dgm:cxn modelId="{2F984471-F7C7-4B69-AAE9-E895C6815C05}" type="presParOf" srcId="{8E6B8565-0C85-42A9-9335-A8077DD5C6AA}" destId="{B9E3A042-9F5D-48AF-997C-8315DAD36198}" srcOrd="0" destOrd="0" presId="urn:microsoft.com/office/officeart/2008/layout/VerticalCurvedList"/>
    <dgm:cxn modelId="{D3ABBE97-CAFD-4785-90C7-3F68944F1C64}" type="presParOf" srcId="{B9E3A042-9F5D-48AF-997C-8315DAD36198}" destId="{FB24CC59-8232-4E9A-BAB1-D60D51A29459}" srcOrd="0" destOrd="0" presId="urn:microsoft.com/office/officeart/2008/layout/VerticalCurvedList"/>
    <dgm:cxn modelId="{A79196C2-D204-4609-8824-1BBD901008E7}" type="presParOf" srcId="{B9E3A042-9F5D-48AF-997C-8315DAD36198}" destId="{FC97BD6D-CD99-4821-80ED-782211115F1A}" srcOrd="1" destOrd="0" presId="urn:microsoft.com/office/officeart/2008/layout/VerticalCurvedList"/>
    <dgm:cxn modelId="{CC8EB40E-3396-42AD-9138-846EC5C54EA8}" type="presParOf" srcId="{B9E3A042-9F5D-48AF-997C-8315DAD36198}" destId="{29E6EA9F-4111-4090-BC7A-02D89083AA83}" srcOrd="2" destOrd="0" presId="urn:microsoft.com/office/officeart/2008/layout/VerticalCurvedList"/>
    <dgm:cxn modelId="{2F8BD978-AF78-4EF0-AC06-232B51E45BF7}" type="presParOf" srcId="{B9E3A042-9F5D-48AF-997C-8315DAD36198}" destId="{A4208F82-C493-4577-B79D-AF15C3CCDFB0}" srcOrd="3" destOrd="0" presId="urn:microsoft.com/office/officeart/2008/layout/VerticalCurvedList"/>
    <dgm:cxn modelId="{88971A8B-D1C4-43A9-BB69-DA42E4F60E1F}" type="presParOf" srcId="{8E6B8565-0C85-42A9-9335-A8077DD5C6AA}" destId="{F0B29C53-122E-4A18-AF50-18967326F7A7}" srcOrd="1" destOrd="0" presId="urn:microsoft.com/office/officeart/2008/layout/VerticalCurvedList"/>
    <dgm:cxn modelId="{99D685F3-2EB9-4FE5-92B8-80003BD7EADB}" type="presParOf" srcId="{8E6B8565-0C85-42A9-9335-A8077DD5C6AA}" destId="{5DDD9621-F94A-400A-AEEF-5E415336D924}" srcOrd="2" destOrd="0" presId="urn:microsoft.com/office/officeart/2008/layout/VerticalCurvedList"/>
    <dgm:cxn modelId="{56B4C117-7C5B-4729-85BA-A5ED8ACA504B}" type="presParOf" srcId="{5DDD9621-F94A-400A-AEEF-5E415336D924}" destId="{A839D322-B1CB-4685-8BE1-D7C4CBA1DED5}" srcOrd="0" destOrd="0" presId="urn:microsoft.com/office/officeart/2008/layout/VerticalCurvedList"/>
    <dgm:cxn modelId="{BE63CC37-735E-4804-979D-D9705313D35F}" type="presParOf" srcId="{8E6B8565-0C85-42A9-9335-A8077DD5C6AA}" destId="{7F3312BA-69D3-442F-B82A-B05F70439E2B}" srcOrd="3" destOrd="0" presId="urn:microsoft.com/office/officeart/2008/layout/VerticalCurvedList"/>
    <dgm:cxn modelId="{9D6EA9D4-88FD-43B3-A70F-89A3190D72FE}" type="presParOf" srcId="{8E6B8565-0C85-42A9-9335-A8077DD5C6AA}" destId="{2EE8ADB2-DBF1-4560-934B-2321B71E4618}" srcOrd="4" destOrd="0" presId="urn:microsoft.com/office/officeart/2008/layout/VerticalCurvedList"/>
    <dgm:cxn modelId="{BCC0031B-CEF1-448F-9BCC-E42D754AA23B}" type="presParOf" srcId="{2EE8ADB2-DBF1-4560-934B-2321B71E4618}" destId="{B45A13D0-BCAB-4182-B0B2-95E4541F1250}" srcOrd="0" destOrd="0" presId="urn:microsoft.com/office/officeart/2008/layout/VerticalCurvedList"/>
  </dgm:cxnLst>
  <dgm:bg/>
  <dgm:whole>
    <a:ln>
      <a:noFill/>
    </a:ln>
  </dgm:whole>
  <dgm:extLst>
    <a:ext uri="http://schemas.microsoft.com/office/drawing/2008/diagram">
      <dsp:dataModelExt xmlns:dsp="http://schemas.microsoft.com/office/drawing/2008/diagram" relId="rId12"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97BD6D-CD99-4821-80ED-782211115F1A}">
      <dsp:nvSpPr>
        <dsp:cNvPr id="0" name=""/>
        <dsp:cNvSpPr/>
      </dsp:nvSpPr>
      <dsp:spPr>
        <a:xfrm>
          <a:off x="-6779623" y="-1044926"/>
          <a:ext cx="8133610" cy="8133610"/>
        </a:xfrm>
        <a:prstGeom prst="blockArc">
          <a:avLst>
            <a:gd name="adj1" fmla="val 18900000"/>
            <a:gd name="adj2" fmla="val 2700000"/>
            <a:gd name="adj3" fmla="val 266"/>
          </a:avLst>
        </a:pr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0B29C53-122E-4A18-AF50-18967326F7A7}">
      <dsp:nvSpPr>
        <dsp:cNvPr id="0" name=""/>
        <dsp:cNvSpPr/>
      </dsp:nvSpPr>
      <dsp:spPr>
        <a:xfrm>
          <a:off x="1110993" y="863411"/>
          <a:ext cx="12079413" cy="1726580"/>
        </a:xfrm>
        <a:prstGeom prst="rect">
          <a:avLst/>
        </a:prstGeom>
        <a:solidFill>
          <a:schemeClr val="tx2">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OSINT</a:t>
          </a:r>
        </a:p>
      </dsp:txBody>
      <dsp:txXfrm>
        <a:off x="1110993" y="863411"/>
        <a:ext cx="12079413" cy="1726580"/>
      </dsp:txXfrm>
    </dsp:sp>
    <dsp:sp modelId="{A839D322-B1CB-4685-8BE1-D7C4CBA1DED5}">
      <dsp:nvSpPr>
        <dsp:cNvPr id="0" name=""/>
        <dsp:cNvSpPr/>
      </dsp:nvSpPr>
      <dsp:spPr>
        <a:xfrm>
          <a:off x="31880" y="647588"/>
          <a:ext cx="2158225" cy="2158225"/>
        </a:xfrm>
        <a:prstGeom prst="ellipse">
          <a:avLst/>
        </a:prstGeom>
        <a:solidFill>
          <a:schemeClr val="tx2">
            <a:lumMod val="40000"/>
            <a:lumOff val="60000"/>
          </a:schemeClr>
        </a:solidFill>
        <a:ln w="25400" cap="flat" cmpd="sng" algn="ctr">
          <a:solidFill>
            <a:schemeClr val="tx2">
              <a:lumMod val="75000"/>
            </a:schemeClr>
          </a:solidFill>
          <a:prstDash val="solid"/>
        </a:ln>
        <a:effectLst/>
      </dsp:spPr>
      <dsp:style>
        <a:lnRef idx="2">
          <a:scrgbClr r="0" g="0" b="0"/>
        </a:lnRef>
        <a:fillRef idx="1">
          <a:scrgbClr r="0" g="0" b="0"/>
        </a:fillRef>
        <a:effectRef idx="0">
          <a:scrgbClr r="0" g="0" b="0"/>
        </a:effectRef>
        <a:fontRef idx="minor"/>
      </dsp:style>
    </dsp:sp>
    <dsp:sp modelId="{7F3312BA-69D3-442F-B82A-B05F70439E2B}">
      <dsp:nvSpPr>
        <dsp:cNvPr id="0" name=""/>
        <dsp:cNvSpPr/>
      </dsp:nvSpPr>
      <dsp:spPr>
        <a:xfrm>
          <a:off x="1110993" y="3453765"/>
          <a:ext cx="12079413" cy="1726580"/>
        </a:xfrm>
        <a:prstGeom prst="rect">
          <a:avLst/>
        </a:prstGeom>
        <a:solidFill>
          <a:schemeClr val="tx2">
            <a:lumMod val="20000"/>
            <a:lumOff val="8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70473" tIns="165100" rIns="165100" bIns="165100" numCol="1" spcCol="1270" anchor="ctr" anchorCtr="0">
          <a:noAutofit/>
        </a:bodyPr>
        <a:lstStyle/>
        <a:p>
          <a:pPr marL="0" lvl="0" indent="0" algn="l" defTabSz="2889250">
            <a:lnSpc>
              <a:spcPct val="90000"/>
            </a:lnSpc>
            <a:spcBef>
              <a:spcPct val="0"/>
            </a:spcBef>
            <a:spcAft>
              <a:spcPct val="35000"/>
            </a:spcAft>
            <a:buNone/>
          </a:pPr>
          <a:r>
            <a:rPr lang="es-ES" sz="6500" kern="1200" noProof="0" dirty="0">
              <a:solidFill>
                <a:schemeClr val="tx1"/>
              </a:solidFill>
            </a:rPr>
            <a:t>Primer Ministro</a:t>
          </a:r>
        </a:p>
      </dsp:txBody>
      <dsp:txXfrm>
        <a:off x="1110993" y="3453765"/>
        <a:ext cx="12079413" cy="1726580"/>
      </dsp:txXfrm>
    </dsp:sp>
    <dsp:sp modelId="{B45A13D0-BCAB-4182-B0B2-95E4541F1250}">
      <dsp:nvSpPr>
        <dsp:cNvPr id="0" name=""/>
        <dsp:cNvSpPr/>
      </dsp:nvSpPr>
      <dsp:spPr>
        <a:xfrm>
          <a:off x="31880" y="3237943"/>
          <a:ext cx="2158225" cy="2158225"/>
        </a:xfrm>
        <a:prstGeom prst="ellipse">
          <a:avLst/>
        </a:prstGeom>
        <a:solidFill>
          <a:schemeClr val="tx2">
            <a:lumMod val="40000"/>
            <a:lumOff val="60000"/>
          </a:schemeClr>
        </a:solidFill>
        <a:ln w="25400" cap="flat" cmpd="sng" algn="ctr">
          <a:solidFill>
            <a:schemeClr val="tx2">
              <a:lumMod val="7500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AD90CA-A4D3-4297-A280-F43F15D441C9}" type="datetimeFigureOut">
              <a:rPr lang="en-US" smtClean="0"/>
              <a:t>2025-10-30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117B31-01B5-445C-AEDA-E1B74E69A8E6}" type="slidenum">
              <a:rPr lang="en-US" smtClean="0"/>
              <a:t>‹#›</a:t>
            </a:fld>
            <a:endParaRPr lang="en-US"/>
          </a:p>
        </p:txBody>
      </p:sp>
    </p:spTree>
    <p:extLst>
      <p:ext uri="{BB962C8B-B14F-4D97-AF65-F5344CB8AC3E}">
        <p14:creationId xmlns:p14="http://schemas.microsoft.com/office/powerpoint/2010/main" val="17013704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presentación sienta las bases para comprender cómo la inteligencia de fuentes abiertas (OSINT) jugó un papel crucial en un importante escándalo político en Portugal. Al examinar las medidas adoptadas para recopilar información pública, podemos comprender cómo las transacciones comerciales privadas pueden derivar en crisis públicas. El caso ilustra el profundo impacto de la OSINT al revelar conexiones ocultas que pueden conducir al colapso gubernamental, destacando la importancia de la transparencia y la rendición de cuentas tanto en el sector público como en el privado.</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a:t>
            </a:fld>
            <a:endParaRPr lang="en-US"/>
          </a:p>
        </p:txBody>
      </p:sp>
    </p:spTree>
    <p:extLst>
      <p:ext uri="{BB962C8B-B14F-4D97-AF65-F5344CB8AC3E}">
        <p14:creationId xmlns:p14="http://schemas.microsoft.com/office/powerpoint/2010/main" val="13327744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Pedro Vieira, ingeniero en ciberseguridad y experto en OSINT. Su diversa experiencia como desarrollador full-</a:t>
            </a:r>
            <a:r>
              <a:rPr lang="es-ES" dirty="0" err="1"/>
              <a:t>stack</a:t>
            </a:r>
            <a:r>
              <a:rPr lang="es-ES" dirty="0"/>
              <a:t> y orador lo posiciona de forma única para abordar la intersección entre la tecnología y la recopilación de inteligencia. Esta diapositiva destaca sus credenciales, estableciendo su autoridad en el tema y sentando las bases de las ideas que compartirá a lo largo de la presentación.</a:t>
            </a:r>
            <a:endParaRPr lang="en-U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4</a:t>
            </a:fld>
            <a:endParaRPr lang="en-US"/>
          </a:p>
        </p:txBody>
      </p:sp>
    </p:spTree>
    <p:extLst>
      <p:ext uri="{BB962C8B-B14F-4D97-AF65-F5344CB8AC3E}">
        <p14:creationId xmlns:p14="http://schemas.microsoft.com/office/powerpoint/2010/main" val="1453795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 crucial comprender las implicaciones éticas y los límites legales al recopilar información de fuentes abiertas. Este contexto ayudará a la audiencia a apreciar el uso responsable de las técnicas OSINT para descubrir información sin vulnerar la privacidad ni los derechos legales.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5</a:t>
            </a:fld>
            <a:endParaRPr lang="en-US"/>
          </a:p>
        </p:txBody>
      </p:sp>
    </p:spTree>
    <p:extLst>
      <p:ext uri="{BB962C8B-B14F-4D97-AF65-F5344CB8AC3E}">
        <p14:creationId xmlns:p14="http://schemas.microsoft.com/office/powerpoint/2010/main" val="740699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define la inteligencia de fuentes abiertas, destacando su papel en la recopilación de información útil de fuentes públicas. Destaca diversas plataformas para la recopilación de información, como sitios web gubernamentales y redes sociales. Comprender estas fuentes es fundamental para que el público comprenda cómo se puede utilizar OSINT eficazmente en situaciones reales.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8</a:t>
            </a:fld>
            <a:endParaRPr lang="en-US"/>
          </a:p>
        </p:txBody>
      </p:sp>
    </p:spTree>
    <p:extLst>
      <p:ext uri="{BB962C8B-B14F-4D97-AF65-F5344CB8AC3E}">
        <p14:creationId xmlns:p14="http://schemas.microsoft.com/office/powerpoint/2010/main" val="1005731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Aquí nos centramos en la participación del Primer Ministro en el escándalo. Esta diapositiva sirve de transición para analizar a individuos específicos y su papel en los acontecimientos. Al destacar al Primer Ministro, preparamos el terreno para una exploración más profunda de las conexiones e implicaciones de la información recopilada mediante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9</a:t>
            </a:fld>
            <a:endParaRPr lang="en-US"/>
          </a:p>
        </p:txBody>
      </p:sp>
    </p:spTree>
    <p:extLst>
      <p:ext uri="{BB962C8B-B14F-4D97-AF65-F5344CB8AC3E}">
        <p14:creationId xmlns:p14="http://schemas.microsoft.com/office/powerpoint/2010/main" val="1695372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presenta el Portal del Gobierno, un recurso clave para recopilar información sobre funcionarios gubernamentales y sus actividades. Destaca la importancia de examinar administraciones y funcionarios anteriores, lo cual puede proporcionar el contexto y los antecedentes necesarios para comprender la situación actual. Este enfoque subraya el valor de los datos históricos en las investigaciones de OSINT.</a:t>
            </a:r>
            <a:endParaRPr lang="en-BS" dirty="0"/>
          </a:p>
        </p:txBody>
      </p:sp>
      <p:sp>
        <p:nvSpPr>
          <p:cNvPr id="4" name="Slide Number Placeholder 3"/>
          <p:cNvSpPr>
            <a:spLocks noGrp="1"/>
          </p:cNvSpPr>
          <p:nvPr>
            <p:ph type="sldNum" sz="quarter" idx="5"/>
          </p:nvPr>
        </p:nvSpPr>
        <p:spPr/>
        <p:txBody>
          <a:bodyPr/>
          <a:lstStyle/>
          <a:p>
            <a:fld id="{26117B31-01B5-445C-AEDA-E1B74E69A8E6}" type="slidenum">
              <a:rPr lang="en-US" smtClean="0"/>
              <a:t>11</a:t>
            </a:fld>
            <a:endParaRPr lang="en-US"/>
          </a:p>
        </p:txBody>
      </p:sp>
    </p:spTree>
    <p:extLst>
      <p:ext uri="{BB962C8B-B14F-4D97-AF65-F5344CB8AC3E}">
        <p14:creationId xmlns:p14="http://schemas.microsoft.com/office/powerpoint/2010/main" val="2876826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esta diapositiva, profundizamos en la trayectoria de Luís Montenegro, proporcionando información personal y profesional detallada. Estos datos son cruciales para comprender su influencia y sus conexiones en el panorama político. La pista anima al público a considerar cómo cada dato puede conducir a nuevas perspectivas, reforzando el carácter investigativo de la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12</a:t>
            </a:fld>
            <a:endParaRPr lang="en-US"/>
          </a:p>
        </p:txBody>
      </p:sp>
    </p:spTree>
    <p:extLst>
      <p:ext uri="{BB962C8B-B14F-4D97-AF65-F5344CB8AC3E}">
        <p14:creationId xmlns:p14="http://schemas.microsoft.com/office/powerpoint/2010/main" val="28643058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destaca el Portal de la Asamblea de la República, esencial para el seguimiento del registro de intereses entre los políticos. Comprender estos intereses puede revelar posibles conflictos y motivaciones detrás de las acciones políticas. Este recurso es vital para quienes buscan realizar investigaciones OSINT exhaustivas sobre funcionarios públicos.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13</a:t>
            </a:fld>
            <a:endParaRPr lang="en-US"/>
          </a:p>
        </p:txBody>
      </p:sp>
    </p:spTree>
    <p:extLst>
      <p:ext uri="{BB962C8B-B14F-4D97-AF65-F5344CB8AC3E}">
        <p14:creationId xmlns:p14="http://schemas.microsoft.com/office/powerpoint/2010/main" val="17265506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Siguiendo con el perfil de Luís Montenegro, esta diapositiva ofrece detalles adicionales sobre su trayectoria profesional y política. La exhaustividad de esta información permite al público ver las conexiones entre sus funciones y las implicaciones más amplias de sus acciones. Esta pista invita a una investigación más profunda de sus vínculos familiares y empresariales, lo cual puede ser crucial en el análisis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14</a:t>
            </a:fld>
            <a:endParaRPr lang="en-US"/>
          </a:p>
        </p:txBody>
      </p:sp>
    </p:spTree>
    <p:extLst>
      <p:ext uri="{BB962C8B-B14F-4D97-AF65-F5344CB8AC3E}">
        <p14:creationId xmlns:p14="http://schemas.microsoft.com/office/powerpoint/2010/main" val="7337564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presenta información del «Diário da República Eletrónico», una publicación clave para anuncios legales y gubernamentales. Sirve como recordatorio de la importancia de los registros oficiales en OSINT, ya que pueden proporcionar información verificada sobre personas y organizaciones involucradas en asuntos públicos. Este contexto es esencial para comprender la legitimidad de los datos analizados.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15</a:t>
            </a:fld>
            <a:endParaRPr lang="en-US"/>
          </a:p>
        </p:txBody>
      </p:sp>
    </p:spTree>
    <p:extLst>
      <p:ext uri="{BB962C8B-B14F-4D97-AF65-F5344CB8AC3E}">
        <p14:creationId xmlns:p14="http://schemas.microsoft.com/office/powerpoint/2010/main" val="38032750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Aquí enumeramos varias empresas asociadas con Luís Montenegro, enfatizando la importancia de las conexiones corporativas en las investigaciones de OSINT. Comprender las relaciones entre las personas y sus intereses comerciales puede revelar posibles conflictos de intereses y agendas ocultas. Esta pista anima al público a considerar cómo estas conexiones pueden conducir a nuevas investigaciones.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16</a:t>
            </a:fld>
            <a:endParaRPr lang="en-US"/>
          </a:p>
        </p:txBody>
      </p:sp>
    </p:spTree>
    <p:extLst>
      <p:ext uri="{BB962C8B-B14F-4D97-AF65-F5344CB8AC3E}">
        <p14:creationId xmlns:p14="http://schemas.microsoft.com/office/powerpoint/2010/main" val="21909439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se centra en el Ministerio de Justicia y su papel en la publicación de actos jurídicos corporativos. Destaca la importancia de la documentación legal en la OSINT, ya que estos registros pueden proporcionar información sobre las operaciones y afiliaciones de diversas entidades. Esta información es crucial para obtener una visión completa del panorama político y de sus integrantes.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17</a:t>
            </a:fld>
            <a:endParaRPr lang="en-US"/>
          </a:p>
        </p:txBody>
      </p:sp>
    </p:spTree>
    <p:extLst>
      <p:ext uri="{BB962C8B-B14F-4D97-AF65-F5344CB8AC3E}">
        <p14:creationId xmlns:p14="http://schemas.microsoft.com/office/powerpoint/2010/main" val="35298464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Siguiendo con el enfoque en SP&amp;M, esta diapositiva proporciona detalles específicos sobre el bufete de abogados asociado con Luís Montenegro. Comprender la estructura y la propiedad de estos bufetes puede revelar importantes conexiones e influencia en el ámbito legal y político. Este contexto es vital para que el público comprenda las implicaciones de estas relaciones en la investigación más amplia.</a:t>
            </a:r>
            <a:endParaRPr lang="en-BS" dirty="0"/>
          </a:p>
        </p:txBody>
      </p:sp>
      <p:sp>
        <p:nvSpPr>
          <p:cNvPr id="4" name="Slide Number Placeholder 3"/>
          <p:cNvSpPr>
            <a:spLocks noGrp="1"/>
          </p:cNvSpPr>
          <p:nvPr>
            <p:ph type="sldNum" sz="quarter" idx="5"/>
          </p:nvPr>
        </p:nvSpPr>
        <p:spPr/>
        <p:txBody>
          <a:bodyPr/>
          <a:lstStyle/>
          <a:p>
            <a:fld id="{26117B31-01B5-445C-AEDA-E1B74E69A8E6}" type="slidenum">
              <a:rPr lang="en-US" smtClean="0"/>
              <a:t>18</a:t>
            </a:fld>
            <a:endParaRPr lang="en-US"/>
          </a:p>
        </p:txBody>
      </p:sp>
    </p:spTree>
    <p:extLst>
      <p:ext uri="{BB962C8B-B14F-4D97-AF65-F5344CB8AC3E}">
        <p14:creationId xmlns:p14="http://schemas.microsoft.com/office/powerpoint/2010/main" val="877503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reitera información personal clave sobre Luís Montenegro, incluyendo su estado civil y dirección. Estos detalles pueden ser significativos en OSINT, ya que pueden ayudar a descubrir conexiones o a comprender mejor la vida de un individuo. La pista enfatiza la singularidad de la dirección, lo que sugiere que podría ser un punto focal para una mayor investigación.</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19</a:t>
            </a:fld>
            <a:endParaRPr lang="en-US"/>
          </a:p>
        </p:txBody>
      </p:sp>
    </p:spTree>
    <p:extLst>
      <p:ext uri="{BB962C8B-B14F-4D97-AF65-F5344CB8AC3E}">
        <p14:creationId xmlns:p14="http://schemas.microsoft.com/office/powerpoint/2010/main" val="13774466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este artículo, repasamos el bufete de abogados SP&amp;M, brindando contexto adicional sobre sus operaciones y nombres anteriores. Esta información es esencial para comprender la historia del bufete y su posible influencia en asuntos políticos. Esta sugerencia anima al público a considerar las implicaciones de compartir domicilios entre empresas, lo que puede indicar conexiones más profundas.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20</a:t>
            </a:fld>
            <a:endParaRPr lang="en-US"/>
          </a:p>
        </p:txBody>
      </p:sp>
    </p:spTree>
    <p:extLst>
      <p:ext uri="{BB962C8B-B14F-4D97-AF65-F5344CB8AC3E}">
        <p14:creationId xmlns:p14="http://schemas.microsoft.com/office/powerpoint/2010/main" val="2687541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continúa explorando el bufete de abogados SP&amp;M, centrándose en sus socios y sus funciones. Al examinar a las personas involucradas, podemos comprender mejor la influencia y las conexiones del bufete en el panorama político. La sugerencia de usar herramientas de archivo como </a:t>
            </a:r>
            <a:r>
              <a:rPr lang="es-ES" dirty="0" err="1"/>
              <a:t>Wayback</a:t>
            </a:r>
            <a:r>
              <a:rPr lang="es-ES" dirty="0"/>
              <a:t> Machine sugiere un enfoque proactivo para descubrir datos históricos relevantes para la investigación.</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21</a:t>
            </a:fld>
            <a:endParaRPr lang="en-US"/>
          </a:p>
        </p:txBody>
      </p:sp>
    </p:spTree>
    <p:extLst>
      <p:ext uri="{BB962C8B-B14F-4D97-AF65-F5344CB8AC3E}">
        <p14:creationId xmlns:p14="http://schemas.microsoft.com/office/powerpoint/2010/main" val="1739679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Volviendo a Luís Montenegro, esta diapositiva ofrece una visión general de su trayectoria personal y profesional. La información detallada permite al público comprender su influencia y sus conexiones en el ámbito político. Esta pista fomenta un análisis exhaustivo de todos los datos disponibles, lo que refuerza el carácter investigativo de la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22</a:t>
            </a:fld>
            <a:endParaRPr lang="en-US"/>
          </a:p>
        </p:txBody>
      </p:sp>
    </p:spTree>
    <p:extLst>
      <p:ext uri="{BB962C8B-B14F-4D97-AF65-F5344CB8AC3E}">
        <p14:creationId xmlns:p14="http://schemas.microsoft.com/office/powerpoint/2010/main" val="3731472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presenta el "Portal BASE", un recurso crucial para acceder a información sobre contratos públicos. Comprender cómo navegar por estas bases de datos es esencial para realizar investigaciones OSINT eficaces. Este recurso puede proporcionar información sobre el gasto público y las relaciones entre funcionarios públicos y entidades privadas.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23</a:t>
            </a:fld>
            <a:endParaRPr lang="en-US"/>
          </a:p>
        </p:txBody>
      </p:sp>
    </p:spTree>
    <p:extLst>
      <p:ext uri="{BB962C8B-B14F-4D97-AF65-F5344CB8AC3E}">
        <p14:creationId xmlns:p14="http://schemas.microsoft.com/office/powerpoint/2010/main" val="22045924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Aquí presentamos un resumen de los contratos públicos asociados con diversas entidades, incluyendo sus valores monetarios. Estos datos son vitales para comprender las relaciones financieras entre el gobierno y las empresas privadas. El análisis de estos contratos pone de relieve la posibilidad de conflictos de intereses y la importancia de la transparencia en las relaciones públicas.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24</a:t>
            </a:fld>
            <a:endParaRPr lang="en-US"/>
          </a:p>
        </p:txBody>
      </p:sp>
    </p:spTree>
    <p:extLst>
      <p:ext uri="{BB962C8B-B14F-4D97-AF65-F5344CB8AC3E}">
        <p14:creationId xmlns:p14="http://schemas.microsoft.com/office/powerpoint/2010/main" val="1027345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se centra en Luimonteago, Lda., y proporciona información esencial sobre la empresa. Comprender las operaciones y afiliaciones de estas entidades es crucial para las investigaciones de OSINT, ya que pueden revelar conexiones con funcionarios públicos y sus intereses. Este contexto ayuda a la audiencia a comprender las implicaciones más amplias de las relaciones corporativas en los escándalos políticos.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25</a:t>
            </a:fld>
            <a:endParaRPr lang="en-US"/>
          </a:p>
        </p:txBody>
      </p:sp>
    </p:spTree>
    <p:extLst>
      <p:ext uri="{BB962C8B-B14F-4D97-AF65-F5344CB8AC3E}">
        <p14:creationId xmlns:p14="http://schemas.microsoft.com/office/powerpoint/2010/main" val="41914042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Siguiendo con </a:t>
            </a:r>
            <a:r>
              <a:rPr lang="es-ES" dirty="0" err="1"/>
              <a:t>Oliveiras</a:t>
            </a:r>
            <a:r>
              <a:rPr lang="es-ES" dirty="0"/>
              <a:t> Gold de Portugal, esta diapositiva proporciona detalles clave sobre la empresa. Al igual que en diapositivas anteriores, comprender las conexiones entre empresas y funcionarios públicos es esencial para descubrir posibles conflictos de intereses. Esta información refuerza la importancia de realizar investigaciones exhaustivas en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26</a:t>
            </a:fld>
            <a:endParaRPr lang="en-US"/>
          </a:p>
        </p:txBody>
      </p:sp>
    </p:spTree>
    <p:extLst>
      <p:ext uri="{BB962C8B-B14F-4D97-AF65-F5344CB8AC3E}">
        <p14:creationId xmlns:p14="http://schemas.microsoft.com/office/powerpoint/2010/main" val="24686308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hace referencia a Semanario </a:t>
            </a:r>
            <a:r>
              <a:rPr lang="es-ES" dirty="0" err="1"/>
              <a:t>Expresso</a:t>
            </a:r>
            <a:r>
              <a:rPr lang="es-ES" dirty="0"/>
              <a:t>, una publicación que puede aportar contexto o información adicional sobre la investigación en curso. El hecho de destacar las fuentes de los medios de comunicación enfatiza el papel del periodismo en el descubrimiento de escándalos públicos y la importancia de contrastar información de diversos medios en la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27</a:t>
            </a:fld>
            <a:endParaRPr lang="en-US"/>
          </a:p>
        </p:txBody>
      </p:sp>
    </p:spTree>
    <p:extLst>
      <p:ext uri="{BB962C8B-B14F-4D97-AF65-F5344CB8AC3E}">
        <p14:creationId xmlns:p14="http://schemas.microsoft.com/office/powerpoint/2010/main" val="2464619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C1878-7CDA-A0C0-1DBB-E31D2792F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4692E0-9EF1-85A2-1D9F-6195414F4E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DD3DF-6F27-70E3-6301-287374A453E7}"/>
              </a:ext>
            </a:extLst>
          </p:cNvPr>
          <p:cNvSpPr>
            <a:spLocks noGrp="1"/>
          </p:cNvSpPr>
          <p:nvPr>
            <p:ph type="body" idx="1"/>
          </p:nvPr>
        </p:nvSpPr>
        <p:spPr/>
        <p:txBody>
          <a:bodyPr/>
          <a:lstStyle/>
          <a:p>
            <a:pPr>
              <a:buNone/>
            </a:pPr>
            <a:r>
              <a:rPr lang="es-ES" dirty="0"/>
              <a:t>Aquí enumeramos varias empresas asociadas con Luís Montenegro, enfatizando la importancia de las conexiones corporativas en las investigaciones de OSINT. Comprender las relaciones entre las personas y sus intereses comerciales puede revelar posibles conflictos de intereses y agendas ocultas. Esta pista anima al público a considerar cómo estas conexiones pueden conducir a nuevas investigaciones.</a:t>
            </a:r>
            <a:endParaRPr lang="en-BS" dirty="0"/>
          </a:p>
        </p:txBody>
      </p:sp>
      <p:sp>
        <p:nvSpPr>
          <p:cNvPr id="4" name="Slide Number Placeholder 3">
            <a:extLst>
              <a:ext uri="{FF2B5EF4-FFF2-40B4-BE49-F238E27FC236}">
                <a16:creationId xmlns:a16="http://schemas.microsoft.com/office/drawing/2014/main" id="{FE8CBFF8-CAEB-5F4A-A9A1-2618DF58D437}"/>
              </a:ext>
            </a:extLst>
          </p:cNvPr>
          <p:cNvSpPr>
            <a:spLocks noGrp="1"/>
          </p:cNvSpPr>
          <p:nvPr>
            <p:ph type="sldNum" sz="quarter" idx="5"/>
          </p:nvPr>
        </p:nvSpPr>
        <p:spPr/>
        <p:txBody>
          <a:bodyPr/>
          <a:lstStyle/>
          <a:p>
            <a:fld id="{26117B31-01B5-445C-AEDA-E1B74E69A8E6}" type="slidenum">
              <a:rPr lang="en-US" smtClean="0"/>
              <a:t>28</a:t>
            </a:fld>
            <a:endParaRPr lang="en-US"/>
          </a:p>
        </p:txBody>
      </p:sp>
    </p:spTree>
    <p:extLst>
      <p:ext uri="{BB962C8B-B14F-4D97-AF65-F5344CB8AC3E}">
        <p14:creationId xmlns:p14="http://schemas.microsoft.com/office/powerpoint/2010/main" val="15797562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se centra en </a:t>
            </a:r>
            <a:r>
              <a:rPr lang="es-ES" dirty="0" err="1"/>
              <a:t>Spinumviva</a:t>
            </a:r>
            <a:r>
              <a:rPr lang="es-ES" dirty="0"/>
              <a:t>, Lda., y proporciona información esencial sobre la empresa. Al igual que en diapositivas anteriores, comprender las operaciones y afiliaciones de estas entidades es crucial para las investigaciones de OSINT, ya que pueden revelar conexiones con funcionarios públicos y sus intereses. Este contexto ayuda al público a comprender las implicaciones más amplias de las relaciones corporativas en los escándalos políticos.</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29</a:t>
            </a:fld>
            <a:endParaRPr lang="en-US"/>
          </a:p>
        </p:txBody>
      </p:sp>
    </p:spTree>
    <p:extLst>
      <p:ext uri="{BB962C8B-B14F-4D97-AF65-F5344CB8AC3E}">
        <p14:creationId xmlns:p14="http://schemas.microsoft.com/office/powerpoint/2010/main" val="31651798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DA41E-2F10-311D-68BB-0B40C5B0B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96400-1AE8-27EA-8370-DF0C1081C9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F2E6B9-7B3A-6314-E70C-3221C0828C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Volviendo a Luís Montenegro, esta diapositiva ofrece una visión general de su trayectoria personal y profesional. La información detallada permite al público comprender su influencia y sus conexiones en el ámbito político. Esta pista fomenta un análisis exhaustivo de todos los datos disponibles, lo que refuerza el carácter investigativo de la OSINT.</a:t>
            </a:r>
            <a:endParaRPr lang="en-BS" dirty="0"/>
          </a:p>
          <a:p>
            <a:endParaRPr lang="en-US" dirty="0"/>
          </a:p>
        </p:txBody>
      </p:sp>
      <p:sp>
        <p:nvSpPr>
          <p:cNvPr id="4" name="Slide Number Placeholder 3">
            <a:extLst>
              <a:ext uri="{FF2B5EF4-FFF2-40B4-BE49-F238E27FC236}">
                <a16:creationId xmlns:a16="http://schemas.microsoft.com/office/drawing/2014/main" id="{7B0379DC-8077-20B2-0663-A10DB20FD359}"/>
              </a:ext>
            </a:extLst>
          </p:cNvPr>
          <p:cNvSpPr>
            <a:spLocks noGrp="1"/>
          </p:cNvSpPr>
          <p:nvPr>
            <p:ph type="sldNum" sz="quarter" idx="5"/>
          </p:nvPr>
        </p:nvSpPr>
        <p:spPr/>
        <p:txBody>
          <a:bodyPr/>
          <a:lstStyle/>
          <a:p>
            <a:fld id="{26117B31-01B5-445C-AEDA-E1B74E69A8E6}" type="slidenum">
              <a:rPr lang="en-US" smtClean="0"/>
              <a:t>30</a:t>
            </a:fld>
            <a:endParaRPr lang="en-US"/>
          </a:p>
        </p:txBody>
      </p:sp>
    </p:spTree>
    <p:extLst>
      <p:ext uri="{BB962C8B-B14F-4D97-AF65-F5344CB8AC3E}">
        <p14:creationId xmlns:p14="http://schemas.microsoft.com/office/powerpoint/2010/main" val="23856808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este artículo, repasamos </a:t>
            </a:r>
            <a:r>
              <a:rPr lang="es-ES" dirty="0" err="1"/>
              <a:t>Spinumviva</a:t>
            </a:r>
            <a:r>
              <a:rPr lang="es-ES" dirty="0"/>
              <a:t> y resumimos detalles clave de la empresa. Esta diapositiva sirve como recordatorio de las diversas entidades involucradas y su posible influencia en asuntos políticos. Se anima a la audiencia a considerar cómo estas relaciones pueden dar lugar a nuevas investigaciones, reforzando así el carácter investigativo de la OSINT.</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31</a:t>
            </a:fld>
            <a:endParaRPr lang="en-US"/>
          </a:p>
        </p:txBody>
      </p:sp>
    </p:spTree>
    <p:extLst>
      <p:ext uri="{BB962C8B-B14F-4D97-AF65-F5344CB8AC3E}">
        <p14:creationId xmlns:p14="http://schemas.microsoft.com/office/powerpoint/2010/main" val="17965559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1E557-D78C-906C-DB3D-0718FE43F0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A6561E-F506-E0E6-A97C-F02C972389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30F976-2643-3F5B-FFDF-92F9EA312EE1}"/>
              </a:ext>
            </a:extLst>
          </p:cNvPr>
          <p:cNvSpPr>
            <a:spLocks noGrp="1"/>
          </p:cNvSpPr>
          <p:nvPr>
            <p:ph type="body" idx="1"/>
          </p:nvPr>
        </p:nvSpPr>
        <p:spPr/>
        <p:txBody>
          <a:bodyPr/>
          <a:lstStyle/>
          <a:p>
            <a:pPr>
              <a:buNone/>
            </a:pPr>
            <a:r>
              <a:rPr lang="es-ES" dirty="0"/>
              <a:t>Esta diapositiva ofrece una visión general de la trayectoria personal y profesional de Luís Montenegro, incluyendo su información de contacto. Comprender sus conexiones e influencia es crucial para que el público comprenda las implicaciones más amplias de la investigación. La sugerencia anima al público a considerar cómo la automatización puede agilizar el proceso de recopilación y análisis de información.</a:t>
            </a:r>
            <a:endParaRPr lang="en-BS" dirty="0"/>
          </a:p>
        </p:txBody>
      </p:sp>
      <p:sp>
        <p:nvSpPr>
          <p:cNvPr id="4" name="Slide Number Placeholder 3">
            <a:extLst>
              <a:ext uri="{FF2B5EF4-FFF2-40B4-BE49-F238E27FC236}">
                <a16:creationId xmlns:a16="http://schemas.microsoft.com/office/drawing/2014/main" id="{68515ED5-AFA4-12CE-4E8B-58995EA5D90F}"/>
              </a:ext>
            </a:extLst>
          </p:cNvPr>
          <p:cNvSpPr>
            <a:spLocks noGrp="1"/>
          </p:cNvSpPr>
          <p:nvPr>
            <p:ph type="sldNum" sz="quarter" idx="5"/>
          </p:nvPr>
        </p:nvSpPr>
        <p:spPr/>
        <p:txBody>
          <a:bodyPr/>
          <a:lstStyle/>
          <a:p>
            <a:fld id="{26117B31-01B5-445C-AEDA-E1B74E69A8E6}" type="slidenum">
              <a:rPr lang="en-US" smtClean="0"/>
              <a:t>32</a:t>
            </a:fld>
            <a:endParaRPr lang="en-US"/>
          </a:p>
        </p:txBody>
      </p:sp>
    </p:spTree>
    <p:extLst>
      <p:ext uri="{BB962C8B-B14F-4D97-AF65-F5344CB8AC3E}">
        <p14:creationId xmlns:p14="http://schemas.microsoft.com/office/powerpoint/2010/main" val="26915109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continúa detallando </a:t>
            </a:r>
            <a:r>
              <a:rPr lang="es-ES" dirty="0" err="1"/>
              <a:t>Spinumviva</a:t>
            </a:r>
            <a:r>
              <a:rPr lang="es-ES" dirty="0"/>
              <a:t>, proporcionando contexto adicional sobre sus operaciones. La cronología de los acontecimientos refuerza la importancia de comprender la historia de la empresa y su posible influencia en asuntos políticos. Esta información es crucial para construir un panorama completo de las relaciones en juego en la investigación.</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34</a:t>
            </a:fld>
            <a:endParaRPr lang="en-US"/>
          </a:p>
        </p:txBody>
      </p:sp>
    </p:spTree>
    <p:extLst>
      <p:ext uri="{BB962C8B-B14F-4D97-AF65-F5344CB8AC3E}">
        <p14:creationId xmlns:p14="http://schemas.microsoft.com/office/powerpoint/2010/main" val="3110988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conclusión, esta diapositiva enfatiza el poder transformador de la OSINT para convertir datos públicos dispersos en inteligencia procesable. El estudio de caso sirve como recordatorio de la importancia de la transparencia y la rendición de cuentas tanto en el sector público como en el privado. Se anima a la audiencia a reflexionar sobre las implicaciones más amplias de la OSINT en el mundo actual, dominado por la información.</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35</a:t>
            </a:fld>
            <a:endParaRPr lang="en-US"/>
          </a:p>
        </p:txBody>
      </p:sp>
    </p:spTree>
    <p:extLst>
      <p:ext uri="{BB962C8B-B14F-4D97-AF65-F5344CB8AC3E}">
        <p14:creationId xmlns:p14="http://schemas.microsoft.com/office/powerpoint/2010/main" val="33776016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diapositiva presenta diversos portales y recursos esenciales para realizar investigaciones OSINT. Al proporcionar enlaces a bases de datos gubernamentales y públicas, el público cuenta con herramientas prácticas para profundizar su comprensión y aplicación de las técnicas OSINT. Esta capacidad de adaptación es clave para una recopilación de inteligencia eficaz.</a:t>
            </a:r>
            <a:endParaRPr lang="en-B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36</a:t>
            </a:fld>
            <a:endParaRPr lang="en-US"/>
          </a:p>
        </p:txBody>
      </p:sp>
    </p:spTree>
    <p:extLst>
      <p:ext uri="{BB962C8B-B14F-4D97-AF65-F5344CB8AC3E}">
        <p14:creationId xmlns:p14="http://schemas.microsoft.com/office/powerpoint/2010/main" val="34115913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s-ES" dirty="0"/>
              <a:t>Con la mirada puesta en el futuro, esta diapositiva describe el potencial de las bases de datos públicas, la automatización y el análisis de datos para mejorar las capacidades de OSINT. Al mapear a individuos clave y rastrear conexiones financieras, podemos mejorar la transparencia y la rendición de cuentas en el servicio público. Este enfoque innovador anima a la audiencia a considerar cómo la tecnología puede ayudar a descubrir verdades ocultas.</a:t>
            </a:r>
          </a:p>
          <a:p>
            <a:pPr>
              <a:buNone/>
            </a:pPr>
            <a:r>
              <a:rPr lang="es-ES" dirty="0"/>
              <a:t> ______</a:t>
            </a:r>
          </a:p>
          <a:p>
            <a:pPr>
              <a:buNone/>
            </a:pPr>
            <a:r>
              <a:rPr lang="es-ES" dirty="0"/>
              <a:t>Base de datos de empresas</a:t>
            </a:r>
          </a:p>
          <a:p>
            <a:pPr>
              <a:buNone/>
            </a:pPr>
            <a:r>
              <a:rPr lang="es-ES" dirty="0"/>
              <a:t>Múltiples fuentes</a:t>
            </a:r>
          </a:p>
          <a:p>
            <a:pPr>
              <a:buNone/>
            </a:pPr>
            <a:r>
              <a:rPr lang="es-ES" dirty="0"/>
              <a:t>Búsqueda por personas</a:t>
            </a:r>
          </a:p>
          <a:p>
            <a:pPr>
              <a:buNone/>
            </a:pPr>
            <a:r>
              <a:rPr lang="es-ES" dirty="0"/>
              <a:t>Visualización de redes</a:t>
            </a:r>
          </a:p>
          <a:p>
            <a:pPr>
              <a:buNone/>
            </a:pPr>
            <a:r>
              <a:rPr lang="es-ES" dirty="0"/>
              <a:t>Empresas</a:t>
            </a:r>
          </a:p>
          <a:p>
            <a:pPr>
              <a:buNone/>
            </a:pPr>
            <a:r>
              <a:rPr lang="es-ES" dirty="0"/>
              <a:t>Personas</a:t>
            </a:r>
            <a:endParaRPr lang="en-US" dirty="0"/>
          </a:p>
          <a:p>
            <a:endParaRPr lang="en-US" dirty="0"/>
          </a:p>
        </p:txBody>
      </p:sp>
      <p:sp>
        <p:nvSpPr>
          <p:cNvPr id="4" name="Slide Number Placeholder 3"/>
          <p:cNvSpPr>
            <a:spLocks noGrp="1"/>
          </p:cNvSpPr>
          <p:nvPr>
            <p:ph type="sldNum" sz="quarter" idx="5"/>
          </p:nvPr>
        </p:nvSpPr>
        <p:spPr/>
        <p:txBody>
          <a:bodyPr/>
          <a:lstStyle/>
          <a:p>
            <a:fld id="{26117B31-01B5-445C-AEDA-E1B74E69A8E6}" type="slidenum">
              <a:rPr lang="en-US" smtClean="0"/>
              <a:t>37</a:t>
            </a:fld>
            <a:endParaRPr lang="en-US"/>
          </a:p>
        </p:txBody>
      </p:sp>
    </p:spTree>
    <p:extLst>
      <p:ext uri="{BB962C8B-B14F-4D97-AF65-F5344CB8AC3E}">
        <p14:creationId xmlns:p14="http://schemas.microsoft.com/office/powerpoint/2010/main" val="3255587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2025-10-30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2025-10-30</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7.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sv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jp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8" Type="http://schemas.openxmlformats.org/officeDocument/2006/relationships/hyperlink" Target="https://www.linkedin.com/in/pedroaovieira/overlay/about-this-profile/" TargetMode="External"/><Relationship Id="rId3" Type="http://schemas.openxmlformats.org/officeDocument/2006/relationships/image" Target="../media/image11.jpg"/><Relationship Id="rId7"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3.png"/><Relationship Id="rId10" Type="http://schemas.openxmlformats.org/officeDocument/2006/relationships/image" Target="../media/image16.png"/><Relationship Id="rId4" Type="http://schemas.openxmlformats.org/officeDocument/2006/relationships/image" Target="../media/image2.svg"/><Relationship Id="rId9"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1.xml"/><Relationship Id="rId3" Type="http://schemas.openxmlformats.org/officeDocument/2006/relationships/image" Target="../media/image1.png"/><Relationship Id="rId7" Type="http://schemas.openxmlformats.org/officeDocument/2006/relationships/image" Target="../media/image8.png"/><Relationship Id="rId12" Type="http://schemas.microsoft.com/office/2007/relationships/diagramDrawing" Target="../diagrams/drawing1.xml"/><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diagramColors" Target="../diagrams/colors1.xml"/><Relationship Id="rId5" Type="http://schemas.openxmlformats.org/officeDocument/2006/relationships/image" Target="../media/image6.png"/><Relationship Id="rId10" Type="http://schemas.openxmlformats.org/officeDocument/2006/relationships/diagramQuickStyle" Target="../diagrams/quickStyle1.xml"/><Relationship Id="rId4" Type="http://schemas.openxmlformats.org/officeDocument/2006/relationships/image" Target="../media/image2.svg"/><Relationship Id="rId9"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8.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png"/><Relationship Id="rId7" Type="http://schemas.openxmlformats.org/officeDocument/2006/relationships/image" Target="../media/image2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8.png"/><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hyperlink" Target="https://www.portugal.gov.pt/pt/gc24/primeiro-ministro"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10"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hyperlink" Target="https://www.portugal.gov.p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5.png"/><Relationship Id="rId7" Type="http://schemas.openxmlformats.org/officeDocument/2006/relationships/hyperlink" Target="https://www.parlamento.pt/"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10" Type="http://schemas.openxmlformats.org/officeDocument/2006/relationships/image" Target="../media/image28.png"/><Relationship Id="rId4" Type="http://schemas.openxmlformats.org/officeDocument/2006/relationships/image" Target="../media/image1.png"/><Relationship Id="rId9" Type="http://schemas.openxmlformats.org/officeDocument/2006/relationships/hyperlink" Target="https://www.parlamento.pt/DeputadoGP/Paginas/Biografia.aspx?BID=1561"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hyperlink" Target="https://diariodarepublica.pt/"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5.png"/><Relationship Id="rId7"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2.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5.png"/><Relationship Id="rId7" Type="http://schemas.openxmlformats.org/officeDocument/2006/relationships/hyperlink" Target="https://publicacoes.mj.pt/Pesquisa.aspx"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hyperlink" Target="https://www.einforma.pt/servlet/app/portal/ENTP/prod/ETIQUETA_EMPRESA_MARCA/nif/510445020/marca/SP&amp;M%20ADVOGADOS/"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8" Type="http://schemas.openxmlformats.org/officeDocument/2006/relationships/hyperlink" Target="https://web.archive.org/web/20190616061745/https:/spm-advogados.com/socios/" TargetMode="External"/><Relationship Id="rId3" Type="http://schemas.openxmlformats.org/officeDocument/2006/relationships/image" Target="../media/image5.png"/><Relationship Id="rId7" Type="http://schemas.openxmlformats.org/officeDocument/2006/relationships/hyperlink" Target="https://spm-advogados.com/"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hyperlink" Target="https://portal.oa.pt/advogados/pesquisa-de-advogados/?l=&amp;cg=&amp;ce=44944P&amp;n=&amp;lo=&amp;m=&amp;cp=&amp;op=&amp;o=0"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5.png"/><Relationship Id="rId7" Type="http://schemas.openxmlformats.org/officeDocument/2006/relationships/hyperlink" Target="https://www.base.gov.pt/" TargetMode="External"/><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10" Type="http://schemas.openxmlformats.org/officeDocument/2006/relationships/image" Target="../media/image34.png"/><Relationship Id="rId4" Type="http://schemas.openxmlformats.org/officeDocument/2006/relationships/image" Target="../media/image1.png"/><Relationship Id="rId9" Type="http://schemas.openxmlformats.org/officeDocument/2006/relationships/hyperlink" Target="https://www.base.gov.pt/Base4/pt/pesquisa/?type=contratos&amp;adjudicatariaid=521362"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5.png"/><Relationship Id="rId7" Type="http://schemas.openxmlformats.org/officeDocument/2006/relationships/hyperlink" Target="https://publicacoes.mj.pt/Pesquisa.aspx" TargetMode="Externa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 Id="rId9" Type="http://schemas.openxmlformats.org/officeDocument/2006/relationships/image" Target="../media/image37.png"/></Relationships>
</file>

<file path=ppt/slides/_rels/slide26.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38.png"/><Relationship Id="rId7"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32.png"/></Relationships>
</file>

<file path=ppt/slides/_rels/slide27.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5.png"/><Relationship Id="rId7" Type="http://schemas.openxmlformats.org/officeDocument/2006/relationships/hyperlink" Target="https://smmp.pt/author/smmp-sindicato-dos-magistrados-do-ministerio-pu-20/page/441/" TargetMode="External"/><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8" Type="http://schemas.openxmlformats.org/officeDocument/2006/relationships/hyperlink" Target="https://publicacoes.mj.pt/Pesquisa.aspx" TargetMode="External"/><Relationship Id="rId3" Type="http://schemas.openxmlformats.org/officeDocument/2006/relationships/image" Target="../media/image40.png"/><Relationship Id="rId7"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5.png"/><Relationship Id="rId7" Type="http://schemas.openxmlformats.org/officeDocument/2006/relationships/hyperlink" Target="https://www.iberinform.pt/empresa/24946732/spinumviva-lda" TargetMode="External"/><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hyperlink" Target="http://www.sicae.pt/Detalhe.aspx?NIPC=516195174" TargetMode="External"/><Relationship Id="rId5" Type="http://schemas.openxmlformats.org/officeDocument/2006/relationships/image" Target="../media/image8.png"/><Relationship Id="rId4" Type="http://schemas.openxmlformats.org/officeDocument/2006/relationships/image" Target="../media/image2.sv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2.sv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3" Type="http://schemas.openxmlformats.org/officeDocument/2006/relationships/hyperlink" Target="https://www.parlamento.pt/DeputadoGP/Paginas/Deputados_ef.aspx" TargetMode="External"/><Relationship Id="rId18" Type="http://schemas.openxmlformats.org/officeDocument/2006/relationships/hyperlink" Target="https://diariodarepublica.pt/dr/pesquisa" TargetMode="External"/><Relationship Id="rId26" Type="http://schemas.openxmlformats.org/officeDocument/2006/relationships/hyperlink" Target="https://www.citius.mj.pt/portal/execucoes/listapublicaexecucoes.aspx" TargetMode="External"/><Relationship Id="rId21" Type="http://schemas.openxmlformats.org/officeDocument/2006/relationships/hyperlink" Target="https://www.base.gov.pt/Base4/pt/pesquisa/?type=contratos&amp;texto=&amp;tipo=0&amp;tipocontrato=0&amp;cpv=&amp;aqinfo=&amp;adjudicante=&amp;adjudicataria=&amp;sel_price=price_c1&amp;desdeprecocontrato=&amp;ateprecocontrato=&amp;desdeprecoefectivo=&amp;ateprecoefectivo=&amp;desdeprazoexecucao=&amp;ateprazoexecucao=&amp;sel_date=date_c1&amp;desdedatacontrato=&amp;atedatacontrato=&amp;desdedatapublicacao=&amp;atedatapublicacao=&amp;desdedatafecho=&amp;atedatafecho=&amp;pais=0&amp;distrito=0&amp;concelho=0" TargetMode="External"/><Relationship Id="rId34" Type="http://schemas.openxmlformats.org/officeDocument/2006/relationships/image" Target="../media/image33.png"/><Relationship Id="rId7" Type="http://schemas.openxmlformats.org/officeDocument/2006/relationships/hyperlink" Target="https://www.portugal.gov.pt/pt/gc24/governo/composicao" TargetMode="External"/><Relationship Id="rId12" Type="http://schemas.openxmlformats.org/officeDocument/2006/relationships/hyperlink" Target="https://www.pai.pt/" TargetMode="External"/><Relationship Id="rId17" Type="http://schemas.openxmlformats.org/officeDocument/2006/relationships/hyperlink" Target="https://www.parlamento.pt/Cidadania/Paginas/DadosAbertos.aspx" TargetMode="External"/><Relationship Id="rId25" Type="http://schemas.openxmlformats.org/officeDocument/2006/relationships/hyperlink" Target="https://igf.gov.pt/subvencoes-publicas" TargetMode="External"/><Relationship Id="rId33" Type="http://schemas.openxmlformats.org/officeDocument/2006/relationships/image" Target="../media/image27.png"/><Relationship Id="rId38" Type="http://schemas.openxmlformats.org/officeDocument/2006/relationships/image" Target="../media/image29.png"/><Relationship Id="rId2" Type="http://schemas.openxmlformats.org/officeDocument/2006/relationships/notesSlide" Target="../notesSlides/notesSlide30.xml"/><Relationship Id="rId16" Type="http://schemas.openxmlformats.org/officeDocument/2006/relationships/hyperlink" Target="https://www.parlamento.pt/DeputadoGP/Paginas/RegistoInteresses.aspx?BID=2061" TargetMode="External"/><Relationship Id="rId20" Type="http://schemas.openxmlformats.org/officeDocument/2006/relationships/hyperlink" Target="https://www.base.gov.pt/" TargetMode="External"/><Relationship Id="rId29" Type="http://schemas.openxmlformats.org/officeDocument/2006/relationships/hyperlink" Target="https://static.portaldasfinancas.gov.pt/app/devedores_static/de-devedores.html" TargetMode="External"/><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hyperlink" Target="https://www.penhorado.pt/" TargetMode="External"/><Relationship Id="rId24" Type="http://schemas.openxmlformats.org/officeDocument/2006/relationships/hyperlink" Target="https://www.base.gov.pt/Base4/pt/estatisticas/indicadores-das-entidades-adjudicantes/" TargetMode="External"/><Relationship Id="rId32" Type="http://schemas.openxmlformats.org/officeDocument/2006/relationships/hyperlink" Target="https://www.parlamento.pt/" TargetMode="External"/><Relationship Id="rId37" Type="http://schemas.openxmlformats.org/officeDocument/2006/relationships/hyperlink" Target="https://diariodarepublica.pt/" TargetMode="External"/><Relationship Id="rId5" Type="http://schemas.openxmlformats.org/officeDocument/2006/relationships/image" Target="../media/image2.svg"/><Relationship Id="rId15" Type="http://schemas.openxmlformats.org/officeDocument/2006/relationships/hyperlink" Target="https://www.parlamento.pt/DeputadoGP/Paginas/XIIL_RegInteresses.aspx?BID=1561&amp;leg=XIII" TargetMode="External"/><Relationship Id="rId23" Type="http://schemas.openxmlformats.org/officeDocument/2006/relationships/hyperlink" Target="https://www.base.gov.pt/Base4/pt/pesquisa/?type=entidades&amp;texto=" TargetMode="External"/><Relationship Id="rId28" Type="http://schemas.openxmlformats.org/officeDocument/2006/relationships/hyperlink" Target="https://www.seg-social.pt/lista-de-devedores-na-seguranca-social" TargetMode="External"/><Relationship Id="rId36" Type="http://schemas.openxmlformats.org/officeDocument/2006/relationships/image" Target="../media/image32.png"/><Relationship Id="rId10" Type="http://schemas.openxmlformats.org/officeDocument/2006/relationships/hyperlink" Target="https://www.pesquisabenspenhorados.com/" TargetMode="External"/><Relationship Id="rId19" Type="http://schemas.openxmlformats.org/officeDocument/2006/relationships/hyperlink" Target="https://dre.tretas.org/" TargetMode="External"/><Relationship Id="rId31" Type="http://schemas.openxmlformats.org/officeDocument/2006/relationships/image" Target="../media/image26.png"/><Relationship Id="rId4" Type="http://schemas.openxmlformats.org/officeDocument/2006/relationships/image" Target="../media/image1.png"/><Relationship Id="rId9" Type="http://schemas.openxmlformats.org/officeDocument/2006/relationships/hyperlink" Target="https://publicacoes.mj.pt/Pesquisa.aspx" TargetMode="External"/><Relationship Id="rId14" Type="http://schemas.openxmlformats.org/officeDocument/2006/relationships/hyperlink" Target="https://www.parlamento.pt/DeputadoGP/Paginas/Biografia.aspx?BID=2061" TargetMode="External"/><Relationship Id="rId22" Type="http://schemas.openxmlformats.org/officeDocument/2006/relationships/hyperlink" Target="https://www.base.gov.pt/Base4/pt/pesquisa/?type=anuncios&amp;texto=&amp;numeroanuncio=&amp;emissora=&amp;desdedatapublicacao=&amp;atedatapublicacao=&amp;desdeprecobase=&amp;ateprecobase=&amp;tipoacto=0&amp;tipomodelo=0&amp;tipocontrato=0&amp;cpv=" TargetMode="External"/><Relationship Id="rId27" Type="http://schemas.openxmlformats.org/officeDocument/2006/relationships/hyperlink" Target="https://www.citius.mj.pt/portal/consultas/ConsultasVenda.aspx" TargetMode="External"/><Relationship Id="rId30" Type="http://schemas.openxmlformats.org/officeDocument/2006/relationships/hyperlink" Target="https://www.portugal.gov.pt/" TargetMode="External"/><Relationship Id="rId35" Type="http://schemas.openxmlformats.org/officeDocument/2006/relationships/hyperlink" Target="https://publicacoes.mj.pt/Index.aspx" TargetMode="External"/><Relationship Id="rId8" Type="http://schemas.openxmlformats.org/officeDocument/2006/relationships/hyperlink" Target="https://www.portugal.gov.pt/pt/gc24/primeiro-ministro" TargetMode="Externa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image" Target="../media/image5.png"/><Relationship Id="rId7" Type="http://schemas.openxmlformats.org/officeDocument/2006/relationships/image" Target="../media/image44.png"/><Relationship Id="rId12" Type="http://schemas.openxmlformats.org/officeDocument/2006/relationships/image" Target="../media/image49.sv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48.png"/><Relationship Id="rId5" Type="http://schemas.openxmlformats.org/officeDocument/2006/relationships/image" Target="../media/image2.svg"/><Relationship Id="rId10" Type="http://schemas.openxmlformats.org/officeDocument/2006/relationships/image" Target="../media/image47.svg"/><Relationship Id="rId4" Type="http://schemas.openxmlformats.org/officeDocument/2006/relationships/image" Target="../media/image1.png"/><Relationship Id="rId9" Type="http://schemas.openxmlformats.org/officeDocument/2006/relationships/image" Target="../media/image4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2.png"/><Relationship Id="rId2" Type="http://schemas.openxmlformats.org/officeDocument/2006/relationships/image" Target="../media/image50.png"/><Relationship Id="rId1" Type="http://schemas.openxmlformats.org/officeDocument/2006/relationships/slideLayout" Target="../slideLayouts/slideLayout7.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2" name="Group 2"/>
          <p:cNvGrpSpPr/>
          <p:nvPr/>
        </p:nvGrpSpPr>
        <p:grpSpPr>
          <a:xfrm rot="-2700000">
            <a:off x="12153563" y="8872468"/>
            <a:ext cx="5033794" cy="1114246"/>
            <a:chOff x="0" y="0"/>
            <a:chExt cx="31900754" cy="6379210"/>
          </a:xfrm>
        </p:grpSpPr>
        <p:sp>
          <p:nvSpPr>
            <p:cNvPr id="3" name="Freeform 3"/>
            <p:cNvSpPr/>
            <p:nvPr/>
          </p:nvSpPr>
          <p:spPr>
            <a:xfrm>
              <a:off x="0" y="0"/>
              <a:ext cx="31900754" cy="6379210"/>
            </a:xfrm>
            <a:custGeom>
              <a:avLst/>
              <a:gdLst/>
              <a:ahLst/>
              <a:cxnLst/>
              <a:rect l="l" t="t" r="r" b="b"/>
              <a:pathLst>
                <a:path w="31900754" h="6379210">
                  <a:moveTo>
                    <a:pt x="25204906" y="0"/>
                  </a:moveTo>
                  <a:lnTo>
                    <a:pt x="8024961" y="0"/>
                  </a:lnTo>
                  <a:lnTo>
                    <a:pt x="6736517" y="7620"/>
                  </a:lnTo>
                  <a:lnTo>
                    <a:pt x="0" y="6379210"/>
                  </a:lnTo>
                  <a:lnTo>
                    <a:pt x="25254845" y="6379210"/>
                  </a:lnTo>
                  <a:lnTo>
                    <a:pt x="31900754" y="0"/>
                  </a:lnTo>
                  <a:close/>
                </a:path>
              </a:pathLst>
            </a:custGeom>
            <a:gradFill rotWithShape="1">
              <a:gsLst>
                <a:gs pos="0">
                  <a:srgbClr val="000000">
                    <a:alpha val="100000"/>
                  </a:srgbClr>
                </a:gs>
                <a:gs pos="100000">
                  <a:srgbClr val="3533CD">
                    <a:alpha val="100000"/>
                  </a:srgbClr>
                </a:gs>
              </a:gsLst>
              <a:lin ang="0"/>
            </a:gradFill>
          </p:spPr>
          <p:txBody>
            <a:bodyPr/>
            <a:lstStyle/>
            <a:p>
              <a:endParaRPr lang="es-ES"/>
            </a:p>
          </p:txBody>
        </p:sp>
      </p:grpSp>
      <p:grpSp>
        <p:nvGrpSpPr>
          <p:cNvPr id="4" name="Group 4"/>
          <p:cNvGrpSpPr/>
          <p:nvPr/>
        </p:nvGrpSpPr>
        <p:grpSpPr>
          <a:xfrm rot="-2700000">
            <a:off x="14808726" y="8128577"/>
            <a:ext cx="4594082" cy="1114246"/>
            <a:chOff x="0" y="0"/>
            <a:chExt cx="26301750" cy="6379210"/>
          </a:xfrm>
        </p:grpSpPr>
        <p:sp>
          <p:nvSpPr>
            <p:cNvPr id="5" name="Freeform 5"/>
            <p:cNvSpPr/>
            <p:nvPr/>
          </p:nvSpPr>
          <p:spPr>
            <a:xfrm>
              <a:off x="0" y="0"/>
              <a:ext cx="26301750" cy="6379210"/>
            </a:xfrm>
            <a:custGeom>
              <a:avLst/>
              <a:gdLst/>
              <a:ahLst/>
              <a:cxnLst/>
              <a:rect l="l" t="t" r="r" b="b"/>
              <a:pathLst>
                <a:path w="26301750" h="6379210">
                  <a:moveTo>
                    <a:pt x="19619477" y="0"/>
                  </a:moveTo>
                  <a:lnTo>
                    <a:pt x="7607643" y="0"/>
                  </a:lnTo>
                  <a:lnTo>
                    <a:pt x="6706792" y="7620"/>
                  </a:lnTo>
                  <a:lnTo>
                    <a:pt x="0" y="6379210"/>
                  </a:lnTo>
                  <a:lnTo>
                    <a:pt x="19655841" y="6379210"/>
                  </a:lnTo>
                  <a:lnTo>
                    <a:pt x="26301750" y="0"/>
                  </a:lnTo>
                  <a:close/>
                </a:path>
              </a:pathLst>
            </a:custGeom>
            <a:gradFill rotWithShape="1">
              <a:gsLst>
                <a:gs pos="0">
                  <a:srgbClr val="FF3131">
                    <a:alpha val="100000"/>
                  </a:srgbClr>
                </a:gs>
                <a:gs pos="100000">
                  <a:srgbClr val="FF914D">
                    <a:alpha val="100000"/>
                  </a:srgbClr>
                </a:gs>
              </a:gsLst>
              <a:lin ang="0"/>
            </a:gradFill>
          </p:spPr>
          <p:txBody>
            <a:bodyPr/>
            <a:lstStyle/>
            <a:p>
              <a:endParaRPr lang="es-ES"/>
            </a:p>
          </p:txBody>
        </p:sp>
      </p:grpSp>
      <p:sp>
        <p:nvSpPr>
          <p:cNvPr id="7" name="Freeform 7"/>
          <p:cNvSpPr/>
          <p:nvPr/>
        </p:nvSpPr>
        <p:spPr>
          <a:xfrm rot="-5400000">
            <a:off x="1066368" y="7031288"/>
            <a:ext cx="2189344" cy="4322079"/>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2">
              <a:extLst>
                <a:ext uri="{96DAC541-7B7A-43D3-8B79-37D633B846F1}">
                  <asvg:svgBlip xmlns:asvg="http://schemas.microsoft.com/office/drawing/2016/SVG/main" r:embed="rId3"/>
                </a:ext>
              </a:extLst>
            </a:blip>
            <a:stretch>
              <a:fillRect l="-172122" t="-37844" b="1"/>
            </a:stretch>
          </a:blipFill>
        </p:spPr>
        <p:txBody>
          <a:bodyPr/>
          <a:lstStyle/>
          <a:p>
            <a:endParaRPr lang="es-ES"/>
          </a:p>
        </p:txBody>
      </p:sp>
      <p:sp>
        <p:nvSpPr>
          <p:cNvPr id="8" name="Freeform 8"/>
          <p:cNvSpPr/>
          <p:nvPr/>
        </p:nvSpPr>
        <p:spPr>
          <a:xfrm>
            <a:off x="0" y="-1794526"/>
            <a:ext cx="4622460" cy="13876052"/>
          </a:xfrm>
          <a:custGeom>
            <a:avLst/>
            <a:gdLst/>
            <a:ahLst/>
            <a:cxnLst/>
            <a:rect l="l" t="t" r="r" b="b"/>
            <a:pathLst>
              <a:path w="9244920" h="13876052">
                <a:moveTo>
                  <a:pt x="0" y="0"/>
                </a:moveTo>
                <a:lnTo>
                  <a:pt x="9244920" y="0"/>
                </a:lnTo>
                <a:lnTo>
                  <a:pt x="9244920" y="13876052"/>
                </a:lnTo>
                <a:lnTo>
                  <a:pt x="0" y="13876052"/>
                </a:lnTo>
                <a:lnTo>
                  <a:pt x="0" y="0"/>
                </a:lnTo>
                <a:close/>
              </a:path>
            </a:pathLst>
          </a:custGeom>
          <a:blipFill>
            <a:blip r:embed="rId4"/>
            <a:stretch>
              <a:fillRect l="-100000"/>
            </a:stretch>
          </a:blipFill>
        </p:spPr>
        <p:txBody>
          <a:bodyPr/>
          <a:lstStyle/>
          <a:p>
            <a:endParaRPr lang="es-ES"/>
          </a:p>
        </p:txBody>
      </p:sp>
      <p:sp>
        <p:nvSpPr>
          <p:cNvPr id="9" name="Freeform 9"/>
          <p:cNvSpPr/>
          <p:nvPr/>
        </p:nvSpPr>
        <p:spPr>
          <a:xfrm>
            <a:off x="2923790" y="1839205"/>
            <a:ext cx="14366500" cy="6608590"/>
          </a:xfrm>
          <a:custGeom>
            <a:avLst/>
            <a:gdLst/>
            <a:ahLst/>
            <a:cxnLst/>
            <a:rect l="l" t="t" r="r" b="b"/>
            <a:pathLst>
              <a:path w="14366500" h="6608590">
                <a:moveTo>
                  <a:pt x="0" y="0"/>
                </a:moveTo>
                <a:lnTo>
                  <a:pt x="14366500" y="0"/>
                </a:lnTo>
                <a:lnTo>
                  <a:pt x="14366500" y="6608590"/>
                </a:lnTo>
                <a:lnTo>
                  <a:pt x="0" y="6608590"/>
                </a:lnTo>
                <a:lnTo>
                  <a:pt x="0" y="0"/>
                </a:lnTo>
                <a:close/>
              </a:path>
            </a:pathLst>
          </a:custGeom>
          <a:blipFill>
            <a:blip r:embed="rId5"/>
            <a:stretch>
              <a:fillRect/>
            </a:stretch>
          </a:blipFill>
        </p:spPr>
        <p:txBody>
          <a:bodyPr/>
          <a:lstStyle/>
          <a:p>
            <a:endParaRPr lang="es-ES"/>
          </a:p>
        </p:txBody>
      </p:sp>
      <p:grpSp>
        <p:nvGrpSpPr>
          <p:cNvPr id="10" name="Group 10"/>
          <p:cNvGrpSpPr/>
          <p:nvPr/>
        </p:nvGrpSpPr>
        <p:grpSpPr>
          <a:xfrm>
            <a:off x="11676134" y="291438"/>
            <a:ext cx="6611866" cy="1476477"/>
            <a:chOff x="0" y="-93445"/>
            <a:chExt cx="8815822" cy="1968636"/>
          </a:xfrm>
        </p:grpSpPr>
        <p:sp>
          <p:nvSpPr>
            <p:cNvPr id="11" name="TextBox 11"/>
            <p:cNvSpPr txBox="1"/>
            <p:nvPr/>
          </p:nvSpPr>
          <p:spPr>
            <a:xfrm>
              <a:off x="0" y="661183"/>
              <a:ext cx="8815822" cy="1214008"/>
            </a:xfrm>
            <a:prstGeom prst="rect">
              <a:avLst/>
            </a:prstGeom>
          </p:spPr>
          <p:txBody>
            <a:bodyPr lIns="0" tIns="0" rIns="0" bIns="0" rtlCol="0" anchor="t">
              <a:spAutoFit/>
            </a:bodyPr>
            <a:lstStyle/>
            <a:p>
              <a:pPr marL="0" lvl="0" indent="0" algn="l">
                <a:lnSpc>
                  <a:spcPts val="7065"/>
                </a:lnSpc>
                <a:spcBef>
                  <a:spcPct val="0"/>
                </a:spcBef>
              </a:pPr>
              <a:r>
                <a:rPr lang="en-US" sz="5046" dirty="0">
                  <a:solidFill>
                    <a:srgbClr val="8FE3FD"/>
                  </a:solidFill>
                  <a:latin typeface="Pattanakarn Expanded"/>
                  <a:ea typeface="Pattanakarn Expanded"/>
                  <a:cs typeface="Pattanakarn Expanded"/>
                  <a:sym typeface="Pattanakarn Expanded"/>
                </a:rPr>
                <a:t>Alcalá de Henares</a:t>
              </a:r>
            </a:p>
          </p:txBody>
        </p:sp>
        <p:sp>
          <p:nvSpPr>
            <p:cNvPr id="12" name="TextBox 12"/>
            <p:cNvSpPr txBox="1"/>
            <p:nvPr/>
          </p:nvSpPr>
          <p:spPr>
            <a:xfrm>
              <a:off x="2063876" y="-93445"/>
              <a:ext cx="6751946" cy="889132"/>
            </a:xfrm>
            <a:prstGeom prst="rect">
              <a:avLst/>
            </a:prstGeom>
          </p:spPr>
          <p:txBody>
            <a:bodyPr wrap="square" lIns="0" tIns="0" rIns="0" bIns="0" rtlCol="0" anchor="t">
              <a:spAutoFit/>
            </a:bodyPr>
            <a:lstStyle/>
            <a:p>
              <a:pPr marL="0" lvl="0" indent="0" algn="l">
                <a:lnSpc>
                  <a:spcPts val="5225"/>
                </a:lnSpc>
                <a:spcBef>
                  <a:spcPct val="0"/>
                </a:spcBef>
              </a:pPr>
              <a:r>
                <a:rPr lang="en-US" sz="3732" dirty="0">
                  <a:solidFill>
                    <a:srgbClr val="FFFFFF"/>
                  </a:solidFill>
                  <a:latin typeface="Pattanakarn Expanded"/>
                  <a:ea typeface="Pattanakarn Expanded"/>
                  <a:cs typeface="Pattanakarn Expanded"/>
                  <a:sym typeface="Pattanakarn Expanded"/>
                </a:rPr>
                <a:t>NOVIEMBRE 2025</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FFD6DBDB-18B3-0C98-2C27-4E6C4A42D9B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6637D6A-9BED-77D3-8D92-15013F1F8AE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4E7B66D6-7F6C-7B9F-0A36-A743E21649C5}"/>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3F2A3069-60CE-60A5-08C9-4A759ABC03D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BE8F81E2-1C2E-DDD8-E94C-2F67A082ADF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21B4FB2-A588-3999-F22D-A357AAC49F7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4BB29CF-D586-B3EC-26BC-8FC79903E2B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sp>
        <p:nvSpPr>
          <p:cNvPr id="18" name="Freeform 4">
            <a:extLst>
              <a:ext uri="{FF2B5EF4-FFF2-40B4-BE49-F238E27FC236}">
                <a16:creationId xmlns:a16="http://schemas.microsoft.com/office/drawing/2014/main" id="{6523C064-5F0E-A487-8D8A-8BEA49CB67CF}"/>
              </a:ext>
            </a:extLst>
          </p:cNvPr>
          <p:cNvSpPr/>
          <p:nvPr/>
        </p:nvSpPr>
        <p:spPr>
          <a:xfrm>
            <a:off x="15452621" y="2989905"/>
            <a:ext cx="2551472" cy="3276600"/>
          </a:xfrm>
          <a:custGeom>
            <a:avLst/>
            <a:gdLst/>
            <a:ahLst/>
            <a:cxnLst/>
            <a:rect l="l" t="t" r="r" b="b"/>
            <a:pathLst>
              <a:path w="5610468" h="6246472">
                <a:moveTo>
                  <a:pt x="0" y="0"/>
                </a:moveTo>
                <a:lnTo>
                  <a:pt x="5610468" y="0"/>
                </a:lnTo>
                <a:lnTo>
                  <a:pt x="5610468" y="6246472"/>
                </a:lnTo>
                <a:lnTo>
                  <a:pt x="0" y="624647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s-ES" noProof="0" dirty="0"/>
          </a:p>
        </p:txBody>
      </p:sp>
      <p:pic>
        <p:nvPicPr>
          <p:cNvPr id="19" name="Picture 18">
            <a:extLst>
              <a:ext uri="{FF2B5EF4-FFF2-40B4-BE49-F238E27FC236}">
                <a16:creationId xmlns:a16="http://schemas.microsoft.com/office/drawing/2014/main" id="{A1E455B5-E22F-FD95-F45A-EEC741C2B0AA}"/>
              </a:ext>
            </a:extLst>
          </p:cNvPr>
          <p:cNvPicPr>
            <a:picLocks noChangeAspect="1"/>
          </p:cNvPicPr>
          <p:nvPr/>
        </p:nvPicPr>
        <p:blipFill>
          <a:blip r:embed="rId8"/>
          <a:stretch>
            <a:fillRect/>
          </a:stretch>
        </p:blipFill>
        <p:spPr>
          <a:xfrm>
            <a:off x="13441977" y="114300"/>
            <a:ext cx="1585903" cy="1006621"/>
          </a:xfrm>
          <a:prstGeom prst="rect">
            <a:avLst/>
          </a:prstGeom>
        </p:spPr>
      </p:pic>
      <p:sp>
        <p:nvSpPr>
          <p:cNvPr id="8" name="TextBox 7">
            <a:extLst>
              <a:ext uri="{FF2B5EF4-FFF2-40B4-BE49-F238E27FC236}">
                <a16:creationId xmlns:a16="http://schemas.microsoft.com/office/drawing/2014/main" id="{8AAB4DE8-02F6-CBC7-BCC9-E1EBEBBD66F0}"/>
              </a:ext>
            </a:extLst>
          </p:cNvPr>
          <p:cNvSpPr txBox="1"/>
          <p:nvPr/>
        </p:nvSpPr>
        <p:spPr>
          <a:xfrm>
            <a:off x="685799" y="2075455"/>
            <a:ext cx="14189177" cy="1828899"/>
          </a:xfrm>
          <a:prstGeom prst="rect">
            <a:avLst/>
          </a:prstGeom>
        </p:spPr>
        <p:txBody>
          <a:bodyPr wrap="square" lIns="0" tIns="0" rIns="0" bIns="0" rtlCol="0" anchor="t">
            <a:spAutoFit/>
          </a:bodyPr>
          <a:lstStyle/>
          <a:p>
            <a:pPr algn="l">
              <a:lnSpc>
                <a:spcPts val="16818"/>
              </a:lnSpc>
            </a:pPr>
            <a:r>
              <a:rPr lang="es-ES" sz="5400" b="1" noProof="0" dirty="0">
                <a:solidFill>
                  <a:srgbClr val="343434"/>
                </a:solidFill>
                <a:latin typeface="Cooper Hewitt Bold"/>
                <a:ea typeface="Cooper Hewitt Bold"/>
                <a:cs typeface="Cooper Hewitt Bold"/>
                <a:sym typeface="Cooper Hewitt Bold"/>
              </a:rPr>
              <a:t>Negocios Privados, Consecuencias Públicas</a:t>
            </a:r>
          </a:p>
        </p:txBody>
      </p:sp>
      <p:sp>
        <p:nvSpPr>
          <p:cNvPr id="10" name="TextBox 14">
            <a:extLst>
              <a:ext uri="{FF2B5EF4-FFF2-40B4-BE49-F238E27FC236}">
                <a16:creationId xmlns:a16="http://schemas.microsoft.com/office/drawing/2014/main" id="{F1B731C8-AC43-3864-EAE8-1D651F9AB7E4}"/>
              </a:ext>
            </a:extLst>
          </p:cNvPr>
          <p:cNvSpPr txBox="1"/>
          <p:nvPr/>
        </p:nvSpPr>
        <p:spPr>
          <a:xfrm>
            <a:off x="685798" y="7291213"/>
            <a:ext cx="14189178" cy="2143472"/>
          </a:xfrm>
          <a:prstGeom prst="rect">
            <a:avLst/>
          </a:prstGeom>
        </p:spPr>
        <p:txBody>
          <a:bodyPr wrap="square" lIns="0" tIns="0" rIns="0" bIns="0" rtlCol="0" anchor="t">
            <a:spAutoFit/>
          </a:bodyPr>
          <a:lstStyle/>
          <a:p>
            <a:pPr algn="just">
              <a:lnSpc>
                <a:spcPts val="2380"/>
              </a:lnSpc>
            </a:pPr>
            <a:r>
              <a:rPr lang="es-ES" b="1" noProof="0" dirty="0">
                <a:solidFill>
                  <a:srgbClr val="343434"/>
                </a:solidFill>
                <a:latin typeface="DM Sans"/>
                <a:ea typeface="DM Sans"/>
                <a:cs typeface="DM Sans"/>
                <a:sym typeface="DM Sans"/>
              </a:rPr>
              <a:t>Resumen</a:t>
            </a:r>
            <a:r>
              <a:rPr lang="es-ES" noProof="0" dirty="0">
                <a:solidFill>
                  <a:srgbClr val="343434"/>
                </a:solidFill>
                <a:latin typeface="DM Sans"/>
                <a:ea typeface="DM Sans"/>
                <a:cs typeface="DM Sans"/>
                <a:sym typeface="DM Sans"/>
              </a:rPr>
              <a:t>:</a:t>
            </a:r>
          </a:p>
          <a:p>
            <a:pPr algn="just">
              <a:lnSpc>
                <a:spcPts val="2380"/>
              </a:lnSpc>
            </a:pPr>
            <a:endParaRPr lang="es-ES" dirty="0">
              <a:solidFill>
                <a:srgbClr val="343434"/>
              </a:solidFill>
              <a:latin typeface="DM Sans"/>
              <a:ea typeface="DM Sans"/>
              <a:cs typeface="DM Sans"/>
              <a:sym typeface="DM Sans"/>
            </a:endParaRPr>
          </a:p>
          <a:p>
            <a:pPr algn="just">
              <a:lnSpc>
                <a:spcPts val="2380"/>
              </a:lnSpc>
            </a:pPr>
            <a:r>
              <a:rPr lang="es-ES" noProof="0" dirty="0">
                <a:solidFill>
                  <a:srgbClr val="343434"/>
                </a:solidFill>
                <a:latin typeface="DM Sans"/>
                <a:ea typeface="DM Sans"/>
                <a:cs typeface="DM Sans"/>
                <a:sym typeface="DM Sans"/>
              </a:rPr>
              <a:t>Esta charla describe una guía paso a paso para aprovechar la inteligencia de fuentes abiertas (OSINT) y descubrir la información pública que alimentó un escándalo que involucró a un primer ministro portugués y que finalmente condujo al colapso del gobierno.</a:t>
            </a:r>
          </a:p>
          <a:p>
            <a:pPr algn="just">
              <a:lnSpc>
                <a:spcPts val="2380"/>
              </a:lnSpc>
            </a:pPr>
            <a:endParaRPr lang="es-ES" noProof="0" dirty="0">
              <a:solidFill>
                <a:srgbClr val="343434"/>
              </a:solidFill>
              <a:latin typeface="DM Sans"/>
              <a:ea typeface="DM Sans"/>
              <a:cs typeface="DM Sans"/>
              <a:sym typeface="DM Sans"/>
            </a:endParaRPr>
          </a:p>
          <a:p>
            <a:pPr algn="just">
              <a:lnSpc>
                <a:spcPts val="2380"/>
              </a:lnSpc>
            </a:pPr>
            <a:r>
              <a:rPr lang="es-ES" noProof="0" dirty="0">
                <a:solidFill>
                  <a:srgbClr val="343434"/>
                </a:solidFill>
                <a:latin typeface="DM Sans"/>
                <a:ea typeface="DM Sans"/>
                <a:cs typeface="DM Sans"/>
                <a:sym typeface="DM Sans"/>
              </a:rPr>
              <a:t>Utilizando técnicas del mundo real, exploraremos cómo las transacciones comerciales privadas se convirtieron en una crisis pública, demostrando el poder de la OSINT para exponer conexiones ocultas.</a:t>
            </a:r>
          </a:p>
        </p:txBody>
      </p:sp>
      <p:sp>
        <p:nvSpPr>
          <p:cNvPr id="13" name="TextBox 12">
            <a:extLst>
              <a:ext uri="{FF2B5EF4-FFF2-40B4-BE49-F238E27FC236}">
                <a16:creationId xmlns:a16="http://schemas.microsoft.com/office/drawing/2014/main" id="{DBDF7011-5812-65D7-D41C-E419241CF913}"/>
              </a:ext>
            </a:extLst>
          </p:cNvPr>
          <p:cNvSpPr txBox="1"/>
          <p:nvPr/>
        </p:nvSpPr>
        <p:spPr>
          <a:xfrm>
            <a:off x="685798" y="4801738"/>
            <a:ext cx="14189178" cy="1231106"/>
          </a:xfrm>
          <a:prstGeom prst="rect">
            <a:avLst/>
          </a:prstGeom>
        </p:spPr>
        <p:txBody>
          <a:bodyPr wrap="square" lIns="0" tIns="0" rIns="0" bIns="0" rtlCol="0" anchor="t">
            <a:spAutoFit/>
          </a:bodyPr>
          <a:lstStyle/>
          <a:p>
            <a:pPr algn="l"/>
            <a:r>
              <a:rPr lang="es-ES" sz="4000" noProof="0" dirty="0">
                <a:solidFill>
                  <a:srgbClr val="343434"/>
                </a:solidFill>
                <a:latin typeface="Cooper Hewitt" panose="020B0604020202020204" charset="0"/>
                <a:ea typeface="Cooper Hewitt" panose="020B0604020202020204" charset="0"/>
                <a:cs typeface="Cooper Hewitt Bold"/>
                <a:sym typeface="Cooper Hewitt Bold"/>
              </a:rPr>
              <a:t>Cómo la Inteligencia de Fuentes Abiertas (OSINT) </a:t>
            </a:r>
          </a:p>
          <a:p>
            <a:pPr algn="l"/>
            <a:r>
              <a:rPr lang="es-ES" sz="4000" noProof="0" dirty="0">
                <a:solidFill>
                  <a:srgbClr val="343434"/>
                </a:solidFill>
                <a:latin typeface="Cooper Hewitt" panose="020B0604020202020204" charset="0"/>
                <a:ea typeface="Cooper Hewitt" panose="020B0604020202020204" charset="0"/>
                <a:cs typeface="Cooper Hewitt Bold"/>
                <a:sym typeface="Cooper Hewitt Bold"/>
              </a:rPr>
              <a:t>							derribó al Gobierno de Portugal</a:t>
            </a:r>
          </a:p>
        </p:txBody>
      </p:sp>
    </p:spTree>
    <p:extLst>
      <p:ext uri="{BB962C8B-B14F-4D97-AF65-F5344CB8AC3E}">
        <p14:creationId xmlns:p14="http://schemas.microsoft.com/office/powerpoint/2010/main" val="35323338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D61A2FC-2B9C-F411-E2C2-580593EF594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B34869-834A-BDFB-237E-0A5F1E3D58B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FED3E1F6-0170-56F6-C512-627032C1B253}"/>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FD178FF1-002C-4774-8EE7-89D056C13C3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09FCBC46-8E72-5928-85DC-8E54E0BEA82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2"/>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0D46BED-8BCB-36AC-FFC7-E0E88B2ED06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2A333D7-CAA7-FE88-0749-817F395C353F}"/>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D1189E29-00F9-0F37-B474-123CDE042A63}"/>
              </a:ext>
            </a:extLst>
          </p:cNvPr>
          <p:cNvPicPr>
            <a:picLocks noChangeAspect="1"/>
          </p:cNvPicPr>
          <p:nvPr/>
        </p:nvPicPr>
        <p:blipFill>
          <a:blip r:embed="rId5"/>
          <a:stretch>
            <a:fillRect/>
          </a:stretch>
        </p:blipFill>
        <p:spPr>
          <a:xfrm>
            <a:off x="13441977" y="114300"/>
            <a:ext cx="1585903" cy="1006621"/>
          </a:xfrm>
          <a:prstGeom prst="rect">
            <a:avLst/>
          </a:prstGeom>
        </p:spPr>
      </p:pic>
      <p:grpSp>
        <p:nvGrpSpPr>
          <p:cNvPr id="13" name="Group 12">
            <a:extLst>
              <a:ext uri="{FF2B5EF4-FFF2-40B4-BE49-F238E27FC236}">
                <a16:creationId xmlns:a16="http://schemas.microsoft.com/office/drawing/2014/main" id="{2604858C-3A4C-3878-735B-28475C30C194}"/>
              </a:ext>
            </a:extLst>
          </p:cNvPr>
          <p:cNvGrpSpPr/>
          <p:nvPr/>
        </p:nvGrpSpPr>
        <p:grpSpPr>
          <a:xfrm>
            <a:off x="2781299" y="1550603"/>
            <a:ext cx="9601200" cy="8035289"/>
            <a:chOff x="2998217" y="1333500"/>
            <a:chExt cx="9601200" cy="8035289"/>
          </a:xfrm>
        </p:grpSpPr>
        <p:pic>
          <p:nvPicPr>
            <p:cNvPr id="12" name="Picture 11">
              <a:extLst>
                <a:ext uri="{FF2B5EF4-FFF2-40B4-BE49-F238E27FC236}">
                  <a16:creationId xmlns:a16="http://schemas.microsoft.com/office/drawing/2014/main" id="{8AC93A90-0DED-6C33-6207-1B3679C4D026}"/>
                </a:ext>
              </a:extLst>
            </p:cNvPr>
            <p:cNvPicPr>
              <a:picLocks noChangeAspect="1"/>
            </p:cNvPicPr>
            <p:nvPr/>
          </p:nvPicPr>
          <p:blipFill>
            <a:blip r:embed="rId6"/>
            <a:stretch>
              <a:fillRect/>
            </a:stretch>
          </p:blipFill>
          <p:spPr>
            <a:xfrm>
              <a:off x="3088705" y="1333500"/>
              <a:ext cx="9420225" cy="7934325"/>
            </a:xfrm>
            <a:prstGeom prst="rect">
              <a:avLst/>
            </a:prstGeom>
          </p:spPr>
        </p:pic>
        <p:pic>
          <p:nvPicPr>
            <p:cNvPr id="10" name="Picture 9" descr="A group of people on a boat&#10;&#10;AI-generated content may be incorrect.">
              <a:extLst>
                <a:ext uri="{FF2B5EF4-FFF2-40B4-BE49-F238E27FC236}">
                  <a16:creationId xmlns:a16="http://schemas.microsoft.com/office/drawing/2014/main" id="{364CB218-6E2F-E771-ADBD-F13716F2E03A}"/>
                </a:ext>
              </a:extLst>
            </p:cNvPr>
            <p:cNvPicPr>
              <a:picLocks noChangeAspect="1"/>
            </p:cNvPicPr>
            <p:nvPr/>
          </p:nvPicPr>
          <p:blipFill>
            <a:blip r:embed="rId7" cstate="print">
              <a:extLst>
                <a:ext uri="{28A0092B-C50C-407E-A947-70E740481C1C}">
                  <a14:useLocalDpi xmlns:a14="http://schemas.microsoft.com/office/drawing/2010/main" val="0"/>
                </a:ext>
              </a:extLst>
            </a:blip>
            <a:srcRect l="4595" t="14339" r="4098" b="72907"/>
            <a:stretch>
              <a:fillRect/>
            </a:stretch>
          </p:blipFill>
          <p:spPr>
            <a:xfrm>
              <a:off x="2998217" y="8362949"/>
              <a:ext cx="9601200" cy="1005840"/>
            </a:xfrm>
            <a:prstGeom prst="rect">
              <a:avLst/>
            </a:prstGeom>
          </p:spPr>
        </p:pic>
      </p:grpSp>
    </p:spTree>
    <p:extLst>
      <p:ext uri="{BB962C8B-B14F-4D97-AF65-F5344CB8AC3E}">
        <p14:creationId xmlns:p14="http://schemas.microsoft.com/office/powerpoint/2010/main" val="4013542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2" name="Group 2"/>
          <p:cNvGrpSpPr/>
          <p:nvPr/>
        </p:nvGrpSpPr>
        <p:grpSpPr>
          <a:xfrm>
            <a:off x="13339904" y="3183802"/>
            <a:ext cx="3919396" cy="3919396"/>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19050" cap="sq">
              <a:gradFill>
                <a:gsLst>
                  <a:gs pos="0">
                    <a:srgbClr val="93FFFF">
                      <a:alpha val="100000"/>
                    </a:srgbClr>
                  </a:gs>
                  <a:gs pos="100000">
                    <a:srgbClr val="3995BC">
                      <a:alpha val="100000"/>
                    </a:srgbClr>
                  </a:gs>
                </a:gsLst>
                <a:lin ang="5400000"/>
              </a:gradFill>
              <a:prstDash val="solid"/>
              <a:miter/>
            </a:ln>
          </p:spPr>
          <p:txBody>
            <a:bodyPr/>
            <a:lstStyle/>
            <a:p>
              <a:endParaRPr lang="es-ES"/>
            </a:p>
          </p:txBody>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149"/>
                </a:lnSpc>
              </a:pPr>
              <a:endParaRPr/>
            </a:p>
          </p:txBody>
        </p:sp>
      </p:grpSp>
      <p:grpSp>
        <p:nvGrpSpPr>
          <p:cNvPr id="5" name="Group 5"/>
          <p:cNvGrpSpPr/>
          <p:nvPr/>
        </p:nvGrpSpPr>
        <p:grpSpPr>
          <a:xfrm>
            <a:off x="13510763" y="3354661"/>
            <a:ext cx="3577679" cy="3577679"/>
            <a:chOff x="0" y="0"/>
            <a:chExt cx="812800" cy="812800"/>
          </a:xfrm>
          <a:blipFill>
            <a:blip r:embed="rId3"/>
            <a:stretch>
              <a:fillRect/>
            </a:stretch>
          </a:blipFill>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a:stretch>
            </a:blipFill>
            <a:ln w="85725" cap="sq">
              <a:gradFill>
                <a:gsLst>
                  <a:gs pos="0">
                    <a:srgbClr val="93FFFF">
                      <a:alpha val="100000"/>
                    </a:srgbClr>
                  </a:gs>
                  <a:gs pos="100000">
                    <a:srgbClr val="3995BC">
                      <a:alpha val="100000"/>
                    </a:srgbClr>
                  </a:gs>
                </a:gsLst>
                <a:lin ang="5400000"/>
              </a:gradFill>
              <a:prstDash val="solid"/>
              <a:miter/>
            </a:ln>
          </p:spPr>
          <p:txBody>
            <a:bodyPr/>
            <a:lstStyle/>
            <a:p>
              <a:endParaRPr lang="es-ES" dirty="0"/>
            </a:p>
          </p:txBody>
        </p:sp>
      </p:grpSp>
      <p:grpSp>
        <p:nvGrpSpPr>
          <p:cNvPr id="7" name="Group 7"/>
          <p:cNvGrpSpPr/>
          <p:nvPr/>
        </p:nvGrpSpPr>
        <p:grpSpPr>
          <a:xfrm>
            <a:off x="0" y="-1"/>
            <a:ext cx="12255468" cy="10287001"/>
            <a:chOff x="0" y="0"/>
            <a:chExt cx="3227778" cy="3077761"/>
          </a:xfrm>
        </p:grpSpPr>
        <p:sp>
          <p:nvSpPr>
            <p:cNvPr id="8" name="Freeform 8"/>
            <p:cNvSpPr/>
            <p:nvPr/>
          </p:nvSpPr>
          <p:spPr>
            <a:xfrm>
              <a:off x="0" y="0"/>
              <a:ext cx="3227778" cy="3077761"/>
            </a:xfrm>
            <a:custGeom>
              <a:avLst/>
              <a:gdLst/>
              <a:ahLst/>
              <a:cxnLst/>
              <a:rect l="l" t="t" r="r" b="b"/>
              <a:pathLst>
                <a:path w="3227778" h="3077761">
                  <a:moveTo>
                    <a:pt x="32217" y="0"/>
                  </a:moveTo>
                  <a:lnTo>
                    <a:pt x="3195560" y="0"/>
                  </a:lnTo>
                  <a:cubicBezTo>
                    <a:pt x="3213353" y="0"/>
                    <a:pt x="3227778" y="14424"/>
                    <a:pt x="3227778" y="32217"/>
                  </a:cubicBezTo>
                  <a:lnTo>
                    <a:pt x="3227778" y="3045543"/>
                  </a:lnTo>
                  <a:cubicBezTo>
                    <a:pt x="3227778" y="3063336"/>
                    <a:pt x="3213353" y="3077761"/>
                    <a:pt x="3195560" y="3077761"/>
                  </a:cubicBezTo>
                  <a:lnTo>
                    <a:pt x="32217" y="3077761"/>
                  </a:lnTo>
                  <a:cubicBezTo>
                    <a:pt x="23673" y="3077761"/>
                    <a:pt x="15478" y="3074366"/>
                    <a:pt x="9436" y="3068324"/>
                  </a:cubicBezTo>
                  <a:cubicBezTo>
                    <a:pt x="3394" y="3062282"/>
                    <a:pt x="0" y="3054088"/>
                    <a:pt x="0" y="3045543"/>
                  </a:cubicBezTo>
                  <a:lnTo>
                    <a:pt x="0" y="32217"/>
                  </a:lnTo>
                  <a:cubicBezTo>
                    <a:pt x="0" y="14424"/>
                    <a:pt x="14424" y="0"/>
                    <a:pt x="32217" y="0"/>
                  </a:cubicBezTo>
                  <a:close/>
                </a:path>
              </a:pathLst>
            </a:custGeom>
            <a:solidFill>
              <a:srgbClr val="FFFFFF"/>
            </a:solidFill>
          </p:spPr>
          <p:txBody>
            <a:bodyPr/>
            <a:lstStyle/>
            <a:p>
              <a:endParaRPr lang="es-ES"/>
            </a:p>
          </p:txBody>
        </p:sp>
        <p:sp>
          <p:nvSpPr>
            <p:cNvPr id="9" name="TextBox 9"/>
            <p:cNvSpPr txBox="1"/>
            <p:nvPr/>
          </p:nvSpPr>
          <p:spPr>
            <a:xfrm>
              <a:off x="0" y="-47625"/>
              <a:ext cx="3227778" cy="3125386"/>
            </a:xfrm>
            <a:prstGeom prst="rect">
              <a:avLst/>
            </a:prstGeom>
          </p:spPr>
          <p:txBody>
            <a:bodyPr lIns="50800" tIns="50800" rIns="50800" bIns="50800" rtlCol="0" anchor="ctr"/>
            <a:lstStyle/>
            <a:p>
              <a:pPr algn="ctr">
                <a:lnSpc>
                  <a:spcPts val="3149"/>
                </a:lnSpc>
              </a:pPr>
              <a:endParaRPr/>
            </a:p>
          </p:txBody>
        </p:sp>
      </p:grpSp>
      <p:sp>
        <p:nvSpPr>
          <p:cNvPr id="10" name="Freeform 10"/>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5"/>
            <a:stretch>
              <a:fillRect t="-62101" b="-63881"/>
            </a:stretch>
          </a:blipFill>
        </p:spPr>
        <p:txBody>
          <a:bodyPr/>
          <a:lstStyle/>
          <a:p>
            <a:endParaRPr lang="es-ES"/>
          </a:p>
        </p:txBody>
      </p:sp>
      <p:sp>
        <p:nvSpPr>
          <p:cNvPr id="11" name="TextBox 11"/>
          <p:cNvSpPr txBox="1"/>
          <p:nvPr/>
        </p:nvSpPr>
        <p:spPr>
          <a:xfrm>
            <a:off x="12914070" y="7341705"/>
            <a:ext cx="5176100" cy="435119"/>
          </a:xfrm>
          <a:prstGeom prst="rect">
            <a:avLst/>
          </a:prstGeom>
        </p:spPr>
        <p:txBody>
          <a:bodyPr lIns="0" tIns="0" rIns="0" bIns="0" rtlCol="0" anchor="t">
            <a:spAutoFit/>
          </a:bodyPr>
          <a:lstStyle/>
          <a:p>
            <a:pPr marL="0" lvl="0" indent="0" algn="ctr">
              <a:lnSpc>
                <a:spcPts val="3456"/>
              </a:lnSpc>
            </a:pPr>
            <a:r>
              <a:rPr lang="en-US" sz="2560" spc="81" dirty="0">
                <a:solidFill>
                  <a:srgbClr val="FFFFFF"/>
                </a:solidFill>
                <a:latin typeface="Saira Light"/>
                <a:ea typeface="Saira Light"/>
                <a:cs typeface="Saira Light"/>
                <a:sym typeface="Saira Light"/>
              </a:rPr>
              <a:t>Pedro Vieira</a:t>
            </a:r>
          </a:p>
        </p:txBody>
      </p:sp>
      <p:sp>
        <p:nvSpPr>
          <p:cNvPr id="12" name="TextBox 12"/>
          <p:cNvSpPr txBox="1"/>
          <p:nvPr/>
        </p:nvSpPr>
        <p:spPr>
          <a:xfrm>
            <a:off x="652807" y="969984"/>
            <a:ext cx="9656408" cy="1282402"/>
          </a:xfrm>
          <a:prstGeom prst="rect">
            <a:avLst/>
          </a:prstGeom>
        </p:spPr>
        <p:txBody>
          <a:bodyPr lIns="0" tIns="0" rIns="0" bIns="0" rtlCol="0" anchor="t">
            <a:spAutoFit/>
          </a:bodyPr>
          <a:lstStyle/>
          <a:p>
            <a:pPr marL="0" lvl="0" indent="0" algn="l">
              <a:lnSpc>
                <a:spcPts val="10003"/>
              </a:lnSpc>
              <a:spcBef>
                <a:spcPct val="0"/>
              </a:spcBef>
            </a:pPr>
            <a:r>
              <a:rPr lang="en-US" sz="7145" dirty="0" err="1">
                <a:solidFill>
                  <a:srgbClr val="000000"/>
                </a:solidFill>
                <a:latin typeface="Pattanakarn Expanded"/>
                <a:ea typeface="Pattanakarn Expanded"/>
                <a:cs typeface="Pattanakarn Expanded"/>
                <a:sym typeface="Pattanakarn Expanded"/>
              </a:rPr>
              <a:t>Quién</a:t>
            </a:r>
            <a:r>
              <a:rPr lang="en-US" sz="7145" dirty="0">
                <a:solidFill>
                  <a:srgbClr val="000000"/>
                </a:solidFill>
                <a:latin typeface="Pattanakarn Expanded"/>
                <a:ea typeface="Pattanakarn Expanded"/>
                <a:cs typeface="Pattanakarn Expanded"/>
                <a:sym typeface="Pattanakarn Expanded"/>
              </a:rPr>
              <a:t> soy?</a:t>
            </a:r>
          </a:p>
        </p:txBody>
      </p:sp>
      <p:sp>
        <p:nvSpPr>
          <p:cNvPr id="13" name="Freeform 13"/>
          <p:cNvSpPr/>
          <p:nvPr/>
        </p:nvSpPr>
        <p:spPr>
          <a:xfrm rot="-5400000">
            <a:off x="13131620" y="809068"/>
            <a:ext cx="5957691" cy="4339553"/>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6">
              <a:extLst>
                <a:ext uri="{96DAC541-7B7A-43D3-8B79-37D633B846F1}">
                  <asvg:svgBlip xmlns:asvg="http://schemas.microsoft.com/office/drawing/2016/SVG/main" r:embed="rId7"/>
                </a:ext>
              </a:extLst>
            </a:blip>
            <a:stretch>
              <a:fillRect b="-37288"/>
            </a:stretch>
          </a:blipFill>
        </p:spPr>
        <p:txBody>
          <a:bodyPr/>
          <a:lstStyle/>
          <a:p>
            <a:endParaRPr lang="es-ES"/>
          </a:p>
        </p:txBody>
      </p:sp>
      <p:sp>
        <p:nvSpPr>
          <p:cNvPr id="14" name="Freeform 14"/>
          <p:cNvSpPr/>
          <p:nvPr/>
        </p:nvSpPr>
        <p:spPr>
          <a:xfrm rot="-5400000">
            <a:off x="14904517" y="6911274"/>
            <a:ext cx="1575349" cy="51761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6">
              <a:extLst>
                <a:ext uri="{96DAC541-7B7A-43D3-8B79-37D633B846F1}">
                  <asvg:svgBlip xmlns:asvg="http://schemas.microsoft.com/office/drawing/2016/SVG/main" r:embed="rId7"/>
                </a:ext>
              </a:extLst>
            </a:blip>
            <a:stretch>
              <a:fillRect l="-278182" b="-15100"/>
            </a:stretch>
          </a:blipFill>
        </p:spPr>
        <p:txBody>
          <a:bodyPr/>
          <a:lstStyle/>
          <a:p>
            <a:endParaRPr lang="es-ES"/>
          </a:p>
        </p:txBody>
      </p:sp>
      <p:sp>
        <p:nvSpPr>
          <p:cNvPr id="16" name="Content Placeholder 2">
            <a:extLst>
              <a:ext uri="{FF2B5EF4-FFF2-40B4-BE49-F238E27FC236}">
                <a16:creationId xmlns:a16="http://schemas.microsoft.com/office/drawing/2014/main" id="{7D5E0F37-975F-3B73-4713-6E0FB2D6069F}"/>
              </a:ext>
            </a:extLst>
          </p:cNvPr>
          <p:cNvSpPr txBox="1">
            <a:spLocks/>
          </p:cNvSpPr>
          <p:nvPr/>
        </p:nvSpPr>
        <p:spPr>
          <a:xfrm>
            <a:off x="1012654" y="2827337"/>
            <a:ext cx="10722146" cy="595788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4400" dirty="0"/>
              <a:t>👓 Pedro Vieira</a:t>
            </a:r>
            <a:endParaRPr lang="es-ES" sz="4400" dirty="0">
              <a:hlinkClick r:id="rId8">
                <a:extLst>
                  <a:ext uri="{A12FA001-AC4F-418D-AE19-62706E023703}">
                    <ahyp:hlinkClr xmlns:ahyp="http://schemas.microsoft.com/office/drawing/2018/hyperlinkcolor" val="tx"/>
                  </a:ext>
                </a:extLst>
              </a:hlinkClick>
            </a:endParaRPr>
          </a:p>
          <a:p>
            <a:pPr marL="0" indent="0">
              <a:buNone/>
            </a:pPr>
            <a:endParaRPr lang="es-ES" sz="4400" noProof="0" dirty="0"/>
          </a:p>
          <a:p>
            <a:pPr marL="0" indent="0">
              <a:buNone/>
            </a:pPr>
            <a:r>
              <a:rPr lang="es-ES" sz="4400" noProof="0" dirty="0"/>
              <a:t>🔐 Experto sénior en ciberseguridad</a:t>
            </a:r>
          </a:p>
          <a:p>
            <a:pPr marL="0" indent="0">
              <a:buNone/>
            </a:pPr>
            <a:r>
              <a:rPr lang="es-ES" sz="4400" noProof="0" dirty="0"/>
              <a:t>🐞 Gestión de vulnerabilidades</a:t>
            </a:r>
          </a:p>
          <a:p>
            <a:pPr marL="0" indent="0">
              <a:buNone/>
            </a:pPr>
            <a:r>
              <a:rPr lang="es-ES" sz="4400" noProof="0" dirty="0"/>
              <a:t>🔍 Pruebas de penetración</a:t>
            </a:r>
          </a:p>
          <a:p>
            <a:pPr marL="0" indent="0">
              <a:buNone/>
            </a:pPr>
            <a:r>
              <a:rPr lang="es-ES" sz="4400" noProof="0" dirty="0"/>
              <a:t>🕵️ Evangelista de OSINT</a:t>
            </a:r>
          </a:p>
          <a:p>
            <a:pPr marL="0" indent="0">
              <a:buNone/>
            </a:pPr>
            <a:r>
              <a:rPr lang="es-ES" sz="4400" noProof="0" dirty="0"/>
              <a:t>🎤 Orador y formador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C022F7D-EC80-2C53-ABE6-3DA82F5A6359}"/>
            </a:ext>
          </a:extLst>
        </p:cNvPr>
        <p:cNvGrpSpPr/>
        <p:nvPr/>
      </p:nvGrpSpPr>
      <p:grpSpPr>
        <a:xfrm>
          <a:off x="0" y="0"/>
          <a:ext cx="0" cy="0"/>
          <a:chOff x="0" y="0"/>
          <a:chExt cx="0" cy="0"/>
        </a:xfrm>
      </p:grpSpPr>
      <p:sp>
        <p:nvSpPr>
          <p:cNvPr id="6" name="Freeform 6">
            <a:extLst>
              <a:ext uri="{FF2B5EF4-FFF2-40B4-BE49-F238E27FC236}">
                <a16:creationId xmlns:a16="http://schemas.microsoft.com/office/drawing/2014/main" id="{0BD97CAC-7491-D422-BCA4-6A315EAA844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pic>
        <p:nvPicPr>
          <p:cNvPr id="9" name="Picture 8" descr="Cartoon of a person wearing a hat and a suit pointing&#10;&#10;AI-generated content may be incorrect.">
            <a:extLst>
              <a:ext uri="{FF2B5EF4-FFF2-40B4-BE49-F238E27FC236}">
                <a16:creationId xmlns:a16="http://schemas.microsoft.com/office/drawing/2014/main" id="{C3D36544-6793-47D2-90A7-E5ECE662E9F4}"/>
              </a:ext>
            </a:extLst>
          </p:cNvPr>
          <p:cNvPicPr>
            <a:picLocks noChangeAspect="1"/>
          </p:cNvPicPr>
          <p:nvPr/>
        </p:nvPicPr>
        <p:blipFill>
          <a:blip r:embed="rId5"/>
          <a:srcRect l="5324" r="12745"/>
          <a:stretch>
            <a:fillRect/>
          </a:stretch>
        </p:blipFill>
        <p:spPr>
          <a:xfrm>
            <a:off x="15206912" y="2989905"/>
            <a:ext cx="3037974" cy="3848101"/>
          </a:xfrm>
          <a:prstGeom prst="rect">
            <a:avLst/>
          </a:prstGeom>
        </p:spPr>
      </p:pic>
      <p:grpSp>
        <p:nvGrpSpPr>
          <p:cNvPr id="2" name="Group 2">
            <a:extLst>
              <a:ext uri="{FF2B5EF4-FFF2-40B4-BE49-F238E27FC236}">
                <a16:creationId xmlns:a16="http://schemas.microsoft.com/office/drawing/2014/main" id="{D5FA659E-2BE6-FD2D-2D17-E477BCAB0A5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C267E74-786B-B423-CFFA-74161A28369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22F4B8F-F1E9-9448-3460-BF3D5A2FEAF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167552ED-0989-8943-91F0-070D825F05E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6"/>
            <a:stretch>
              <a:fillRect t="-62101" b="-63881"/>
            </a:stretch>
          </a:blipFill>
        </p:spPr>
        <p:txBody>
          <a:bodyPr/>
          <a:lstStyle/>
          <a:p>
            <a:endParaRPr lang="es-ES"/>
          </a:p>
        </p:txBody>
      </p:sp>
      <p:sp>
        <p:nvSpPr>
          <p:cNvPr id="7" name="Freeform 7">
            <a:extLst>
              <a:ext uri="{FF2B5EF4-FFF2-40B4-BE49-F238E27FC236}">
                <a16:creationId xmlns:a16="http://schemas.microsoft.com/office/drawing/2014/main" id="{4347C994-F916-0A5C-706B-FD9FA63AB46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EAB9EC2-586C-1A0A-A9DA-FE5DC1BDDDFC}"/>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11" name="Title 1">
            <a:extLst>
              <a:ext uri="{FF2B5EF4-FFF2-40B4-BE49-F238E27FC236}">
                <a16:creationId xmlns:a16="http://schemas.microsoft.com/office/drawing/2014/main" id="{7E2B6711-C2FE-1B71-AD73-17CC5EE46D25}"/>
              </a:ext>
            </a:extLst>
          </p:cNvPr>
          <p:cNvSpPr txBox="1">
            <a:spLocks/>
          </p:cNvSpPr>
          <p:nvPr/>
        </p:nvSpPr>
        <p:spPr>
          <a:xfrm>
            <a:off x="685799" y="1635314"/>
            <a:ext cx="14189178"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Aviso Legal y Consideraciones Legales</a:t>
            </a:r>
          </a:p>
        </p:txBody>
      </p:sp>
      <p:grpSp>
        <p:nvGrpSpPr>
          <p:cNvPr id="23" name="Group 22">
            <a:extLst>
              <a:ext uri="{FF2B5EF4-FFF2-40B4-BE49-F238E27FC236}">
                <a16:creationId xmlns:a16="http://schemas.microsoft.com/office/drawing/2014/main" id="{EADFB151-F148-2918-9554-B71D7331EC37}"/>
              </a:ext>
            </a:extLst>
          </p:cNvPr>
          <p:cNvGrpSpPr/>
          <p:nvPr/>
        </p:nvGrpSpPr>
        <p:grpSpPr>
          <a:xfrm>
            <a:off x="1861350" y="2978844"/>
            <a:ext cx="11838075" cy="6448776"/>
            <a:chOff x="1649325" y="3065845"/>
            <a:chExt cx="11838075" cy="6448776"/>
          </a:xfrm>
        </p:grpSpPr>
        <p:sp>
          <p:nvSpPr>
            <p:cNvPr id="15" name="Rectangle: Rounded Corners 14">
              <a:extLst>
                <a:ext uri="{FF2B5EF4-FFF2-40B4-BE49-F238E27FC236}">
                  <a16:creationId xmlns:a16="http://schemas.microsoft.com/office/drawing/2014/main" id="{03994FD6-4ACB-E704-ACE5-DB8788F02F88}"/>
                </a:ext>
              </a:extLst>
            </p:cNvPr>
            <p:cNvSpPr/>
            <p:nvPr/>
          </p:nvSpPr>
          <p:spPr>
            <a:xfrm>
              <a:off x="1649327" y="3065845"/>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noProof="0" dirty="0">
                  <a:solidFill>
                    <a:schemeClr val="tx1"/>
                  </a:solidFill>
                </a:rPr>
                <a:t>Esta presentación es solo para fines educativos y de concienciación.</a:t>
              </a:r>
            </a:p>
            <a:p>
              <a:pPr lvl="4">
                <a:lnSpc>
                  <a:spcPct val="150000"/>
                </a:lnSpc>
              </a:pPr>
              <a:r>
                <a:rPr lang="es-ES" sz="2500" b="1" noProof="0" dirty="0">
                  <a:solidFill>
                    <a:schemeClr val="tx1"/>
                  </a:solidFill>
                </a:rPr>
                <a:t>No es una declaración política.</a:t>
              </a:r>
            </a:p>
          </p:txBody>
        </p:sp>
        <p:sp>
          <p:nvSpPr>
            <p:cNvPr id="16" name="Rectangle: Rounded Corners 15">
              <a:extLst>
                <a:ext uri="{FF2B5EF4-FFF2-40B4-BE49-F238E27FC236}">
                  <a16:creationId xmlns:a16="http://schemas.microsoft.com/office/drawing/2014/main" id="{C5026290-4141-0418-87CD-8E8E5A9692CF}"/>
                </a:ext>
              </a:extLst>
            </p:cNvPr>
            <p:cNvSpPr/>
            <p:nvPr/>
          </p:nvSpPr>
          <p:spPr>
            <a:xfrm>
              <a:off x="1649326" y="5405790"/>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dirty="0">
                  <a:solidFill>
                    <a:schemeClr val="tx1"/>
                  </a:solidFill>
                </a:rPr>
                <a:t>Los usuarios deben verificar la legalidad de las herramientas de OSINT en su país.</a:t>
              </a:r>
            </a:p>
          </p:txBody>
        </p:sp>
        <p:sp>
          <p:nvSpPr>
            <p:cNvPr id="17" name="Rectangle: Rounded Corners 16">
              <a:extLst>
                <a:ext uri="{FF2B5EF4-FFF2-40B4-BE49-F238E27FC236}">
                  <a16:creationId xmlns:a16="http://schemas.microsoft.com/office/drawing/2014/main" id="{B0D8EDF1-B05E-413E-985A-EDE10DFC0423}"/>
                </a:ext>
              </a:extLst>
            </p:cNvPr>
            <p:cNvSpPr/>
            <p:nvPr/>
          </p:nvSpPr>
          <p:spPr>
            <a:xfrm>
              <a:off x="1649325" y="7745735"/>
              <a:ext cx="11838073" cy="1768886"/>
            </a:xfrm>
            <a:prstGeom prst="roundRect">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4">
                <a:lnSpc>
                  <a:spcPct val="150000"/>
                </a:lnSpc>
              </a:pPr>
              <a:r>
                <a:rPr lang="es-ES" sz="2500" dirty="0">
                  <a:solidFill>
                    <a:schemeClr val="tx1"/>
                  </a:solidFill>
                </a:rPr>
                <a:t>Esta presentación no está relacionada con mi trabajo ni con mi empleador.</a:t>
              </a:r>
            </a:p>
          </p:txBody>
        </p:sp>
        <p:pic>
          <p:nvPicPr>
            <p:cNvPr id="20" name="Picture 19" descr="A black background with a black square&#10;&#10;Description automatically generated with medium confidence">
              <a:extLst>
                <a:ext uri="{FF2B5EF4-FFF2-40B4-BE49-F238E27FC236}">
                  <a16:creationId xmlns:a16="http://schemas.microsoft.com/office/drawing/2014/main" id="{1AA87224-0AF3-7D98-FECF-1B9C3863E3B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038411" y="5848424"/>
              <a:ext cx="799978" cy="799978"/>
            </a:xfrm>
            <a:prstGeom prst="rect">
              <a:avLst/>
            </a:prstGeom>
          </p:spPr>
        </p:pic>
        <p:pic>
          <p:nvPicPr>
            <p:cNvPr id="21" name="Picture 20">
              <a:extLst>
                <a:ext uri="{FF2B5EF4-FFF2-40B4-BE49-F238E27FC236}">
                  <a16:creationId xmlns:a16="http://schemas.microsoft.com/office/drawing/2014/main" id="{76183F83-42F1-B766-12CE-2DDEA8237F2B}"/>
                </a:ext>
              </a:extLst>
            </p:cNvPr>
            <p:cNvPicPr>
              <a:picLocks noChangeAspect="1"/>
            </p:cNvPicPr>
            <p:nvPr/>
          </p:nvPicPr>
          <p:blipFill>
            <a:blip r:embed="rId9"/>
            <a:stretch>
              <a:fillRect/>
            </a:stretch>
          </p:blipFill>
          <p:spPr>
            <a:xfrm>
              <a:off x="2038411" y="3550299"/>
              <a:ext cx="799978" cy="799978"/>
            </a:xfrm>
            <a:prstGeom prst="rect">
              <a:avLst/>
            </a:prstGeom>
          </p:spPr>
        </p:pic>
        <p:pic>
          <p:nvPicPr>
            <p:cNvPr id="22" name="Picture 21">
              <a:extLst>
                <a:ext uri="{FF2B5EF4-FFF2-40B4-BE49-F238E27FC236}">
                  <a16:creationId xmlns:a16="http://schemas.microsoft.com/office/drawing/2014/main" id="{B40989DE-890F-6BFB-25DF-B8D3B7B86D8A}"/>
                </a:ext>
              </a:extLst>
            </p:cNvPr>
            <p:cNvPicPr>
              <a:picLocks noChangeAspect="1"/>
            </p:cNvPicPr>
            <p:nvPr/>
          </p:nvPicPr>
          <p:blipFill>
            <a:blip r:embed="rId10"/>
            <a:stretch>
              <a:fillRect/>
            </a:stretch>
          </p:blipFill>
          <p:spPr>
            <a:xfrm>
              <a:off x="2038411" y="8188853"/>
              <a:ext cx="882650" cy="882650"/>
            </a:xfrm>
            <a:prstGeom prst="rect">
              <a:avLst/>
            </a:prstGeom>
          </p:spPr>
        </p:pic>
      </p:grpSp>
    </p:spTree>
    <p:extLst>
      <p:ext uri="{BB962C8B-B14F-4D97-AF65-F5344CB8AC3E}">
        <p14:creationId xmlns:p14="http://schemas.microsoft.com/office/powerpoint/2010/main" val="4178414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A82B6EE1-43A8-E501-56EA-4D1DEFC5101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1781C92-1740-CD32-C4F1-8EC97B5E937F}"/>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4B722E3-A41E-7225-6424-C3BE6BE0BE9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7B03F93B-3E56-F73A-9265-0FA0BD4C410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1AAC8B6C-1B0C-0C25-041C-30652052263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2"/>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2E801BD-1468-5601-82DA-C28F1580518D}"/>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F933DC5-22C4-DC4F-8C62-7C6EA3BF2F6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sp>
        <p:nvSpPr>
          <p:cNvPr id="18" name="Freeform 4">
            <a:extLst>
              <a:ext uri="{FF2B5EF4-FFF2-40B4-BE49-F238E27FC236}">
                <a16:creationId xmlns:a16="http://schemas.microsoft.com/office/drawing/2014/main" id="{3A1B3906-63A5-5013-7CAF-89492D526384}"/>
              </a:ext>
            </a:extLst>
          </p:cNvPr>
          <p:cNvSpPr/>
          <p:nvPr/>
        </p:nvSpPr>
        <p:spPr>
          <a:xfrm>
            <a:off x="15452621" y="2989905"/>
            <a:ext cx="2551472" cy="3276600"/>
          </a:xfrm>
          <a:custGeom>
            <a:avLst/>
            <a:gdLst/>
            <a:ahLst/>
            <a:cxnLst/>
            <a:rect l="l" t="t" r="r" b="b"/>
            <a:pathLst>
              <a:path w="5610468" h="6246472">
                <a:moveTo>
                  <a:pt x="0" y="0"/>
                </a:moveTo>
                <a:lnTo>
                  <a:pt x="5610468" y="0"/>
                </a:lnTo>
                <a:lnTo>
                  <a:pt x="5610468" y="6246472"/>
                </a:lnTo>
                <a:lnTo>
                  <a:pt x="0" y="624647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s-ES" noProof="0" dirty="0"/>
          </a:p>
        </p:txBody>
      </p:sp>
      <p:pic>
        <p:nvPicPr>
          <p:cNvPr id="19" name="Picture 18">
            <a:extLst>
              <a:ext uri="{FF2B5EF4-FFF2-40B4-BE49-F238E27FC236}">
                <a16:creationId xmlns:a16="http://schemas.microsoft.com/office/drawing/2014/main" id="{445F8343-C46C-A2B0-8A0B-4EF815FC1561}"/>
              </a:ext>
            </a:extLst>
          </p:cNvPr>
          <p:cNvPicPr>
            <a:picLocks noChangeAspect="1"/>
          </p:cNvPicPr>
          <p:nvPr/>
        </p:nvPicPr>
        <p:blipFill>
          <a:blip r:embed="rId7"/>
          <a:stretch>
            <a:fillRect/>
          </a:stretch>
        </p:blipFill>
        <p:spPr>
          <a:xfrm>
            <a:off x="13441977" y="114300"/>
            <a:ext cx="1585903" cy="1006621"/>
          </a:xfrm>
          <a:prstGeom prst="rect">
            <a:avLst/>
          </a:prstGeom>
        </p:spPr>
      </p:pic>
      <p:graphicFrame>
        <p:nvGraphicFramePr>
          <p:cNvPr id="8" name="Content Placeholder 5">
            <a:extLst>
              <a:ext uri="{FF2B5EF4-FFF2-40B4-BE49-F238E27FC236}">
                <a16:creationId xmlns:a16="http://schemas.microsoft.com/office/drawing/2014/main" id="{492C3FE8-70BD-5794-DBFD-94A5478AF3FC}"/>
              </a:ext>
            </a:extLst>
          </p:cNvPr>
          <p:cNvGraphicFramePr>
            <a:graphicFrameLocks noGrp="1"/>
          </p:cNvGraphicFramePr>
          <p:nvPr>
            <p:extLst>
              <p:ext uri="{D42A27DB-BD31-4B8C-83A1-F6EECF244321}">
                <p14:modId xmlns:p14="http://schemas.microsoft.com/office/powerpoint/2010/main" val="4147634497"/>
              </p:ext>
            </p:extLst>
          </p:nvPr>
        </p:nvGraphicFramePr>
        <p:xfrm>
          <a:off x="950912" y="2757342"/>
          <a:ext cx="13222288" cy="604375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911371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D543B97-CECB-DFB4-4189-C65637AE93B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61382E8-7A69-5B39-9A28-3EBA567464E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4779C18-0945-5AEA-0B34-18A433F21EA9}"/>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EB390B3-A1F2-557C-A368-984985B8CD9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CCE586B-0B21-0744-0840-EA906FB3785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2"/>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DC57211-86FF-4FBE-48A4-82C900BFAB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49E47B9C-2836-98C4-5D2F-F8B7F8B3D88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7A2915C-28A9-7C1B-F7DF-BCCBA864F479}"/>
              </a:ext>
            </a:extLst>
          </p:cNvPr>
          <p:cNvPicPr>
            <a:picLocks noChangeAspect="1"/>
          </p:cNvPicPr>
          <p:nvPr/>
        </p:nvPicPr>
        <p:blipFill>
          <a:blip r:embed="rId5"/>
          <a:stretch>
            <a:fillRect/>
          </a:stretch>
        </p:blipFill>
        <p:spPr>
          <a:xfrm>
            <a:off x="13441977" y="114300"/>
            <a:ext cx="1585903" cy="1006621"/>
          </a:xfrm>
          <a:prstGeom prst="rect">
            <a:avLst/>
          </a:prstGeom>
        </p:spPr>
      </p:pic>
      <p:sp>
        <p:nvSpPr>
          <p:cNvPr id="8" name="TextBox 7">
            <a:extLst>
              <a:ext uri="{FF2B5EF4-FFF2-40B4-BE49-F238E27FC236}">
                <a16:creationId xmlns:a16="http://schemas.microsoft.com/office/drawing/2014/main" id="{61F602DC-64BD-EC08-96C9-B5A6A9233D55}"/>
              </a:ext>
            </a:extLst>
          </p:cNvPr>
          <p:cNvSpPr txBox="1"/>
          <p:nvPr/>
        </p:nvSpPr>
        <p:spPr>
          <a:xfrm>
            <a:off x="1066800" y="4352841"/>
            <a:ext cx="12780947" cy="2105898"/>
          </a:xfrm>
          <a:prstGeom prst="rect">
            <a:avLst/>
          </a:prstGeom>
        </p:spPr>
        <p:txBody>
          <a:bodyPr wrap="square" lIns="0" tIns="0" rIns="0" bIns="0" rtlCol="0" anchor="t">
            <a:spAutoFit/>
          </a:bodyPr>
          <a:lstStyle/>
          <a:p>
            <a:pPr algn="l">
              <a:lnSpc>
                <a:spcPts val="16818"/>
              </a:lnSpc>
            </a:pPr>
            <a:r>
              <a:rPr lang="es-ES" sz="13800" b="1" noProof="0" dirty="0">
                <a:solidFill>
                  <a:srgbClr val="343434"/>
                </a:solidFill>
                <a:latin typeface="Cooper Hewitt Bold"/>
                <a:ea typeface="Cooper Hewitt Bold"/>
                <a:cs typeface="Cooper Hewitt Bold"/>
                <a:sym typeface="Cooper Hewitt Bold"/>
              </a:rPr>
              <a:t>OSINT</a:t>
            </a:r>
          </a:p>
        </p:txBody>
      </p:sp>
      <p:sp>
        <p:nvSpPr>
          <p:cNvPr id="9" name="Freeform 10">
            <a:extLst>
              <a:ext uri="{FF2B5EF4-FFF2-40B4-BE49-F238E27FC236}">
                <a16:creationId xmlns:a16="http://schemas.microsoft.com/office/drawing/2014/main" id="{E2CBBE1C-B971-E0EB-00B1-B0A9984638E0}"/>
              </a:ext>
            </a:extLst>
          </p:cNvPr>
          <p:cNvSpPr/>
          <p:nvPr/>
        </p:nvSpPr>
        <p:spPr>
          <a:xfrm>
            <a:off x="7459731" y="3287161"/>
            <a:ext cx="6899120" cy="4237257"/>
          </a:xfrm>
          <a:custGeom>
            <a:avLst/>
            <a:gdLst/>
            <a:ahLst/>
            <a:cxnLst/>
            <a:rect l="l" t="t" r="r" b="b"/>
            <a:pathLst>
              <a:path w="4202073" h="2521244">
                <a:moveTo>
                  <a:pt x="0" y="0"/>
                </a:moveTo>
                <a:lnTo>
                  <a:pt x="4202074" y="0"/>
                </a:lnTo>
                <a:lnTo>
                  <a:pt x="4202074" y="2521245"/>
                </a:lnTo>
                <a:lnTo>
                  <a:pt x="0" y="2521245"/>
                </a:lnTo>
                <a:lnTo>
                  <a:pt x="0" y="0"/>
                </a:lnTo>
                <a:close/>
              </a:path>
            </a:pathLst>
          </a:custGeom>
          <a:blipFill>
            <a:blip r:embed="rId6">
              <a:extLst>
                <a:ext uri="{96DAC541-7B7A-43D3-8B79-37D633B846F1}">
                  <asvg:svgBlip xmlns:asvg="http://schemas.microsoft.com/office/drawing/2016/SVG/main" r:embed="rId7"/>
                </a:ext>
              </a:extLst>
            </a:blip>
            <a:stretch>
              <a:fillRect/>
            </a:stretch>
          </a:blipFill>
          <a:ln cap="sq">
            <a:noFill/>
            <a:prstDash val="solid"/>
            <a:miter/>
          </a:ln>
        </p:spPr>
        <p:txBody>
          <a:bodyPr/>
          <a:lstStyle/>
          <a:p>
            <a:endParaRPr lang="es-ES" noProof="0" dirty="0"/>
          </a:p>
        </p:txBody>
      </p:sp>
    </p:spTree>
    <p:extLst>
      <p:ext uri="{BB962C8B-B14F-4D97-AF65-F5344CB8AC3E}">
        <p14:creationId xmlns:p14="http://schemas.microsoft.com/office/powerpoint/2010/main" val="3645088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4BFBB44-A541-CD5C-F6AE-99DC0BA8204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1F6F628-FE61-323A-9203-A1055F8E17E0}"/>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26E0D66F-D910-952E-2991-C4E6EF8A63B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4F574B78-0FED-1AC0-E342-909C4A7623A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33D3797-C0B3-1965-2C4F-1782EDDAC71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B683C34C-1807-FC2D-0AF2-F98D55EDEDB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FC957F5-99E3-53C8-DCF0-EB7EBC6376F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8546078-B707-82C1-63D8-FCD83609EDEB}"/>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F2264163-D7D0-66AC-319B-3F8D0B53291B}"/>
              </a:ext>
            </a:extLst>
          </p:cNvPr>
          <p:cNvSpPr txBox="1">
            <a:spLocks/>
          </p:cNvSpPr>
          <p:nvPr/>
        </p:nvSpPr>
        <p:spPr>
          <a:xfrm>
            <a:off x="860254" y="1638300"/>
            <a:ext cx="16513346"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OSINT</a:t>
            </a:r>
          </a:p>
        </p:txBody>
      </p:sp>
      <p:sp>
        <p:nvSpPr>
          <p:cNvPr id="9" name="Content Placeholder 2">
            <a:extLst>
              <a:ext uri="{FF2B5EF4-FFF2-40B4-BE49-F238E27FC236}">
                <a16:creationId xmlns:a16="http://schemas.microsoft.com/office/drawing/2014/main" id="{47D32F80-163B-2234-91F4-A80E388D80C3}"/>
              </a:ext>
            </a:extLst>
          </p:cNvPr>
          <p:cNvSpPr txBox="1">
            <a:spLocks/>
          </p:cNvSpPr>
          <p:nvPr/>
        </p:nvSpPr>
        <p:spPr>
          <a:xfrm>
            <a:off x="860254" y="2620962"/>
            <a:ext cx="1216994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La inteligencia de fuentes abiertas (OSINT) consiste en la recopilación y el análisis de datos obtenidos de fuentes abiertas (fuentes públicas y de acceso público) para generar inteligencia procesable. (Wikipedia)</a:t>
            </a:r>
          </a:p>
          <a:p>
            <a:pPr marL="0" indent="0">
              <a:buNone/>
            </a:pPr>
            <a:endParaRPr lang="es-ES" noProof="0" dirty="0"/>
          </a:p>
          <a:p>
            <a:pPr marL="0" indent="0">
              <a:buNone/>
            </a:pPr>
            <a:r>
              <a:rPr lang="es-ES" noProof="0" dirty="0"/>
              <a:t>Recopilación de información de:</a:t>
            </a:r>
          </a:p>
          <a:p>
            <a:r>
              <a:rPr lang="es-ES" noProof="0" dirty="0"/>
              <a:t>sitios web gubernamentales</a:t>
            </a:r>
          </a:p>
          <a:p>
            <a:r>
              <a:rPr lang="es-ES" noProof="0" dirty="0"/>
              <a:t>motores de búsqueda (Google, etc.)</a:t>
            </a:r>
          </a:p>
          <a:p>
            <a:r>
              <a:rPr lang="es-ES" noProof="0" dirty="0"/>
              <a:t>redes sociales (Facebook, etc.)</a:t>
            </a:r>
          </a:p>
          <a:p>
            <a:r>
              <a:rPr lang="es-ES" noProof="0" dirty="0"/>
              <a:t>Mapas</a:t>
            </a:r>
          </a:p>
          <a:p>
            <a:r>
              <a:rPr lang="es-ES" noProof="0" dirty="0"/>
              <a:t>…</a:t>
            </a:r>
          </a:p>
        </p:txBody>
      </p:sp>
      <p:sp>
        <p:nvSpPr>
          <p:cNvPr id="10" name="Freeform 4">
            <a:extLst>
              <a:ext uri="{FF2B5EF4-FFF2-40B4-BE49-F238E27FC236}">
                <a16:creationId xmlns:a16="http://schemas.microsoft.com/office/drawing/2014/main" id="{0006F77F-7A38-A3A0-AD80-E63A4BCE9BC3}"/>
              </a:ext>
            </a:extLst>
          </p:cNvPr>
          <p:cNvSpPr/>
          <p:nvPr/>
        </p:nvSpPr>
        <p:spPr>
          <a:xfrm>
            <a:off x="13424041" y="2508892"/>
            <a:ext cx="4132897" cy="6143495"/>
          </a:xfrm>
          <a:custGeom>
            <a:avLst/>
            <a:gdLst/>
            <a:ahLst/>
            <a:cxnLst/>
            <a:rect l="l" t="t" r="r" b="b"/>
            <a:pathLst>
              <a:path w="4132897" h="6143495">
                <a:moveTo>
                  <a:pt x="0" y="0"/>
                </a:moveTo>
                <a:lnTo>
                  <a:pt x="4132897" y="0"/>
                </a:lnTo>
                <a:lnTo>
                  <a:pt x="4132897" y="6143495"/>
                </a:lnTo>
                <a:lnTo>
                  <a:pt x="0" y="6143495"/>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1" name="Content Placeholder 2">
            <a:extLst>
              <a:ext uri="{FF2B5EF4-FFF2-40B4-BE49-F238E27FC236}">
                <a16:creationId xmlns:a16="http://schemas.microsoft.com/office/drawing/2014/main" id="{4E2931FB-6637-7A1A-5E8A-F4ACAF15A98F}"/>
              </a:ext>
            </a:extLst>
          </p:cNvPr>
          <p:cNvSpPr txBox="1">
            <a:spLocks/>
          </p:cNvSpPr>
          <p:nvPr/>
        </p:nvSpPr>
        <p:spPr>
          <a:xfrm>
            <a:off x="865170" y="8572500"/>
            <a:ext cx="15468600"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Y luego extraer/relacionar/inferir nueva información con mayor valor/potencial</a:t>
            </a:r>
          </a:p>
        </p:txBody>
      </p:sp>
    </p:spTree>
    <p:extLst>
      <p:ext uri="{BB962C8B-B14F-4D97-AF65-F5344CB8AC3E}">
        <p14:creationId xmlns:p14="http://schemas.microsoft.com/office/powerpoint/2010/main" val="3021354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84F718A3-936C-5D5A-E96B-F7D89316E9E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83DDDA-15AD-3A64-B46C-5C1A97455D5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52E600D-B645-87C0-EC2E-7968A83F8A7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B2DB8C2E-74CB-B5EA-F806-30F5CB4B352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F34513C-7131-EFC1-E0F4-E17C4AFFC4B7}"/>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E5F33809-F585-03B9-AFEE-6DCC8C3AD0F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9AE9F51-4B4B-D775-1B03-BEE690E430F2}"/>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E69EFF9-2DB7-4134-37A6-0313766C70D7}"/>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10" name="Group 9">
            <a:extLst>
              <a:ext uri="{FF2B5EF4-FFF2-40B4-BE49-F238E27FC236}">
                <a16:creationId xmlns:a16="http://schemas.microsoft.com/office/drawing/2014/main" id="{03AB2237-BC38-2939-5553-CAD176F4CEBC}"/>
              </a:ext>
            </a:extLst>
          </p:cNvPr>
          <p:cNvGrpSpPr/>
          <p:nvPr/>
        </p:nvGrpSpPr>
        <p:grpSpPr>
          <a:xfrm>
            <a:off x="689528" y="2571750"/>
            <a:ext cx="13784744" cy="5143500"/>
            <a:chOff x="1066801" y="2857500"/>
            <a:chExt cx="13784744" cy="5143500"/>
          </a:xfrm>
        </p:grpSpPr>
        <p:sp>
          <p:nvSpPr>
            <p:cNvPr id="8" name="TextBox 7">
              <a:extLst>
                <a:ext uri="{FF2B5EF4-FFF2-40B4-BE49-F238E27FC236}">
                  <a16:creationId xmlns:a16="http://schemas.microsoft.com/office/drawing/2014/main" id="{B52601FB-B8AC-C88A-FDE4-4444412EA058}"/>
                </a:ext>
              </a:extLst>
            </p:cNvPr>
            <p:cNvSpPr txBox="1"/>
            <p:nvPr/>
          </p:nvSpPr>
          <p:spPr>
            <a:xfrm>
              <a:off x="1066801" y="4352841"/>
              <a:ext cx="8477251" cy="1896096"/>
            </a:xfrm>
            <a:prstGeom prst="rect">
              <a:avLst/>
            </a:prstGeom>
          </p:spPr>
          <p:txBody>
            <a:bodyPr wrap="square" lIns="0" tIns="0" rIns="0" bIns="0" rtlCol="0" anchor="ctr">
              <a:spAutoFit/>
            </a:bodyPr>
            <a:lstStyle/>
            <a:p>
              <a:pPr algn="l">
                <a:lnSpc>
                  <a:spcPts val="16818"/>
                </a:lnSpc>
              </a:pPr>
              <a:r>
                <a:rPr lang="es-ES" sz="9600" b="1" noProof="0" dirty="0">
                  <a:solidFill>
                    <a:srgbClr val="343434"/>
                  </a:solidFill>
                  <a:latin typeface="Cooper Hewitt Bold"/>
                  <a:ea typeface="Cooper Hewitt Bold"/>
                  <a:cs typeface="Cooper Hewitt Bold"/>
                  <a:sym typeface="Cooper Hewitt Bold"/>
                </a:rPr>
                <a:t>Primer Ministro</a:t>
              </a:r>
            </a:p>
          </p:txBody>
        </p:sp>
        <p:pic>
          <p:nvPicPr>
            <p:cNvPr id="9" name="Picture 8" descr="Cartoon person in a suit and tie&#10;&#10;AI-generated content may be incorrect.">
              <a:extLst>
                <a:ext uri="{FF2B5EF4-FFF2-40B4-BE49-F238E27FC236}">
                  <a16:creationId xmlns:a16="http://schemas.microsoft.com/office/drawing/2014/main" id="{557A6358-9E7C-B702-0375-790215DC1472}"/>
                </a:ext>
              </a:extLst>
            </p:cNvPr>
            <p:cNvPicPr>
              <a:picLocks noChangeAspect="1"/>
            </p:cNvPicPr>
            <p:nvPr/>
          </p:nvPicPr>
          <p:blipFill>
            <a:blip r:embed="rId7"/>
            <a:stretch>
              <a:fillRect/>
            </a:stretch>
          </p:blipFill>
          <p:spPr>
            <a:xfrm>
              <a:off x="9708045" y="2857500"/>
              <a:ext cx="5143500" cy="5143500"/>
            </a:xfrm>
            <a:prstGeom prst="rect">
              <a:avLst/>
            </a:prstGeom>
          </p:spPr>
        </p:pic>
      </p:grpSp>
    </p:spTree>
    <p:extLst>
      <p:ext uri="{BB962C8B-B14F-4D97-AF65-F5344CB8AC3E}">
        <p14:creationId xmlns:p14="http://schemas.microsoft.com/office/powerpoint/2010/main" val="609513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39D8DF93-31C3-ACBC-A19F-CA690024A9E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726F6F3-4B04-7479-C6F8-B95534577B1A}"/>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CFC18311-FAA5-279F-A340-B8281248A67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A4E1AA1-EA1C-3E43-6328-974836179BB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52B968C-110A-B388-5454-B85334D9B08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2"/>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279DDDD-B9E6-0D1C-102C-7CC76871CEB2}"/>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D75F1FB-F04A-BD5B-B02A-83066E445D15}"/>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9B1841D-C7DD-AE42-F35F-581C00000937}"/>
              </a:ext>
            </a:extLst>
          </p:cNvPr>
          <p:cNvPicPr>
            <a:picLocks noChangeAspect="1"/>
          </p:cNvPicPr>
          <p:nvPr/>
        </p:nvPicPr>
        <p:blipFill>
          <a:blip r:embed="rId5"/>
          <a:stretch>
            <a:fillRect/>
          </a:stretch>
        </p:blipFill>
        <p:spPr>
          <a:xfrm>
            <a:off x="13441977" y="114300"/>
            <a:ext cx="1585903" cy="1006621"/>
          </a:xfrm>
          <a:prstGeom prst="rect">
            <a:avLst/>
          </a:prstGeom>
        </p:spPr>
      </p:pic>
      <p:pic>
        <p:nvPicPr>
          <p:cNvPr id="10" name="Picture 9" descr="A magazine cover with a person's face&#10;&#10;AI-generated content may be incorrect.">
            <a:extLst>
              <a:ext uri="{FF2B5EF4-FFF2-40B4-BE49-F238E27FC236}">
                <a16:creationId xmlns:a16="http://schemas.microsoft.com/office/drawing/2014/main" id="{3579D94E-EB2F-CE20-020A-E833EDBBCF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34221" y="2992210"/>
            <a:ext cx="4704946" cy="6320656"/>
          </a:xfrm>
          <a:prstGeom prst="rect">
            <a:avLst/>
          </a:prstGeom>
          <a:ln>
            <a:solidFill>
              <a:schemeClr val="bg1">
                <a:lumMod val="65000"/>
              </a:schemeClr>
            </a:solidFill>
          </a:ln>
        </p:spPr>
      </p:pic>
      <p:pic>
        <p:nvPicPr>
          <p:cNvPr id="16" name="Picture 15">
            <a:extLst>
              <a:ext uri="{FF2B5EF4-FFF2-40B4-BE49-F238E27FC236}">
                <a16:creationId xmlns:a16="http://schemas.microsoft.com/office/drawing/2014/main" id="{B8130260-3681-C7FD-4A29-5FBDC150832C}"/>
              </a:ext>
            </a:extLst>
          </p:cNvPr>
          <p:cNvPicPr>
            <a:picLocks noChangeAspect="1"/>
          </p:cNvPicPr>
          <p:nvPr/>
        </p:nvPicPr>
        <p:blipFill>
          <a:blip r:embed="rId7"/>
          <a:stretch>
            <a:fillRect/>
          </a:stretch>
        </p:blipFill>
        <p:spPr>
          <a:xfrm>
            <a:off x="5006129" y="3001001"/>
            <a:ext cx="4279785" cy="6294932"/>
          </a:xfrm>
          <a:prstGeom prst="rect">
            <a:avLst/>
          </a:prstGeom>
          <a:ln>
            <a:solidFill>
              <a:schemeClr val="bg1">
                <a:lumMod val="65000"/>
              </a:schemeClr>
            </a:solidFill>
          </a:ln>
        </p:spPr>
      </p:pic>
      <p:sp>
        <p:nvSpPr>
          <p:cNvPr id="22" name="Title 1">
            <a:extLst>
              <a:ext uri="{FF2B5EF4-FFF2-40B4-BE49-F238E27FC236}">
                <a16:creationId xmlns:a16="http://schemas.microsoft.com/office/drawing/2014/main" id="{F6E1E7E3-7E60-1456-0F92-0CAAE1D5E98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Negocios Privados, Consecuencias Públicas</a:t>
            </a:r>
          </a:p>
          <a:p>
            <a:pPr algn="l"/>
            <a:endParaRPr lang="es-ES" sz="4800" b="1" noProof="0" dirty="0"/>
          </a:p>
        </p:txBody>
      </p:sp>
      <p:sp>
        <p:nvSpPr>
          <p:cNvPr id="23" name="Content Placeholder 2">
            <a:extLst>
              <a:ext uri="{FF2B5EF4-FFF2-40B4-BE49-F238E27FC236}">
                <a16:creationId xmlns:a16="http://schemas.microsoft.com/office/drawing/2014/main" id="{466C696E-4F6A-C09F-8131-8CA59E337FDC}"/>
              </a:ext>
            </a:extLst>
          </p:cNvPr>
          <p:cNvSpPr txBox="1">
            <a:spLocks/>
          </p:cNvSpPr>
          <p:nvPr/>
        </p:nvSpPr>
        <p:spPr>
          <a:xfrm>
            <a:off x="1019721" y="2327252"/>
            <a:ext cx="3238101"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dirty="0"/>
              <a:t>15</a:t>
            </a:r>
            <a:r>
              <a:rPr lang="es-ES" noProof="0" dirty="0"/>
              <a:t>/02/2025</a:t>
            </a:r>
          </a:p>
        </p:txBody>
      </p:sp>
      <p:sp>
        <p:nvSpPr>
          <p:cNvPr id="24" name="Content Placeholder 2">
            <a:extLst>
              <a:ext uri="{FF2B5EF4-FFF2-40B4-BE49-F238E27FC236}">
                <a16:creationId xmlns:a16="http://schemas.microsoft.com/office/drawing/2014/main" id="{D9CF62B7-DCA9-CBBB-B9A0-5C325047E9F0}"/>
              </a:ext>
            </a:extLst>
          </p:cNvPr>
          <p:cNvSpPr txBox="1">
            <a:spLocks/>
          </p:cNvSpPr>
          <p:nvPr/>
        </p:nvSpPr>
        <p:spPr>
          <a:xfrm>
            <a:off x="4992749" y="2317128"/>
            <a:ext cx="4293165"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dirty="0"/>
              <a:t>14</a:t>
            </a:r>
            <a:r>
              <a:rPr lang="es-ES" noProof="0" dirty="0"/>
              <a:t>/03/2025</a:t>
            </a:r>
          </a:p>
        </p:txBody>
      </p:sp>
      <p:sp>
        <p:nvSpPr>
          <p:cNvPr id="25" name="Content Placeholder 2">
            <a:extLst>
              <a:ext uri="{FF2B5EF4-FFF2-40B4-BE49-F238E27FC236}">
                <a16:creationId xmlns:a16="http://schemas.microsoft.com/office/drawing/2014/main" id="{D49FF2F8-8915-09A8-1B38-E0EEF2B1AFA2}"/>
              </a:ext>
            </a:extLst>
          </p:cNvPr>
          <p:cNvSpPr txBox="1">
            <a:spLocks/>
          </p:cNvSpPr>
          <p:nvPr/>
        </p:nvSpPr>
        <p:spPr>
          <a:xfrm>
            <a:off x="10034221" y="2321062"/>
            <a:ext cx="4704945" cy="675082"/>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s-ES" noProof="0" dirty="0"/>
              <a:t>08/10/2025</a:t>
            </a:r>
          </a:p>
        </p:txBody>
      </p:sp>
      <p:pic>
        <p:nvPicPr>
          <p:cNvPr id="27" name="Picture 26">
            <a:extLst>
              <a:ext uri="{FF2B5EF4-FFF2-40B4-BE49-F238E27FC236}">
                <a16:creationId xmlns:a16="http://schemas.microsoft.com/office/drawing/2014/main" id="{5F2D8F08-500E-B31F-AC21-2565BE7BC072}"/>
              </a:ext>
            </a:extLst>
          </p:cNvPr>
          <p:cNvPicPr>
            <a:picLocks noChangeAspect="1"/>
          </p:cNvPicPr>
          <p:nvPr/>
        </p:nvPicPr>
        <p:blipFill>
          <a:blip r:embed="rId8"/>
          <a:stretch>
            <a:fillRect/>
          </a:stretch>
        </p:blipFill>
        <p:spPr>
          <a:xfrm>
            <a:off x="1019721" y="3002335"/>
            <a:ext cx="3238101" cy="6310531"/>
          </a:xfrm>
          <a:prstGeom prst="rect">
            <a:avLst/>
          </a:prstGeom>
          <a:ln>
            <a:solidFill>
              <a:schemeClr val="bg1">
                <a:lumMod val="65000"/>
              </a:schemeClr>
            </a:solidFill>
          </a:ln>
        </p:spPr>
      </p:pic>
    </p:spTree>
    <p:extLst>
      <p:ext uri="{BB962C8B-B14F-4D97-AF65-F5344CB8AC3E}">
        <p14:creationId xmlns:p14="http://schemas.microsoft.com/office/powerpoint/2010/main" val="1736072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7202F21-8167-CD3D-3B92-C96CFDFDBAB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C10A88B-F5CF-D2E6-C7A4-50C6D84F80E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D378CD5-92E0-76FF-A018-6092E44A1E0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CC6954AD-B4F2-61A2-AD92-89486048C492}"/>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A17689B6-5178-B772-8EB7-7A5E214FA9A1}"/>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EBA0CD97-4F8E-3100-4406-0F5417444685}"/>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378A551-ACA4-426A-963C-1757D61881B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E41596F8-F83C-93A8-93D0-95655A742434}"/>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581C20F-4F87-B356-9A17-BB5C32C3BF7C}"/>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del Gobierno</a:t>
            </a:r>
          </a:p>
        </p:txBody>
      </p:sp>
      <p:grpSp>
        <p:nvGrpSpPr>
          <p:cNvPr id="14" name="Group 13">
            <a:extLst>
              <a:ext uri="{FF2B5EF4-FFF2-40B4-BE49-F238E27FC236}">
                <a16:creationId xmlns:a16="http://schemas.microsoft.com/office/drawing/2014/main" id="{116C3514-AE36-452A-DE00-8C7110FA2DBE}"/>
              </a:ext>
            </a:extLst>
          </p:cNvPr>
          <p:cNvGrpSpPr/>
          <p:nvPr/>
        </p:nvGrpSpPr>
        <p:grpSpPr>
          <a:xfrm>
            <a:off x="1219200" y="2137534"/>
            <a:ext cx="12573000" cy="6855173"/>
            <a:chOff x="1219200" y="2137534"/>
            <a:chExt cx="12573000" cy="6855173"/>
          </a:xfrm>
        </p:grpSpPr>
        <p:pic>
          <p:nvPicPr>
            <p:cNvPr id="9" name="Picture 8">
              <a:hlinkClick r:id="rId7"/>
              <a:extLst>
                <a:ext uri="{FF2B5EF4-FFF2-40B4-BE49-F238E27FC236}">
                  <a16:creationId xmlns:a16="http://schemas.microsoft.com/office/drawing/2014/main" id="{37A17353-4686-81D3-E925-036879F8BF97}"/>
                </a:ext>
              </a:extLst>
            </p:cNvPr>
            <p:cNvPicPr>
              <a:picLocks noChangeAspect="1"/>
            </p:cNvPicPr>
            <p:nvPr/>
          </p:nvPicPr>
          <p:blipFill>
            <a:blip r:embed="rId8"/>
            <a:stretch>
              <a:fillRect/>
            </a:stretch>
          </p:blipFill>
          <p:spPr>
            <a:xfrm>
              <a:off x="6553200" y="2137534"/>
              <a:ext cx="7239000" cy="6855173"/>
            </a:xfrm>
            <a:prstGeom prst="rect">
              <a:avLst/>
            </a:prstGeom>
            <a:ln>
              <a:solidFill>
                <a:schemeClr val="bg1">
                  <a:lumMod val="75000"/>
                </a:schemeClr>
              </a:solidFill>
            </a:ln>
          </p:spPr>
        </p:pic>
        <p:pic>
          <p:nvPicPr>
            <p:cNvPr id="10" name="Picture 9">
              <a:hlinkClick r:id="rId9"/>
              <a:extLst>
                <a:ext uri="{FF2B5EF4-FFF2-40B4-BE49-F238E27FC236}">
                  <a16:creationId xmlns:a16="http://schemas.microsoft.com/office/drawing/2014/main" id="{A9AE9F19-4D47-B826-6B28-47A6E859711F}"/>
                </a:ext>
              </a:extLst>
            </p:cNvPr>
            <p:cNvPicPr>
              <a:picLocks noChangeAspect="1"/>
            </p:cNvPicPr>
            <p:nvPr/>
          </p:nvPicPr>
          <p:blipFill>
            <a:blip r:embed="rId10"/>
            <a:stretch>
              <a:fillRect/>
            </a:stretch>
          </p:blipFill>
          <p:spPr>
            <a:xfrm>
              <a:off x="1219200" y="3615481"/>
              <a:ext cx="4174520" cy="3899277"/>
            </a:xfrm>
            <a:prstGeom prst="rect">
              <a:avLst/>
            </a:prstGeom>
          </p:spPr>
        </p:pic>
      </p:grpSp>
      <p:sp>
        <p:nvSpPr>
          <p:cNvPr id="11" name="Content Placeholder 2">
            <a:extLst>
              <a:ext uri="{FF2B5EF4-FFF2-40B4-BE49-F238E27FC236}">
                <a16:creationId xmlns:a16="http://schemas.microsoft.com/office/drawing/2014/main" id="{2AB0BBBA-76A0-9D15-955D-8ED9D2BF01F4}"/>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3200" b="1" noProof="0" dirty="0">
                <a:solidFill>
                  <a:srgbClr val="000000"/>
                </a:solidFill>
                <a:effectLst/>
                <a:latin typeface="Calibri" panose="020F0502020204030204" pitchFamily="34" charset="0"/>
              </a:rPr>
              <a:t>Consejo:</a:t>
            </a:r>
            <a:r>
              <a:rPr lang="es-ES" sz="3200" noProof="0" dirty="0">
                <a:solidFill>
                  <a:srgbClr val="000000"/>
                </a:solidFill>
                <a:effectLst/>
                <a:latin typeface="Calibri" panose="020F0502020204030204" pitchFamily="34" charset="0"/>
              </a:rPr>
              <a:t> Administraciones anteriores, funcionarios, ...</a:t>
            </a:r>
            <a:endParaRPr lang="es-ES" noProof="0" dirty="0"/>
          </a:p>
        </p:txBody>
      </p:sp>
    </p:spTree>
    <p:extLst>
      <p:ext uri="{BB962C8B-B14F-4D97-AF65-F5344CB8AC3E}">
        <p14:creationId xmlns:p14="http://schemas.microsoft.com/office/powerpoint/2010/main" val="303223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5E5EC5B-7D93-6AF4-2DA6-4B235FD5F86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AD5B20D-4DE8-DB80-4A53-AE0326C517F2}"/>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A361AECE-4F57-2343-C880-258C1EB5B8EB}"/>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1901E58-3803-F0E7-5F56-1B238B8C312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15DE696-6267-ECB7-7F06-18F3F33B7CD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26C11EF6-6335-FDAC-25D4-28508CA9F9F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72CA112-4F29-2A13-3DD3-691F705947C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6920243-E57F-C393-0DDD-898BE3D77692}"/>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3EE1C5A9-7F8B-9D1A-7CEB-57BEF737B1EB}"/>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9" name="Content Placeholder 2">
            <a:extLst>
              <a:ext uri="{FF2B5EF4-FFF2-40B4-BE49-F238E27FC236}">
                <a16:creationId xmlns:a16="http://schemas.microsoft.com/office/drawing/2014/main" id="{39B13699-502C-07F7-40E3-1DB196702FE6}"/>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Cada dato puede llevar a más información. Revísalos todos.</a:t>
            </a:r>
          </a:p>
        </p:txBody>
      </p:sp>
      <p:sp>
        <p:nvSpPr>
          <p:cNvPr id="10" name="Content Placeholder 4">
            <a:extLst>
              <a:ext uri="{FF2B5EF4-FFF2-40B4-BE49-F238E27FC236}">
                <a16:creationId xmlns:a16="http://schemas.microsoft.com/office/drawing/2014/main" id="{7F543ADF-6E34-8692-8171-A0921DA4E16A}"/>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a:t>
            </a:r>
          </a:p>
          <a:p>
            <a:pPr marL="114300" indent="0">
              <a:buNone/>
            </a:pPr>
            <a:r>
              <a:rPr lang="es-ES" sz="2000" dirty="0"/>
              <a:t>- 2 hijos</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DEE0BF8D-88F5-7886-B5D4-BD2300CCF77D}"/>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7310544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3C37C09-CF50-DD49-3A98-3CCD4421DD1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F222F99-9392-1128-EFB3-F4354C71AFF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8577375-5D5A-AD18-666B-4992357D1D93}"/>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04AB1F2-42D7-43C1-5B60-FF2A516E7EE1}"/>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D0C1D411-F314-C148-4D95-6EA5E243C4A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4763419A-8212-CC31-4F7B-B44FBE8CF7B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FBDCE9A-B0B4-82D0-27BE-0B1D53E358B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58AA9E9-B2B9-9029-5FB7-6A6C4D1E49F5}"/>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0BD61570-6270-CCD7-4C0C-2999EC954D6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de la Asamblea de la República</a:t>
            </a:r>
          </a:p>
        </p:txBody>
      </p:sp>
      <p:sp>
        <p:nvSpPr>
          <p:cNvPr id="9" name="Content Placeholder 2">
            <a:extLst>
              <a:ext uri="{FF2B5EF4-FFF2-40B4-BE49-F238E27FC236}">
                <a16:creationId xmlns:a16="http://schemas.microsoft.com/office/drawing/2014/main" id="{8065CB20-4922-7008-D90E-8D1698B2F32B}"/>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Registro de intereses</a:t>
            </a:r>
          </a:p>
        </p:txBody>
      </p:sp>
      <p:grpSp>
        <p:nvGrpSpPr>
          <p:cNvPr id="24" name="Group 23">
            <a:extLst>
              <a:ext uri="{FF2B5EF4-FFF2-40B4-BE49-F238E27FC236}">
                <a16:creationId xmlns:a16="http://schemas.microsoft.com/office/drawing/2014/main" id="{E289F29D-F716-5CFA-A6A5-E3144BDD8EF3}"/>
              </a:ext>
            </a:extLst>
          </p:cNvPr>
          <p:cNvGrpSpPr/>
          <p:nvPr/>
        </p:nvGrpSpPr>
        <p:grpSpPr>
          <a:xfrm>
            <a:off x="1219201" y="2366687"/>
            <a:ext cx="13404922" cy="6434966"/>
            <a:chOff x="1219201" y="2366687"/>
            <a:chExt cx="13404922" cy="6434966"/>
          </a:xfrm>
        </p:grpSpPr>
        <p:pic>
          <p:nvPicPr>
            <p:cNvPr id="13" name="Picture 12">
              <a:hlinkClick r:id="rId7"/>
              <a:extLst>
                <a:ext uri="{FF2B5EF4-FFF2-40B4-BE49-F238E27FC236}">
                  <a16:creationId xmlns:a16="http://schemas.microsoft.com/office/drawing/2014/main" id="{A165F05D-572B-4A0E-56F7-28F2BECB2CB4}"/>
                </a:ext>
              </a:extLst>
            </p:cNvPr>
            <p:cNvPicPr>
              <a:picLocks noChangeAspect="1"/>
            </p:cNvPicPr>
            <p:nvPr/>
          </p:nvPicPr>
          <p:blipFill>
            <a:blip r:embed="rId8"/>
            <a:stretch>
              <a:fillRect/>
            </a:stretch>
          </p:blipFill>
          <p:spPr>
            <a:xfrm>
              <a:off x="1219201" y="3637676"/>
              <a:ext cx="4174520" cy="3899276"/>
            </a:xfrm>
            <a:prstGeom prst="rect">
              <a:avLst/>
            </a:prstGeom>
            <a:ln>
              <a:solidFill>
                <a:schemeClr val="bg1">
                  <a:lumMod val="75000"/>
                </a:schemeClr>
              </a:solidFill>
            </a:ln>
          </p:spPr>
        </p:pic>
        <p:grpSp>
          <p:nvGrpSpPr>
            <p:cNvPr id="14" name="Group 13">
              <a:extLst>
                <a:ext uri="{FF2B5EF4-FFF2-40B4-BE49-F238E27FC236}">
                  <a16:creationId xmlns:a16="http://schemas.microsoft.com/office/drawing/2014/main" id="{A4A595F2-EF48-8D6E-3ED7-7C1B38D8541B}"/>
                </a:ext>
              </a:extLst>
            </p:cNvPr>
            <p:cNvGrpSpPr>
              <a:grpSpLocks noChangeAspect="1"/>
            </p:cNvGrpSpPr>
            <p:nvPr/>
          </p:nvGrpSpPr>
          <p:grpSpPr>
            <a:xfrm>
              <a:off x="5721277" y="2366687"/>
              <a:ext cx="8902846" cy="6434966"/>
              <a:chOff x="9226194" y="3555880"/>
              <a:chExt cx="6491363" cy="4347798"/>
            </a:xfrm>
          </p:grpSpPr>
          <p:pic>
            <p:nvPicPr>
              <p:cNvPr id="15" name="Picture 14">
                <a:hlinkClick r:id="rId9"/>
                <a:extLst>
                  <a:ext uri="{FF2B5EF4-FFF2-40B4-BE49-F238E27FC236}">
                    <a16:creationId xmlns:a16="http://schemas.microsoft.com/office/drawing/2014/main" id="{6D3D2F4A-CB2D-0124-4950-B5574230D881}"/>
                  </a:ext>
                </a:extLst>
              </p:cNvPr>
              <p:cNvPicPr>
                <a:picLocks noChangeAspect="1"/>
              </p:cNvPicPr>
              <p:nvPr/>
            </p:nvPicPr>
            <p:blipFill>
              <a:blip r:embed="rId10"/>
              <a:stretch>
                <a:fillRect/>
              </a:stretch>
            </p:blipFill>
            <p:spPr>
              <a:xfrm>
                <a:off x="9226194" y="3555880"/>
                <a:ext cx="6491363" cy="4347798"/>
              </a:xfrm>
              <a:prstGeom prst="rect">
                <a:avLst/>
              </a:prstGeom>
              <a:ln>
                <a:solidFill>
                  <a:schemeClr val="bg1">
                    <a:lumMod val="75000"/>
                  </a:schemeClr>
                </a:solidFill>
              </a:ln>
            </p:spPr>
          </p:pic>
          <p:sp>
            <p:nvSpPr>
              <p:cNvPr id="16" name="Rectangle 15">
                <a:extLst>
                  <a:ext uri="{FF2B5EF4-FFF2-40B4-BE49-F238E27FC236}">
                    <a16:creationId xmlns:a16="http://schemas.microsoft.com/office/drawing/2014/main" id="{0449A988-DF06-B6B9-8F2F-9407812DF791}"/>
                  </a:ext>
                </a:extLst>
              </p:cNvPr>
              <p:cNvSpPr/>
              <p:nvPr/>
            </p:nvSpPr>
            <p:spPr>
              <a:xfrm>
                <a:off x="13773150" y="6286500"/>
                <a:ext cx="479253" cy="1447799"/>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grpSp>
      </p:grpSp>
      <p:sp>
        <p:nvSpPr>
          <p:cNvPr id="17" name="TextBox 15">
            <a:extLst>
              <a:ext uri="{FF2B5EF4-FFF2-40B4-BE49-F238E27FC236}">
                <a16:creationId xmlns:a16="http://schemas.microsoft.com/office/drawing/2014/main" id="{C389D30C-2263-52D8-AB92-A2E4EA598803}"/>
              </a:ext>
            </a:extLst>
          </p:cNvPr>
          <p:cNvSpPr txBox="1"/>
          <p:nvPr/>
        </p:nvSpPr>
        <p:spPr>
          <a:xfrm>
            <a:off x="13938345" y="9571986"/>
            <a:ext cx="1005737" cy="266700"/>
          </a:xfrm>
          <a:prstGeom prst="rect">
            <a:avLst/>
          </a:prstGeom>
        </p:spPr>
        <p:txBody>
          <a:bodyPr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13</a:t>
            </a:fld>
            <a:endParaRPr lang="es-ES" sz="1500" b="1" noProof="0" dirty="0">
              <a:solidFill>
                <a:srgbClr val="343434"/>
              </a:solidFill>
              <a:latin typeface="DM Sans Bold"/>
              <a:ea typeface="DM Sans Bold"/>
              <a:cs typeface="DM Sans Bold"/>
              <a:sym typeface="DM Sans Bold"/>
            </a:endParaRPr>
          </a:p>
        </p:txBody>
      </p:sp>
    </p:spTree>
    <p:extLst>
      <p:ext uri="{BB962C8B-B14F-4D97-AF65-F5344CB8AC3E}">
        <p14:creationId xmlns:p14="http://schemas.microsoft.com/office/powerpoint/2010/main" val="28070272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06272ED-BE42-BCB6-2BA5-9062761EA8C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77107DC-1D2B-0573-FA75-D357A13B922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2F110AC-FB28-AB56-3BB7-9B78F81861A0}"/>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157BA50E-0383-A5A5-A0CD-48BFB146D46C}"/>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B541CE1-2717-BFFA-344B-70692D3FC440}"/>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A26060F-D2BB-E0EA-BE6D-869317B73C66}"/>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14D6A47-37F4-D821-1159-6D97DC7A96B4}"/>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DCECFDD3-5CFD-94C4-7937-BD29DB4D78FF}"/>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6F7885CC-75D0-2174-A854-943F56336C0E}"/>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p>
        </p:txBody>
      </p:sp>
      <p:sp>
        <p:nvSpPr>
          <p:cNvPr id="9" name="Content Placeholder 2">
            <a:extLst>
              <a:ext uri="{FF2B5EF4-FFF2-40B4-BE49-F238E27FC236}">
                <a16:creationId xmlns:a16="http://schemas.microsoft.com/office/drawing/2014/main" id="{78103CF5-A4FF-1D70-7945-73CB8CFF3191}"/>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Familia, empresas,…</a:t>
            </a:r>
          </a:p>
        </p:txBody>
      </p:sp>
      <p:sp>
        <p:nvSpPr>
          <p:cNvPr id="10" name="Content Placeholder 4">
            <a:extLst>
              <a:ext uri="{FF2B5EF4-FFF2-40B4-BE49-F238E27FC236}">
                <a16:creationId xmlns:a16="http://schemas.microsoft.com/office/drawing/2014/main" id="{75A163CA-A0B4-EC96-DE24-EAA78698C69B}"/>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b="1" dirty="0">
                <a:solidFill>
                  <a:schemeClr val="tx2">
                    <a:lumMod val="60000"/>
                    <a:lumOff val="40000"/>
                  </a:schemeClr>
                </a:solidFill>
              </a:rPr>
              <a:t>Luís Filipe Montenegro Cardoso de Morais Esteves</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b="1" dirty="0">
                <a:solidFill>
                  <a:schemeClr val="tx2">
                    <a:lumMod val="60000"/>
                    <a:lumOff val="40000"/>
                  </a:schemeClr>
                </a:solidFill>
              </a:rPr>
              <a:t>Carla Maria Rodrigues Neto Montenegro</a:t>
            </a:r>
          </a:p>
          <a:p>
            <a:pPr marL="114300" indent="0">
              <a:buNone/>
            </a:pPr>
            <a:r>
              <a:rPr lang="es-ES" sz="2000" dirty="0"/>
              <a:t>       - </a:t>
            </a:r>
            <a:r>
              <a:rPr lang="es-ES" sz="2000" b="1" dirty="0">
                <a:solidFill>
                  <a:schemeClr val="tx2">
                    <a:lumMod val="60000"/>
                    <a:lumOff val="40000"/>
                  </a:schemeClr>
                </a:solidFill>
              </a:rPr>
              <a:t>Comunión de bienes adquiridos</a:t>
            </a:r>
          </a:p>
          <a:p>
            <a:pPr marL="114300" indent="0">
              <a:buNone/>
            </a:pPr>
            <a:r>
              <a:rPr lang="es-ES" sz="2000" dirty="0"/>
              <a:t>- 2 hijos</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E228D3B8-A5C0-DA0A-D28D-6B6A21F8AB16}"/>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 - </a:t>
            </a:r>
            <a:r>
              <a:rPr lang="es-ES" sz="2000" b="1" noProof="0" dirty="0">
                <a:solidFill>
                  <a:schemeClr val="tx2">
                    <a:lumMod val="60000"/>
                    <a:lumOff val="40000"/>
                  </a:schemeClr>
                </a:solidFill>
              </a:rPr>
              <a:t>(50%)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b="1" noProof="0" dirty="0">
                <a:solidFill>
                  <a:schemeClr val="tx2">
                    <a:lumMod val="60000"/>
                    <a:lumOff val="40000"/>
                  </a:schemeClr>
                </a:solidFill>
              </a:rPr>
              <a:t>Oliveiras Gold de Portugal, Lda (25%) - Bragança</a:t>
            </a:r>
          </a:p>
          <a:p>
            <a:pPr marL="457200" lvl="1" indent="-228600">
              <a:buNone/>
            </a:pPr>
            <a:r>
              <a:rPr lang="es-ES" sz="2000" dirty="0"/>
              <a:t>- </a:t>
            </a:r>
            <a:r>
              <a:rPr lang="pt-BR" sz="2000" b="1" noProof="0" dirty="0">
                <a:solidFill>
                  <a:schemeClr val="tx2">
                    <a:lumMod val="60000"/>
                    <a:lumOff val="40000"/>
                  </a:schemeClr>
                </a:solidFill>
              </a:rPr>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1530747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E95472C-6530-2D55-8905-F90C34A34F3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447AD92-9906-AE23-3698-023BDB7E11D9}"/>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892CBBF5-E13C-0540-AFD6-2A0F70A885D0}"/>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20EB5EC-F7A4-29A0-58E2-6A3D6192D000}"/>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7E6FC1B-CBBA-413E-FE00-D3CA2691A17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926570A4-9CA6-BD13-3BA7-9B362ACE31B3}"/>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33BF700-E232-94ED-AEC5-2A4BD83E134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0CEFD4D-3C0D-8D78-4D7F-4E0C51CFD5B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5766FC7-2040-FBDC-8F8E-79141B46E9EE}"/>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Boletín Oficial Electrónico</a:t>
            </a:r>
          </a:p>
        </p:txBody>
      </p:sp>
      <p:grpSp>
        <p:nvGrpSpPr>
          <p:cNvPr id="27" name="Group 26">
            <a:extLst>
              <a:ext uri="{FF2B5EF4-FFF2-40B4-BE49-F238E27FC236}">
                <a16:creationId xmlns:a16="http://schemas.microsoft.com/office/drawing/2014/main" id="{29C567DD-DE4B-9A31-3C53-C84E08153182}"/>
              </a:ext>
            </a:extLst>
          </p:cNvPr>
          <p:cNvGrpSpPr/>
          <p:nvPr/>
        </p:nvGrpSpPr>
        <p:grpSpPr>
          <a:xfrm>
            <a:off x="1219200" y="2734144"/>
            <a:ext cx="13404922" cy="5681508"/>
            <a:chOff x="1219200" y="2734144"/>
            <a:chExt cx="13404922" cy="5681508"/>
          </a:xfrm>
        </p:grpSpPr>
        <p:pic>
          <p:nvPicPr>
            <p:cNvPr id="15" name="Picture 14">
              <a:hlinkClick r:id="rId7"/>
              <a:extLst>
                <a:ext uri="{FF2B5EF4-FFF2-40B4-BE49-F238E27FC236}">
                  <a16:creationId xmlns:a16="http://schemas.microsoft.com/office/drawing/2014/main" id="{66CF097D-D112-2423-BEA0-CE2F01B6C061}"/>
                </a:ext>
              </a:extLst>
            </p:cNvPr>
            <p:cNvPicPr>
              <a:picLocks noChangeAspect="1"/>
            </p:cNvPicPr>
            <p:nvPr/>
          </p:nvPicPr>
          <p:blipFill>
            <a:blip r:embed="rId8"/>
            <a:stretch>
              <a:fillRect/>
            </a:stretch>
          </p:blipFill>
          <p:spPr>
            <a:xfrm>
              <a:off x="1219200" y="3615481"/>
              <a:ext cx="4174520" cy="3913611"/>
            </a:xfrm>
            <a:prstGeom prst="rect">
              <a:avLst/>
            </a:prstGeom>
          </p:spPr>
        </p:pic>
        <p:pic>
          <p:nvPicPr>
            <p:cNvPr id="16" name="Picture 15">
              <a:extLst>
                <a:ext uri="{FF2B5EF4-FFF2-40B4-BE49-F238E27FC236}">
                  <a16:creationId xmlns:a16="http://schemas.microsoft.com/office/drawing/2014/main" id="{725CB390-4BD9-3DF4-68B3-118579FF6A8A}"/>
                </a:ext>
              </a:extLst>
            </p:cNvPr>
            <p:cNvPicPr>
              <a:picLocks noChangeAspect="1"/>
            </p:cNvPicPr>
            <p:nvPr/>
          </p:nvPicPr>
          <p:blipFill>
            <a:blip r:embed="rId9"/>
            <a:stretch>
              <a:fillRect/>
            </a:stretch>
          </p:blipFill>
          <p:spPr>
            <a:xfrm>
              <a:off x="5721276" y="2734144"/>
              <a:ext cx="8902846" cy="5681508"/>
            </a:xfrm>
            <a:prstGeom prst="rect">
              <a:avLst/>
            </a:prstGeom>
            <a:ln>
              <a:solidFill>
                <a:schemeClr val="bg1">
                  <a:lumMod val="75000"/>
                </a:schemeClr>
              </a:solidFill>
            </a:ln>
          </p:spPr>
        </p:pic>
      </p:grpSp>
    </p:spTree>
    <p:extLst>
      <p:ext uri="{BB962C8B-B14F-4D97-AF65-F5344CB8AC3E}">
        <p14:creationId xmlns:p14="http://schemas.microsoft.com/office/powerpoint/2010/main" val="3342840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0AEC45-1185-CFD9-1034-92E879B1CCF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55C3EA6-39EE-B76B-DB85-0AF5F1A4518D}"/>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FDBB3CB-289C-35AA-2A34-BEDCFE50994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B0A2719-290C-DA5F-259A-1F6FC7B74D5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B6B02B23-97AA-8712-5C6D-02940DAF7697}"/>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0549844-22A2-7F2A-814F-54E7D47D34F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6C39F1C-01A0-C781-A1C8-66B2BF580B6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F91A779-911A-3512-009A-72669426E2B2}"/>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CE29E618-8B37-C08D-59B2-F77E0DA941A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Empresas</a:t>
            </a:r>
            <a:endParaRPr lang="es-ES" sz="4800" b="1" noProof="0" dirty="0"/>
          </a:p>
        </p:txBody>
      </p:sp>
      <p:sp>
        <p:nvSpPr>
          <p:cNvPr id="9" name="Content Placeholder 2">
            <a:extLst>
              <a:ext uri="{FF2B5EF4-FFF2-40B4-BE49-F238E27FC236}">
                <a16:creationId xmlns:a16="http://schemas.microsoft.com/office/drawing/2014/main" id="{D2364873-3E9E-5CC1-641C-1C81858104C5}"/>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pSp>
        <p:nvGrpSpPr>
          <p:cNvPr id="16" name="Group 15">
            <a:extLst>
              <a:ext uri="{FF2B5EF4-FFF2-40B4-BE49-F238E27FC236}">
                <a16:creationId xmlns:a16="http://schemas.microsoft.com/office/drawing/2014/main" id="{F02125A5-F538-9978-4BB2-CCABA961E722}"/>
              </a:ext>
            </a:extLst>
          </p:cNvPr>
          <p:cNvGrpSpPr/>
          <p:nvPr/>
        </p:nvGrpSpPr>
        <p:grpSpPr>
          <a:xfrm>
            <a:off x="2236532" y="2171700"/>
            <a:ext cx="10690736" cy="6687946"/>
            <a:chOff x="2536035" y="2205398"/>
            <a:chExt cx="10690736" cy="6687946"/>
          </a:xfrm>
        </p:grpSpPr>
        <p:graphicFrame>
          <p:nvGraphicFramePr>
            <p:cNvPr id="10" name="Table 5">
              <a:extLst>
                <a:ext uri="{FF2B5EF4-FFF2-40B4-BE49-F238E27FC236}">
                  <a16:creationId xmlns:a16="http://schemas.microsoft.com/office/drawing/2014/main" id="{0C4A4022-C812-7FDE-584A-A418D1E9EBAB}"/>
                </a:ext>
              </a:extLst>
            </p:cNvPr>
            <p:cNvGraphicFramePr>
              <a:graphicFrameLocks/>
            </p:cNvGraphicFramePr>
            <p:nvPr>
              <p:extLst>
                <p:ext uri="{D42A27DB-BD31-4B8C-83A1-F6EECF244321}">
                  <p14:modId xmlns:p14="http://schemas.microsoft.com/office/powerpoint/2010/main" val="1941980243"/>
                </p:ext>
              </p:extLst>
            </p:nvPr>
          </p:nvGraphicFramePr>
          <p:xfrm>
            <a:off x="2536035" y="220539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1" name="Table 5">
              <a:extLst>
                <a:ext uri="{FF2B5EF4-FFF2-40B4-BE49-F238E27FC236}">
                  <a16:creationId xmlns:a16="http://schemas.microsoft.com/office/drawing/2014/main" id="{BEB02BAE-3060-72DE-5013-35CA07062039}"/>
                </a:ext>
              </a:extLst>
            </p:cNvPr>
            <p:cNvGraphicFramePr>
              <a:graphicFrameLocks/>
            </p:cNvGraphicFramePr>
            <p:nvPr>
              <p:extLst>
                <p:ext uri="{D42A27DB-BD31-4B8C-83A1-F6EECF244321}">
                  <p14:modId xmlns:p14="http://schemas.microsoft.com/office/powerpoint/2010/main" val="604090854"/>
                </p:ext>
              </p:extLst>
            </p:nvPr>
          </p:nvGraphicFramePr>
          <p:xfrm>
            <a:off x="2536035" y="449997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2" name="Table 5">
              <a:extLst>
                <a:ext uri="{FF2B5EF4-FFF2-40B4-BE49-F238E27FC236}">
                  <a16:creationId xmlns:a16="http://schemas.microsoft.com/office/drawing/2014/main" id="{B93C8F93-68A9-CF95-4794-ED0F4C676AFB}"/>
                </a:ext>
              </a:extLst>
            </p:cNvPr>
            <p:cNvGraphicFramePr>
              <a:graphicFrameLocks/>
            </p:cNvGraphicFramePr>
            <p:nvPr>
              <p:extLst>
                <p:ext uri="{D42A27DB-BD31-4B8C-83A1-F6EECF244321}">
                  <p14:modId xmlns:p14="http://schemas.microsoft.com/office/powerpoint/2010/main" val="3223719462"/>
                </p:ext>
              </p:extLst>
            </p:nvPr>
          </p:nvGraphicFramePr>
          <p:xfrm>
            <a:off x="2536035" y="679895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4A0A325C-5AC0-6747-95FE-21F42226F7CB}"/>
                </a:ext>
              </a:extLst>
            </p:cNvPr>
            <p:cNvGraphicFramePr>
              <a:graphicFrameLocks/>
            </p:cNvGraphicFramePr>
            <p:nvPr>
              <p:extLst>
                <p:ext uri="{D42A27DB-BD31-4B8C-83A1-F6EECF244321}">
                  <p14:modId xmlns:p14="http://schemas.microsoft.com/office/powerpoint/2010/main" val="1713363605"/>
                </p:ext>
              </p:extLst>
            </p:nvPr>
          </p:nvGraphicFramePr>
          <p:xfrm>
            <a:off x="8372025" y="2205398"/>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E0C93758-6C35-636A-E5CC-7C5C93D004CD}"/>
                </a:ext>
              </a:extLst>
            </p:cNvPr>
            <p:cNvGraphicFramePr>
              <a:graphicFrameLocks/>
            </p:cNvGraphicFramePr>
            <p:nvPr>
              <p:extLst>
                <p:ext uri="{D42A27DB-BD31-4B8C-83A1-F6EECF244321}">
                  <p14:modId xmlns:p14="http://schemas.microsoft.com/office/powerpoint/2010/main" val="3864984405"/>
                </p:ext>
              </p:extLst>
            </p:nvPr>
          </p:nvGraphicFramePr>
          <p:xfrm>
            <a:off x="8372025" y="4499971"/>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accent1">
                          <a:lumMod val="50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pSp>
    </p:spTree>
    <p:extLst>
      <p:ext uri="{BB962C8B-B14F-4D97-AF65-F5344CB8AC3E}">
        <p14:creationId xmlns:p14="http://schemas.microsoft.com/office/powerpoint/2010/main" val="42872672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F99C8629-B1AD-8AE2-5D1D-97F445DF83E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361BCE9-DA65-D16C-5D83-0DE4D0FB1E9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8E4D08E6-14BF-8357-5E1E-4FE9B6CC6D8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5336087-96A2-5A31-16C9-3EA65460E0D2}"/>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D5F9B1A-0FB7-123E-32E2-9A49BF9925E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3956F5FC-31CE-1F5C-52F9-3844AD1032B1}"/>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B790D2E-668B-B1CF-D081-9D016F644AC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ED92B8B3-6C39-8666-D5E7-69D97986059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1926691-8B83-9E52-A167-C26CF3DDB6B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Ministerio de Justicia – Publicación de Actos Societarios</a:t>
            </a:r>
          </a:p>
        </p:txBody>
      </p:sp>
      <p:sp>
        <p:nvSpPr>
          <p:cNvPr id="10" name="Content Placeholder 2">
            <a:extLst>
              <a:ext uri="{FF2B5EF4-FFF2-40B4-BE49-F238E27FC236}">
                <a16:creationId xmlns:a16="http://schemas.microsoft.com/office/drawing/2014/main" id="{6AFC61B4-8126-0718-E5AE-D5C8F2F7D79F}"/>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pSp>
        <p:nvGrpSpPr>
          <p:cNvPr id="16" name="Group 15">
            <a:extLst>
              <a:ext uri="{FF2B5EF4-FFF2-40B4-BE49-F238E27FC236}">
                <a16:creationId xmlns:a16="http://schemas.microsoft.com/office/drawing/2014/main" id="{170B5885-E9B0-1D32-F0C7-94886F4DBC69}"/>
              </a:ext>
            </a:extLst>
          </p:cNvPr>
          <p:cNvGrpSpPr/>
          <p:nvPr/>
        </p:nvGrpSpPr>
        <p:grpSpPr>
          <a:xfrm>
            <a:off x="1219201" y="2711747"/>
            <a:ext cx="13537320" cy="5926261"/>
            <a:chOff x="1219201" y="2711747"/>
            <a:chExt cx="13537320" cy="5926261"/>
          </a:xfrm>
        </p:grpSpPr>
        <p:pic>
          <p:nvPicPr>
            <p:cNvPr id="15" name="Picture 14">
              <a:extLst>
                <a:ext uri="{FF2B5EF4-FFF2-40B4-BE49-F238E27FC236}">
                  <a16:creationId xmlns:a16="http://schemas.microsoft.com/office/drawing/2014/main" id="{EA4DF52B-BCF3-5A5A-8B73-77A67EB88888}"/>
                </a:ext>
              </a:extLst>
            </p:cNvPr>
            <p:cNvPicPr>
              <a:picLocks noChangeAspect="1"/>
            </p:cNvPicPr>
            <p:nvPr/>
          </p:nvPicPr>
          <p:blipFill>
            <a:blip r:embed="rId7"/>
            <a:stretch>
              <a:fillRect/>
            </a:stretch>
          </p:blipFill>
          <p:spPr>
            <a:xfrm>
              <a:off x="5721276" y="2711747"/>
              <a:ext cx="9035245" cy="5926261"/>
            </a:xfrm>
            <a:prstGeom prst="rect">
              <a:avLst/>
            </a:prstGeom>
          </p:spPr>
        </p:pic>
        <p:pic>
          <p:nvPicPr>
            <p:cNvPr id="14" name="Picture 13">
              <a:hlinkClick r:id="rId8"/>
              <a:extLst>
                <a:ext uri="{FF2B5EF4-FFF2-40B4-BE49-F238E27FC236}">
                  <a16:creationId xmlns:a16="http://schemas.microsoft.com/office/drawing/2014/main" id="{738C361C-77A6-B0CB-5C46-675753B5F7C6}"/>
                </a:ext>
              </a:extLst>
            </p:cNvPr>
            <p:cNvPicPr>
              <a:picLocks noChangeAspect="1"/>
            </p:cNvPicPr>
            <p:nvPr/>
          </p:nvPicPr>
          <p:blipFill>
            <a:blip r:embed="rId9"/>
            <a:stretch>
              <a:fillRect/>
            </a:stretch>
          </p:blipFill>
          <p:spPr>
            <a:xfrm>
              <a:off x="1219201" y="3615481"/>
              <a:ext cx="4189866" cy="3913611"/>
            </a:xfrm>
            <a:prstGeom prst="rect">
              <a:avLst/>
            </a:prstGeom>
          </p:spPr>
        </p:pic>
      </p:grpSp>
    </p:spTree>
    <p:extLst>
      <p:ext uri="{BB962C8B-B14F-4D97-AF65-F5344CB8AC3E}">
        <p14:creationId xmlns:p14="http://schemas.microsoft.com/office/powerpoint/2010/main" val="15400686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9461A7B-81CF-F63B-3BDF-A51AD4CE192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6D77DC6-AE90-E28A-C70C-1BD404481CC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7D84CA3-6933-8207-5CF0-3079D3AE8DDF}"/>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275BF0FF-DA06-18DD-DDD9-247196ACDA2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D51DD172-863A-979E-C8F7-5B8DA2DAAB58}"/>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06EA84A-EC74-2BD3-EC95-DC79794649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9EAEBB5-CD77-C418-CCA9-F3CBE951DFDB}"/>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646C48E-E78D-C7AE-57D1-D9A06974C89A}"/>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9F53EE6F-68B2-4F77-0393-604FEA8E967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pic>
        <p:nvPicPr>
          <p:cNvPr id="12" name="Picture 11">
            <a:hlinkClick r:id="rId7"/>
            <a:extLst>
              <a:ext uri="{FF2B5EF4-FFF2-40B4-BE49-F238E27FC236}">
                <a16:creationId xmlns:a16="http://schemas.microsoft.com/office/drawing/2014/main" id="{98FD2A9F-3461-69FE-12CA-88BAECDFC165}"/>
              </a:ext>
            </a:extLst>
          </p:cNvPr>
          <p:cNvPicPr>
            <a:picLocks noChangeAspect="1"/>
          </p:cNvPicPr>
          <p:nvPr/>
        </p:nvPicPr>
        <p:blipFill>
          <a:blip r:embed="rId8"/>
          <a:stretch>
            <a:fillRect/>
          </a:stretch>
        </p:blipFill>
        <p:spPr>
          <a:xfrm>
            <a:off x="1219201" y="3615481"/>
            <a:ext cx="4189866" cy="3913611"/>
          </a:xfrm>
          <a:prstGeom prst="rect">
            <a:avLst/>
          </a:prstGeom>
        </p:spPr>
      </p:pic>
      <p:sp>
        <p:nvSpPr>
          <p:cNvPr id="14" name="TextBox 7">
            <a:extLst>
              <a:ext uri="{FF2B5EF4-FFF2-40B4-BE49-F238E27FC236}">
                <a16:creationId xmlns:a16="http://schemas.microsoft.com/office/drawing/2014/main" id="{91C541C5-10F7-7889-2715-5FB4C90CD983}"/>
              </a:ext>
            </a:extLst>
          </p:cNvPr>
          <p:cNvSpPr txBox="1"/>
          <p:nvPr/>
        </p:nvSpPr>
        <p:spPr>
          <a:xfrm>
            <a:off x="9448800" y="5063910"/>
            <a:ext cx="4191000" cy="2454070"/>
          </a:xfrm>
          <a:prstGeom prst="rect">
            <a:avLst/>
          </a:prstGeom>
        </p:spPr>
        <p:txBody>
          <a:bodyPr wrap="square" lIns="0" tIns="0" rIns="0" bIns="0" rtlCol="0" anchor="t">
            <a:spAutoFit/>
          </a:bodyPr>
          <a:lstStyle/>
          <a:p>
            <a:pPr algn="l">
              <a:lnSpc>
                <a:spcPts val="16818"/>
              </a:lnSpc>
            </a:pPr>
            <a:r>
              <a:rPr lang="es-ES" sz="28700" b="1" noProof="0" dirty="0">
                <a:solidFill>
                  <a:srgbClr val="343434"/>
                </a:solidFill>
                <a:latin typeface="Cooper Hewitt Bold"/>
                <a:ea typeface="Cooper Hewitt Bold"/>
                <a:cs typeface="Cooper Hewitt Bold"/>
                <a:sym typeface="Cooper Hewitt Bold"/>
              </a:rPr>
              <a:t>?</a:t>
            </a:r>
          </a:p>
        </p:txBody>
      </p:sp>
    </p:spTree>
    <p:extLst>
      <p:ext uri="{BB962C8B-B14F-4D97-AF65-F5344CB8AC3E}">
        <p14:creationId xmlns:p14="http://schemas.microsoft.com/office/powerpoint/2010/main" val="13889641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5722334C-0D70-874E-C507-12BD10F2090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5D6CC7E-7E2E-1985-54AE-947C3F176B45}"/>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9A4EA73F-06D6-0C70-5721-E77C0ACDACA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4F626934-82BA-7431-F90F-4847F79B14C4}"/>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081FA01-BA7D-01B7-F181-A234DFC887A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6CEAFFB-AF79-AB44-C53D-C7A8C13DC8AD}"/>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D996F9E-895F-3D7E-DD19-CC8F3F33D42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F3E314F8-0B59-0B16-9D88-1AB574FD185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5E8D5D54-7BD4-155F-976D-1E084DB17B8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9" name="Content Placeholder 2">
            <a:extLst>
              <a:ext uri="{FF2B5EF4-FFF2-40B4-BE49-F238E27FC236}">
                <a16:creationId xmlns:a16="http://schemas.microsoft.com/office/drawing/2014/main" id="{348770C2-6D96-6350-7F5A-E5EF7F4FECBD}"/>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La dirección es "única"</a:t>
            </a:r>
          </a:p>
        </p:txBody>
      </p:sp>
      <p:sp>
        <p:nvSpPr>
          <p:cNvPr id="10" name="Content Placeholder 4">
            <a:extLst>
              <a:ext uri="{FF2B5EF4-FFF2-40B4-BE49-F238E27FC236}">
                <a16:creationId xmlns:a16="http://schemas.microsoft.com/office/drawing/2014/main" id="{AD605DB1-DC4B-CE95-E3DB-734FCD195818}"/>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b="1" dirty="0">
                <a:solidFill>
                  <a:schemeClr val="tx2">
                    <a:lumMod val="60000"/>
                    <a:lumOff val="40000"/>
                  </a:schemeClr>
                </a:solidFill>
              </a:rPr>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- 2 hijos</a:t>
            </a:r>
          </a:p>
          <a:p>
            <a:pPr marL="0" indent="0">
              <a:buNone/>
            </a:pPr>
            <a:r>
              <a:rPr lang="pt-BR" sz="2400" b="1" dirty="0"/>
              <a:t>Dirección:</a:t>
            </a:r>
          </a:p>
          <a:p>
            <a:pPr marL="119063" indent="0">
              <a:buNone/>
            </a:pPr>
            <a:r>
              <a:rPr lang="pt-BR" sz="2000" dirty="0"/>
              <a:t>- </a:t>
            </a:r>
            <a:r>
              <a:rPr lang="pt-BR" sz="2000" b="1" dirty="0">
                <a:solidFill>
                  <a:schemeClr val="tx2">
                    <a:lumMod val="60000"/>
                    <a:lumOff val="40000"/>
                  </a:schemeClr>
                </a:solidFill>
              </a:rPr>
              <a:t>Urbanização do Formal, nº 15</a:t>
            </a:r>
          </a:p>
          <a:p>
            <a:pPr marL="119063" indent="0">
              <a:buNone/>
            </a:pPr>
            <a:r>
              <a:rPr lang="pt-BR" sz="2000" dirty="0"/>
              <a:t>- </a:t>
            </a:r>
            <a:r>
              <a:rPr lang="pt-BR" sz="2000" b="1" dirty="0">
                <a:solidFill>
                  <a:schemeClr val="tx2">
                    <a:lumMod val="60000"/>
                    <a:lumOff val="40000"/>
                  </a:schemeClr>
                </a:solidFill>
              </a:rPr>
              <a:t>4500 - 669 Silvalde - Espinho</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1" name="Content Placeholder 4">
            <a:extLst>
              <a:ext uri="{FF2B5EF4-FFF2-40B4-BE49-F238E27FC236}">
                <a16:creationId xmlns:a16="http://schemas.microsoft.com/office/drawing/2014/main" id="{2B09E455-781C-E648-07F6-A7E08983788B}"/>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4069197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2876A9D-2AFB-72DC-1A08-1BE3F600C60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42DDF06-CFF9-FB91-FC66-5FE0274D7BE3}"/>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CDB7F10-5D43-7BC8-EA86-98927E5217C9}"/>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E7D6D2DB-EC7E-67F0-FFF2-C822C41DDAD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D20FD2C-B71B-9A30-3672-E7AA5567487A}"/>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67F9F57-01A1-75ED-B87D-C908B3EB47F9}"/>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567BFFC-04FD-405B-1513-32C49A9A56E2}"/>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0BC129A-FAC0-9288-1C14-0D99D8A00CEB}"/>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69459FDC-E683-4923-0188-3F7301E0A239}"/>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9" name="Content Placeholder 2">
            <a:extLst>
              <a:ext uri="{FF2B5EF4-FFF2-40B4-BE49-F238E27FC236}">
                <a16:creationId xmlns:a16="http://schemas.microsoft.com/office/drawing/2014/main" id="{370F5E35-F677-30E4-73FF-4C831FFF37A3}"/>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La dirección es "única“. ¿Otras empresas en la misma dirección?</a:t>
            </a:r>
          </a:p>
        </p:txBody>
      </p:sp>
      <p:sp>
        <p:nvSpPr>
          <p:cNvPr id="10" name="Content Placeholder 2">
            <a:extLst>
              <a:ext uri="{FF2B5EF4-FFF2-40B4-BE49-F238E27FC236}">
                <a16:creationId xmlns:a16="http://schemas.microsoft.com/office/drawing/2014/main" id="{1BCA6623-5E0A-3421-96C6-3E146E6C9EFA}"/>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Site einforma (</a:t>
            </a:r>
            <a:r>
              <a:rPr lang="es-ES" noProof="0" dirty="0">
                <a:solidFill>
                  <a:schemeClr val="tx2">
                    <a:lumMod val="40000"/>
                    <a:lumOff val="60000"/>
                  </a:schemeClr>
                </a:solidFill>
                <a:hlinkClick r:id="rId7">
                  <a:extLst>
                    <a:ext uri="{A12FA001-AC4F-418D-AE19-62706E023703}">
                      <ahyp:hlinkClr xmlns:ahyp="http://schemas.microsoft.com/office/drawing/2018/hyperlinkcolor" val="tx"/>
                    </a:ext>
                  </a:extLst>
                </a:hlinkClick>
              </a:rPr>
              <a:t>link</a:t>
            </a:r>
            <a:r>
              <a:rPr lang="es-ES" noProof="0" dirty="0"/>
              <a:t>)</a:t>
            </a:r>
          </a:p>
          <a:p>
            <a:r>
              <a:rPr lang="es-ES" sz="2400" noProof="0" dirty="0"/>
              <a:t>NIPC: 510445020</a:t>
            </a:r>
          </a:p>
          <a:p>
            <a:r>
              <a:rPr lang="es-ES" sz="2400" noProof="0" dirty="0"/>
              <a:t>Nombre: SOUSA PINHEIRO &amp; MARQUES - SOCIEDADE DE ADVOGADOS, SP, RL</a:t>
            </a:r>
          </a:p>
          <a:p>
            <a:r>
              <a:rPr lang="es-ES" sz="2400" noProof="0" dirty="0"/>
              <a:t>Nombres Anteriores: SOUSA PINHEIRO &amp; MONTENEGRO - SOCIEDADE DE ADVOGADOS, SP, RL</a:t>
            </a:r>
          </a:p>
          <a:p>
            <a:r>
              <a:rPr lang="es-ES" sz="2400" noProof="0" dirty="0"/>
              <a:t>Website: https://spm-advogados.com/</a:t>
            </a:r>
          </a:p>
          <a:p>
            <a:r>
              <a:rPr lang="es-ES" sz="2400" noProof="0" dirty="0"/>
              <a:t>DUNS: </a:t>
            </a:r>
          </a:p>
          <a:p>
            <a:r>
              <a:rPr lang="es-ES" sz="2400" noProof="0" dirty="0"/>
              <a:t>Dirección: PRAÇA BOM SUCESSO, 74/90 3º ESCRITÓRIO 7 – 4150-146 PORTO</a:t>
            </a:r>
          </a:p>
          <a:p>
            <a:r>
              <a:rPr lang="es-ES" sz="2400" noProof="0" dirty="0"/>
              <a:t>Teléfono:</a:t>
            </a:r>
          </a:p>
          <a:p>
            <a:r>
              <a:rPr lang="es-ES" sz="2400" noProof="0" dirty="0"/>
              <a:t>Email:</a:t>
            </a:r>
          </a:p>
          <a:p>
            <a:r>
              <a:rPr lang="es-ES" sz="2400" noProof="0" dirty="0"/>
              <a:t>CAE: 69101 - Atividades jurídicas, exceto dos cartórios notariais</a:t>
            </a:r>
            <a:endParaRPr lang="es-ES" noProof="0" dirty="0"/>
          </a:p>
          <a:p>
            <a:endParaRPr lang="es-ES" noProof="0" dirty="0"/>
          </a:p>
        </p:txBody>
      </p:sp>
    </p:spTree>
    <p:extLst>
      <p:ext uri="{BB962C8B-B14F-4D97-AF65-F5344CB8AC3E}">
        <p14:creationId xmlns:p14="http://schemas.microsoft.com/office/powerpoint/2010/main" val="2885514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4F32E84A-E6D3-64E3-DA20-4A5B827E3BE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8C71941-DD5F-F48B-E7C1-E11D7DFFCEB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B864B406-2E5B-C1E4-5D79-3C6436B8445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68596E93-05AB-7DB6-9184-D85EC7FAE9A5}"/>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F677FB65-45A2-C79C-4B91-AC94BF6A509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FCE5346-CDBB-C033-B9E8-C3CC980D4476}"/>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CE9DC90-36E3-DF6F-B32C-F2EDB5374E71}"/>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A1B0789-8A78-1583-274A-B7038076C260}"/>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B3B0BE7-3DF3-55B6-C8B5-AF85E529D84D}"/>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9" name="Content Placeholder 2">
            <a:extLst>
              <a:ext uri="{FF2B5EF4-FFF2-40B4-BE49-F238E27FC236}">
                <a16:creationId xmlns:a16="http://schemas.microsoft.com/office/drawing/2014/main" id="{361B5661-D443-A39B-C48E-66F224F1FFBF}"/>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a:t>
            </a:r>
            <a:r>
              <a:rPr lang="es-ES" dirty="0" err="1"/>
              <a:t>Wayback</a:t>
            </a:r>
            <a:r>
              <a:rPr lang="es-ES" dirty="0"/>
              <a:t> todo</a:t>
            </a:r>
          </a:p>
        </p:txBody>
      </p:sp>
      <p:sp>
        <p:nvSpPr>
          <p:cNvPr id="11" name="Content Placeholder 2">
            <a:extLst>
              <a:ext uri="{FF2B5EF4-FFF2-40B4-BE49-F238E27FC236}">
                <a16:creationId xmlns:a16="http://schemas.microsoft.com/office/drawing/2014/main" id="{134160A4-CB7E-F173-2737-FCA09C4251E1}"/>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noProof="0" dirty="0"/>
              <a:t>SP&amp;M (</a:t>
            </a:r>
            <a:r>
              <a:rPr lang="es-ES" noProof="0" dirty="0">
                <a:solidFill>
                  <a:schemeClr val="tx2">
                    <a:lumMod val="40000"/>
                    <a:lumOff val="60000"/>
                  </a:schemeClr>
                </a:solidFill>
                <a:hlinkClick r:id="rId7">
                  <a:extLst>
                    <a:ext uri="{A12FA001-AC4F-418D-AE19-62706E023703}">
                      <ahyp:hlinkClr xmlns:ahyp="http://schemas.microsoft.com/office/drawing/2018/hyperlinkcolor" val="tx"/>
                    </a:ext>
                  </a:extLst>
                </a:hlinkClick>
              </a:rPr>
              <a:t>link</a:t>
            </a:r>
            <a:r>
              <a:rPr lang="es-ES" noProof="0" dirty="0"/>
              <a:t>)</a:t>
            </a:r>
          </a:p>
          <a:p>
            <a:r>
              <a:rPr lang="es-ES" sz="2400" noProof="0" dirty="0"/>
              <a:t>Socios: Paulo Sousa Pinheiro</a:t>
            </a:r>
          </a:p>
          <a:p>
            <a:endParaRPr lang="es-ES" sz="2400" noProof="0" dirty="0"/>
          </a:p>
          <a:p>
            <a:pPr marL="0" indent="0">
              <a:buNone/>
            </a:pPr>
            <a:r>
              <a:rPr lang="es-ES" noProof="0" dirty="0"/>
              <a:t>WaybackMachine: (</a:t>
            </a:r>
            <a:r>
              <a:rPr lang="es-ES" noProof="0" dirty="0">
                <a:solidFill>
                  <a:schemeClr val="tx2">
                    <a:lumMod val="40000"/>
                    <a:lumOff val="60000"/>
                  </a:schemeClr>
                </a:solidFill>
                <a:hlinkClick r:id="rId8">
                  <a:extLst>
                    <a:ext uri="{A12FA001-AC4F-418D-AE19-62706E023703}">
                      <ahyp:hlinkClr xmlns:ahyp="http://schemas.microsoft.com/office/drawing/2018/hyperlinkcolor" val="tx"/>
                    </a:ext>
                  </a:extLst>
                </a:hlinkClick>
              </a:rPr>
              <a:t>link</a:t>
            </a:r>
            <a:r>
              <a:rPr lang="es-ES" noProof="0" dirty="0"/>
              <a:t>)</a:t>
            </a:r>
          </a:p>
          <a:p>
            <a:r>
              <a:rPr lang="es-ES" sz="2400" noProof="0" dirty="0"/>
              <a:t>Email: lmontenegro@spm-advogados.com</a:t>
            </a:r>
          </a:p>
          <a:p>
            <a:r>
              <a:rPr lang="es-ES" sz="2400" noProof="0" dirty="0"/>
              <a:t>Abogado (cédula profesional n.º 44944P) – Inactivo (</a:t>
            </a:r>
            <a:r>
              <a:rPr lang="es-ES" sz="2400" noProof="0" dirty="0">
                <a:solidFill>
                  <a:schemeClr val="tx2">
                    <a:lumMod val="40000"/>
                    <a:lumOff val="60000"/>
                  </a:schemeClr>
                </a:solidFill>
                <a:hlinkClick r:id="rId9">
                  <a:extLst>
                    <a:ext uri="{A12FA001-AC4F-418D-AE19-62706E023703}">
                      <ahyp:hlinkClr xmlns:ahyp="http://schemas.microsoft.com/office/drawing/2018/hyperlinkcolor" val="tx"/>
                    </a:ext>
                  </a:extLst>
                </a:hlinkClick>
              </a:rPr>
              <a:t>portal </a:t>
            </a:r>
            <a:r>
              <a:rPr lang="es-ES" sz="2400" noProof="0" dirty="0" err="1">
                <a:solidFill>
                  <a:schemeClr val="tx2">
                    <a:lumMod val="40000"/>
                    <a:lumOff val="60000"/>
                  </a:schemeClr>
                </a:solidFill>
                <a:hlinkClick r:id="rId9">
                  <a:extLst>
                    <a:ext uri="{A12FA001-AC4F-418D-AE19-62706E023703}">
                      <ahyp:hlinkClr xmlns:ahyp="http://schemas.microsoft.com/office/drawing/2018/hyperlinkcolor" val="tx"/>
                    </a:ext>
                  </a:extLst>
                </a:hlinkClick>
              </a:rPr>
              <a:t>ordem</a:t>
            </a:r>
            <a:r>
              <a:rPr lang="es-ES" sz="2400" noProof="0" dirty="0">
                <a:solidFill>
                  <a:schemeClr val="tx2">
                    <a:lumMod val="40000"/>
                    <a:lumOff val="60000"/>
                  </a:schemeClr>
                </a:solidFill>
                <a:hlinkClick r:id="rId9">
                  <a:extLst>
                    <a:ext uri="{A12FA001-AC4F-418D-AE19-62706E023703}">
                      <ahyp:hlinkClr xmlns:ahyp="http://schemas.microsoft.com/office/drawing/2018/hyperlinkcolor" val="tx"/>
                    </a:ext>
                  </a:extLst>
                </a:hlinkClick>
              </a:rPr>
              <a:t> dos </a:t>
            </a:r>
            <a:r>
              <a:rPr lang="es-ES" sz="2400" noProof="0" dirty="0" err="1">
                <a:solidFill>
                  <a:schemeClr val="tx2">
                    <a:lumMod val="40000"/>
                    <a:lumOff val="60000"/>
                  </a:schemeClr>
                </a:solidFill>
                <a:hlinkClick r:id="rId9">
                  <a:extLst>
                    <a:ext uri="{A12FA001-AC4F-418D-AE19-62706E023703}">
                      <ahyp:hlinkClr xmlns:ahyp="http://schemas.microsoft.com/office/drawing/2018/hyperlinkcolor" val="tx"/>
                    </a:ext>
                  </a:extLst>
                </a:hlinkClick>
              </a:rPr>
              <a:t>advogados</a:t>
            </a:r>
            <a:r>
              <a:rPr lang="es-ES" sz="2400" noProof="0" dirty="0"/>
              <a:t>)</a:t>
            </a:r>
          </a:p>
          <a:p>
            <a:r>
              <a:rPr lang="es-ES" sz="2400" noProof="0" dirty="0"/>
              <a:t>Diputado en la Asamblea Metropolitana de Oporto</a:t>
            </a:r>
          </a:p>
        </p:txBody>
      </p:sp>
    </p:spTree>
    <p:extLst>
      <p:ext uri="{BB962C8B-B14F-4D97-AF65-F5344CB8AC3E}">
        <p14:creationId xmlns:p14="http://schemas.microsoft.com/office/powerpoint/2010/main" val="187417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9F2B8DC0-DD18-6D2A-D590-B6C3DD0D0A8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0E3D1AD-5B0E-AF37-8B9A-9038D9562F4F}"/>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DFBDD11-25FB-0AD8-4809-3D3A85B085A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4AC547D-E424-6EE1-4698-F7A1F05EA967}"/>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6F540D05-6EFD-7C4E-7CDD-C4A7309AB2AE}"/>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6B9D6839-FED9-9BC3-6CA1-B4F510A16105}"/>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881FAC0F-7934-53F0-711C-4E0AD492E34E}"/>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079D6DE-79AD-0143-8BEE-E3BB110DBD94}"/>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F4FA855D-1502-DAE2-C7E8-CB0F03DECAB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CCDF0535-6AD7-6907-49D8-273B9BF90EF7}"/>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dirty="0"/>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- 2 hijos</a:t>
            </a:r>
          </a:p>
          <a:p>
            <a:pPr marL="0" indent="0">
              <a:buNone/>
            </a:pPr>
            <a:r>
              <a:rPr lang="pt-BR" sz="2400" b="1" dirty="0"/>
              <a:t>Dirección:</a:t>
            </a:r>
          </a:p>
          <a:p>
            <a:pPr marL="119063" indent="0">
              <a:buNone/>
            </a:pPr>
            <a:r>
              <a:rPr lang="pt-BR" sz="2000" dirty="0"/>
              <a:t>- Urbanização do Formal, nº 15</a:t>
            </a:r>
          </a:p>
          <a:p>
            <a:pPr marL="119063" indent="0">
              <a:buNone/>
            </a:pPr>
            <a:r>
              <a:rPr lang="pt-BR" sz="2000" dirty="0"/>
              <a:t>- 4500 - 669 Silvalde - Espinho</a:t>
            </a:r>
          </a:p>
          <a:p>
            <a:pPr marL="0" indent="0">
              <a:buNone/>
            </a:pPr>
            <a:r>
              <a:rPr lang="es-ES" sz="2400" b="1" dirty="0"/>
              <a:t>Email: </a:t>
            </a:r>
            <a:r>
              <a:rPr lang="es-ES" sz="2400" b="1" dirty="0">
                <a:solidFill>
                  <a:schemeClr val="tx2">
                    <a:lumMod val="60000"/>
                    <a:lumOff val="40000"/>
                  </a:schemeClr>
                </a:solidFill>
              </a:rPr>
              <a:t>lmontenegro@spm-advogados.com</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4EBD08B2-D996-DC42-53BC-E5601536726B}"/>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t>
            </a:r>
            <a:r>
              <a:rPr lang="es-ES" sz="2000" b="1" dirty="0">
                <a:solidFill>
                  <a:schemeClr val="tx2">
                    <a:lumMod val="60000"/>
                    <a:lumOff val="40000"/>
                  </a:schemeClr>
                </a:solidFill>
              </a:rPr>
              <a:t>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25574191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2C63857-E09D-433D-185E-670DC868BBB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E3EDAD4-D9F6-DB82-1BF1-630744AE7C35}"/>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942123FC-70AE-D531-0967-56B328B51C2E}"/>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E4051559-7A32-3C92-17C0-8BAF08F0131D}"/>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E60939DD-300C-B270-C55E-4DF85676DF1F}"/>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202070E9-1C8C-0160-CC0A-F6B05C58391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05586B80-59E6-73E4-20E3-8C97A1A02D3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0033B882-9D39-CC91-5B8E-693B5CC6C0FC}"/>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1A9AB170-A757-8F72-5DDA-8056BB9B526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BASE</a:t>
            </a:r>
          </a:p>
        </p:txBody>
      </p:sp>
      <p:grpSp>
        <p:nvGrpSpPr>
          <p:cNvPr id="15" name="Group 14">
            <a:extLst>
              <a:ext uri="{FF2B5EF4-FFF2-40B4-BE49-F238E27FC236}">
                <a16:creationId xmlns:a16="http://schemas.microsoft.com/office/drawing/2014/main" id="{F1136E63-FE8C-37C6-F29F-44835FD4CBB2}"/>
              </a:ext>
            </a:extLst>
          </p:cNvPr>
          <p:cNvGrpSpPr/>
          <p:nvPr/>
        </p:nvGrpSpPr>
        <p:grpSpPr>
          <a:xfrm>
            <a:off x="1219201" y="1413598"/>
            <a:ext cx="13035152" cy="8603303"/>
            <a:chOff x="1219201" y="1413598"/>
            <a:chExt cx="13035152" cy="8603303"/>
          </a:xfrm>
        </p:grpSpPr>
        <p:pic>
          <p:nvPicPr>
            <p:cNvPr id="13" name="Picture 12">
              <a:hlinkClick r:id="rId7"/>
              <a:extLst>
                <a:ext uri="{FF2B5EF4-FFF2-40B4-BE49-F238E27FC236}">
                  <a16:creationId xmlns:a16="http://schemas.microsoft.com/office/drawing/2014/main" id="{3545CE76-D62B-58E2-2C6A-C3A64443F573}"/>
                </a:ext>
              </a:extLst>
            </p:cNvPr>
            <p:cNvPicPr>
              <a:picLocks noChangeAspect="1"/>
            </p:cNvPicPr>
            <p:nvPr/>
          </p:nvPicPr>
          <p:blipFill>
            <a:blip r:embed="rId8"/>
            <a:stretch>
              <a:fillRect/>
            </a:stretch>
          </p:blipFill>
          <p:spPr>
            <a:xfrm>
              <a:off x="1219201" y="3615481"/>
              <a:ext cx="4189867" cy="3913611"/>
            </a:xfrm>
            <a:prstGeom prst="rect">
              <a:avLst/>
            </a:prstGeom>
          </p:spPr>
        </p:pic>
        <p:pic>
          <p:nvPicPr>
            <p:cNvPr id="14" name="Picture 13">
              <a:hlinkClick r:id="rId9"/>
              <a:extLst>
                <a:ext uri="{FF2B5EF4-FFF2-40B4-BE49-F238E27FC236}">
                  <a16:creationId xmlns:a16="http://schemas.microsoft.com/office/drawing/2014/main" id="{C60F2001-B9CE-5A0D-7CC9-E585ADB1FE8C}"/>
                </a:ext>
              </a:extLst>
            </p:cNvPr>
            <p:cNvPicPr>
              <a:picLocks noChangeAspect="1"/>
            </p:cNvPicPr>
            <p:nvPr/>
          </p:nvPicPr>
          <p:blipFill>
            <a:blip r:embed="rId10"/>
            <a:stretch>
              <a:fillRect/>
            </a:stretch>
          </p:blipFill>
          <p:spPr>
            <a:xfrm>
              <a:off x="6143995" y="1413598"/>
              <a:ext cx="8110358" cy="8603303"/>
            </a:xfrm>
            <a:prstGeom prst="rect">
              <a:avLst/>
            </a:prstGeom>
          </p:spPr>
        </p:pic>
      </p:grpSp>
    </p:spTree>
    <p:extLst>
      <p:ext uri="{BB962C8B-B14F-4D97-AF65-F5344CB8AC3E}">
        <p14:creationId xmlns:p14="http://schemas.microsoft.com/office/powerpoint/2010/main" val="29286779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2CED2118-DD45-D7D1-D755-0EF2D09C206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1F3D09C-2A3E-93B2-F3E1-6811A5827D4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99F711F-28CF-96A3-F21A-BA55244BEB1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772A12F-76EF-9D03-0FAF-04F0DD9A07F7}"/>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2B73EAC6-46ED-CA95-CF6D-B23C13B739C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740C793-436D-080E-3FCB-20C6D3C531C2}"/>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36CAF962-F278-12ED-C66B-CC06671DB3A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3B39B7C7-1213-3B67-6585-2E4CE6B8B67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CD20862F-CEE3-DC1A-BF91-1D63D32AB18A}"/>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SP&amp;M, </a:t>
            </a:r>
            <a:r>
              <a:rPr lang="es-ES" sz="4800" b="1" dirty="0" err="1"/>
              <a:t>Sociedade</a:t>
            </a:r>
            <a:r>
              <a:rPr lang="es-ES" sz="4800" b="1" dirty="0"/>
              <a:t> de </a:t>
            </a:r>
            <a:r>
              <a:rPr lang="es-ES" sz="4800" b="1" dirty="0" err="1"/>
              <a:t>Advogados</a:t>
            </a:r>
            <a:r>
              <a:rPr lang="es-ES" sz="4800" b="1" dirty="0"/>
              <a:t>, RL - 510445020</a:t>
            </a:r>
          </a:p>
        </p:txBody>
      </p:sp>
      <p:sp>
        <p:nvSpPr>
          <p:cNvPr id="10" name="Content Placeholder 2">
            <a:extLst>
              <a:ext uri="{FF2B5EF4-FFF2-40B4-BE49-F238E27FC236}">
                <a16:creationId xmlns:a16="http://schemas.microsoft.com/office/drawing/2014/main" id="{6966391A-6FF2-165E-8B9E-9F40B00D8E16}"/>
              </a:ext>
            </a:extLst>
          </p:cNvPr>
          <p:cNvSpPr txBox="1">
            <a:spLocks/>
          </p:cNvSpPr>
          <p:nvPr/>
        </p:nvSpPr>
        <p:spPr>
          <a:xfrm>
            <a:off x="860254" y="2620962"/>
            <a:ext cx="14167626" cy="63706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Contratos Públicos</a:t>
            </a:r>
          </a:p>
          <a:p>
            <a:pPr marL="236538" indent="0">
              <a:buNone/>
            </a:pPr>
            <a:r>
              <a:rPr lang="es-ES" noProof="0" dirty="0"/>
              <a:t>Banco </a:t>
            </a:r>
            <a:r>
              <a:rPr lang="es-ES" noProof="0" dirty="0" err="1"/>
              <a:t>Português</a:t>
            </a:r>
            <a:r>
              <a:rPr lang="es-ES" noProof="0" dirty="0"/>
              <a:t> do Fomento</a:t>
            </a:r>
          </a:p>
          <a:p>
            <a:pPr marL="576263" lvl="1" indent="0">
              <a:buNone/>
            </a:pPr>
            <a:r>
              <a:rPr lang="es-ES" noProof="0" dirty="0"/>
              <a:t>2022 – 1 contrato – 100.000€</a:t>
            </a:r>
          </a:p>
          <a:p>
            <a:pPr marL="236538" indent="0">
              <a:buNone/>
            </a:pPr>
            <a:r>
              <a:rPr lang="es-ES" noProof="0" dirty="0" err="1"/>
              <a:t>Município</a:t>
            </a:r>
            <a:r>
              <a:rPr lang="es-ES" noProof="0" dirty="0"/>
              <a:t> de Espinho</a:t>
            </a:r>
          </a:p>
          <a:p>
            <a:pPr marL="576263" lvl="1" indent="0">
              <a:buNone/>
            </a:pPr>
            <a:r>
              <a:rPr lang="es-ES" noProof="0" dirty="0"/>
              <a:t>2014/2019 – 7 contratos – 337.311 €</a:t>
            </a:r>
          </a:p>
          <a:p>
            <a:pPr marL="236538" indent="0">
              <a:buNone/>
            </a:pPr>
            <a:r>
              <a:rPr lang="es-ES" noProof="0" dirty="0" err="1"/>
              <a:t>Município</a:t>
            </a:r>
            <a:r>
              <a:rPr lang="es-ES" noProof="0" dirty="0"/>
              <a:t> de Vagos</a:t>
            </a:r>
          </a:p>
          <a:p>
            <a:pPr marL="576263" lvl="1" indent="0">
              <a:buNone/>
            </a:pPr>
            <a:r>
              <a:rPr lang="es-ES" noProof="0" dirty="0"/>
              <a:t>2015/2021 – 5 contratos – 209.409 €</a:t>
            </a:r>
          </a:p>
          <a:p>
            <a:pPr marL="236538" indent="0">
              <a:buNone/>
            </a:pPr>
            <a:r>
              <a:rPr lang="es-ES" noProof="0" dirty="0" err="1"/>
              <a:t>Zendensino</a:t>
            </a:r>
            <a:endParaRPr lang="es-ES" noProof="0" dirty="0"/>
          </a:p>
          <a:p>
            <a:pPr marL="576263" lvl="1" indent="0">
              <a:buNone/>
            </a:pPr>
            <a:r>
              <a:rPr lang="es-ES" noProof="0" dirty="0"/>
              <a:t>2018/2020 – 2 contratos – 31.900 €</a:t>
            </a:r>
          </a:p>
          <a:p>
            <a:pPr marL="457200" lvl="1" indent="0">
              <a:buNone/>
            </a:pPr>
            <a:endParaRPr lang="es-ES" noProof="0" dirty="0"/>
          </a:p>
          <a:p>
            <a:pPr marL="236538" indent="0">
              <a:buNone/>
            </a:pPr>
            <a:r>
              <a:rPr lang="es-ES" noProof="0" dirty="0"/>
              <a:t>Total </a:t>
            </a:r>
            <a:r>
              <a:rPr lang="es-ES" b="1" noProof="0" dirty="0"/>
              <a:t>807.320€</a:t>
            </a:r>
          </a:p>
        </p:txBody>
      </p:sp>
      <p:pic>
        <p:nvPicPr>
          <p:cNvPr id="11" name="Graphic 10">
            <a:extLst>
              <a:ext uri="{FF2B5EF4-FFF2-40B4-BE49-F238E27FC236}">
                <a16:creationId xmlns:a16="http://schemas.microsoft.com/office/drawing/2014/main" id="{0460036B-2153-6D04-6560-5258CC1C8324}"/>
              </a:ext>
            </a:extLst>
          </p:cNvPr>
          <p:cNvPicPr>
            <a:picLocks noChangeAspect="1"/>
          </p:cNvPicPr>
          <p:nvPr/>
        </p:nvPicPr>
        <p:blipFill>
          <a:blip r:embed="rId7">
            <a:extLst>
              <a:ext uri="{96DAC541-7B7A-43D3-8B79-37D633B846F1}">
                <asvg:svgBlip xmlns:asvg="http://schemas.microsoft.com/office/drawing/2016/SVG/main" r:embed="rId8"/>
              </a:ext>
            </a:extLst>
          </a:blip>
          <a:srcRect l="10020" t="2545" r="8377" b="1031"/>
          <a:stretch>
            <a:fillRect/>
          </a:stretch>
        </p:blipFill>
        <p:spPr>
          <a:xfrm>
            <a:off x="7299960" y="2552700"/>
            <a:ext cx="7863840" cy="5852160"/>
          </a:xfrm>
          <a:prstGeom prst="rect">
            <a:avLst/>
          </a:prstGeom>
        </p:spPr>
      </p:pic>
    </p:spTree>
    <p:extLst>
      <p:ext uri="{BB962C8B-B14F-4D97-AF65-F5344CB8AC3E}">
        <p14:creationId xmlns:p14="http://schemas.microsoft.com/office/powerpoint/2010/main" val="30051881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BEE51EE-DCBC-8330-C357-2B4AFBCDA7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0EF4536-7A6B-6BD0-F384-EDE620F24719}"/>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FA8F47D4-3952-D2B7-8F5C-A3E68C8D0CF4}"/>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F286562D-94A3-D057-DA90-4A708C32C23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A320626-7A5A-D9A8-B468-EB2B3DD83B7B}"/>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962A69F6-9265-61A0-C3F9-7034A45BD3C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A26ACF9-4F29-8B7D-15A8-A924353A61EA}"/>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3419050-8664-09F1-D55A-86EC95A682CF}"/>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A44B94B3-77D1-4255-670E-0B50CAD673DC}"/>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Luimonteago, Lda - 510347070</a:t>
            </a:r>
          </a:p>
        </p:txBody>
      </p:sp>
      <p:grpSp>
        <p:nvGrpSpPr>
          <p:cNvPr id="15" name="Group 14">
            <a:extLst>
              <a:ext uri="{FF2B5EF4-FFF2-40B4-BE49-F238E27FC236}">
                <a16:creationId xmlns:a16="http://schemas.microsoft.com/office/drawing/2014/main" id="{1FECFC97-69C8-4046-1256-CC7CBDBC6ED2}"/>
              </a:ext>
            </a:extLst>
          </p:cNvPr>
          <p:cNvGrpSpPr/>
          <p:nvPr/>
        </p:nvGrpSpPr>
        <p:grpSpPr>
          <a:xfrm>
            <a:off x="1219200" y="1891118"/>
            <a:ext cx="11585603" cy="8133143"/>
            <a:chOff x="1219200" y="1891118"/>
            <a:chExt cx="11585603" cy="8133143"/>
          </a:xfrm>
        </p:grpSpPr>
        <p:pic>
          <p:nvPicPr>
            <p:cNvPr id="13" name="Picture 12">
              <a:hlinkClick r:id="rId7"/>
              <a:extLst>
                <a:ext uri="{FF2B5EF4-FFF2-40B4-BE49-F238E27FC236}">
                  <a16:creationId xmlns:a16="http://schemas.microsoft.com/office/drawing/2014/main" id="{03AF8877-BE1A-3719-634E-78D3FF8DAA5F}"/>
                </a:ext>
              </a:extLst>
            </p:cNvPr>
            <p:cNvPicPr>
              <a:picLocks noChangeAspect="1"/>
            </p:cNvPicPr>
            <p:nvPr/>
          </p:nvPicPr>
          <p:blipFill>
            <a:blip r:embed="rId8"/>
            <a:stretch>
              <a:fillRect/>
            </a:stretch>
          </p:blipFill>
          <p:spPr>
            <a:xfrm>
              <a:off x="1219200" y="4008051"/>
              <a:ext cx="4174521" cy="3899277"/>
            </a:xfrm>
            <a:prstGeom prst="rect">
              <a:avLst/>
            </a:prstGeom>
          </p:spPr>
        </p:pic>
        <p:pic>
          <p:nvPicPr>
            <p:cNvPr id="14" name="Picture 13">
              <a:extLst>
                <a:ext uri="{FF2B5EF4-FFF2-40B4-BE49-F238E27FC236}">
                  <a16:creationId xmlns:a16="http://schemas.microsoft.com/office/drawing/2014/main" id="{0C11E24D-AF84-A856-14B1-7F3D3437FA9D}"/>
                </a:ext>
              </a:extLst>
            </p:cNvPr>
            <p:cNvPicPr>
              <a:picLocks noChangeAspect="1"/>
            </p:cNvPicPr>
            <p:nvPr/>
          </p:nvPicPr>
          <p:blipFill>
            <a:blip r:embed="rId9"/>
            <a:stretch>
              <a:fillRect/>
            </a:stretch>
          </p:blipFill>
          <p:spPr>
            <a:xfrm>
              <a:off x="6934200" y="1891118"/>
              <a:ext cx="5870603" cy="8133143"/>
            </a:xfrm>
            <a:prstGeom prst="rect">
              <a:avLst/>
            </a:prstGeom>
          </p:spPr>
        </p:pic>
      </p:grpSp>
    </p:spTree>
    <p:extLst>
      <p:ext uri="{BB962C8B-B14F-4D97-AF65-F5344CB8AC3E}">
        <p14:creationId xmlns:p14="http://schemas.microsoft.com/office/powerpoint/2010/main" val="22229960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A5431511-02D4-A857-A33D-3961AB68C27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607EDFF-99BB-E31E-90D5-F9D78AAF1BF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28AA4C93-DDDB-1348-ED76-6594C9283B9E}"/>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96BACC2B-6B32-5C04-FEF2-D2858B48126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pic>
        <p:nvPicPr>
          <p:cNvPr id="16" name="Picture 15">
            <a:extLst>
              <a:ext uri="{FF2B5EF4-FFF2-40B4-BE49-F238E27FC236}">
                <a16:creationId xmlns:a16="http://schemas.microsoft.com/office/drawing/2014/main" id="{DB34DCDE-6C66-B936-F0F6-A8B969E767A3}"/>
              </a:ext>
            </a:extLst>
          </p:cNvPr>
          <p:cNvPicPr>
            <a:picLocks noChangeAspect="1"/>
          </p:cNvPicPr>
          <p:nvPr/>
        </p:nvPicPr>
        <p:blipFill>
          <a:blip r:embed="rId3"/>
          <a:stretch>
            <a:fillRect/>
          </a:stretch>
        </p:blipFill>
        <p:spPr>
          <a:xfrm>
            <a:off x="6931818" y="1891118"/>
            <a:ext cx="5872985" cy="8133143"/>
          </a:xfrm>
          <a:prstGeom prst="rect">
            <a:avLst/>
          </a:prstGeom>
          <a:ln>
            <a:solidFill>
              <a:schemeClr val="bg1">
                <a:lumMod val="65000"/>
              </a:schemeClr>
            </a:solidFill>
          </a:ln>
        </p:spPr>
      </p:pic>
      <p:sp>
        <p:nvSpPr>
          <p:cNvPr id="5" name="Freeform 5">
            <a:extLst>
              <a:ext uri="{FF2B5EF4-FFF2-40B4-BE49-F238E27FC236}">
                <a16:creationId xmlns:a16="http://schemas.microsoft.com/office/drawing/2014/main" id="{15B95F5F-0069-6F83-86EA-AC20A0D2C804}"/>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4"/>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56CC330-03CB-30FD-DCB8-0823614EEF64}"/>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BD6408E-1C2B-7308-645D-139BDBA17407}"/>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934E2191-1944-EBC5-62A0-422DBD203591}"/>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2339B10D-3695-A8B6-0D80-90F61D40254D}"/>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Oliveiras</a:t>
            </a:r>
            <a:r>
              <a:rPr lang="es-ES" sz="4800" b="1" dirty="0"/>
              <a:t> Gold de Portugal, Lda - 510172466</a:t>
            </a:r>
          </a:p>
        </p:txBody>
      </p:sp>
      <p:pic>
        <p:nvPicPr>
          <p:cNvPr id="14" name="Picture 13">
            <a:hlinkClick r:id="rId8"/>
            <a:extLst>
              <a:ext uri="{FF2B5EF4-FFF2-40B4-BE49-F238E27FC236}">
                <a16:creationId xmlns:a16="http://schemas.microsoft.com/office/drawing/2014/main" id="{9492FE3F-F49C-BDEC-4C8A-289E4414EDD7}"/>
              </a:ext>
            </a:extLst>
          </p:cNvPr>
          <p:cNvPicPr>
            <a:picLocks noChangeAspect="1"/>
          </p:cNvPicPr>
          <p:nvPr/>
        </p:nvPicPr>
        <p:blipFill>
          <a:blip r:embed="rId9"/>
          <a:stretch>
            <a:fillRect/>
          </a:stretch>
        </p:blipFill>
        <p:spPr>
          <a:xfrm>
            <a:off x="1219200" y="4008051"/>
            <a:ext cx="4174521" cy="3899277"/>
          </a:xfrm>
          <a:prstGeom prst="rect">
            <a:avLst/>
          </a:prstGeom>
        </p:spPr>
      </p:pic>
    </p:spTree>
    <p:extLst>
      <p:ext uri="{BB962C8B-B14F-4D97-AF65-F5344CB8AC3E}">
        <p14:creationId xmlns:p14="http://schemas.microsoft.com/office/powerpoint/2010/main" val="35399960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752C82B6-67D7-8E75-EFF6-A0A8FB90FC9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9353F03-BA22-D48B-78EC-F1732A8DC05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0BBC278A-15ED-1BDE-BCE3-0463EDB27CA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DB2B4C9-DF17-53D9-9C24-114E467FAF5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D430D488-7D7C-F6BF-582B-47F0A126821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AA01F311-A56E-CEFD-0037-A7819CFA87DF}"/>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4FB052F-DF06-027C-87EA-3D8CB6C8F856}"/>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36831202-2353-BA69-4A4F-11B83A551017}"/>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23990E15-2C65-6D3A-AE7B-2A56CCF79EC0}"/>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Semanário</a:t>
            </a:r>
            <a:r>
              <a:rPr lang="es-ES" sz="4800" b="1" dirty="0"/>
              <a:t> </a:t>
            </a:r>
            <a:r>
              <a:rPr lang="es-ES" sz="4800" b="1" dirty="0" err="1"/>
              <a:t>Expresso</a:t>
            </a:r>
            <a:endParaRPr lang="es-ES" sz="4800" b="1" dirty="0"/>
          </a:p>
        </p:txBody>
      </p:sp>
      <p:grpSp>
        <p:nvGrpSpPr>
          <p:cNvPr id="10" name="Group 9">
            <a:extLst>
              <a:ext uri="{FF2B5EF4-FFF2-40B4-BE49-F238E27FC236}">
                <a16:creationId xmlns:a16="http://schemas.microsoft.com/office/drawing/2014/main" id="{93F99DCD-5067-8085-1046-F251633FC343}"/>
              </a:ext>
            </a:extLst>
          </p:cNvPr>
          <p:cNvGrpSpPr/>
          <p:nvPr/>
        </p:nvGrpSpPr>
        <p:grpSpPr>
          <a:xfrm>
            <a:off x="3074497" y="2171485"/>
            <a:ext cx="9613812" cy="7600819"/>
            <a:chOff x="7315200" y="2599758"/>
            <a:chExt cx="9103618" cy="7191942"/>
          </a:xfrm>
        </p:grpSpPr>
        <p:pic>
          <p:nvPicPr>
            <p:cNvPr id="11" name="Picture 10">
              <a:hlinkClick r:id="rId7"/>
              <a:extLst>
                <a:ext uri="{FF2B5EF4-FFF2-40B4-BE49-F238E27FC236}">
                  <a16:creationId xmlns:a16="http://schemas.microsoft.com/office/drawing/2014/main" id="{20AECC6E-360A-9A2D-5ABC-4E4152E968FB}"/>
                </a:ext>
              </a:extLst>
            </p:cNvPr>
            <p:cNvPicPr>
              <a:picLocks noChangeAspect="1"/>
            </p:cNvPicPr>
            <p:nvPr/>
          </p:nvPicPr>
          <p:blipFill>
            <a:blip r:embed="rId8"/>
            <a:stretch>
              <a:fillRect/>
            </a:stretch>
          </p:blipFill>
          <p:spPr>
            <a:xfrm>
              <a:off x="7315200" y="2599758"/>
              <a:ext cx="9103618" cy="7191942"/>
            </a:xfrm>
            <a:prstGeom prst="rect">
              <a:avLst/>
            </a:prstGeom>
            <a:ln>
              <a:solidFill>
                <a:schemeClr val="bg1">
                  <a:lumMod val="65000"/>
                </a:schemeClr>
              </a:solidFill>
            </a:ln>
          </p:spPr>
        </p:pic>
        <p:sp>
          <p:nvSpPr>
            <p:cNvPr id="12" name="Rectangle 11">
              <a:extLst>
                <a:ext uri="{FF2B5EF4-FFF2-40B4-BE49-F238E27FC236}">
                  <a16:creationId xmlns:a16="http://schemas.microsoft.com/office/drawing/2014/main" id="{5646DCEA-BE9D-3700-7187-0C5C1F0AFD83}"/>
                </a:ext>
              </a:extLst>
            </p:cNvPr>
            <p:cNvSpPr/>
            <p:nvPr/>
          </p:nvSpPr>
          <p:spPr>
            <a:xfrm>
              <a:off x="7391400" y="5372100"/>
              <a:ext cx="8785963" cy="106680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sp>
          <p:nvSpPr>
            <p:cNvPr id="13" name="Rectangle 12">
              <a:extLst>
                <a:ext uri="{FF2B5EF4-FFF2-40B4-BE49-F238E27FC236}">
                  <a16:creationId xmlns:a16="http://schemas.microsoft.com/office/drawing/2014/main" id="{2E264946-9613-24BC-0B8C-5E519AF6B1F4}"/>
                </a:ext>
              </a:extLst>
            </p:cNvPr>
            <p:cNvSpPr/>
            <p:nvPr/>
          </p:nvSpPr>
          <p:spPr>
            <a:xfrm>
              <a:off x="11696700" y="6745206"/>
              <a:ext cx="1219201" cy="30329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solidFill>
                  <a:schemeClr val="bg1"/>
                </a:solidFill>
              </a:endParaRPr>
            </a:p>
          </p:txBody>
        </p:sp>
      </p:grpSp>
    </p:spTree>
    <p:extLst>
      <p:ext uri="{BB962C8B-B14F-4D97-AF65-F5344CB8AC3E}">
        <p14:creationId xmlns:p14="http://schemas.microsoft.com/office/powerpoint/2010/main" val="1610994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ACE929-5B37-3727-0828-9D9C399F5ED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EB57DC2-122A-350A-2DBE-8C3B04656C0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0BCDBBE-74D9-411E-F26F-071192A93AD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4171128-DD03-B992-A02F-6DA78CD0A74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55587B7F-4A5D-3BFE-D512-A144997BAE71}"/>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7A8C2327-C953-4409-6B73-4124C345B5E3}"/>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E807B9A9-E7AA-D391-95F9-AC030D94C5CD}"/>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2BEF1A3C-0B9D-18EA-B1D6-52A20E77CD47}"/>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AFB32017-0322-9789-1439-A3615F899E10}"/>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Empresas</a:t>
            </a:r>
            <a:endParaRPr lang="es-ES" sz="4800" b="1" noProof="0" dirty="0"/>
          </a:p>
        </p:txBody>
      </p:sp>
      <p:sp>
        <p:nvSpPr>
          <p:cNvPr id="9" name="Content Placeholder 2">
            <a:extLst>
              <a:ext uri="{FF2B5EF4-FFF2-40B4-BE49-F238E27FC236}">
                <a16:creationId xmlns:a16="http://schemas.microsoft.com/office/drawing/2014/main" id="{B8E06C06-C5AF-D0A3-3F0D-1EFB9E1E2578}"/>
              </a:ext>
            </a:extLst>
          </p:cNvPr>
          <p:cNvSpPr txBox="1">
            <a:spLocks/>
          </p:cNvSpPr>
          <p:nvPr/>
        </p:nvSpPr>
        <p:spPr>
          <a:xfrm>
            <a:off x="734927" y="9150175"/>
            <a:ext cx="14292953"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dirty="0"/>
              <a:t>Consejo:</a:t>
            </a:r>
            <a:r>
              <a:rPr lang="es-ES" dirty="0"/>
              <a:t> Empresas, socios comerciales, clientes, ...</a:t>
            </a:r>
          </a:p>
        </p:txBody>
      </p:sp>
      <p:graphicFrame>
        <p:nvGraphicFramePr>
          <p:cNvPr id="10" name="Table 5">
            <a:extLst>
              <a:ext uri="{FF2B5EF4-FFF2-40B4-BE49-F238E27FC236}">
                <a16:creationId xmlns:a16="http://schemas.microsoft.com/office/drawing/2014/main" id="{EDB7D8B1-1B26-B670-44C9-68020F125BBE}"/>
              </a:ext>
            </a:extLst>
          </p:cNvPr>
          <p:cNvGraphicFramePr>
            <a:graphicFrameLocks/>
          </p:cNvGraphicFramePr>
          <p:nvPr>
            <p:extLst>
              <p:ext uri="{D42A27DB-BD31-4B8C-83A1-F6EECF244321}">
                <p14:modId xmlns:p14="http://schemas.microsoft.com/office/powerpoint/2010/main" val="1262092021"/>
              </p:ext>
            </p:extLst>
          </p:nvPr>
        </p:nvGraphicFramePr>
        <p:xfrm>
          <a:off x="2236532" y="2171700"/>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SP&amp;M, Sociedade de Advogados, RL </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510445020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50%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1" name="Table 5">
            <a:extLst>
              <a:ext uri="{FF2B5EF4-FFF2-40B4-BE49-F238E27FC236}">
                <a16:creationId xmlns:a16="http://schemas.microsoft.com/office/drawing/2014/main" id="{B268B517-DF65-3E89-CDCA-213970029E20}"/>
              </a:ext>
            </a:extLst>
          </p:cNvPr>
          <p:cNvGraphicFramePr>
            <a:graphicFrameLocks/>
          </p:cNvGraphicFramePr>
          <p:nvPr>
            <p:extLst>
              <p:ext uri="{D42A27DB-BD31-4B8C-83A1-F6EECF244321}">
                <p14:modId xmlns:p14="http://schemas.microsoft.com/office/powerpoint/2010/main" val="1127421183"/>
              </p:ext>
            </p:extLst>
          </p:nvPr>
        </p:nvGraphicFramePr>
        <p:xfrm>
          <a:off x="2236532" y="446627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Luimonteago, Lda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510347070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95%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4.750€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2" name="Table 5">
            <a:extLst>
              <a:ext uri="{FF2B5EF4-FFF2-40B4-BE49-F238E27FC236}">
                <a16:creationId xmlns:a16="http://schemas.microsoft.com/office/drawing/2014/main" id="{217847C0-721F-66FC-078B-0BF9D513EBB2}"/>
              </a:ext>
            </a:extLst>
          </p:cNvPr>
          <p:cNvGraphicFramePr>
            <a:graphicFrameLocks/>
          </p:cNvGraphicFramePr>
          <p:nvPr>
            <p:extLst>
              <p:ext uri="{D42A27DB-BD31-4B8C-83A1-F6EECF244321}">
                <p14:modId xmlns:p14="http://schemas.microsoft.com/office/powerpoint/2010/main" val="42391767"/>
              </p:ext>
            </p:extLst>
          </p:nvPr>
        </p:nvGraphicFramePr>
        <p:xfrm>
          <a:off x="2236532" y="676525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Oliveiras Gold de Portugal, Lda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510172466</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1.200€</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3" name="Table 5">
            <a:extLst>
              <a:ext uri="{FF2B5EF4-FFF2-40B4-BE49-F238E27FC236}">
                <a16:creationId xmlns:a16="http://schemas.microsoft.com/office/drawing/2014/main" id="{7A31AA46-42F1-19D2-3B5E-1D3B8E9D58A1}"/>
              </a:ext>
            </a:extLst>
          </p:cNvPr>
          <p:cNvGraphicFramePr>
            <a:graphicFrameLocks/>
          </p:cNvGraphicFramePr>
          <p:nvPr>
            <p:extLst>
              <p:ext uri="{D42A27DB-BD31-4B8C-83A1-F6EECF244321}">
                <p14:modId xmlns:p14="http://schemas.microsoft.com/office/powerpoint/2010/main" val="64183420"/>
              </p:ext>
            </p:extLst>
          </p:nvPr>
        </p:nvGraphicFramePr>
        <p:xfrm>
          <a:off x="8072522" y="2171700"/>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Grupo Ferpinta, SA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501756710</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7A2430C6-6572-8A61-79DF-08976DBF2079}"/>
              </a:ext>
            </a:extLst>
          </p:cNvPr>
          <p:cNvGraphicFramePr>
            <a:graphicFrameLocks/>
          </p:cNvGraphicFramePr>
          <p:nvPr>
            <p:extLst>
              <p:ext uri="{D42A27DB-BD31-4B8C-83A1-F6EECF244321}">
                <p14:modId xmlns:p14="http://schemas.microsoft.com/office/powerpoint/2010/main" val="2109630859"/>
              </p:ext>
            </p:extLst>
          </p:nvPr>
        </p:nvGraphicFramePr>
        <p:xfrm>
          <a:off x="8072522" y="446627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2619954489"/>
                    </a:ext>
                  </a:extLst>
                </a:gridCol>
              </a:tblGrid>
              <a:tr h="377865">
                <a:tc>
                  <a:txBody>
                    <a:bodyPr/>
                    <a:lstStyle/>
                    <a:p>
                      <a:pPr algn="l"/>
                      <a:r>
                        <a:rPr lang="es-ES" sz="2400" noProof="0" dirty="0"/>
                        <a:t>Radio Popular - Eletrodomésticos, SA</a:t>
                      </a:r>
                    </a:p>
                  </a:txBody>
                  <a:tcPr anchor="ctr">
                    <a:solidFill>
                      <a:schemeClr val="tx1">
                        <a:lumMod val="65000"/>
                        <a:lumOff val="35000"/>
                      </a:schemeClr>
                    </a:solidFill>
                  </a:tcPr>
                </a:tc>
                <a:extLst>
                  <a:ext uri="{0D108BD9-81ED-4DB2-BD59-A6C34878D82A}">
                    <a16:rowId xmlns:a16="http://schemas.microsoft.com/office/drawing/2014/main" val="238952809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500674205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Posición – Presidente de la Junta General</a:t>
                      </a:r>
                    </a:p>
                  </a:txBody>
                  <a:tcPr>
                    <a:solidFill>
                      <a:schemeClr val="bg1">
                        <a:lumMod val="95000"/>
                      </a:schemeClr>
                    </a:solidFill>
                  </a:tcPr>
                </a:tc>
                <a:extLst>
                  <a:ext uri="{0D108BD9-81ED-4DB2-BD59-A6C34878D82A}">
                    <a16:rowId xmlns:a16="http://schemas.microsoft.com/office/drawing/2014/main" val="3288223916"/>
                  </a:ext>
                </a:extLst>
              </a:tr>
            </a:tbl>
          </a:graphicData>
        </a:graphic>
      </p:graphicFrame>
      <p:graphicFrame>
        <p:nvGraphicFramePr>
          <p:cNvPr id="15" name="Table 14">
            <a:extLst>
              <a:ext uri="{FF2B5EF4-FFF2-40B4-BE49-F238E27FC236}">
                <a16:creationId xmlns:a16="http://schemas.microsoft.com/office/drawing/2014/main" id="{F69AAA56-FED4-081E-B08D-ED94CA202061}"/>
              </a:ext>
            </a:extLst>
          </p:cNvPr>
          <p:cNvGraphicFramePr>
            <a:graphicFrameLocks noGrp="1"/>
          </p:cNvGraphicFramePr>
          <p:nvPr>
            <p:extLst>
              <p:ext uri="{D42A27DB-BD31-4B8C-83A1-F6EECF244321}">
                <p14:modId xmlns:p14="http://schemas.microsoft.com/office/powerpoint/2010/main" val="2896231478"/>
              </p:ext>
            </p:extLst>
          </p:nvPr>
        </p:nvGraphicFramePr>
        <p:xfrm>
          <a:off x="8072522" y="6765253"/>
          <a:ext cx="4854746" cy="2094393"/>
        </p:xfrm>
        <a:graphic>
          <a:graphicData uri="http://schemas.openxmlformats.org/drawingml/2006/table">
            <a:tbl>
              <a:tblPr firstRow="1" bandRow="1">
                <a:tableStyleId>{5C22544A-7EE6-4342-B048-85BDC9FD1C3A}</a:tableStyleId>
              </a:tblPr>
              <a:tblGrid>
                <a:gridCol w="4854746">
                  <a:extLst>
                    <a:ext uri="{9D8B030D-6E8A-4147-A177-3AD203B41FA5}">
                      <a16:colId xmlns:a16="http://schemas.microsoft.com/office/drawing/2014/main" val="3310387241"/>
                    </a:ext>
                  </a:extLst>
                </a:gridCol>
              </a:tblGrid>
              <a:tr h="377865">
                <a:tc>
                  <a:txBody>
                    <a:bodyPr/>
                    <a:lstStyle/>
                    <a:p>
                      <a:pPr algn="l"/>
                      <a:r>
                        <a:rPr lang="es-ES" sz="2400" noProof="0" dirty="0" err="1"/>
                        <a:t>Spinumviva</a:t>
                      </a:r>
                      <a:r>
                        <a:rPr lang="es-ES" sz="2400" noProof="0" dirty="0"/>
                        <a:t>, Lda</a:t>
                      </a:r>
                    </a:p>
                  </a:txBody>
                  <a:tcPr anchor="ctr">
                    <a:solidFill>
                      <a:schemeClr val="tx2">
                        <a:lumMod val="75000"/>
                      </a:schemeClr>
                    </a:solidFill>
                  </a:tcPr>
                </a:tc>
                <a:extLst>
                  <a:ext uri="{0D108BD9-81ED-4DB2-BD59-A6C34878D82A}">
                    <a16:rowId xmlns:a16="http://schemas.microsoft.com/office/drawing/2014/main" val="1490259954"/>
                  </a:ext>
                </a:extLst>
              </a:tr>
              <a:tr h="1637193">
                <a:tc>
                  <a:txBody>
                    <a:bodyPr/>
                    <a:lstStyle/>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NIF – 516195174</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Cargo – 62.5%</a:t>
                      </a: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s-ES" sz="2000" kern="1200" noProof="0" dirty="0">
                          <a:solidFill>
                            <a:schemeClr val="dk1"/>
                          </a:solidFill>
                          <a:latin typeface="+mn-lt"/>
                          <a:ea typeface="+mn-ea"/>
                          <a:cs typeface="+mn-cs"/>
                        </a:rPr>
                        <a:t>Share – 3.750€</a:t>
                      </a:r>
                    </a:p>
                  </a:txBody>
                  <a:tcPr>
                    <a:solidFill>
                      <a:schemeClr val="tx2">
                        <a:lumMod val="20000"/>
                        <a:lumOff val="80000"/>
                      </a:schemeClr>
                    </a:solidFill>
                  </a:tcPr>
                </a:tc>
                <a:extLst>
                  <a:ext uri="{0D108BD9-81ED-4DB2-BD59-A6C34878D82A}">
                    <a16:rowId xmlns:a16="http://schemas.microsoft.com/office/drawing/2014/main" val="2212561031"/>
                  </a:ext>
                </a:extLst>
              </a:tr>
            </a:tbl>
          </a:graphicData>
        </a:graphic>
      </p:graphicFrame>
    </p:spTree>
    <p:extLst>
      <p:ext uri="{BB962C8B-B14F-4D97-AF65-F5344CB8AC3E}">
        <p14:creationId xmlns:p14="http://schemas.microsoft.com/office/powerpoint/2010/main" val="405184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7B096CB-8F4D-F898-7456-E2523AED241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8BCF4BE-068B-A512-2EE4-18F71C399956}"/>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55D333F2-844D-55FF-5F7D-81DFCF220071}"/>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326150B-F2AB-B1C2-56E8-A516A34CC589}"/>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pic>
        <p:nvPicPr>
          <p:cNvPr id="16" name="Picture 15">
            <a:extLst>
              <a:ext uri="{FF2B5EF4-FFF2-40B4-BE49-F238E27FC236}">
                <a16:creationId xmlns:a16="http://schemas.microsoft.com/office/drawing/2014/main" id="{A5B61B75-2B6D-4523-B975-7FA3C7117451}"/>
              </a:ext>
            </a:extLst>
          </p:cNvPr>
          <p:cNvPicPr>
            <a:picLocks noChangeAspect="1"/>
          </p:cNvPicPr>
          <p:nvPr/>
        </p:nvPicPr>
        <p:blipFill>
          <a:blip r:embed="rId3"/>
          <a:stretch>
            <a:fillRect/>
          </a:stretch>
        </p:blipFill>
        <p:spPr>
          <a:xfrm>
            <a:off x="6935494" y="1891118"/>
            <a:ext cx="5909507" cy="8133143"/>
          </a:xfrm>
          <a:prstGeom prst="rect">
            <a:avLst/>
          </a:prstGeom>
          <a:ln>
            <a:solidFill>
              <a:schemeClr val="bg1">
                <a:lumMod val="65000"/>
              </a:schemeClr>
            </a:solidFill>
          </a:ln>
        </p:spPr>
      </p:pic>
      <p:sp>
        <p:nvSpPr>
          <p:cNvPr id="5" name="Freeform 5">
            <a:extLst>
              <a:ext uri="{FF2B5EF4-FFF2-40B4-BE49-F238E27FC236}">
                <a16:creationId xmlns:a16="http://schemas.microsoft.com/office/drawing/2014/main" id="{B3EB9387-32D1-4277-7707-DDA2C2DF1C5D}"/>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4"/>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CFBA448-ADAB-C73B-2590-5724E86D5710}"/>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B9793D3-89AC-F173-2FDD-86F4673D282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71C19053-3714-06FE-76CD-52852517C528}"/>
              </a:ext>
            </a:extLst>
          </p:cNvPr>
          <p:cNvPicPr>
            <a:picLocks noChangeAspect="1"/>
          </p:cNvPicPr>
          <p:nvPr/>
        </p:nvPicPr>
        <p:blipFill>
          <a:blip r:embed="rId7"/>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46EF4544-B963-95E1-3717-57A238728838}"/>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Spinumviva</a:t>
            </a:r>
            <a:r>
              <a:rPr lang="es-ES" sz="4800" b="1" dirty="0"/>
              <a:t>, Lda - 516195174</a:t>
            </a:r>
          </a:p>
        </p:txBody>
      </p:sp>
      <p:pic>
        <p:nvPicPr>
          <p:cNvPr id="14" name="Picture 13">
            <a:hlinkClick r:id="rId8"/>
            <a:extLst>
              <a:ext uri="{FF2B5EF4-FFF2-40B4-BE49-F238E27FC236}">
                <a16:creationId xmlns:a16="http://schemas.microsoft.com/office/drawing/2014/main" id="{5780D36E-E43B-FF01-B85C-28211ED52372}"/>
              </a:ext>
            </a:extLst>
          </p:cNvPr>
          <p:cNvPicPr>
            <a:picLocks noChangeAspect="1"/>
          </p:cNvPicPr>
          <p:nvPr/>
        </p:nvPicPr>
        <p:blipFill>
          <a:blip r:embed="rId9"/>
          <a:stretch>
            <a:fillRect/>
          </a:stretch>
        </p:blipFill>
        <p:spPr>
          <a:xfrm>
            <a:off x="1219200" y="4008051"/>
            <a:ext cx="4174521" cy="3899277"/>
          </a:xfrm>
          <a:prstGeom prst="rect">
            <a:avLst/>
          </a:prstGeom>
        </p:spPr>
      </p:pic>
    </p:spTree>
    <p:extLst>
      <p:ext uri="{BB962C8B-B14F-4D97-AF65-F5344CB8AC3E}">
        <p14:creationId xmlns:p14="http://schemas.microsoft.com/office/powerpoint/2010/main" val="26787689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4A07B0E9-F3E3-DDC7-BA6A-99B8044EC54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5C52872-D01F-C331-0FFB-557A6ED6C1CC}"/>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C2230704-0E40-49E7-07A4-1D931A8897E8}"/>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E2ED892-FA53-F4A0-0E20-C508669FE03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4119C955-6F8D-E588-0861-0760A66B9E0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58AF3F52-DF58-43F2-17FA-47DE89FBA66E}"/>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758F70DE-48CF-2250-F5AD-C5A85D8ABE11}"/>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9F0926B-89DC-FAE8-FCF2-A2BD2C82143C}"/>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4516555-1ABA-D222-1DBE-A9B238F1B371}"/>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A8586047-0B84-6DDB-FCFF-6AE569F46480}"/>
              </a:ext>
            </a:extLst>
          </p:cNvPr>
          <p:cNvSpPr txBox="1">
            <a:spLocks/>
          </p:cNvSpPr>
          <p:nvPr/>
        </p:nvSpPr>
        <p:spPr>
          <a:xfrm>
            <a:off x="581691" y="2442911"/>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400" b="1" dirty="0"/>
              <a:t>Nombre</a:t>
            </a:r>
            <a:r>
              <a:rPr lang="es-ES" sz="2400" dirty="0"/>
              <a:t>: Luís Montenegro</a:t>
            </a:r>
          </a:p>
          <a:p>
            <a:pPr marL="0" indent="0">
              <a:buNone/>
            </a:pPr>
            <a:r>
              <a:rPr lang="es-ES" sz="2400" b="1" dirty="0"/>
              <a:t>Nombre:</a:t>
            </a:r>
            <a:r>
              <a:rPr lang="es-ES" sz="2400" dirty="0"/>
              <a:t> </a:t>
            </a:r>
            <a:r>
              <a:rPr lang="es-ES" sz="2000" dirty="0"/>
              <a:t>Luís Filipe Montenegro Cardoso de Morais Esteves</a:t>
            </a:r>
          </a:p>
          <a:p>
            <a:pPr marL="0" indent="0">
              <a:buNone/>
            </a:pPr>
            <a:r>
              <a:rPr lang="es-ES" sz="2400" b="1" dirty="0"/>
              <a:t>NIF: </a:t>
            </a:r>
            <a:r>
              <a:rPr lang="es-ES" sz="2400" dirty="0"/>
              <a:t>205910254</a:t>
            </a:r>
          </a:p>
          <a:p>
            <a:pPr marL="0" indent="0">
              <a:buNone/>
            </a:pPr>
            <a:r>
              <a:rPr lang="es-ES" sz="2400" b="1" dirty="0"/>
              <a:t>Nacimiento</a:t>
            </a:r>
            <a:r>
              <a:rPr lang="es-ES" sz="2400" dirty="0"/>
              <a:t>: 16/02/1973 - Porto</a:t>
            </a:r>
          </a:p>
          <a:p>
            <a:pPr marL="0" indent="0">
              <a:buNone/>
            </a:pPr>
            <a:r>
              <a:rPr lang="es-ES" sz="2400" b="1" dirty="0"/>
              <a:t>Estado civil</a:t>
            </a:r>
            <a:r>
              <a:rPr lang="es-ES" sz="24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a:t>
            </a:r>
            <a:r>
              <a:rPr lang="es-ES" sz="2000" b="1" dirty="0">
                <a:solidFill>
                  <a:schemeClr val="tx2">
                    <a:lumMod val="60000"/>
                    <a:lumOff val="40000"/>
                  </a:schemeClr>
                </a:solidFill>
              </a:rPr>
              <a:t>Hugo Filipe Neto Montenegro</a:t>
            </a:r>
          </a:p>
          <a:p>
            <a:pPr marL="114300" indent="0">
              <a:buNone/>
            </a:pPr>
            <a:r>
              <a:rPr lang="es-ES" sz="2000" dirty="0"/>
              <a:t>- </a:t>
            </a:r>
            <a:r>
              <a:rPr lang="es-ES" sz="2000" b="1" dirty="0">
                <a:solidFill>
                  <a:schemeClr val="tx2">
                    <a:lumMod val="60000"/>
                    <a:lumOff val="40000"/>
                  </a:schemeClr>
                </a:solidFill>
              </a:rPr>
              <a:t>Diogo Luís Neto Montenegro</a:t>
            </a:r>
          </a:p>
          <a:p>
            <a:pPr marL="0" indent="0">
              <a:buNone/>
            </a:pPr>
            <a:r>
              <a:rPr lang="pt-BR" sz="2400" b="1" dirty="0"/>
              <a:t>Dirección:</a:t>
            </a:r>
          </a:p>
          <a:p>
            <a:pPr marL="119063" indent="0">
              <a:buNone/>
            </a:pPr>
            <a:r>
              <a:rPr lang="pt-BR" sz="2000" dirty="0"/>
              <a:t>- </a:t>
            </a:r>
            <a:r>
              <a:rPr lang="pt-BR" sz="2000" b="1" dirty="0">
                <a:solidFill>
                  <a:schemeClr val="tx2">
                    <a:lumMod val="60000"/>
                    <a:lumOff val="40000"/>
                  </a:schemeClr>
                </a:solidFill>
              </a:rPr>
              <a:t>Avenida 8, nº 320</a:t>
            </a:r>
          </a:p>
          <a:p>
            <a:pPr marL="119063" indent="0">
              <a:buNone/>
            </a:pPr>
            <a:r>
              <a:rPr lang="pt-BR" sz="2000" dirty="0"/>
              <a:t>- </a:t>
            </a:r>
            <a:r>
              <a:rPr lang="pt-BR" sz="2000" b="1" dirty="0">
                <a:solidFill>
                  <a:schemeClr val="tx2">
                    <a:lumMod val="60000"/>
                    <a:lumOff val="40000"/>
                  </a:schemeClr>
                </a:solidFill>
              </a:rPr>
              <a:t>4500 - 205 Espinho</a:t>
            </a:r>
          </a:p>
          <a:p>
            <a:pPr marL="0" indent="0">
              <a:buNone/>
            </a:pPr>
            <a:r>
              <a:rPr lang="es-ES" sz="2400" b="1" dirty="0"/>
              <a:t>Email: </a:t>
            </a:r>
            <a:r>
              <a:rPr lang="es-ES" sz="2400" dirty="0"/>
              <a:t>lmontenegro@spm-advogados.com</a:t>
            </a:r>
          </a:p>
          <a:p>
            <a:pPr marL="0" indent="0">
              <a:buNone/>
            </a:pPr>
            <a:r>
              <a:rPr lang="es-ES" sz="2400" b="1" dirty="0"/>
              <a:t>Educación</a:t>
            </a:r>
            <a:r>
              <a:rPr lang="es-ES" sz="24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EE7B9823-6FBF-6A59-C38C-789C33157D67}"/>
              </a:ext>
            </a:extLst>
          </p:cNvPr>
          <p:cNvSpPr txBox="1">
            <a:spLocks/>
          </p:cNvSpPr>
          <p:nvPr/>
        </p:nvSpPr>
        <p:spPr>
          <a:xfrm>
            <a:off x="7973927" y="2442911"/>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Tree>
    <p:extLst>
      <p:ext uri="{BB962C8B-B14F-4D97-AF65-F5344CB8AC3E}">
        <p14:creationId xmlns:p14="http://schemas.microsoft.com/office/powerpoint/2010/main" val="25667743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DAB93B1B-7957-8B49-6D47-8F8E569D915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7BE3554-4382-2494-116F-9E29C7A7D85A}"/>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A2635865-69C7-BF5A-F5C9-C268B2A50EC2}"/>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D6F0BE6-D861-8B96-E2EE-2968422E8E0F}"/>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4C8F38F7-EAA3-3E63-FEF8-A3019CE817E2}"/>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C801A355-3D2A-AEB6-2CDD-D8C043B6646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B7BFD5C-8809-3270-0239-E35A975C67BE}"/>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C59B013A-5CFC-0F06-0854-74DF14093B55}"/>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3F0AD3B8-4446-D5FF-D2C2-43E5B9F10C83}"/>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err="1"/>
              <a:t>Spinumviva</a:t>
            </a:r>
            <a:r>
              <a:rPr lang="es-ES" sz="4800" b="1" dirty="0"/>
              <a:t>, Lda - 516195174</a:t>
            </a:r>
          </a:p>
        </p:txBody>
      </p:sp>
      <p:pic>
        <p:nvPicPr>
          <p:cNvPr id="10" name="Picture 9">
            <a:hlinkClick r:id="rId7"/>
            <a:extLst>
              <a:ext uri="{FF2B5EF4-FFF2-40B4-BE49-F238E27FC236}">
                <a16:creationId xmlns:a16="http://schemas.microsoft.com/office/drawing/2014/main" id="{84FF3288-1509-028D-193E-6AA62DF3C251}"/>
              </a:ext>
            </a:extLst>
          </p:cNvPr>
          <p:cNvPicPr>
            <a:picLocks noChangeAspect="1"/>
          </p:cNvPicPr>
          <p:nvPr/>
        </p:nvPicPr>
        <p:blipFill>
          <a:blip r:embed="rId8"/>
          <a:stretch>
            <a:fillRect/>
          </a:stretch>
        </p:blipFill>
        <p:spPr>
          <a:xfrm>
            <a:off x="2117631" y="2455611"/>
            <a:ext cx="11527544" cy="6855728"/>
          </a:xfrm>
          <a:prstGeom prst="rect">
            <a:avLst/>
          </a:prstGeom>
          <a:ln>
            <a:solidFill>
              <a:schemeClr val="bg1">
                <a:lumMod val="65000"/>
              </a:schemeClr>
            </a:solidFill>
          </a:ln>
        </p:spPr>
      </p:pic>
    </p:spTree>
    <p:extLst>
      <p:ext uri="{BB962C8B-B14F-4D97-AF65-F5344CB8AC3E}">
        <p14:creationId xmlns:p14="http://schemas.microsoft.com/office/powerpoint/2010/main" val="9195632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C11BA1E-F3DD-F5BC-EFC0-EF96329FEEF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65C359E-D340-7EFC-AFFE-E6F59E06111B}"/>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E6442761-944B-B2B2-6ED5-C05621649507}"/>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5D8F0333-B0F7-143D-4264-D258C88D5B3A}"/>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9658E65F-E5C7-37CD-FF42-F1821D6FB61D}"/>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DFF6BB99-035C-7572-7C7F-54D4E552680C}"/>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AFBCCC92-4FF4-CC90-3E5B-53675AD035D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51905B5-6DBE-7A22-B5BC-D88E9026C3C1}"/>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EC9CDD3A-1168-3961-7349-D758D3D06026}"/>
              </a:ext>
            </a:extLst>
          </p:cNvPr>
          <p:cNvSpPr txBox="1">
            <a:spLocks/>
          </p:cNvSpPr>
          <p:nvPr/>
        </p:nvSpPr>
        <p:spPr>
          <a:xfrm>
            <a:off x="734927" y="800100"/>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Status</a:t>
            </a:r>
            <a:endParaRPr lang="es-ES" sz="4800" b="1" noProof="0" dirty="0"/>
          </a:p>
        </p:txBody>
      </p:sp>
      <p:sp>
        <p:nvSpPr>
          <p:cNvPr id="12" name="Content Placeholder 4">
            <a:extLst>
              <a:ext uri="{FF2B5EF4-FFF2-40B4-BE49-F238E27FC236}">
                <a16:creationId xmlns:a16="http://schemas.microsoft.com/office/drawing/2014/main" id="{AD97D2ED-D476-0AAB-C452-6D8E9D11E310}"/>
              </a:ext>
            </a:extLst>
          </p:cNvPr>
          <p:cNvSpPr txBox="1">
            <a:spLocks/>
          </p:cNvSpPr>
          <p:nvPr/>
        </p:nvSpPr>
        <p:spPr>
          <a:xfrm>
            <a:off x="581691" y="1664528"/>
            <a:ext cx="7113673" cy="6004284"/>
          </a:xfrm>
          <a:prstGeom prst="rect">
            <a:avLst/>
          </a:prstGeom>
          <a:ln>
            <a:noFill/>
          </a:ln>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2000" b="1" dirty="0"/>
              <a:t>Nombre</a:t>
            </a:r>
            <a:r>
              <a:rPr lang="es-ES" sz="2000" dirty="0"/>
              <a:t>: Luís Montenegro</a:t>
            </a:r>
          </a:p>
          <a:p>
            <a:pPr marL="0" indent="0">
              <a:buNone/>
            </a:pPr>
            <a:r>
              <a:rPr lang="es-ES" sz="2000" b="1" dirty="0"/>
              <a:t>Nombre:</a:t>
            </a:r>
            <a:r>
              <a:rPr lang="es-ES" sz="2000" dirty="0"/>
              <a:t> Luís Filipe Montenegro Cardoso de Morais Esteves</a:t>
            </a:r>
          </a:p>
          <a:p>
            <a:pPr marL="0" indent="0">
              <a:buNone/>
            </a:pPr>
            <a:r>
              <a:rPr lang="es-ES" sz="2000" b="1" dirty="0"/>
              <a:t>NIF: </a:t>
            </a:r>
            <a:r>
              <a:rPr lang="es-ES" sz="2000" dirty="0"/>
              <a:t>205910254</a:t>
            </a:r>
          </a:p>
          <a:p>
            <a:pPr marL="0" indent="0">
              <a:buNone/>
            </a:pPr>
            <a:r>
              <a:rPr lang="es-ES" sz="2000" b="1" dirty="0"/>
              <a:t>Nacimiento</a:t>
            </a:r>
            <a:r>
              <a:rPr lang="es-ES" sz="2000" dirty="0"/>
              <a:t>: 16/02/1973 - Porto</a:t>
            </a:r>
          </a:p>
          <a:p>
            <a:pPr marL="0" indent="0">
              <a:buNone/>
            </a:pPr>
            <a:r>
              <a:rPr lang="es-ES" sz="2000" b="1" dirty="0"/>
              <a:t>Estado civil</a:t>
            </a:r>
            <a:r>
              <a:rPr lang="es-ES" sz="2000" dirty="0"/>
              <a:t>: </a:t>
            </a:r>
          </a:p>
          <a:p>
            <a:pPr marL="114300" indent="0">
              <a:buNone/>
            </a:pPr>
            <a:r>
              <a:rPr lang="es-ES" sz="2000" dirty="0"/>
              <a:t>- Casado - </a:t>
            </a:r>
            <a:r>
              <a:rPr lang="pt-BR" sz="2000" dirty="0"/>
              <a:t>Carla Maria Rodrigues Neto Montenegro</a:t>
            </a:r>
          </a:p>
          <a:p>
            <a:pPr marL="114300" indent="0">
              <a:buNone/>
            </a:pPr>
            <a:r>
              <a:rPr lang="es-ES" sz="2000" dirty="0"/>
              <a:t>       - Comunión de bienes adquiridos</a:t>
            </a:r>
          </a:p>
          <a:p>
            <a:pPr marL="114300" indent="0">
              <a:buNone/>
            </a:pPr>
            <a:r>
              <a:rPr lang="es-ES" sz="2000" dirty="0"/>
              <a:t>- Hugo Filipe Neto Montenegro – </a:t>
            </a:r>
            <a:r>
              <a:rPr lang="es-ES" sz="2000" b="1" dirty="0">
                <a:solidFill>
                  <a:schemeClr val="tx2">
                    <a:lumMod val="60000"/>
                    <a:lumOff val="40000"/>
                  </a:schemeClr>
                </a:solidFill>
              </a:rPr>
              <a:t>9251XXXXX</a:t>
            </a:r>
          </a:p>
          <a:p>
            <a:pPr marL="114300" indent="0">
              <a:buNone/>
            </a:pPr>
            <a:r>
              <a:rPr lang="es-ES" sz="2000" dirty="0"/>
              <a:t>- Diogo Luís Neto Montenegro</a:t>
            </a:r>
          </a:p>
          <a:p>
            <a:pPr marL="0" indent="0">
              <a:buNone/>
            </a:pPr>
            <a:r>
              <a:rPr lang="pt-BR" sz="2000" b="1" dirty="0"/>
              <a:t>Dirección:</a:t>
            </a:r>
          </a:p>
          <a:p>
            <a:pPr marL="119063" indent="0">
              <a:buNone/>
            </a:pPr>
            <a:r>
              <a:rPr lang="pt-BR" sz="2000" dirty="0"/>
              <a:t>- Avenida 8, nº 320</a:t>
            </a:r>
          </a:p>
          <a:p>
            <a:pPr marL="119063" indent="0">
              <a:buNone/>
            </a:pPr>
            <a:r>
              <a:rPr lang="pt-BR" sz="2000" dirty="0"/>
              <a:t>- 4500 - 205 Espinho</a:t>
            </a:r>
          </a:p>
          <a:p>
            <a:pPr marL="0" indent="0">
              <a:buNone/>
            </a:pPr>
            <a:r>
              <a:rPr lang="es-ES" sz="2000" b="1" dirty="0"/>
              <a:t>Email:</a:t>
            </a:r>
          </a:p>
          <a:p>
            <a:pPr marL="115888" indent="0">
              <a:buNone/>
            </a:pPr>
            <a:r>
              <a:rPr lang="pt-BR" sz="2000" dirty="0"/>
              <a:t>- </a:t>
            </a:r>
            <a:r>
              <a:rPr lang="es-ES" sz="2000" dirty="0"/>
              <a:t>lmontenegro@spm-advogados.com</a:t>
            </a:r>
          </a:p>
          <a:p>
            <a:pPr marL="115888" indent="0">
              <a:buNone/>
            </a:pPr>
            <a:r>
              <a:rPr lang="es-ES" sz="2000" dirty="0"/>
              <a:t>- </a:t>
            </a:r>
            <a:r>
              <a:rPr lang="es-ES" sz="2000" b="1" dirty="0">
                <a:solidFill>
                  <a:schemeClr val="tx2">
                    <a:lumMod val="60000"/>
                    <a:lumOff val="40000"/>
                  </a:schemeClr>
                </a:solidFill>
              </a:rPr>
              <a:t>spinumviva@gmail.com</a:t>
            </a:r>
          </a:p>
          <a:p>
            <a:pPr marL="0" indent="0">
              <a:buNone/>
            </a:pPr>
            <a:r>
              <a:rPr lang="es-ES" sz="2000" b="1" dirty="0"/>
              <a:t>Teléfono:</a:t>
            </a:r>
          </a:p>
          <a:p>
            <a:pPr marL="115888" indent="0">
              <a:buNone/>
            </a:pPr>
            <a:r>
              <a:rPr lang="es-ES" sz="2000" dirty="0"/>
              <a:t>- </a:t>
            </a:r>
            <a:r>
              <a:rPr lang="es-ES" sz="2000" b="1" dirty="0">
                <a:solidFill>
                  <a:schemeClr val="tx2">
                    <a:lumMod val="60000"/>
                    <a:lumOff val="40000"/>
                  </a:schemeClr>
                </a:solidFill>
              </a:rPr>
              <a:t>9685XXXXX</a:t>
            </a:r>
            <a:endParaRPr lang="es-ES" sz="2000" dirty="0"/>
          </a:p>
          <a:p>
            <a:pPr marL="0" indent="0">
              <a:buNone/>
            </a:pPr>
            <a:r>
              <a:rPr lang="es-ES" sz="2000" b="1" dirty="0"/>
              <a:t>Educación</a:t>
            </a:r>
            <a:r>
              <a:rPr lang="es-ES" sz="2000" dirty="0"/>
              <a:t>: </a:t>
            </a:r>
          </a:p>
          <a:p>
            <a:pPr marL="114300" indent="0">
              <a:buNone/>
            </a:pPr>
            <a:r>
              <a:rPr lang="es-ES" sz="2000" dirty="0"/>
              <a:t>- Licenciado en Derecho - Universidad Católica Portuguesa - 1999</a:t>
            </a:r>
          </a:p>
          <a:p>
            <a:pPr marL="114300" indent="0">
              <a:buNone/>
            </a:pPr>
            <a:r>
              <a:rPr lang="es-ES" sz="2000" dirty="0"/>
              <a:t>- Postgrado en Protección de Datos Personales – INSEAD</a:t>
            </a:r>
          </a:p>
          <a:p>
            <a:pPr marL="114300" indent="0">
              <a:buNone/>
            </a:pPr>
            <a:r>
              <a:rPr lang="es-ES" sz="2000" dirty="0"/>
              <a:t>- Programa de Gestión Avanzada - INSEAD</a:t>
            </a:r>
          </a:p>
        </p:txBody>
      </p:sp>
      <p:sp>
        <p:nvSpPr>
          <p:cNvPr id="13" name="Content Placeholder 4">
            <a:extLst>
              <a:ext uri="{FF2B5EF4-FFF2-40B4-BE49-F238E27FC236}">
                <a16:creationId xmlns:a16="http://schemas.microsoft.com/office/drawing/2014/main" id="{C3BAD3CA-45DC-1255-EF8A-97C2AAC7199A}"/>
              </a:ext>
            </a:extLst>
          </p:cNvPr>
          <p:cNvSpPr txBox="1">
            <a:spLocks/>
          </p:cNvSpPr>
          <p:nvPr/>
        </p:nvSpPr>
        <p:spPr>
          <a:xfrm>
            <a:off x="7973927" y="1664528"/>
            <a:ext cx="7113673" cy="6004284"/>
          </a:xfrm>
          <a:prstGeom prst="rect">
            <a:avLst/>
          </a:prstGeom>
          <a:ln>
            <a:noFill/>
          </a:ln>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9pPr>
          </a:lstStyle>
          <a:p>
            <a:pPr marL="0" indent="0">
              <a:buNone/>
            </a:pPr>
            <a:r>
              <a:rPr lang="es-ES" sz="2400" b="1" noProof="0" dirty="0"/>
              <a:t>Empleo anterior:</a:t>
            </a:r>
          </a:p>
          <a:p>
            <a:pPr marL="457200" lvl="1" indent="-228600">
              <a:buNone/>
            </a:pPr>
            <a:r>
              <a:rPr lang="es-ES" sz="2000" noProof="0" dirty="0"/>
              <a:t>- Abogado - 44944P</a:t>
            </a:r>
          </a:p>
          <a:p>
            <a:pPr marL="457200" lvl="1" indent="-228600">
              <a:buNone/>
            </a:pPr>
            <a:r>
              <a:rPr lang="es-ES" sz="2000" noProof="0" dirty="0"/>
              <a:t>- Abogado – Fundador y socio del bufete SP&amp;M - (50%)</a:t>
            </a:r>
          </a:p>
          <a:p>
            <a:pPr marL="457200" lvl="1" indent="-228600">
              <a:buNone/>
            </a:pPr>
            <a:r>
              <a:rPr lang="es-ES" sz="2000" noProof="0" dirty="0"/>
              <a:t>- Presidente de la Junta General del Grupo Ferpinta</a:t>
            </a:r>
          </a:p>
          <a:p>
            <a:pPr marL="457200" lvl="1" indent="-228600">
              <a:buNone/>
            </a:pPr>
            <a:r>
              <a:rPr lang="es-ES" sz="2000" noProof="0" dirty="0"/>
              <a:t>- Presidente de la Junta General de Rádio Popular</a:t>
            </a:r>
          </a:p>
          <a:p>
            <a:pPr marL="457200" lvl="1" indent="-228600">
              <a:buNone/>
            </a:pPr>
            <a:r>
              <a:rPr lang="es-ES" sz="2000" dirty="0"/>
              <a:t>- </a:t>
            </a:r>
            <a:r>
              <a:rPr lang="pt-BR" sz="2000" noProof="0" dirty="0"/>
              <a:t>Oliveiras Gold de Portugal, Lda (25%) - Bragança</a:t>
            </a:r>
          </a:p>
          <a:p>
            <a:pPr marL="457200" lvl="1" indent="-228600">
              <a:buNone/>
            </a:pPr>
            <a:r>
              <a:rPr lang="es-ES" sz="2000" dirty="0"/>
              <a:t>- </a:t>
            </a:r>
            <a:r>
              <a:rPr lang="pt-BR" sz="2000" noProof="0" dirty="0"/>
              <a:t>Luimonteago, Lda (95%) - Barcelos</a:t>
            </a:r>
          </a:p>
          <a:p>
            <a:pPr marL="0" indent="0">
              <a:buNone/>
            </a:pPr>
            <a:r>
              <a:rPr lang="es-ES" sz="2400" b="1" noProof="0" dirty="0"/>
              <a:t>Político:</a:t>
            </a:r>
          </a:p>
          <a:p>
            <a:pPr marL="457200" lvl="1" indent="-228600">
              <a:buNone/>
            </a:pPr>
            <a:r>
              <a:rPr lang="es-ES" sz="2000" noProof="0" dirty="0"/>
              <a:t>- Miembro y presidente de la Asamblea Municipal de Espinho y concejal</a:t>
            </a:r>
          </a:p>
          <a:p>
            <a:pPr marL="457200" lvl="1" indent="-228600">
              <a:buNone/>
            </a:pPr>
            <a:r>
              <a:rPr lang="es-ES" sz="2000" noProof="0" dirty="0"/>
              <a:t>- Diputado en 2002, 2005, 2009, 2011 y 2015 (16 años)</a:t>
            </a:r>
          </a:p>
          <a:p>
            <a:pPr marL="457200" lvl="1" indent="-228600">
              <a:buNone/>
            </a:pPr>
            <a:r>
              <a:rPr lang="es-ES" sz="2000" noProof="0" dirty="0"/>
              <a:t>- Presidente del Grupo Parlamentario del PSD de 2011 a 2017</a:t>
            </a:r>
          </a:p>
          <a:p>
            <a:pPr marL="457200" lvl="1" indent="-228600">
              <a:buNone/>
            </a:pPr>
            <a:r>
              <a:rPr lang="es-ES" sz="2000" noProof="0" dirty="0"/>
              <a:t>- Líder del Partido Socialdemócrata (PSD) desde el 28 de mayo de 2022</a:t>
            </a:r>
            <a:endParaRPr lang="es-ES" sz="1600" noProof="0" dirty="0"/>
          </a:p>
        </p:txBody>
      </p:sp>
      <p:sp>
        <p:nvSpPr>
          <p:cNvPr id="9" name="Content Placeholder 2">
            <a:extLst>
              <a:ext uri="{FF2B5EF4-FFF2-40B4-BE49-F238E27FC236}">
                <a16:creationId xmlns:a16="http://schemas.microsoft.com/office/drawing/2014/main" id="{4FCA9470-5BF3-C5CB-1238-379CC3F4B4DA}"/>
              </a:ext>
            </a:extLst>
          </p:cNvPr>
          <p:cNvSpPr txBox="1">
            <a:spLocks/>
          </p:cNvSpPr>
          <p:nvPr/>
        </p:nvSpPr>
        <p:spPr>
          <a:xfrm>
            <a:off x="609600" y="9486900"/>
            <a:ext cx="16665746" cy="68851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Consejo</a:t>
            </a:r>
            <a:r>
              <a:rPr lang="es-ES" noProof="0" dirty="0"/>
              <a:t>: Automatizar tareas</a:t>
            </a:r>
          </a:p>
        </p:txBody>
      </p:sp>
    </p:spTree>
    <p:extLst>
      <p:ext uri="{BB962C8B-B14F-4D97-AF65-F5344CB8AC3E}">
        <p14:creationId xmlns:p14="http://schemas.microsoft.com/office/powerpoint/2010/main" val="31691316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B24001F3-F347-04C1-B0F1-30E281837C4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7F3C4D1-34C5-F0C2-BABF-C7CAA98E5DC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7C986769-5D58-CAD2-3E79-2680AB8E3AFB}"/>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BE91B562-0645-8427-3505-C7789830F61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FB545624-6449-1368-1BA3-D64CA0E09E43}"/>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2"/>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5DA998C6-F406-AA07-E4DE-9A4258D1621B}"/>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FC7254F1-3F07-5DD5-B7E8-B6F553E8EFA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A698CDAD-E09D-41A0-62B2-33A9BE76808A}"/>
              </a:ext>
            </a:extLst>
          </p:cNvPr>
          <p:cNvPicPr>
            <a:picLocks noChangeAspect="1"/>
          </p:cNvPicPr>
          <p:nvPr/>
        </p:nvPicPr>
        <p:blipFill>
          <a:blip r:embed="rId5"/>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D26F9827-5EE7-82A4-D263-72DC15E9E9D5}"/>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Portal SICAE</a:t>
            </a:r>
          </a:p>
        </p:txBody>
      </p:sp>
      <p:pic>
        <p:nvPicPr>
          <p:cNvPr id="11" name="Picture 10">
            <a:hlinkClick r:id="rId6"/>
            <a:extLst>
              <a:ext uri="{FF2B5EF4-FFF2-40B4-BE49-F238E27FC236}">
                <a16:creationId xmlns:a16="http://schemas.microsoft.com/office/drawing/2014/main" id="{1323A418-9670-124F-5386-3209C04D97BA}"/>
              </a:ext>
            </a:extLst>
          </p:cNvPr>
          <p:cNvPicPr>
            <a:picLocks noChangeAspect="1"/>
          </p:cNvPicPr>
          <p:nvPr/>
        </p:nvPicPr>
        <p:blipFill>
          <a:blip r:embed="rId7"/>
          <a:stretch>
            <a:fillRect/>
          </a:stretch>
        </p:blipFill>
        <p:spPr>
          <a:xfrm>
            <a:off x="734927" y="3438385"/>
            <a:ext cx="4543706" cy="4259724"/>
          </a:xfrm>
          <a:prstGeom prst="rect">
            <a:avLst/>
          </a:prstGeom>
        </p:spPr>
      </p:pic>
      <p:graphicFrame>
        <p:nvGraphicFramePr>
          <p:cNvPr id="12" name="Table 5">
            <a:extLst>
              <a:ext uri="{FF2B5EF4-FFF2-40B4-BE49-F238E27FC236}">
                <a16:creationId xmlns:a16="http://schemas.microsoft.com/office/drawing/2014/main" id="{6A0116F9-67C6-2468-8789-9631FC8D7FC2}"/>
              </a:ext>
            </a:extLst>
          </p:cNvPr>
          <p:cNvGraphicFramePr>
            <a:graphicFrameLocks/>
          </p:cNvGraphicFramePr>
          <p:nvPr>
            <p:extLst>
              <p:ext uri="{D42A27DB-BD31-4B8C-83A1-F6EECF244321}">
                <p14:modId xmlns:p14="http://schemas.microsoft.com/office/powerpoint/2010/main" val="3818199412"/>
              </p:ext>
            </p:extLst>
          </p:nvPr>
        </p:nvGraphicFramePr>
        <p:xfrm>
          <a:off x="5626376" y="3774499"/>
          <a:ext cx="9189680" cy="3587496"/>
        </p:xfrm>
        <a:graphic>
          <a:graphicData uri="http://schemas.openxmlformats.org/drawingml/2006/table">
            <a:tbl>
              <a:tblPr firstRow="1" bandRow="1">
                <a:tableStyleId>{5C22544A-7EE6-4342-B048-85BDC9FD1C3A}</a:tableStyleId>
              </a:tblPr>
              <a:tblGrid>
                <a:gridCol w="951857">
                  <a:extLst>
                    <a:ext uri="{9D8B030D-6E8A-4147-A177-3AD203B41FA5}">
                      <a16:colId xmlns:a16="http://schemas.microsoft.com/office/drawing/2014/main" val="4289972319"/>
                    </a:ext>
                  </a:extLst>
                </a:gridCol>
                <a:gridCol w="8237823">
                  <a:extLst>
                    <a:ext uri="{9D8B030D-6E8A-4147-A177-3AD203B41FA5}">
                      <a16:colId xmlns:a16="http://schemas.microsoft.com/office/drawing/2014/main" val="2619954489"/>
                    </a:ext>
                  </a:extLst>
                </a:gridCol>
              </a:tblGrid>
              <a:tr h="291619">
                <a:tc>
                  <a:txBody>
                    <a:bodyPr/>
                    <a:lstStyle/>
                    <a:p>
                      <a:pPr algn="l"/>
                      <a:r>
                        <a:rPr lang="es-ES" sz="3200" noProof="0" dirty="0"/>
                        <a:t>CAE</a:t>
                      </a:r>
                    </a:p>
                  </a:txBody>
                  <a:tcPr anchor="ctr">
                    <a:solidFill>
                      <a:schemeClr val="accent6">
                        <a:lumMod val="50000"/>
                      </a:schemeClr>
                    </a:solidFill>
                  </a:tcPr>
                </a:tc>
                <a:tc>
                  <a:txBody>
                    <a:bodyPr/>
                    <a:lstStyle/>
                    <a:p>
                      <a:pPr algn="l"/>
                      <a:r>
                        <a:rPr lang="es-ES" sz="3200" noProof="0" dirty="0"/>
                        <a:t>Código de </a:t>
                      </a:r>
                      <a:r>
                        <a:rPr lang="es-ES" sz="3200" noProof="0" dirty="0" err="1"/>
                        <a:t>Actividade</a:t>
                      </a:r>
                      <a:r>
                        <a:rPr lang="es-ES" sz="3200" noProof="0" dirty="0"/>
                        <a:t> Económica</a:t>
                      </a:r>
                    </a:p>
                  </a:txBody>
                  <a:tcPr anchor="ctr">
                    <a:solidFill>
                      <a:schemeClr val="accent6">
                        <a:lumMod val="50000"/>
                      </a:schemeClr>
                    </a:solidFill>
                  </a:tcPr>
                </a:tc>
                <a:extLst>
                  <a:ext uri="{0D108BD9-81ED-4DB2-BD59-A6C34878D82A}">
                    <a16:rowId xmlns:a16="http://schemas.microsoft.com/office/drawing/2014/main" val="2389528094"/>
                  </a:ext>
                </a:extLst>
              </a:tr>
              <a:tr h="365690">
                <a:tc>
                  <a:txBody>
                    <a:bodyPr/>
                    <a:lstStyle/>
                    <a:p>
                      <a:pPr algn="ctr">
                        <a:lnSpc>
                          <a:spcPct val="150000"/>
                        </a:lnSpc>
                      </a:pPr>
                      <a:r>
                        <a:rPr lang="es-ES" sz="2000" noProof="0" dirty="0"/>
                        <a:t>70200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(702) Actividades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para os </a:t>
                      </a:r>
                      <a:r>
                        <a:rPr lang="es-ES" sz="2000" kern="1200" noProof="0" dirty="0" err="1">
                          <a:solidFill>
                            <a:schemeClr val="dk1"/>
                          </a:solidFill>
                          <a:latin typeface="+mn-lt"/>
                          <a:ea typeface="+mn-ea"/>
                          <a:cs typeface="+mn-cs"/>
                        </a:rPr>
                        <a:t>negócios</a:t>
                      </a:r>
                      <a:r>
                        <a:rPr lang="es-ES" sz="2000" kern="1200" noProof="0" dirty="0">
                          <a:solidFill>
                            <a:schemeClr val="dk1"/>
                          </a:solidFill>
                          <a:latin typeface="+mn-lt"/>
                          <a:ea typeface="+mn-ea"/>
                          <a:cs typeface="+mn-cs"/>
                        </a:rPr>
                        <a:t> e a </a:t>
                      </a:r>
                      <a:r>
                        <a:rPr lang="es-ES" sz="2000" kern="1200" noProof="0" dirty="0" err="1">
                          <a:solidFill>
                            <a:schemeClr val="dk1"/>
                          </a:solidFill>
                          <a:latin typeface="+mn-lt"/>
                          <a:ea typeface="+mn-ea"/>
                          <a:cs typeface="+mn-cs"/>
                        </a:rPr>
                        <a:t>gestão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13203488"/>
                  </a:ext>
                </a:extLst>
              </a:tr>
              <a:tr h="365690">
                <a:tc>
                  <a:txBody>
                    <a:bodyPr/>
                    <a:lstStyle/>
                    <a:p>
                      <a:pPr algn="ctr">
                        <a:lnSpc>
                          <a:spcPct val="150000"/>
                        </a:lnSpc>
                      </a:pPr>
                      <a:r>
                        <a:rPr lang="es-ES" sz="2000" noProof="0" dirty="0"/>
                        <a:t>74992</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Outras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atividades</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consultoria</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cientificas</a:t>
                      </a:r>
                      <a:r>
                        <a:rPr lang="es-ES" sz="2000" kern="1200" noProof="0" dirty="0">
                          <a:solidFill>
                            <a:schemeClr val="dk1"/>
                          </a:solidFill>
                          <a:latin typeface="+mn-lt"/>
                          <a:ea typeface="+mn-ea"/>
                          <a:cs typeface="+mn-cs"/>
                        </a:rPr>
                        <a:t>, técnicas e similares, diversas</a:t>
                      </a:r>
                    </a:p>
                  </a:txBody>
                  <a:tcPr anchor="ctr">
                    <a:noFill/>
                  </a:tcPr>
                </a:tc>
                <a:extLst>
                  <a:ext uri="{0D108BD9-81ED-4DB2-BD59-A6C34878D82A}">
                    <a16:rowId xmlns:a16="http://schemas.microsoft.com/office/drawing/2014/main" val="3288223916"/>
                  </a:ext>
                </a:extLst>
              </a:tr>
              <a:tr h="365690">
                <a:tc>
                  <a:txBody>
                    <a:bodyPr/>
                    <a:lstStyle/>
                    <a:p>
                      <a:pPr algn="ctr">
                        <a:lnSpc>
                          <a:spcPct val="150000"/>
                        </a:lnSpc>
                      </a:pPr>
                      <a:r>
                        <a:rPr lang="es-ES" sz="2000" noProof="0" dirty="0"/>
                        <a:t>01210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Viticultura</a:t>
                      </a:r>
                    </a:p>
                  </a:txBody>
                  <a:tcPr anchor="ctr">
                    <a:noFill/>
                  </a:tcPr>
                </a:tc>
                <a:extLst>
                  <a:ext uri="{0D108BD9-81ED-4DB2-BD59-A6C34878D82A}">
                    <a16:rowId xmlns:a16="http://schemas.microsoft.com/office/drawing/2014/main" val="2972557987"/>
                  </a:ext>
                </a:extLst>
              </a:tr>
              <a:tr h="365690">
                <a:tc>
                  <a:txBody>
                    <a:bodyPr/>
                    <a:lstStyle/>
                    <a:p>
                      <a:pPr algn="ctr">
                        <a:lnSpc>
                          <a:spcPct val="150000"/>
                        </a:lnSpc>
                      </a:pPr>
                      <a:r>
                        <a:rPr lang="es-ES" sz="2000" noProof="0" dirty="0"/>
                        <a:t>68200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Arrendamento</a:t>
                      </a:r>
                      <a:r>
                        <a:rPr lang="es-ES" sz="2000" kern="1200" noProof="0" dirty="0">
                          <a:solidFill>
                            <a:schemeClr val="dk1"/>
                          </a:solidFill>
                          <a:latin typeface="+mn-lt"/>
                          <a:ea typeface="+mn-ea"/>
                          <a:cs typeface="+mn-cs"/>
                        </a:rPr>
                        <a:t> e </a:t>
                      </a:r>
                      <a:r>
                        <a:rPr lang="es-ES" sz="2000" kern="1200" noProof="0" dirty="0" err="1">
                          <a:solidFill>
                            <a:schemeClr val="dk1"/>
                          </a:solidFill>
                          <a:latin typeface="+mn-lt"/>
                          <a:ea typeface="+mn-ea"/>
                          <a:cs typeface="+mn-cs"/>
                        </a:rPr>
                        <a:t>exploração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próprios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ou</a:t>
                      </a:r>
                      <a:r>
                        <a:rPr lang="es-ES" sz="2000" kern="1200" noProof="0" dirty="0">
                          <a:solidFill>
                            <a:schemeClr val="dk1"/>
                          </a:solidFill>
                          <a:latin typeface="+mn-lt"/>
                          <a:ea typeface="+mn-ea"/>
                          <a:cs typeface="+mn-cs"/>
                        </a:rPr>
                        <a:t> em </a:t>
                      </a:r>
                      <a:r>
                        <a:rPr lang="es-ES" sz="2000" kern="1200" noProof="0" dirty="0" err="1">
                          <a:solidFill>
                            <a:schemeClr val="dk1"/>
                          </a:solidFill>
                          <a:latin typeface="+mn-lt"/>
                          <a:ea typeface="+mn-ea"/>
                          <a:cs typeface="+mn-cs"/>
                        </a:rPr>
                        <a:t>locação</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2677210948"/>
                  </a:ext>
                </a:extLst>
              </a:tr>
              <a:tr h="365690">
                <a:tc>
                  <a:txBody>
                    <a:bodyPr/>
                    <a:lstStyle/>
                    <a:p>
                      <a:pPr algn="ctr">
                        <a:lnSpc>
                          <a:spcPct val="150000"/>
                        </a:lnSpc>
                      </a:pPr>
                      <a:r>
                        <a:rPr lang="es-ES" sz="2000" noProof="0" dirty="0"/>
                        <a:t>68110</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a:solidFill>
                            <a:schemeClr val="dk1"/>
                          </a:solidFill>
                          <a:latin typeface="+mn-lt"/>
                          <a:ea typeface="+mn-ea"/>
                          <a:cs typeface="+mn-cs"/>
                        </a:rPr>
                        <a:t>Compra e venda de </a:t>
                      </a:r>
                      <a:r>
                        <a:rPr lang="es-ES" sz="2000" kern="1200" noProof="0" dirty="0" err="1">
                          <a:solidFill>
                            <a:schemeClr val="dk1"/>
                          </a:solidFill>
                          <a:latin typeface="+mn-lt"/>
                          <a:ea typeface="+mn-ea"/>
                          <a:cs typeface="+mn-cs"/>
                        </a:rPr>
                        <a:t>bens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imobiliários</a:t>
                      </a:r>
                      <a:endParaRPr lang="es-ES" sz="2000" kern="1200" noProof="0" dirty="0">
                        <a:solidFill>
                          <a:schemeClr val="dk1"/>
                        </a:solidFill>
                        <a:latin typeface="+mn-lt"/>
                        <a:ea typeface="+mn-ea"/>
                        <a:cs typeface="+mn-cs"/>
                      </a:endParaRPr>
                    </a:p>
                  </a:txBody>
                  <a:tcPr anchor="ctr">
                    <a:noFill/>
                  </a:tcPr>
                </a:tc>
                <a:extLst>
                  <a:ext uri="{0D108BD9-81ED-4DB2-BD59-A6C34878D82A}">
                    <a16:rowId xmlns:a16="http://schemas.microsoft.com/office/drawing/2014/main" val="4152743046"/>
                  </a:ext>
                </a:extLst>
              </a:tr>
              <a:tr h="365690">
                <a:tc>
                  <a:txBody>
                    <a:bodyPr/>
                    <a:lstStyle/>
                    <a:p>
                      <a:pPr algn="ctr">
                        <a:lnSpc>
                          <a:spcPct val="150000"/>
                        </a:lnSpc>
                      </a:pPr>
                      <a:r>
                        <a:rPr lang="es-ES" sz="2000" noProof="0" dirty="0"/>
                        <a:t>11021</a:t>
                      </a:r>
                    </a:p>
                  </a:txBody>
                  <a:tcPr anchor="ctr">
                    <a:no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2000" kern="1200" noProof="0" dirty="0" err="1">
                          <a:solidFill>
                            <a:schemeClr val="dk1"/>
                          </a:solidFill>
                          <a:latin typeface="+mn-lt"/>
                          <a:ea typeface="+mn-ea"/>
                          <a:cs typeface="+mn-cs"/>
                        </a:rPr>
                        <a:t>Produção</a:t>
                      </a:r>
                      <a:r>
                        <a:rPr lang="es-ES" sz="2000" kern="1200" noProof="0" dirty="0">
                          <a:solidFill>
                            <a:schemeClr val="dk1"/>
                          </a:solidFill>
                          <a:latin typeface="+mn-lt"/>
                          <a:ea typeface="+mn-ea"/>
                          <a:cs typeface="+mn-cs"/>
                        </a:rPr>
                        <a:t> de </a:t>
                      </a:r>
                      <a:r>
                        <a:rPr lang="es-ES" sz="2000" kern="1200" noProof="0" dirty="0" err="1">
                          <a:solidFill>
                            <a:schemeClr val="dk1"/>
                          </a:solidFill>
                          <a:latin typeface="+mn-lt"/>
                          <a:ea typeface="+mn-ea"/>
                          <a:cs typeface="+mn-cs"/>
                        </a:rPr>
                        <a:t>vinhos</a:t>
                      </a:r>
                      <a:r>
                        <a:rPr lang="es-ES" sz="2000" kern="1200" noProof="0" dirty="0">
                          <a:solidFill>
                            <a:schemeClr val="dk1"/>
                          </a:solidFill>
                          <a:latin typeface="+mn-lt"/>
                          <a:ea typeface="+mn-ea"/>
                          <a:cs typeface="+mn-cs"/>
                        </a:rPr>
                        <a:t> </a:t>
                      </a:r>
                      <a:r>
                        <a:rPr lang="es-ES" sz="2000" kern="1200" noProof="0" dirty="0" err="1">
                          <a:solidFill>
                            <a:schemeClr val="dk1"/>
                          </a:solidFill>
                          <a:latin typeface="+mn-lt"/>
                          <a:ea typeface="+mn-ea"/>
                          <a:cs typeface="+mn-cs"/>
                        </a:rPr>
                        <a:t>comuns</a:t>
                      </a:r>
                      <a:r>
                        <a:rPr lang="es-ES" sz="2000" kern="1200" noProof="0" dirty="0">
                          <a:solidFill>
                            <a:schemeClr val="dk1"/>
                          </a:solidFill>
                          <a:latin typeface="+mn-lt"/>
                          <a:ea typeface="+mn-ea"/>
                          <a:cs typeface="+mn-cs"/>
                        </a:rPr>
                        <a:t> e licorosos</a:t>
                      </a:r>
                    </a:p>
                  </a:txBody>
                  <a:tcPr anchor="ctr">
                    <a:noFill/>
                  </a:tcPr>
                </a:tc>
                <a:extLst>
                  <a:ext uri="{0D108BD9-81ED-4DB2-BD59-A6C34878D82A}">
                    <a16:rowId xmlns:a16="http://schemas.microsoft.com/office/drawing/2014/main" val="903533393"/>
                  </a:ext>
                </a:extLst>
              </a:tr>
            </a:tbl>
          </a:graphicData>
        </a:graphic>
      </p:graphicFrame>
    </p:spTree>
    <p:extLst>
      <p:ext uri="{BB962C8B-B14F-4D97-AF65-F5344CB8AC3E}">
        <p14:creationId xmlns:p14="http://schemas.microsoft.com/office/powerpoint/2010/main" val="36690537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80277148-AC31-69EB-24EF-1927E2B1FEC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4881003-155C-EC6A-C903-3AE9C6358B11}"/>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36882023-C201-975B-B2DD-695F0FC07ACA}"/>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68B7C8E6-B67B-18A8-589C-95F07AEE3B7B}"/>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30A829DC-2057-C9E8-9C9F-907357748650}"/>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87816CF1-D17B-BB2D-1104-05DD71BFC9D7}"/>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642D25F0-899F-D752-7298-E2DBECDAF030}"/>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86CBB9E2-1134-AF5C-0309-E91A6E1C4C3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545CD813-7261-C0D9-6117-F8830581B746}"/>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noProof="0" dirty="0"/>
              <a:t>Portal del Gobierno</a:t>
            </a:r>
          </a:p>
        </p:txBody>
      </p:sp>
      <p:pic>
        <p:nvPicPr>
          <p:cNvPr id="48" name="Picture 47">
            <a:extLst>
              <a:ext uri="{FF2B5EF4-FFF2-40B4-BE49-F238E27FC236}">
                <a16:creationId xmlns:a16="http://schemas.microsoft.com/office/drawing/2014/main" id="{A212D8A9-30E7-5106-A48D-1C95F838511B}"/>
              </a:ext>
            </a:extLst>
          </p:cNvPr>
          <p:cNvPicPr>
            <a:picLocks noChangeAspect="1"/>
          </p:cNvPicPr>
          <p:nvPr/>
        </p:nvPicPr>
        <p:blipFill>
          <a:blip r:embed="rId7"/>
          <a:stretch>
            <a:fillRect/>
          </a:stretch>
        </p:blipFill>
        <p:spPr>
          <a:xfrm>
            <a:off x="228600" y="2713859"/>
            <a:ext cx="14799280" cy="5706241"/>
          </a:xfrm>
          <a:prstGeom prst="rect">
            <a:avLst/>
          </a:prstGeom>
        </p:spPr>
      </p:pic>
    </p:spTree>
    <p:extLst>
      <p:ext uri="{BB962C8B-B14F-4D97-AF65-F5344CB8AC3E}">
        <p14:creationId xmlns:p14="http://schemas.microsoft.com/office/powerpoint/2010/main" val="13068702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03F93932-CBC2-84FA-25D8-99436531846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37BD788-E6E0-A39F-54FE-843A2915D56E}"/>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D8A02FF2-1CFA-9A48-EEB9-C04AEE1B5B1F}"/>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A2F7C532-5F29-8127-8739-EBAB5C5F6813}"/>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71EEDB91-E793-3CBA-E2F6-50EF6030096A}"/>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F3A7C52D-F621-4E16-9D8D-EC6531F5E5BA}"/>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5800DBC2-0D8E-02BF-0E79-A2DD47205EAF}"/>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BC5584F7-817D-3116-09E3-A7D5E86A52F3}"/>
              </a:ext>
            </a:extLst>
          </p:cNvPr>
          <p:cNvPicPr>
            <a:picLocks noChangeAspect="1"/>
          </p:cNvPicPr>
          <p:nvPr/>
        </p:nvPicPr>
        <p:blipFill>
          <a:blip r:embed="rId6"/>
          <a:stretch>
            <a:fillRect/>
          </a:stretch>
        </p:blipFill>
        <p:spPr>
          <a:xfrm>
            <a:off x="13441977" y="114300"/>
            <a:ext cx="1585903" cy="1006621"/>
          </a:xfrm>
          <a:prstGeom prst="rect">
            <a:avLst/>
          </a:prstGeom>
        </p:spPr>
      </p:pic>
      <p:sp>
        <p:nvSpPr>
          <p:cNvPr id="8" name="Title 1">
            <a:extLst>
              <a:ext uri="{FF2B5EF4-FFF2-40B4-BE49-F238E27FC236}">
                <a16:creationId xmlns:a16="http://schemas.microsoft.com/office/drawing/2014/main" id="{7F5CF98E-04CC-04F2-3947-1B048F633458}"/>
              </a:ext>
            </a:extLst>
          </p:cNvPr>
          <p:cNvSpPr txBox="1">
            <a:spLocks/>
          </p:cNvSpPr>
          <p:nvPr/>
        </p:nvSpPr>
        <p:spPr>
          <a:xfrm>
            <a:off x="734927" y="1154872"/>
            <a:ext cx="14292953" cy="98266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4800" b="1" dirty="0"/>
              <a:t>Conclusión</a:t>
            </a:r>
            <a:endParaRPr lang="es-ES" sz="4800" b="1" noProof="0" dirty="0"/>
          </a:p>
        </p:txBody>
      </p:sp>
      <p:sp>
        <p:nvSpPr>
          <p:cNvPr id="10" name="Content Placeholder 2">
            <a:extLst>
              <a:ext uri="{FF2B5EF4-FFF2-40B4-BE49-F238E27FC236}">
                <a16:creationId xmlns:a16="http://schemas.microsoft.com/office/drawing/2014/main" id="{634A1979-47AC-2F13-1D71-949E8E1F3FF0}"/>
              </a:ext>
            </a:extLst>
          </p:cNvPr>
          <p:cNvSpPr txBox="1">
            <a:spLocks/>
          </p:cNvSpPr>
          <p:nvPr/>
        </p:nvSpPr>
        <p:spPr>
          <a:xfrm>
            <a:off x="860254" y="2620962"/>
            <a:ext cx="13312946" cy="6637338"/>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sz="4000" noProof="0" dirty="0"/>
              <a:t>Este caso ejemplifica el poder de OSINT para transformar datos públicos dispersos (noticias, registros, redes sociales) en inteligencia procesable. Siguiendo estos pasos, cualquier persona con acceso a internet podría haber descifrado el escándalo que derrocó al gobierno de Portugal en 2025.</a:t>
            </a:r>
          </a:p>
          <a:p>
            <a:pPr marL="0" indent="0">
              <a:buNone/>
            </a:pPr>
            <a:endParaRPr lang="es-ES" sz="4000" noProof="0" dirty="0"/>
          </a:p>
          <a:p>
            <a:pPr marL="0" indent="0">
              <a:buNone/>
            </a:pPr>
            <a:r>
              <a:rPr lang="es-ES" sz="4000" noProof="0" dirty="0"/>
              <a:t>Las consecuencias subrayan una lección más amplia: en una era de transparencia, las empresas privadas no pueden escapar del escrutinio público cuando OSINT está en juego.</a:t>
            </a:r>
            <a:endParaRPr lang="es-ES" sz="5400" noProof="0" dirty="0"/>
          </a:p>
        </p:txBody>
      </p:sp>
      <p:sp>
        <p:nvSpPr>
          <p:cNvPr id="11" name="TextBox 15">
            <a:extLst>
              <a:ext uri="{FF2B5EF4-FFF2-40B4-BE49-F238E27FC236}">
                <a16:creationId xmlns:a16="http://schemas.microsoft.com/office/drawing/2014/main" id="{2A229EAE-4B88-39CB-A1CB-0D24E6F1840F}"/>
              </a:ext>
            </a:extLst>
          </p:cNvPr>
          <p:cNvSpPr txBox="1"/>
          <p:nvPr/>
        </p:nvSpPr>
        <p:spPr>
          <a:xfrm>
            <a:off x="16253564" y="8991600"/>
            <a:ext cx="803404" cy="266700"/>
          </a:xfrm>
          <a:prstGeom prst="rect">
            <a:avLst/>
          </a:prstGeom>
        </p:spPr>
        <p:txBody>
          <a:bodyPr wrap="square" lIns="0" tIns="0" rIns="0" bIns="0" rtlCol="0" anchor="t">
            <a:spAutoFit/>
          </a:bodyPr>
          <a:lstStyle/>
          <a:p>
            <a:pPr algn="r">
              <a:lnSpc>
                <a:spcPts val="2100"/>
              </a:lnSpc>
            </a:pPr>
            <a:r>
              <a:rPr lang="es-ES" sz="1500" b="1" noProof="0" dirty="0">
                <a:solidFill>
                  <a:srgbClr val="343434"/>
                </a:solidFill>
                <a:latin typeface="DM Sans Bold"/>
                <a:ea typeface="DM Sans Bold"/>
                <a:cs typeface="DM Sans Bold"/>
                <a:sym typeface="DM Sans Bold"/>
              </a:rPr>
              <a:t>Page </a:t>
            </a:r>
            <a:fld id="{F3EB4092-D53A-4A7A-82B5-61650A0387D5}" type="slidenum">
              <a:rPr lang="es-ES" sz="1500" b="1" noProof="0" smtClean="0">
                <a:solidFill>
                  <a:srgbClr val="343434"/>
                </a:solidFill>
                <a:latin typeface="DM Sans Bold"/>
                <a:ea typeface="DM Sans Bold"/>
                <a:cs typeface="DM Sans Bold"/>
                <a:sym typeface="DM Sans Bold"/>
              </a:rPr>
              <a:t>35</a:t>
            </a:fld>
            <a:endParaRPr lang="es-ES" sz="1500" b="1" noProof="0" dirty="0">
              <a:solidFill>
                <a:srgbClr val="343434"/>
              </a:solidFill>
              <a:latin typeface="DM Sans Bold"/>
              <a:ea typeface="DM Sans Bold"/>
              <a:cs typeface="DM Sans Bold"/>
              <a:sym typeface="DM Sans Bold"/>
            </a:endParaRPr>
          </a:p>
        </p:txBody>
      </p:sp>
    </p:spTree>
    <p:extLst>
      <p:ext uri="{BB962C8B-B14F-4D97-AF65-F5344CB8AC3E}">
        <p14:creationId xmlns:p14="http://schemas.microsoft.com/office/powerpoint/2010/main" val="2878441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7367BCA1-3655-25B6-4414-8EF36B3E933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644F289-02A6-6123-2296-626C3F498EE4}"/>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5C8515C1-7DC7-6B41-1C6E-1FC6F06F3016}"/>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DB6B6B4B-033E-916E-42F1-2A3646E8588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86E6F11A-2E01-EA33-0ED1-D437D5A4300C}"/>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BB3D5627-CA0D-65EC-55CF-DE6F0ACFB826}"/>
              </a:ext>
            </a:extLst>
          </p:cNvPr>
          <p:cNvSpPr/>
          <p:nvPr/>
        </p:nvSpPr>
        <p:spPr>
          <a:xfrm rot="-5400000">
            <a:off x="15231187" y="6778108"/>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D4AA7EC2-6A4C-B7D3-AF9C-C08E333C9E94}"/>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4A0644E7-FBB2-117C-4DF4-6E15C5CC7B54}"/>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33" name="Group 32">
            <a:extLst>
              <a:ext uri="{FF2B5EF4-FFF2-40B4-BE49-F238E27FC236}">
                <a16:creationId xmlns:a16="http://schemas.microsoft.com/office/drawing/2014/main" id="{AC4ED85E-AC80-26C5-7AC3-3A154A128669}"/>
              </a:ext>
            </a:extLst>
          </p:cNvPr>
          <p:cNvGrpSpPr/>
          <p:nvPr/>
        </p:nvGrpSpPr>
        <p:grpSpPr>
          <a:xfrm>
            <a:off x="1095375" y="1307963"/>
            <a:ext cx="16097250" cy="8557515"/>
            <a:chOff x="133350" y="1562099"/>
            <a:chExt cx="16097250" cy="8557515"/>
          </a:xfrm>
        </p:grpSpPr>
        <p:graphicFrame>
          <p:nvGraphicFramePr>
            <p:cNvPr id="8" name="Table 5">
              <a:extLst>
                <a:ext uri="{FF2B5EF4-FFF2-40B4-BE49-F238E27FC236}">
                  <a16:creationId xmlns:a16="http://schemas.microsoft.com/office/drawing/2014/main" id="{90A141D6-1C08-75E3-924C-1D069A8BE4F0}"/>
                </a:ext>
              </a:extLst>
            </p:cNvPr>
            <p:cNvGraphicFramePr>
              <a:graphicFrameLocks/>
            </p:cNvGraphicFramePr>
            <p:nvPr>
              <p:extLst>
                <p:ext uri="{D42A27DB-BD31-4B8C-83A1-F6EECF244321}">
                  <p14:modId xmlns:p14="http://schemas.microsoft.com/office/powerpoint/2010/main" val="3673645311"/>
                </p:ext>
              </p:extLst>
            </p:nvPr>
          </p:nvGraphicFramePr>
          <p:xfrm>
            <a:off x="133350" y="1562100"/>
            <a:ext cx="5276850" cy="231753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err="1">
                            <a:solidFill>
                              <a:schemeClr val="dk1"/>
                            </a:solidFill>
                            <a:latin typeface="+mn-lt"/>
                            <a:ea typeface="+mn-ea"/>
                            <a:cs typeface="+mn-cs"/>
                          </a:rPr>
                          <a:t>Membros</a:t>
                        </a:r>
                        <a:r>
                          <a:rPr lang="es-ES" sz="1600" kern="1200" noProof="0" dirty="0">
                            <a:solidFill>
                              <a:schemeClr val="dk1"/>
                            </a:solidFill>
                            <a:latin typeface="+mn-lt"/>
                            <a:ea typeface="+mn-ea"/>
                            <a:cs typeface="+mn-cs"/>
                          </a:rPr>
                          <a:t> do </a:t>
                        </a:r>
                        <a:r>
                          <a:rPr lang="es-ES" sz="1600" kern="1200" noProof="0" dirty="0" err="1">
                            <a:solidFill>
                              <a:schemeClr val="dk1"/>
                            </a:solidFill>
                            <a:latin typeface="+mn-lt"/>
                            <a:ea typeface="+mn-ea"/>
                            <a:cs typeface="+mn-cs"/>
                          </a:rPr>
                          <a:t>Governo</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7"/>
                          </a:rPr>
                          <a:t>link</a:t>
                        </a:r>
                        <a:r>
                          <a:rPr lang="es-ES" sz="1600" kern="1200" noProof="0" dirty="0">
                            <a:solidFill>
                              <a:schemeClr val="dk1"/>
                            </a:solidFill>
                            <a:latin typeface="+mn-lt"/>
                            <a:ea typeface="+mn-ea"/>
                            <a:cs typeface="+mn-cs"/>
                          </a:rPr>
                          <a:t>)</a:t>
                        </a:r>
                      </a:p>
                      <a:p>
                        <a:pPr marL="0" lvl="1" indent="508000">
                          <a:lnSpc>
                            <a:spcPct val="150000"/>
                          </a:lnSpc>
                          <a:buFont typeface="Arial" panose="020B0604020202020204" pitchFamily="34" charset="0"/>
                          <a:buNone/>
                        </a:pPr>
                        <a:r>
                          <a:rPr lang="es-ES" sz="1600" kern="1200" noProof="0" dirty="0" err="1">
                            <a:solidFill>
                              <a:schemeClr val="dk1"/>
                            </a:solidFill>
                            <a:latin typeface="+mn-lt"/>
                            <a:ea typeface="+mn-ea"/>
                            <a:cs typeface="+mn-cs"/>
                          </a:rPr>
                          <a:t>Primeiro</a:t>
                        </a:r>
                        <a:r>
                          <a:rPr lang="es-ES" sz="1600" kern="1200" noProof="0" dirty="0">
                            <a:solidFill>
                              <a:schemeClr val="dk1"/>
                            </a:solidFill>
                            <a:latin typeface="+mn-lt"/>
                            <a:ea typeface="+mn-ea"/>
                            <a:cs typeface="+mn-cs"/>
                          </a:rPr>
                          <a:t>-Ministro (</a:t>
                        </a:r>
                        <a:r>
                          <a:rPr lang="es-ES" sz="1600" kern="1200" noProof="0" dirty="0">
                            <a:solidFill>
                              <a:schemeClr val="dk1"/>
                            </a:solidFill>
                            <a:latin typeface="+mn-lt"/>
                            <a:ea typeface="+mn-ea"/>
                            <a:cs typeface="+mn-cs"/>
                            <a:hlinkClick r:id="rId8"/>
                          </a:rPr>
                          <a:t>link</a:t>
                        </a:r>
                        <a:r>
                          <a:rPr lang="es-ES" sz="1600" kern="1200" noProof="0" dirty="0">
                            <a:solidFill>
                              <a:schemeClr val="dk1"/>
                            </a:solidFill>
                            <a:latin typeface="+mn-lt"/>
                            <a:ea typeface="+mn-ea"/>
                            <a:cs typeface="+mn-cs"/>
                          </a:rPr>
                          <a:t>)</a:t>
                        </a:r>
                      </a:p>
                      <a:p>
                        <a:pPr marL="0" marR="0" lvl="0" indent="287338"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Redes </a:t>
                        </a:r>
                        <a:r>
                          <a:rPr lang="es-ES" sz="1600" kern="1200" noProof="0" dirty="0" err="1">
                            <a:solidFill>
                              <a:schemeClr val="dk1"/>
                            </a:solidFill>
                            <a:latin typeface="+mn-lt"/>
                            <a:ea typeface="+mn-ea"/>
                            <a:cs typeface="+mn-cs"/>
                          </a:rPr>
                          <a:t>sociais</a:t>
                        </a:r>
                        <a:endParaRPr lang="es-ES" sz="1600" kern="1200" noProof="0" dirty="0">
                          <a:solidFill>
                            <a:schemeClr val="dk1"/>
                          </a:solidFill>
                          <a:latin typeface="+mn-lt"/>
                          <a:ea typeface="+mn-ea"/>
                          <a:cs typeface="+mn-cs"/>
                        </a:endParaRPr>
                      </a:p>
                      <a:p>
                        <a:pPr marL="285750" marR="0" lvl="0" indent="-28575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4" name="Table 5">
              <a:extLst>
                <a:ext uri="{FF2B5EF4-FFF2-40B4-BE49-F238E27FC236}">
                  <a16:creationId xmlns:a16="http://schemas.microsoft.com/office/drawing/2014/main" id="{6A43D09A-5221-B43B-EDDA-D86E2E3AE587}"/>
                </a:ext>
              </a:extLst>
            </p:cNvPr>
            <p:cNvGraphicFramePr>
              <a:graphicFrameLocks/>
            </p:cNvGraphicFramePr>
            <p:nvPr>
              <p:extLst>
                <p:ext uri="{D42A27DB-BD31-4B8C-83A1-F6EECF244321}">
                  <p14:modId xmlns:p14="http://schemas.microsoft.com/office/powerpoint/2010/main" val="2796196159"/>
                </p:ext>
              </p:extLst>
            </p:nvPr>
          </p:nvGraphicFramePr>
          <p:xfrm>
            <a:off x="5543550" y="1562100"/>
            <a:ext cx="5276850" cy="231753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Consultar e pesquisar todas as </a:t>
                        </a:r>
                        <a:r>
                          <a:rPr lang="es-ES" sz="1600" kern="1200" noProof="0" dirty="0" err="1">
                            <a:solidFill>
                              <a:schemeClr val="dk1"/>
                            </a:solidFill>
                            <a:latin typeface="+mn-lt"/>
                            <a:ea typeface="+mn-ea"/>
                            <a:cs typeface="+mn-cs"/>
                          </a:rPr>
                          <a:t>publicações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9"/>
                          </a:rPr>
                          <a:t>link</a:t>
                        </a:r>
                        <a:r>
                          <a:rPr lang="es-ES" sz="1600" kern="1200" noProof="0" dirty="0">
                            <a:solidFill>
                              <a:schemeClr val="dk1"/>
                            </a:solidFill>
                            <a:latin typeface="+mn-lt"/>
                            <a:ea typeface="+mn-ea"/>
                            <a:cs typeface="+mn-cs"/>
                          </a:rPr>
                          <a:t>)</a:t>
                        </a:r>
                      </a:p>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0"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5" name="Table 5">
              <a:extLst>
                <a:ext uri="{FF2B5EF4-FFF2-40B4-BE49-F238E27FC236}">
                  <a16:creationId xmlns:a16="http://schemas.microsoft.com/office/drawing/2014/main" id="{BFB4EE08-69C7-50B7-435B-E8C3DEAD0959}"/>
                </a:ext>
              </a:extLst>
            </p:cNvPr>
            <p:cNvGraphicFramePr>
              <a:graphicFrameLocks/>
            </p:cNvGraphicFramePr>
            <p:nvPr>
              <p:extLst>
                <p:ext uri="{D42A27DB-BD31-4B8C-83A1-F6EECF244321}">
                  <p14:modId xmlns:p14="http://schemas.microsoft.com/office/powerpoint/2010/main" val="3101917413"/>
                </p:ext>
              </p:extLst>
            </p:nvPr>
          </p:nvGraphicFramePr>
          <p:xfrm>
            <a:off x="10953750" y="1562099"/>
            <a:ext cx="5276850" cy="8557515"/>
          </p:xfrm>
          <a:graphic>
            <a:graphicData uri="http://schemas.openxmlformats.org/drawingml/2006/table">
              <a:tbl>
                <a:tblPr firstRow="1" bandRow="1">
                  <a:tableStyleId>{5C22544A-7EE6-4342-B048-85BDC9FD1C3A}</a:tableStyleId>
                </a:tblPr>
                <a:tblGrid>
                  <a:gridCol w="5276850">
                    <a:extLst>
                      <a:ext uri="{9D8B030D-6E8A-4147-A177-3AD203B41FA5}">
                        <a16:colId xmlns:a16="http://schemas.microsoft.com/office/drawing/2014/main" val="4289972319"/>
                      </a:ext>
                    </a:extLst>
                  </a:gridCol>
                </a:tblGrid>
                <a:tr h="457201">
                  <a:tc>
                    <a:txBody>
                      <a:bodyPr/>
                      <a:lstStyle/>
                      <a:p>
                        <a:pPr algn="l"/>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6808200">
                  <a:tc>
                    <a:txBody>
                      <a:bodyPr/>
                      <a:lstStyle/>
                      <a:p>
                        <a:pPr marL="338138" marR="0" lvl="0" indent="0" algn="l" defTabSz="9144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https://www.doutorfinancas.pt/empresas/como-obter-informacoes-sobre-uma-empresa/</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https://transparencia.gov.pt/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10"/>
                          </a:rPr>
                          <a:t>link</a:t>
                        </a:r>
                        <a:r>
                          <a:rPr lang="es-ES" sz="1600" kern="1200" noProof="0" dirty="0">
                            <a:solidFill>
                              <a:schemeClr val="dk1"/>
                            </a:solidFill>
                            <a:latin typeface="+mn-lt"/>
                            <a:ea typeface="+mn-ea"/>
                            <a:cs typeface="+mn-cs"/>
                          </a:rPr>
                          <a: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Pesquisa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 </a:t>
                        </a:r>
                        <a:r>
                          <a:rPr lang="es-ES" sz="1600" kern="1200" noProof="0" dirty="0" err="1">
                            <a:solidFill>
                              <a:schemeClr val="dk1"/>
                            </a:solidFill>
                            <a:latin typeface="+mn-lt"/>
                            <a:ea typeface="+mn-ea"/>
                            <a:cs typeface="+mn-cs"/>
                          </a:rPr>
                          <a:t>não</a:t>
                        </a:r>
                        <a:r>
                          <a:rPr lang="es-ES" sz="1600" kern="1200" noProof="0" dirty="0">
                            <a:solidFill>
                              <a:schemeClr val="dk1"/>
                            </a:solidFill>
                            <a:latin typeface="+mn-lt"/>
                            <a:ea typeface="+mn-ea"/>
                            <a:cs typeface="+mn-cs"/>
                          </a:rPr>
                          <a:t> oficial (</a:t>
                        </a:r>
                        <a:r>
                          <a:rPr lang="es-ES" sz="1600" kern="1200" noProof="0" dirty="0">
                            <a:solidFill>
                              <a:schemeClr val="dk1"/>
                            </a:solidFill>
                            <a:latin typeface="+mn-lt"/>
                            <a:ea typeface="+mn-ea"/>
                            <a:cs typeface="+mn-cs"/>
                            <a:hlinkClick r:id="rId11"/>
                          </a:rPr>
                          <a:t>link</a:t>
                        </a:r>
                        <a:r>
                          <a:rPr lang="es-ES" sz="1600" kern="1200" noProof="0" dirty="0">
                            <a:solidFill>
                              <a:schemeClr val="dk1"/>
                            </a:solidFill>
                            <a:latin typeface="+mn-lt"/>
                            <a:ea typeface="+mn-ea"/>
                            <a:cs typeface="+mn-cs"/>
                          </a:rPr>
                          <a: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https://geneall.net/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https://www.einforma.pt/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https://www.iberinform.pt</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https://www.racius.com</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https://www.rigorbiz.pt/</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https://www.emailondeck.com/</a:t>
                        </a: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https://temp-mail.org/</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rPr>
                          <a:t>https://www.playmakerstats.com/</a:t>
                        </a:r>
                      </a:p>
                      <a:p>
                        <a:pPr marL="338138"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p>
                        <a:pPr marL="338138" indent="0">
                          <a:lnSpc>
                            <a:spcPct val="150000"/>
                          </a:lnSpc>
                          <a:buFont typeface="Arial" panose="020B0604020202020204" pitchFamily="34" charset="0"/>
                          <a:buNone/>
                        </a:pPr>
                        <a:r>
                          <a:rPr lang="es-ES" sz="1600" kern="1200" noProof="0" dirty="0">
                            <a:solidFill>
                              <a:schemeClr val="dk1"/>
                            </a:solidFill>
                            <a:latin typeface="+mn-lt"/>
                            <a:ea typeface="+mn-ea"/>
                            <a:cs typeface="+mn-cs"/>
                            <a:hlinkClick r:id="rId12"/>
                          </a:rPr>
                          <a:t>https://www.pai.pt/</a:t>
                        </a:r>
                        <a:endParaRPr lang="es-ES" sz="1600" kern="1200" noProof="0" dirty="0">
                          <a:solidFill>
                            <a:schemeClr val="dk1"/>
                          </a:solidFill>
                          <a:latin typeface="+mn-lt"/>
                          <a:ea typeface="+mn-ea"/>
                          <a:cs typeface="+mn-cs"/>
                        </a:endParaRPr>
                      </a:p>
                      <a:p>
                        <a:pPr marL="0" indent="0">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18" name="Table 5">
              <a:extLst>
                <a:ext uri="{FF2B5EF4-FFF2-40B4-BE49-F238E27FC236}">
                  <a16:creationId xmlns:a16="http://schemas.microsoft.com/office/drawing/2014/main" id="{13DC9F15-4C26-11F1-9673-F49036C1642C}"/>
                </a:ext>
              </a:extLst>
            </p:cNvPr>
            <p:cNvGraphicFramePr>
              <a:graphicFrameLocks/>
            </p:cNvGraphicFramePr>
            <p:nvPr>
              <p:extLst>
                <p:ext uri="{D42A27DB-BD31-4B8C-83A1-F6EECF244321}">
                  <p14:modId xmlns:p14="http://schemas.microsoft.com/office/powerpoint/2010/main" val="118836573"/>
                </p:ext>
              </p:extLst>
            </p:nvPr>
          </p:nvGraphicFramePr>
          <p:xfrm>
            <a:off x="133350" y="4128334"/>
            <a:ext cx="5276850" cy="268329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do </a:t>
                        </a:r>
                        <a:r>
                          <a:rPr lang="es-ES" noProof="0" dirty="0" err="1"/>
                          <a:t>Governo</a:t>
                        </a:r>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0" indent="287338">
                          <a:lnSpc>
                            <a:spcPct val="150000"/>
                          </a:lnSpc>
                          <a:buFont typeface="Arial" panose="020B0604020202020204" pitchFamily="34" charset="0"/>
                          <a:buNone/>
                        </a:pPr>
                        <a:r>
                          <a:rPr lang="es-ES" sz="1600" kern="1200" noProof="0" dirty="0">
                            <a:solidFill>
                              <a:schemeClr val="dk1"/>
                            </a:solidFill>
                            <a:latin typeface="+mn-lt"/>
                            <a:ea typeface="+mn-ea"/>
                            <a:cs typeface="+mn-cs"/>
                          </a:rPr>
                          <a:t>Deputados em </a:t>
                        </a:r>
                        <a:r>
                          <a:rPr lang="es-ES" sz="1600" kern="1200" noProof="0" dirty="0" err="1">
                            <a:solidFill>
                              <a:schemeClr val="dk1"/>
                            </a:solidFill>
                            <a:latin typeface="+mn-lt"/>
                            <a:ea typeface="+mn-ea"/>
                            <a:cs typeface="+mn-cs"/>
                          </a:rPr>
                          <a:t>funções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3"/>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Pessoal</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4"/>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Registo</a:t>
                        </a:r>
                        <a:r>
                          <a:rPr lang="es-ES" sz="1600" kern="1200" noProof="0" dirty="0">
                            <a:solidFill>
                              <a:schemeClr val="dk1"/>
                            </a:solidFill>
                            <a:latin typeface="+mn-lt"/>
                            <a:ea typeface="+mn-ea"/>
                            <a:cs typeface="+mn-cs"/>
                          </a:rPr>
                          <a:t> de </a:t>
                        </a:r>
                        <a:r>
                          <a:rPr lang="es-ES" sz="1600" kern="1200" noProof="0" dirty="0" err="1">
                            <a:solidFill>
                              <a:schemeClr val="dk1"/>
                            </a:solidFill>
                            <a:latin typeface="+mn-lt"/>
                            <a:ea typeface="+mn-ea"/>
                            <a:cs typeface="+mn-cs"/>
                          </a:rPr>
                          <a:t>interesses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5"/>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err="1">
                            <a:solidFill>
                              <a:schemeClr val="dk1"/>
                            </a:solidFill>
                            <a:latin typeface="+mn-lt"/>
                            <a:ea typeface="+mn-ea"/>
                            <a:cs typeface="+mn-cs"/>
                          </a:rPr>
                          <a:t>Participação</a:t>
                        </a:r>
                        <a:r>
                          <a:rPr lang="es-ES" sz="1600" kern="1200" noProof="0" dirty="0">
                            <a:solidFill>
                              <a:schemeClr val="dk1"/>
                            </a:solidFill>
                            <a:latin typeface="+mn-lt"/>
                            <a:ea typeface="+mn-ea"/>
                            <a:cs typeface="+mn-cs"/>
                          </a:rPr>
                          <a:t> em empresas (</a:t>
                        </a:r>
                        <a:r>
                          <a:rPr lang="es-ES" sz="1600" kern="1200" noProof="0" dirty="0">
                            <a:solidFill>
                              <a:schemeClr val="dk1"/>
                            </a:solidFill>
                            <a:latin typeface="+mn-lt"/>
                            <a:ea typeface="+mn-ea"/>
                            <a:cs typeface="+mn-cs"/>
                            <a:hlinkClick r:id="rId16"/>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r>
                          <a:rPr lang="es-ES" sz="1600" kern="1200" noProof="0" dirty="0">
                            <a:solidFill>
                              <a:schemeClr val="dk1"/>
                            </a:solidFill>
                            <a:latin typeface="+mn-lt"/>
                            <a:ea typeface="+mn-ea"/>
                            <a:cs typeface="+mn-cs"/>
                          </a:rPr>
                          <a:t>Dados </a:t>
                        </a:r>
                        <a:r>
                          <a:rPr lang="es-ES" sz="1600" kern="1200" noProof="0" dirty="0" err="1">
                            <a:solidFill>
                              <a:schemeClr val="dk1"/>
                            </a:solidFill>
                            <a:latin typeface="+mn-lt"/>
                            <a:ea typeface="+mn-ea"/>
                            <a:cs typeface="+mn-cs"/>
                          </a:rPr>
                          <a:t>Abertos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17"/>
                          </a:rPr>
                          <a:t>link</a:t>
                        </a:r>
                        <a:r>
                          <a:rPr lang="es-ES" sz="1600" kern="1200" noProof="0" dirty="0">
                            <a:solidFill>
                              <a:schemeClr val="dk1"/>
                            </a:solidFill>
                            <a:latin typeface="+mn-lt"/>
                            <a:ea typeface="+mn-ea"/>
                            <a:cs typeface="+mn-cs"/>
                          </a:rPr>
                          <a:t>)</a:t>
                        </a:r>
                      </a:p>
                      <a:p>
                        <a:pPr marL="0" indent="287338">
                          <a:lnSpc>
                            <a:spcPct val="150000"/>
                          </a:lnSpc>
                          <a:buFont typeface="Arial" panose="020B0604020202020204" pitchFamily="34" charset="0"/>
                          <a:buNone/>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0" name="Table 5">
              <a:extLst>
                <a:ext uri="{FF2B5EF4-FFF2-40B4-BE49-F238E27FC236}">
                  <a16:creationId xmlns:a16="http://schemas.microsoft.com/office/drawing/2014/main" id="{AB26895C-55FC-A3BD-E31A-2A5D7BE8C2B6}"/>
                </a:ext>
              </a:extLst>
            </p:cNvPr>
            <p:cNvGraphicFramePr>
              <a:graphicFrameLocks/>
            </p:cNvGraphicFramePr>
            <p:nvPr>
              <p:extLst>
                <p:ext uri="{D42A27DB-BD31-4B8C-83A1-F6EECF244321}">
                  <p14:modId xmlns:p14="http://schemas.microsoft.com/office/powerpoint/2010/main" val="41575916"/>
                </p:ext>
              </p:extLst>
            </p:nvPr>
          </p:nvGraphicFramePr>
          <p:xfrm>
            <a:off x="5543550" y="4128334"/>
            <a:ext cx="5276850" cy="268329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DRE</a:t>
                        </a:r>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Pesquisa (</a:t>
                        </a:r>
                        <a:r>
                          <a:rPr lang="es-ES" sz="1600" kern="1200" noProof="0" dirty="0">
                            <a:solidFill>
                              <a:schemeClr val="dk1"/>
                            </a:solidFill>
                            <a:latin typeface="+mn-lt"/>
                            <a:ea typeface="+mn-ea"/>
                            <a:cs typeface="+mn-cs"/>
                            <a:hlinkClick r:id="rId18"/>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Site alternativo – DRE Tretas (</a:t>
                        </a:r>
                        <a:r>
                          <a:rPr lang="es-ES" sz="1600" kern="1200" noProof="0" dirty="0">
                            <a:solidFill>
                              <a:schemeClr val="dk1"/>
                            </a:solidFill>
                            <a:latin typeface="+mn-lt"/>
                            <a:ea typeface="+mn-ea"/>
                            <a:cs typeface="+mn-cs"/>
                            <a:hlinkClick r:id="rId19"/>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lang="es-ES" sz="1600" kern="1200" noProof="0" dirty="0">
                          <a:solidFill>
                            <a:schemeClr val="dk1"/>
                          </a:solidFill>
                          <a:latin typeface="+mn-lt"/>
                          <a:ea typeface="+mn-ea"/>
                          <a:cs typeface="+mn-cs"/>
                        </a:endParaRP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1" name="Table 5">
              <a:extLst>
                <a:ext uri="{FF2B5EF4-FFF2-40B4-BE49-F238E27FC236}">
                  <a16:creationId xmlns:a16="http://schemas.microsoft.com/office/drawing/2014/main" id="{9DEDD027-8CCE-F840-8B0B-6301836914A4}"/>
                </a:ext>
              </a:extLst>
            </p:cNvPr>
            <p:cNvGraphicFramePr>
              <a:graphicFrameLocks/>
            </p:cNvGraphicFramePr>
            <p:nvPr>
              <p:extLst>
                <p:ext uri="{D42A27DB-BD31-4B8C-83A1-F6EECF244321}">
                  <p14:modId xmlns:p14="http://schemas.microsoft.com/office/powerpoint/2010/main" val="1770722800"/>
                </p:ext>
              </p:extLst>
            </p:nvPr>
          </p:nvGraphicFramePr>
          <p:xfrm>
            <a:off x="133350" y="7065445"/>
            <a:ext cx="5276850" cy="3049053"/>
          </p:xfrm>
          <a:graphic>
            <a:graphicData uri="http://schemas.openxmlformats.org/drawingml/2006/table">
              <a:tbl>
                <a:tblPr firstRow="1" bandRow="1">
                  <a:tableStyleId>{5C22544A-7EE6-4342-B048-85BDC9FD1C3A}</a:tableStyleId>
                </a:tblPr>
                <a:tblGrid>
                  <a:gridCol w="1623868">
                    <a:extLst>
                      <a:ext uri="{9D8B030D-6E8A-4147-A177-3AD203B41FA5}">
                        <a16:colId xmlns:a16="http://schemas.microsoft.com/office/drawing/2014/main" val="4289972319"/>
                      </a:ext>
                    </a:extLst>
                  </a:gridCol>
                  <a:gridCol w="3652982">
                    <a:extLst>
                      <a:ext uri="{9D8B030D-6E8A-4147-A177-3AD203B41FA5}">
                        <a16:colId xmlns:a16="http://schemas.microsoft.com/office/drawing/2014/main" val="2619954489"/>
                      </a:ext>
                    </a:extLst>
                  </a:gridCol>
                </a:tblGrid>
                <a:tr h="435139">
                  <a:tc>
                    <a:txBody>
                      <a:bodyPr/>
                      <a:lstStyle/>
                      <a:p>
                        <a:pPr algn="l"/>
                        <a:r>
                          <a:rPr lang="es-ES" noProof="0" dirty="0"/>
                          <a:t>Portal</a:t>
                        </a:r>
                      </a:p>
                    </a:txBody>
                    <a:tcPr anchor="ctr">
                      <a:solidFill>
                        <a:schemeClr val="tx2">
                          <a:lumMod val="75000"/>
                        </a:schemeClr>
                      </a:solidFill>
                    </a:tcPr>
                  </a:tc>
                  <a:tc>
                    <a:txBody>
                      <a:bodyPr/>
                      <a:lstStyle/>
                      <a:p>
                        <a:pPr algn="l"/>
                        <a:r>
                          <a:rPr lang="es-ES" noProof="0" dirty="0"/>
                          <a:t>Portal BASE</a:t>
                        </a:r>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a:lnSpc>
                            <a:spcPct val="150000"/>
                          </a:lnSpc>
                        </a:pPr>
                        <a:endParaRPr lang="es-ES" noProof="0" dirty="0"/>
                      </a:p>
                    </a:txBody>
                    <a:tcPr>
                      <a:solidFill>
                        <a:schemeClr val="tx2">
                          <a:lumMod val="20000"/>
                          <a:lumOff val="80000"/>
                        </a:schemeClr>
                      </a:solidFill>
                    </a:tcPr>
                  </a:tc>
                  <a:tc>
                    <a:txBody>
                      <a:bodyPr/>
                      <a:lstStyle/>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O Portal BASE centraliza a </a:t>
                        </a:r>
                        <a:r>
                          <a:rPr lang="es-ES" sz="1600" kern="1200" noProof="0" dirty="0" err="1">
                            <a:solidFill>
                              <a:schemeClr val="dk1"/>
                            </a:solidFill>
                            <a:latin typeface="+mn-lt"/>
                            <a:ea typeface="+mn-ea"/>
                            <a:cs typeface="+mn-cs"/>
                          </a:rPr>
                          <a:t>informação</a:t>
                        </a:r>
                        <a:r>
                          <a:rPr lang="es-ES" sz="1600" kern="1200" noProof="0" dirty="0">
                            <a:solidFill>
                              <a:schemeClr val="dk1"/>
                            </a:solidFill>
                            <a:latin typeface="+mn-lt"/>
                            <a:ea typeface="+mn-ea"/>
                            <a:cs typeface="+mn-cs"/>
                          </a:rPr>
                          <a:t> sobre os contratos públicos (</a:t>
                        </a:r>
                        <a:r>
                          <a:rPr lang="es-ES" sz="1600" kern="1200" noProof="0" dirty="0">
                            <a:solidFill>
                              <a:schemeClr val="dk1"/>
                            </a:solidFill>
                            <a:latin typeface="+mn-lt"/>
                            <a:ea typeface="+mn-ea"/>
                            <a:cs typeface="+mn-cs"/>
                            <a:hlinkClick r:id="rId20"/>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Contratos (</a:t>
                        </a:r>
                        <a:r>
                          <a:rPr lang="es-ES" sz="1600" kern="1200" noProof="0" dirty="0">
                            <a:solidFill>
                              <a:schemeClr val="dk1"/>
                            </a:solidFill>
                            <a:latin typeface="+mn-lt"/>
                            <a:ea typeface="+mn-ea"/>
                            <a:cs typeface="+mn-cs"/>
                            <a:hlinkClick r:id="rId21"/>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err="1">
                            <a:solidFill>
                              <a:schemeClr val="dk1"/>
                            </a:solidFill>
                            <a:latin typeface="+mn-lt"/>
                            <a:ea typeface="+mn-ea"/>
                            <a:cs typeface="+mn-cs"/>
                          </a:rPr>
                          <a:t>Anúncios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2"/>
                          </a:rPr>
                          <a:t>link</a:t>
                        </a:r>
                        <a:r>
                          <a:rPr lang="es-ES" sz="1600" kern="1200" noProof="0" dirty="0">
                            <a:solidFill>
                              <a:schemeClr val="dk1"/>
                            </a:solidFill>
                            <a:latin typeface="+mn-lt"/>
                            <a:ea typeface="+mn-ea"/>
                            <a:cs typeface="+mn-cs"/>
                          </a:rPr>
                          <a:t>)</a:t>
                        </a: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Entidades (</a:t>
                        </a:r>
                        <a:r>
                          <a:rPr lang="es-ES" sz="1600" kern="1200" noProof="0" dirty="0">
                            <a:solidFill>
                              <a:schemeClr val="dk1"/>
                            </a:solidFill>
                            <a:latin typeface="+mn-lt"/>
                            <a:ea typeface="+mn-ea"/>
                            <a:cs typeface="+mn-cs"/>
                            <a:hlinkClick r:id="rId23"/>
                          </a:rPr>
                          <a:t>link</a:t>
                        </a:r>
                        <a:r>
                          <a:rPr lang="es-ES" sz="1600" kern="1200" noProof="0" dirty="0">
                            <a:solidFill>
                              <a:schemeClr val="dk1"/>
                            </a:solidFill>
                            <a:latin typeface="+mn-lt"/>
                            <a:ea typeface="+mn-ea"/>
                            <a:cs typeface="+mn-cs"/>
                          </a:rPr>
                          <a:t>)</a:t>
                        </a:r>
                      </a:p>
                      <a:p>
                        <a:pPr marL="287338" marR="0" lvl="1"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Empresas e </a:t>
                        </a:r>
                        <a:r>
                          <a:rPr lang="es-ES" sz="1600" kern="1200" noProof="0" dirty="0" err="1">
                            <a:solidFill>
                              <a:schemeClr val="dk1"/>
                            </a:solidFill>
                            <a:latin typeface="+mn-lt"/>
                            <a:ea typeface="+mn-ea"/>
                            <a:cs typeface="+mn-cs"/>
                          </a:rPr>
                          <a:t>Pessoas</a:t>
                        </a:r>
                        <a:endParaRPr lang="es-ES" sz="1600" kern="1200" noProof="0" dirty="0">
                          <a:solidFill>
                            <a:schemeClr val="dk1"/>
                          </a:solidFill>
                          <a:latin typeface="+mn-lt"/>
                          <a:ea typeface="+mn-ea"/>
                          <a:cs typeface="+mn-cs"/>
                        </a:endParaRPr>
                      </a:p>
                      <a:p>
                        <a:pPr marL="287338" marR="0" lvl="0" indent="0" algn="l" defTabSz="457200" rtl="0" eaLnBrk="1" fontAlgn="auto" latinLnBrk="0" hangingPunct="1">
                          <a:lnSpc>
                            <a:spcPct val="150000"/>
                          </a:lnSpc>
                          <a:spcBef>
                            <a:spcPts val="0"/>
                          </a:spcBef>
                          <a:spcAft>
                            <a:spcPts val="0"/>
                          </a:spcAft>
                          <a:buClrTx/>
                          <a:buSzTx/>
                          <a:buFont typeface="Arial" panose="020B0604020202020204" pitchFamily="34" charset="0"/>
                          <a:buNone/>
                          <a:tabLst/>
                          <a:defRPr/>
                        </a:pPr>
                        <a:r>
                          <a:rPr lang="es-ES" sz="1600" kern="1200" noProof="0" dirty="0">
                            <a:solidFill>
                              <a:schemeClr val="dk1"/>
                            </a:solidFill>
                            <a:latin typeface="+mn-lt"/>
                            <a:ea typeface="+mn-ea"/>
                            <a:cs typeface="+mn-cs"/>
                          </a:rPr>
                          <a:t>Indicadores (</a:t>
                        </a:r>
                        <a:r>
                          <a:rPr lang="es-ES" sz="1600" kern="1200" noProof="0" dirty="0">
                            <a:solidFill>
                              <a:schemeClr val="dk1"/>
                            </a:solidFill>
                            <a:latin typeface="+mn-lt"/>
                            <a:ea typeface="+mn-ea"/>
                            <a:cs typeface="+mn-cs"/>
                            <a:hlinkClick r:id="rId24"/>
                          </a:rPr>
                          <a:t>link</a:t>
                        </a:r>
                        <a:r>
                          <a:rPr lang="es-ES" sz="1600" kern="1200" noProof="0" dirty="0">
                            <a:solidFill>
                              <a:schemeClr val="dk1"/>
                            </a:solidFill>
                            <a:latin typeface="+mn-lt"/>
                            <a:ea typeface="+mn-ea"/>
                            <a:cs typeface="+mn-cs"/>
                          </a:rPr>
                          <a:t>)</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graphicFrame>
          <p:nvGraphicFramePr>
            <p:cNvPr id="22" name="Table 5">
              <a:extLst>
                <a:ext uri="{FF2B5EF4-FFF2-40B4-BE49-F238E27FC236}">
                  <a16:creationId xmlns:a16="http://schemas.microsoft.com/office/drawing/2014/main" id="{9E39314A-97C7-B986-8752-7B000EB85ECC}"/>
                </a:ext>
              </a:extLst>
            </p:cNvPr>
            <p:cNvGraphicFramePr>
              <a:graphicFrameLocks/>
            </p:cNvGraphicFramePr>
            <p:nvPr>
              <p:extLst>
                <p:ext uri="{D42A27DB-BD31-4B8C-83A1-F6EECF244321}">
                  <p14:modId xmlns:p14="http://schemas.microsoft.com/office/powerpoint/2010/main" val="1310064593"/>
                </p:ext>
              </p:extLst>
            </p:nvPr>
          </p:nvGraphicFramePr>
          <p:xfrm>
            <a:off x="5543550" y="7065445"/>
            <a:ext cx="5276850" cy="3049053"/>
          </p:xfrm>
          <a:graphic>
            <a:graphicData uri="http://schemas.openxmlformats.org/drawingml/2006/table">
              <a:tbl>
                <a:tblPr firstRow="1" bandRow="1">
                  <a:tableStyleId>{5C22544A-7EE6-4342-B048-85BDC9FD1C3A}</a:tableStyleId>
                </a:tblPr>
                <a:tblGrid>
                  <a:gridCol w="5276850">
                    <a:extLst>
                      <a:ext uri="{9D8B030D-6E8A-4147-A177-3AD203B41FA5}">
                        <a16:colId xmlns:a16="http://schemas.microsoft.com/office/drawing/2014/main" val="4289972319"/>
                      </a:ext>
                    </a:extLst>
                  </a:gridCol>
                </a:tblGrid>
                <a:tr h="435139">
                  <a:tc>
                    <a:txBody>
                      <a:bodyPr/>
                      <a:lstStyle/>
                      <a:p>
                        <a:pPr algn="l"/>
                        <a:endParaRPr lang="es-ES" noProof="0" dirty="0"/>
                      </a:p>
                    </a:txBody>
                    <a:tcPr anchor="ctr">
                      <a:solidFill>
                        <a:schemeClr val="tx2">
                          <a:lumMod val="75000"/>
                        </a:schemeClr>
                      </a:solidFill>
                    </a:tcPr>
                  </a:tc>
                  <a:extLst>
                    <a:ext uri="{0D108BD9-81ED-4DB2-BD59-A6C34878D82A}">
                      <a16:rowId xmlns:a16="http://schemas.microsoft.com/office/drawing/2014/main" val="2389528094"/>
                    </a:ext>
                  </a:extLst>
                </a:tr>
                <a:tr h="1597468">
                  <a:tc>
                    <a:txBody>
                      <a:bodyPr/>
                      <a:lstStyle/>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subvenções</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benefícios</a:t>
                        </a:r>
                        <a:r>
                          <a:rPr lang="es-ES" sz="1600" kern="1200" noProof="0" dirty="0">
                            <a:solidFill>
                              <a:schemeClr val="dk1"/>
                            </a:solidFill>
                            <a:latin typeface="+mn-lt"/>
                            <a:ea typeface="+mn-ea"/>
                            <a:cs typeface="+mn-cs"/>
                          </a:rPr>
                          <a:t> públicos e de </a:t>
                        </a:r>
                        <a:r>
                          <a:rPr lang="es-ES" sz="1600" kern="1200" noProof="0" dirty="0" err="1">
                            <a:solidFill>
                              <a:schemeClr val="dk1"/>
                            </a:solidFill>
                            <a:latin typeface="+mn-lt"/>
                            <a:ea typeface="+mn-ea"/>
                            <a:cs typeface="+mn-cs"/>
                          </a:rPr>
                          <a:t>doações</a:t>
                        </a:r>
                        <a:r>
                          <a:rPr lang="es-ES" sz="1600" kern="1200" noProof="0" dirty="0">
                            <a:solidFill>
                              <a:schemeClr val="dk1"/>
                            </a:solidFill>
                            <a:latin typeface="+mn-lt"/>
                            <a:ea typeface="+mn-ea"/>
                            <a:cs typeface="+mn-cs"/>
                          </a:rPr>
                          <a:t> (IGF) (</a:t>
                        </a:r>
                        <a:r>
                          <a:rPr lang="es-ES" sz="1600" kern="1200" noProof="0" dirty="0">
                            <a:solidFill>
                              <a:schemeClr val="dk1"/>
                            </a:solidFill>
                            <a:latin typeface="+mn-lt"/>
                            <a:ea typeface="+mn-ea"/>
                            <a:cs typeface="+mn-cs"/>
                            <a:hlinkClick r:id="rId25"/>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pública de </a:t>
                        </a:r>
                        <a:r>
                          <a:rPr lang="es-ES" sz="1600" kern="1200" noProof="0" dirty="0" err="1">
                            <a:solidFill>
                              <a:schemeClr val="dk1"/>
                            </a:solidFill>
                            <a:latin typeface="+mn-lt"/>
                            <a:ea typeface="+mn-ea"/>
                            <a:cs typeface="+mn-cs"/>
                          </a:rPr>
                          <a:t>execuções</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6"/>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Venda de </a:t>
                        </a:r>
                        <a:r>
                          <a:rPr lang="es-ES" sz="1600" kern="1200" noProof="0" dirty="0" err="1">
                            <a:solidFill>
                              <a:schemeClr val="dk1"/>
                            </a:solidFill>
                            <a:latin typeface="+mn-lt"/>
                            <a:ea typeface="+mn-ea"/>
                            <a:cs typeface="+mn-cs"/>
                          </a:rPr>
                          <a:t>Bens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Penhorados</a:t>
                        </a:r>
                        <a:r>
                          <a:rPr lang="es-ES" sz="1600" kern="1200" noProof="0" dirty="0">
                            <a:solidFill>
                              <a:schemeClr val="dk1"/>
                            </a:solidFill>
                            <a:latin typeface="+mn-lt"/>
                            <a:ea typeface="+mn-ea"/>
                            <a:cs typeface="+mn-cs"/>
                          </a:rPr>
                          <a:t> em </a:t>
                        </a:r>
                        <a:r>
                          <a:rPr lang="es-ES" sz="1600" kern="1200" noProof="0" dirty="0" err="1">
                            <a:solidFill>
                              <a:schemeClr val="dk1"/>
                            </a:solidFill>
                            <a:latin typeface="+mn-lt"/>
                            <a:ea typeface="+mn-ea"/>
                            <a:cs typeface="+mn-cs"/>
                          </a:rPr>
                          <a:t>Processos</a:t>
                        </a:r>
                        <a:r>
                          <a:rPr lang="es-ES" sz="1600" kern="1200" noProof="0" dirty="0">
                            <a:solidFill>
                              <a:schemeClr val="dk1"/>
                            </a:solidFill>
                            <a:latin typeface="+mn-lt"/>
                            <a:ea typeface="+mn-ea"/>
                            <a:cs typeface="+mn-cs"/>
                          </a:rPr>
                          <a:t> Executivos (</a:t>
                        </a:r>
                        <a:r>
                          <a:rPr lang="es-ES" sz="1600" kern="1200" noProof="0" dirty="0">
                            <a:solidFill>
                              <a:schemeClr val="dk1"/>
                            </a:solidFill>
                            <a:latin typeface="+mn-lt"/>
                            <a:ea typeface="+mn-ea"/>
                            <a:cs typeface="+mn-cs"/>
                            <a:hlinkClick r:id="rId27"/>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Segurança</a:t>
                        </a:r>
                        <a:r>
                          <a:rPr lang="es-ES" sz="1600" kern="1200" noProof="0" dirty="0">
                            <a:solidFill>
                              <a:schemeClr val="dk1"/>
                            </a:solidFill>
                            <a:latin typeface="+mn-lt"/>
                            <a:ea typeface="+mn-ea"/>
                            <a:cs typeface="+mn-cs"/>
                          </a:rPr>
                          <a:t> Social (</a:t>
                        </a:r>
                        <a:r>
                          <a:rPr lang="es-ES" sz="1600" kern="1200" noProof="0" dirty="0">
                            <a:solidFill>
                              <a:schemeClr val="dk1"/>
                            </a:solidFill>
                            <a:latin typeface="+mn-lt"/>
                            <a:ea typeface="+mn-ea"/>
                            <a:cs typeface="+mn-cs"/>
                            <a:hlinkClick r:id="rId28"/>
                          </a:rPr>
                          <a:t>link</a:t>
                        </a:r>
                        <a:r>
                          <a:rPr lang="es-ES" sz="1600" kern="1200" noProof="0" dirty="0">
                            <a:solidFill>
                              <a:schemeClr val="dk1"/>
                            </a:solidFill>
                            <a:latin typeface="+mn-lt"/>
                            <a:ea typeface="+mn-ea"/>
                            <a:cs typeface="+mn-cs"/>
                          </a:rPr>
                          <a:t>)</a:t>
                        </a:r>
                      </a:p>
                      <a:p>
                        <a:pPr marL="0" indent="0">
                          <a:lnSpc>
                            <a:spcPct val="150000"/>
                          </a:lnSpc>
                          <a:buFont typeface="Arial" panose="020B0604020202020204" pitchFamily="34" charset="0"/>
                          <a:buNone/>
                        </a:pPr>
                        <a:r>
                          <a:rPr lang="es-ES" sz="1600" kern="1200" noProof="0" dirty="0">
                            <a:solidFill>
                              <a:schemeClr val="dk1"/>
                            </a:solidFill>
                            <a:latin typeface="+mn-lt"/>
                            <a:ea typeface="+mn-ea"/>
                            <a:cs typeface="+mn-cs"/>
                          </a:rPr>
                          <a:t>Listas de </a:t>
                        </a:r>
                        <a:r>
                          <a:rPr lang="es-ES" sz="1600" kern="1200" noProof="0" dirty="0" err="1">
                            <a:solidFill>
                              <a:schemeClr val="dk1"/>
                            </a:solidFill>
                            <a:latin typeface="+mn-lt"/>
                            <a:ea typeface="+mn-ea"/>
                            <a:cs typeface="+mn-cs"/>
                          </a:rPr>
                          <a:t>Devedores</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na</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Autoridade</a:t>
                        </a:r>
                        <a:r>
                          <a:rPr lang="es-ES" sz="1600" kern="1200" noProof="0" dirty="0">
                            <a:solidFill>
                              <a:schemeClr val="dk1"/>
                            </a:solidFill>
                            <a:latin typeface="+mn-lt"/>
                            <a:ea typeface="+mn-ea"/>
                            <a:cs typeface="+mn-cs"/>
                          </a:rPr>
                          <a:t> </a:t>
                        </a:r>
                        <a:r>
                          <a:rPr lang="es-ES" sz="1600" kern="1200" noProof="0" dirty="0" err="1">
                            <a:solidFill>
                              <a:schemeClr val="dk1"/>
                            </a:solidFill>
                            <a:latin typeface="+mn-lt"/>
                            <a:ea typeface="+mn-ea"/>
                            <a:cs typeface="+mn-cs"/>
                          </a:rPr>
                          <a:t>Tributária</a:t>
                        </a:r>
                        <a:r>
                          <a:rPr lang="es-ES" sz="1600" kern="1200" noProof="0" dirty="0">
                            <a:solidFill>
                              <a:schemeClr val="dk1"/>
                            </a:solidFill>
                            <a:latin typeface="+mn-lt"/>
                            <a:ea typeface="+mn-ea"/>
                            <a:cs typeface="+mn-cs"/>
                          </a:rPr>
                          <a:t> e </a:t>
                        </a:r>
                        <a:r>
                          <a:rPr lang="es-ES" sz="1600" kern="1200" noProof="0" dirty="0" err="1">
                            <a:solidFill>
                              <a:schemeClr val="dk1"/>
                            </a:solidFill>
                            <a:latin typeface="+mn-lt"/>
                            <a:ea typeface="+mn-ea"/>
                            <a:cs typeface="+mn-cs"/>
                          </a:rPr>
                          <a:t>Aduaneira</a:t>
                        </a:r>
                        <a:r>
                          <a:rPr lang="es-ES" sz="1600" kern="1200" noProof="0" dirty="0">
                            <a:solidFill>
                              <a:schemeClr val="dk1"/>
                            </a:solidFill>
                            <a:latin typeface="+mn-lt"/>
                            <a:ea typeface="+mn-ea"/>
                            <a:cs typeface="+mn-cs"/>
                          </a:rPr>
                          <a:t> (</a:t>
                        </a:r>
                        <a:r>
                          <a:rPr lang="es-ES" sz="1600" kern="1200" noProof="0" dirty="0">
                            <a:solidFill>
                              <a:schemeClr val="dk1"/>
                            </a:solidFill>
                            <a:latin typeface="+mn-lt"/>
                            <a:ea typeface="+mn-ea"/>
                            <a:cs typeface="+mn-cs"/>
                            <a:hlinkClick r:id="rId29"/>
                          </a:rPr>
                          <a:t>link</a:t>
                        </a:r>
                        <a:r>
                          <a:rPr lang="es-ES" sz="1600" kern="1200" noProof="0" dirty="0">
                            <a:solidFill>
                              <a:schemeClr val="dk1"/>
                            </a:solidFill>
                            <a:latin typeface="+mn-lt"/>
                            <a:ea typeface="+mn-ea"/>
                            <a:cs typeface="+mn-cs"/>
                          </a:rPr>
                          <a:t>)</a:t>
                        </a:r>
                      </a:p>
                    </a:txBody>
                    <a:tcPr>
                      <a:solidFill>
                        <a:schemeClr val="tx2">
                          <a:lumMod val="20000"/>
                          <a:lumOff val="80000"/>
                        </a:schemeClr>
                      </a:solidFill>
                    </a:tcPr>
                  </a:tc>
                  <a:extLst>
                    <a:ext uri="{0D108BD9-81ED-4DB2-BD59-A6C34878D82A}">
                      <a16:rowId xmlns:a16="http://schemas.microsoft.com/office/drawing/2014/main" val="3288223916"/>
                    </a:ext>
                  </a:extLst>
                </a:tr>
              </a:tbl>
            </a:graphicData>
          </a:graphic>
        </p:graphicFrame>
        <p:pic>
          <p:nvPicPr>
            <p:cNvPr id="23" name="Picture 22">
              <a:hlinkClick r:id="rId30"/>
              <a:extLst>
                <a:ext uri="{FF2B5EF4-FFF2-40B4-BE49-F238E27FC236}">
                  <a16:creationId xmlns:a16="http://schemas.microsoft.com/office/drawing/2014/main" id="{0E09DDEA-10F8-BA06-94E2-BB2E6169F052}"/>
                </a:ext>
              </a:extLst>
            </p:cNvPr>
            <p:cNvPicPr>
              <a:picLocks noChangeAspect="1"/>
            </p:cNvPicPr>
            <p:nvPr/>
          </p:nvPicPr>
          <p:blipFill>
            <a:blip r:embed="rId31"/>
            <a:stretch>
              <a:fillRect/>
            </a:stretch>
          </p:blipFill>
          <p:spPr>
            <a:xfrm>
              <a:off x="241767" y="2300804"/>
              <a:ext cx="1381524" cy="1290434"/>
            </a:xfrm>
            <a:prstGeom prst="rect">
              <a:avLst/>
            </a:prstGeom>
          </p:spPr>
        </p:pic>
        <p:pic>
          <p:nvPicPr>
            <p:cNvPr id="26" name="Picture 25">
              <a:hlinkClick r:id="rId32"/>
              <a:extLst>
                <a:ext uri="{FF2B5EF4-FFF2-40B4-BE49-F238E27FC236}">
                  <a16:creationId xmlns:a16="http://schemas.microsoft.com/office/drawing/2014/main" id="{FC809270-BE47-AB3D-4244-06A79CC3F458}"/>
                </a:ext>
              </a:extLst>
            </p:cNvPr>
            <p:cNvPicPr>
              <a:picLocks noChangeAspect="1"/>
            </p:cNvPicPr>
            <p:nvPr/>
          </p:nvPicPr>
          <p:blipFill>
            <a:blip r:embed="rId33"/>
            <a:stretch>
              <a:fillRect/>
            </a:stretch>
          </p:blipFill>
          <p:spPr>
            <a:xfrm>
              <a:off x="241767" y="4870668"/>
              <a:ext cx="1381524" cy="1290434"/>
            </a:xfrm>
            <a:prstGeom prst="rect">
              <a:avLst/>
            </a:prstGeom>
          </p:spPr>
        </p:pic>
        <p:pic>
          <p:nvPicPr>
            <p:cNvPr id="29" name="Picture 28">
              <a:hlinkClick r:id="rId20"/>
              <a:extLst>
                <a:ext uri="{FF2B5EF4-FFF2-40B4-BE49-F238E27FC236}">
                  <a16:creationId xmlns:a16="http://schemas.microsoft.com/office/drawing/2014/main" id="{CA9B379F-B53C-7C37-D152-7671B2BCF296}"/>
                </a:ext>
              </a:extLst>
            </p:cNvPr>
            <p:cNvPicPr>
              <a:picLocks noChangeAspect="1"/>
            </p:cNvPicPr>
            <p:nvPr/>
          </p:nvPicPr>
          <p:blipFill>
            <a:blip r:embed="rId34"/>
            <a:stretch>
              <a:fillRect/>
            </a:stretch>
          </p:blipFill>
          <p:spPr>
            <a:xfrm>
              <a:off x="241767" y="7775769"/>
              <a:ext cx="1381524" cy="1290434"/>
            </a:xfrm>
            <a:prstGeom prst="rect">
              <a:avLst/>
            </a:prstGeom>
          </p:spPr>
        </p:pic>
        <p:pic>
          <p:nvPicPr>
            <p:cNvPr id="31" name="Picture 30">
              <a:hlinkClick r:id="rId35"/>
              <a:extLst>
                <a:ext uri="{FF2B5EF4-FFF2-40B4-BE49-F238E27FC236}">
                  <a16:creationId xmlns:a16="http://schemas.microsoft.com/office/drawing/2014/main" id="{FBE77A94-FC1A-8DCA-A643-F929FB1F6D9A}"/>
                </a:ext>
              </a:extLst>
            </p:cNvPr>
            <p:cNvPicPr>
              <a:picLocks noChangeAspect="1"/>
            </p:cNvPicPr>
            <p:nvPr/>
          </p:nvPicPr>
          <p:blipFill>
            <a:blip r:embed="rId36"/>
            <a:stretch>
              <a:fillRect/>
            </a:stretch>
          </p:blipFill>
          <p:spPr>
            <a:xfrm>
              <a:off x="5654275" y="2300804"/>
              <a:ext cx="1381524" cy="1290434"/>
            </a:xfrm>
            <a:prstGeom prst="rect">
              <a:avLst/>
            </a:prstGeom>
          </p:spPr>
        </p:pic>
        <p:pic>
          <p:nvPicPr>
            <p:cNvPr id="32" name="Picture 31">
              <a:hlinkClick r:id="rId37"/>
              <a:extLst>
                <a:ext uri="{FF2B5EF4-FFF2-40B4-BE49-F238E27FC236}">
                  <a16:creationId xmlns:a16="http://schemas.microsoft.com/office/drawing/2014/main" id="{1863D2FE-8496-A964-234C-688C72C5ADB0}"/>
                </a:ext>
              </a:extLst>
            </p:cNvPr>
            <p:cNvPicPr>
              <a:picLocks noChangeAspect="1"/>
            </p:cNvPicPr>
            <p:nvPr/>
          </p:nvPicPr>
          <p:blipFill>
            <a:blip r:embed="rId38"/>
            <a:stretch>
              <a:fillRect/>
            </a:stretch>
          </p:blipFill>
          <p:spPr>
            <a:xfrm>
              <a:off x="5659336" y="4870668"/>
              <a:ext cx="1376463" cy="1290434"/>
            </a:xfrm>
            <a:prstGeom prst="rect">
              <a:avLst/>
            </a:prstGeom>
          </p:spPr>
        </p:pic>
      </p:grpSp>
    </p:spTree>
    <p:extLst>
      <p:ext uri="{BB962C8B-B14F-4D97-AF65-F5344CB8AC3E}">
        <p14:creationId xmlns:p14="http://schemas.microsoft.com/office/powerpoint/2010/main" val="41254956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a:extLst>
            <a:ext uri="{FF2B5EF4-FFF2-40B4-BE49-F238E27FC236}">
              <a16:creationId xmlns:a16="http://schemas.microsoft.com/office/drawing/2014/main" id="{E4178372-B9E3-E158-F71A-7F64F0EE782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1C3F6C8-CF95-E5F7-8209-AC7D61CABF27}"/>
              </a:ext>
            </a:extLst>
          </p:cNvPr>
          <p:cNvGrpSpPr/>
          <p:nvPr/>
        </p:nvGrpSpPr>
        <p:grpSpPr>
          <a:xfrm>
            <a:off x="0" y="0"/>
            <a:ext cx="15163799" cy="10287000"/>
            <a:chOff x="0" y="0"/>
            <a:chExt cx="3757500" cy="3077761"/>
          </a:xfrm>
        </p:grpSpPr>
        <p:sp>
          <p:nvSpPr>
            <p:cNvPr id="3" name="Freeform 3">
              <a:extLst>
                <a:ext uri="{FF2B5EF4-FFF2-40B4-BE49-F238E27FC236}">
                  <a16:creationId xmlns:a16="http://schemas.microsoft.com/office/drawing/2014/main" id="{133E6682-1B2E-B46C-2980-BA868357E7C7}"/>
                </a:ext>
              </a:extLst>
            </p:cNvPr>
            <p:cNvSpPr/>
            <p:nvPr/>
          </p:nvSpPr>
          <p:spPr>
            <a:xfrm>
              <a:off x="0" y="0"/>
              <a:ext cx="3757500" cy="3077761"/>
            </a:xfrm>
            <a:custGeom>
              <a:avLst/>
              <a:gdLst/>
              <a:ahLst/>
              <a:cxnLst/>
              <a:rect l="l" t="t" r="r" b="b"/>
              <a:pathLst>
                <a:path w="3757500" h="3077761">
                  <a:moveTo>
                    <a:pt x="27675" y="0"/>
                  </a:moveTo>
                  <a:lnTo>
                    <a:pt x="3729825" y="0"/>
                  </a:lnTo>
                  <a:cubicBezTo>
                    <a:pt x="3745109" y="0"/>
                    <a:pt x="3757500" y="12391"/>
                    <a:pt x="3757500" y="27675"/>
                  </a:cubicBezTo>
                  <a:lnTo>
                    <a:pt x="3757500" y="3050085"/>
                  </a:lnTo>
                  <a:cubicBezTo>
                    <a:pt x="3757500" y="3065370"/>
                    <a:pt x="3745109" y="3077761"/>
                    <a:pt x="3729825" y="3077761"/>
                  </a:cubicBezTo>
                  <a:lnTo>
                    <a:pt x="27675" y="3077761"/>
                  </a:lnTo>
                  <a:cubicBezTo>
                    <a:pt x="12391" y="3077761"/>
                    <a:pt x="0" y="3065370"/>
                    <a:pt x="0" y="3050085"/>
                  </a:cubicBezTo>
                  <a:lnTo>
                    <a:pt x="0" y="27675"/>
                  </a:lnTo>
                  <a:cubicBezTo>
                    <a:pt x="0" y="12391"/>
                    <a:pt x="12391" y="0"/>
                    <a:pt x="27675" y="0"/>
                  </a:cubicBezTo>
                  <a:close/>
                </a:path>
              </a:pathLst>
            </a:custGeom>
            <a:solidFill>
              <a:srgbClr val="FFFFFF"/>
            </a:solidFill>
          </p:spPr>
          <p:txBody>
            <a:bodyPr/>
            <a:lstStyle/>
            <a:p>
              <a:endParaRPr lang="es-ES"/>
            </a:p>
          </p:txBody>
        </p:sp>
        <p:sp>
          <p:nvSpPr>
            <p:cNvPr id="4" name="TextBox 4">
              <a:extLst>
                <a:ext uri="{FF2B5EF4-FFF2-40B4-BE49-F238E27FC236}">
                  <a16:creationId xmlns:a16="http://schemas.microsoft.com/office/drawing/2014/main" id="{06BF2A68-DA04-F5FA-2DA6-E6EAF204451E}"/>
                </a:ext>
              </a:extLst>
            </p:cNvPr>
            <p:cNvSpPr txBox="1"/>
            <p:nvPr/>
          </p:nvSpPr>
          <p:spPr>
            <a:xfrm>
              <a:off x="0" y="-47625"/>
              <a:ext cx="3757500" cy="3125386"/>
            </a:xfrm>
            <a:prstGeom prst="rect">
              <a:avLst/>
            </a:prstGeom>
          </p:spPr>
          <p:txBody>
            <a:bodyPr lIns="50800" tIns="50800" rIns="50800" bIns="50800" rtlCol="0" anchor="ctr"/>
            <a:lstStyle/>
            <a:p>
              <a:pPr algn="ctr">
                <a:lnSpc>
                  <a:spcPts val="3149"/>
                </a:lnSpc>
              </a:pPr>
              <a:endParaRPr/>
            </a:p>
          </p:txBody>
        </p:sp>
      </p:grpSp>
      <p:sp>
        <p:nvSpPr>
          <p:cNvPr id="5" name="Freeform 5">
            <a:extLst>
              <a:ext uri="{FF2B5EF4-FFF2-40B4-BE49-F238E27FC236}">
                <a16:creationId xmlns:a16="http://schemas.microsoft.com/office/drawing/2014/main" id="{C0C14BBD-9461-6975-E126-D3EE56F936D9}"/>
              </a:ext>
            </a:extLst>
          </p:cNvPr>
          <p:cNvSpPr/>
          <p:nvPr/>
        </p:nvSpPr>
        <p:spPr>
          <a:xfrm>
            <a:off x="0" y="0"/>
            <a:ext cx="4173282" cy="849495"/>
          </a:xfrm>
          <a:custGeom>
            <a:avLst/>
            <a:gdLst/>
            <a:ahLst/>
            <a:cxnLst/>
            <a:rect l="l" t="t" r="r" b="b"/>
            <a:pathLst>
              <a:path w="4173282" h="849495">
                <a:moveTo>
                  <a:pt x="0" y="0"/>
                </a:moveTo>
                <a:lnTo>
                  <a:pt x="4173282" y="0"/>
                </a:lnTo>
                <a:lnTo>
                  <a:pt x="4173282" y="849495"/>
                </a:lnTo>
                <a:lnTo>
                  <a:pt x="0" y="849495"/>
                </a:lnTo>
                <a:lnTo>
                  <a:pt x="0" y="0"/>
                </a:lnTo>
                <a:close/>
              </a:path>
            </a:pathLst>
          </a:custGeom>
          <a:blipFill>
            <a:blip r:embed="rId3"/>
            <a:stretch>
              <a:fillRect t="-62101" b="-63881"/>
            </a:stretch>
          </a:blipFill>
        </p:spPr>
        <p:txBody>
          <a:bodyPr/>
          <a:lstStyle/>
          <a:p>
            <a:endParaRPr lang="es-ES"/>
          </a:p>
        </p:txBody>
      </p:sp>
      <p:sp>
        <p:nvSpPr>
          <p:cNvPr id="6" name="Freeform 6">
            <a:extLst>
              <a:ext uri="{FF2B5EF4-FFF2-40B4-BE49-F238E27FC236}">
                <a16:creationId xmlns:a16="http://schemas.microsoft.com/office/drawing/2014/main" id="{8EEBCC22-29C3-0662-9F68-5FA5A12D3718}"/>
              </a:ext>
            </a:extLst>
          </p:cNvPr>
          <p:cNvSpPr/>
          <p:nvPr/>
        </p:nvSpPr>
        <p:spPr>
          <a:xfrm rot="-5400000">
            <a:off x="14801850" y="6800849"/>
            <a:ext cx="3848100" cy="3124201"/>
          </a:xfrm>
          <a:custGeom>
            <a:avLst/>
            <a:gdLst/>
            <a:ahLst/>
            <a:cxnLst/>
            <a:rect l="l" t="t" r="r" b="b"/>
            <a:pathLst>
              <a:path w="5957691" h="5957691">
                <a:moveTo>
                  <a:pt x="0" y="0"/>
                </a:moveTo>
                <a:lnTo>
                  <a:pt x="5957692" y="0"/>
                </a:lnTo>
                <a:lnTo>
                  <a:pt x="5957692"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l="-74292" r="1" b="-48662"/>
            </a:stretch>
          </a:blipFill>
        </p:spPr>
        <p:txBody>
          <a:bodyPr/>
          <a:lstStyle/>
          <a:p>
            <a:endParaRPr lang="es-ES"/>
          </a:p>
        </p:txBody>
      </p:sp>
      <p:sp>
        <p:nvSpPr>
          <p:cNvPr id="7" name="Freeform 7">
            <a:extLst>
              <a:ext uri="{FF2B5EF4-FFF2-40B4-BE49-F238E27FC236}">
                <a16:creationId xmlns:a16="http://schemas.microsoft.com/office/drawing/2014/main" id="{2CA52BF8-4033-07C8-3A94-D8B2746CD773}"/>
              </a:ext>
            </a:extLst>
          </p:cNvPr>
          <p:cNvSpPr/>
          <p:nvPr/>
        </p:nvSpPr>
        <p:spPr>
          <a:xfrm rot="-5400000">
            <a:off x="13747054" y="1416744"/>
            <a:ext cx="5957691" cy="312420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4">
              <a:extLst>
                <a:ext uri="{96DAC541-7B7A-43D3-8B79-37D633B846F1}">
                  <asvg:svgBlip xmlns:asvg="http://schemas.microsoft.com/office/drawing/2016/SVG/main" r:embed="rId5"/>
                </a:ext>
              </a:extLst>
            </a:blip>
            <a:stretch>
              <a:fillRect t="1" b="-37043"/>
            </a:stretch>
          </a:blipFill>
        </p:spPr>
        <p:txBody>
          <a:bodyPr/>
          <a:lstStyle/>
          <a:p>
            <a:endParaRPr lang="es-ES"/>
          </a:p>
        </p:txBody>
      </p:sp>
      <p:pic>
        <p:nvPicPr>
          <p:cNvPr id="19" name="Picture 18">
            <a:extLst>
              <a:ext uri="{FF2B5EF4-FFF2-40B4-BE49-F238E27FC236}">
                <a16:creationId xmlns:a16="http://schemas.microsoft.com/office/drawing/2014/main" id="{13581ED1-9996-6983-4908-58F4A2EA4BD1}"/>
              </a:ext>
            </a:extLst>
          </p:cNvPr>
          <p:cNvPicPr>
            <a:picLocks noChangeAspect="1"/>
          </p:cNvPicPr>
          <p:nvPr/>
        </p:nvPicPr>
        <p:blipFill>
          <a:blip r:embed="rId6"/>
          <a:stretch>
            <a:fillRect/>
          </a:stretch>
        </p:blipFill>
        <p:spPr>
          <a:xfrm>
            <a:off x="13441977" y="114300"/>
            <a:ext cx="1585903" cy="1006621"/>
          </a:xfrm>
          <a:prstGeom prst="rect">
            <a:avLst/>
          </a:prstGeom>
        </p:spPr>
      </p:pic>
      <p:grpSp>
        <p:nvGrpSpPr>
          <p:cNvPr id="14" name="Group 13">
            <a:extLst>
              <a:ext uri="{FF2B5EF4-FFF2-40B4-BE49-F238E27FC236}">
                <a16:creationId xmlns:a16="http://schemas.microsoft.com/office/drawing/2014/main" id="{6061B450-7604-7AC6-4ACD-01F7C43325E4}"/>
              </a:ext>
            </a:extLst>
          </p:cNvPr>
          <p:cNvGrpSpPr/>
          <p:nvPr/>
        </p:nvGrpSpPr>
        <p:grpSpPr>
          <a:xfrm>
            <a:off x="1476192" y="1659016"/>
            <a:ext cx="12211414" cy="6809787"/>
            <a:chOff x="2728178" y="1638300"/>
            <a:chExt cx="12211414" cy="6809787"/>
          </a:xfrm>
        </p:grpSpPr>
        <p:sp>
          <p:nvSpPr>
            <p:cNvPr id="11" name="Freeform 4">
              <a:extLst>
                <a:ext uri="{FF2B5EF4-FFF2-40B4-BE49-F238E27FC236}">
                  <a16:creationId xmlns:a16="http://schemas.microsoft.com/office/drawing/2014/main" id="{918D92A5-A305-0FA3-6953-B949F9FCEB0C}"/>
                </a:ext>
              </a:extLst>
            </p:cNvPr>
            <p:cNvSpPr/>
            <p:nvPr/>
          </p:nvSpPr>
          <p:spPr>
            <a:xfrm>
              <a:off x="3934517" y="3615405"/>
              <a:ext cx="936193" cy="887460"/>
            </a:xfrm>
            <a:custGeom>
              <a:avLst/>
              <a:gdLst/>
              <a:ahLst/>
              <a:cxnLst/>
              <a:rect l="l" t="t" r="r" b="b"/>
              <a:pathLst>
                <a:path w="936193" h="887460">
                  <a:moveTo>
                    <a:pt x="0" y="0"/>
                  </a:moveTo>
                  <a:lnTo>
                    <a:pt x="936193" y="0"/>
                  </a:lnTo>
                  <a:lnTo>
                    <a:pt x="936193" y="887460"/>
                  </a:lnTo>
                  <a:lnTo>
                    <a:pt x="0" y="88746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s-ES" noProof="0" dirty="0"/>
            </a:p>
          </p:txBody>
        </p:sp>
        <p:sp>
          <p:nvSpPr>
            <p:cNvPr id="15" name="Freeform 6">
              <a:extLst>
                <a:ext uri="{FF2B5EF4-FFF2-40B4-BE49-F238E27FC236}">
                  <a16:creationId xmlns:a16="http://schemas.microsoft.com/office/drawing/2014/main" id="{B93408B7-2479-9D6F-C742-8EFAE8F26DB2}"/>
                </a:ext>
              </a:extLst>
            </p:cNvPr>
            <p:cNvSpPr/>
            <p:nvPr/>
          </p:nvSpPr>
          <p:spPr>
            <a:xfrm>
              <a:off x="13209909" y="3574813"/>
              <a:ext cx="889362" cy="887460"/>
            </a:xfrm>
            <a:custGeom>
              <a:avLst/>
              <a:gdLst/>
              <a:ahLst/>
              <a:cxnLst/>
              <a:rect l="l" t="t" r="r" b="b"/>
              <a:pathLst>
                <a:path w="889362" h="887460">
                  <a:moveTo>
                    <a:pt x="0" y="0"/>
                  </a:moveTo>
                  <a:lnTo>
                    <a:pt x="889362" y="0"/>
                  </a:lnTo>
                  <a:lnTo>
                    <a:pt x="889362" y="887460"/>
                  </a:lnTo>
                  <a:lnTo>
                    <a:pt x="0" y="88746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s-ES" noProof="0" dirty="0"/>
            </a:p>
          </p:txBody>
        </p:sp>
        <p:sp>
          <p:nvSpPr>
            <p:cNvPr id="10" name="TextBox 15">
              <a:extLst>
                <a:ext uri="{FF2B5EF4-FFF2-40B4-BE49-F238E27FC236}">
                  <a16:creationId xmlns:a16="http://schemas.microsoft.com/office/drawing/2014/main" id="{BE010629-60A1-72E2-6D30-03166F9DEF06}"/>
                </a:ext>
              </a:extLst>
            </p:cNvPr>
            <p:cNvSpPr txBox="1"/>
            <p:nvPr/>
          </p:nvSpPr>
          <p:spPr>
            <a:xfrm>
              <a:off x="6490019" y="1638300"/>
              <a:ext cx="5216414" cy="1020985"/>
            </a:xfrm>
            <a:prstGeom prst="rect">
              <a:avLst/>
            </a:prstGeom>
          </p:spPr>
          <p:txBody>
            <a:bodyPr lIns="0" tIns="0" rIns="0" bIns="0" rtlCol="0" anchor="t">
              <a:spAutoFit/>
            </a:bodyPr>
            <a:lstStyle/>
            <a:p>
              <a:pPr algn="ctr">
                <a:lnSpc>
                  <a:spcPts val="8400"/>
                </a:lnSpc>
              </a:pPr>
              <a:r>
                <a:rPr lang="es-ES" sz="6000" b="1" noProof="0" dirty="0">
                  <a:solidFill>
                    <a:srgbClr val="343434"/>
                  </a:solidFill>
                  <a:latin typeface="Cooper Hewitt Bold" panose="020B0604020202020204" charset="0"/>
                  <a:ea typeface="Cooper Hewitt Bold" panose="020B0604020202020204" charset="0"/>
                  <a:cs typeface="Cooper Hewitt"/>
                  <a:sym typeface="Cooper Hewitt"/>
                </a:rPr>
                <a:t>FUTURO</a:t>
              </a:r>
            </a:p>
          </p:txBody>
        </p:sp>
        <p:sp>
          <p:nvSpPr>
            <p:cNvPr id="12" name="TextBox 16">
              <a:extLst>
                <a:ext uri="{FF2B5EF4-FFF2-40B4-BE49-F238E27FC236}">
                  <a16:creationId xmlns:a16="http://schemas.microsoft.com/office/drawing/2014/main" id="{89FD3A41-1C4C-9BBC-68F2-7A7F42569AC3}"/>
                </a:ext>
              </a:extLst>
            </p:cNvPr>
            <p:cNvSpPr txBox="1"/>
            <p:nvPr/>
          </p:nvSpPr>
          <p:spPr>
            <a:xfrm>
              <a:off x="2728178" y="4626940"/>
              <a:ext cx="3348869" cy="342594"/>
            </a:xfrm>
            <a:prstGeom prst="rect">
              <a:avLst/>
            </a:prstGeom>
          </p:spPr>
          <p:txBody>
            <a:bodyPr wrap="square" lIns="0" tIns="0" rIns="0" bIns="0" rtlCol="0" anchor="t">
              <a:spAutoFit/>
            </a:bodyPr>
            <a:lstStyle/>
            <a:p>
              <a:pPr algn="ctr">
                <a:lnSpc>
                  <a:spcPts val="2800"/>
                </a:lnSpc>
              </a:pPr>
              <a:r>
                <a:rPr lang="es-ES" sz="2000" b="1" noProof="0" dirty="0">
                  <a:solidFill>
                    <a:srgbClr val="343434"/>
                  </a:solidFill>
                  <a:latin typeface="DM Sans Bold"/>
                  <a:ea typeface="DM Sans Bold"/>
                  <a:cs typeface="DM Sans Bold"/>
                  <a:sym typeface="DM Sans Bold"/>
                </a:rPr>
                <a:t>BASE DE DATOS PÚBLICA</a:t>
              </a:r>
            </a:p>
          </p:txBody>
        </p:sp>
        <p:sp>
          <p:nvSpPr>
            <p:cNvPr id="21" name="TextBox 18">
              <a:extLst>
                <a:ext uri="{FF2B5EF4-FFF2-40B4-BE49-F238E27FC236}">
                  <a16:creationId xmlns:a16="http://schemas.microsoft.com/office/drawing/2014/main" id="{577F392E-7E93-99AA-56EF-E1676B08FEF9}"/>
                </a:ext>
              </a:extLst>
            </p:cNvPr>
            <p:cNvSpPr txBox="1"/>
            <p:nvPr/>
          </p:nvSpPr>
          <p:spPr>
            <a:xfrm>
              <a:off x="7926765" y="4626940"/>
              <a:ext cx="2434469" cy="349250"/>
            </a:xfrm>
            <a:prstGeom prst="rect">
              <a:avLst/>
            </a:prstGeom>
          </p:spPr>
          <p:txBody>
            <a:bodyPr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AUTOMATIZACIÓN</a:t>
              </a:r>
            </a:p>
          </p:txBody>
        </p:sp>
        <p:sp>
          <p:nvSpPr>
            <p:cNvPr id="23" name="TextBox 20">
              <a:extLst>
                <a:ext uri="{FF2B5EF4-FFF2-40B4-BE49-F238E27FC236}">
                  <a16:creationId xmlns:a16="http://schemas.microsoft.com/office/drawing/2014/main" id="{2DD6F32D-120F-DD71-B76F-3DD13FFE97AD}"/>
                </a:ext>
              </a:extLst>
            </p:cNvPr>
            <p:cNvSpPr txBox="1"/>
            <p:nvPr/>
          </p:nvSpPr>
          <p:spPr>
            <a:xfrm>
              <a:off x="12210952" y="4626940"/>
              <a:ext cx="2728640" cy="342594"/>
            </a:xfrm>
            <a:prstGeom prst="rect">
              <a:avLst/>
            </a:prstGeom>
          </p:spPr>
          <p:txBody>
            <a:bodyPr wrap="square" lIns="0" tIns="0" rIns="0" bIns="0" rtlCol="0" anchor="t">
              <a:spAutoFit/>
            </a:bodyPr>
            <a:lstStyle/>
            <a:p>
              <a:pPr marL="0" lvl="0" indent="0" algn="ctr">
                <a:lnSpc>
                  <a:spcPts val="2800"/>
                </a:lnSpc>
                <a:spcBef>
                  <a:spcPct val="0"/>
                </a:spcBef>
              </a:pPr>
              <a:r>
                <a:rPr lang="es-ES" sz="2000" b="1" u="none" strike="noStrike" noProof="0" dirty="0">
                  <a:solidFill>
                    <a:srgbClr val="343434"/>
                  </a:solidFill>
                  <a:latin typeface="DM Sans Bold"/>
                  <a:ea typeface="DM Sans Bold"/>
                  <a:cs typeface="DM Sans Bold"/>
                  <a:sym typeface="DM Sans Bold"/>
                </a:rPr>
                <a:t>ANÁLISIS DE DATOS</a:t>
              </a:r>
            </a:p>
          </p:txBody>
        </p:sp>
        <p:sp>
          <p:nvSpPr>
            <p:cNvPr id="13" name="Freeform 5">
              <a:extLst>
                <a:ext uri="{FF2B5EF4-FFF2-40B4-BE49-F238E27FC236}">
                  <a16:creationId xmlns:a16="http://schemas.microsoft.com/office/drawing/2014/main" id="{1E53BF90-50B5-3769-6275-ECF0421B51BE}"/>
                </a:ext>
              </a:extLst>
            </p:cNvPr>
            <p:cNvSpPr/>
            <p:nvPr/>
          </p:nvSpPr>
          <p:spPr>
            <a:xfrm>
              <a:off x="8703781" y="3314700"/>
              <a:ext cx="788891" cy="1220381"/>
            </a:xfrm>
            <a:custGeom>
              <a:avLst/>
              <a:gdLst/>
              <a:ahLst/>
              <a:cxnLst/>
              <a:rect l="l" t="t" r="r" b="b"/>
              <a:pathLst>
                <a:path w="2597247" h="4793577">
                  <a:moveTo>
                    <a:pt x="0" y="0"/>
                  </a:moveTo>
                  <a:lnTo>
                    <a:pt x="2597247" y="0"/>
                  </a:lnTo>
                  <a:lnTo>
                    <a:pt x="2597247" y="4793577"/>
                  </a:lnTo>
                  <a:lnTo>
                    <a:pt x="0" y="4793577"/>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lstStyle/>
            <a:p>
              <a:endParaRPr lang="es-ES" noProof="0" dirty="0"/>
            </a:p>
          </p:txBody>
        </p:sp>
        <p:sp>
          <p:nvSpPr>
            <p:cNvPr id="26" name="Content Placeholder 2">
              <a:extLst>
                <a:ext uri="{FF2B5EF4-FFF2-40B4-BE49-F238E27FC236}">
                  <a16:creationId xmlns:a16="http://schemas.microsoft.com/office/drawing/2014/main" id="{7AEEAC48-D9D5-0986-6990-3E9810ADAA7F}"/>
                </a:ext>
              </a:extLst>
            </p:cNvPr>
            <p:cNvSpPr txBox="1">
              <a:spLocks/>
            </p:cNvSpPr>
            <p:nvPr/>
          </p:nvSpPr>
          <p:spPr>
            <a:xfrm>
              <a:off x="5298020" y="5773606"/>
              <a:ext cx="7445546" cy="185975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s-ES" noProof="0" dirty="0"/>
                <a:t>Mapear las personas y entidades clave </a:t>
              </a:r>
            </a:p>
            <a:p>
              <a:r>
                <a:rPr lang="es-ES" noProof="0" dirty="0"/>
                <a:t>Rastrear conexiones financieras</a:t>
              </a:r>
            </a:p>
          </p:txBody>
        </p:sp>
        <p:sp>
          <p:nvSpPr>
            <p:cNvPr id="29" name="Content Placeholder 2">
              <a:extLst>
                <a:ext uri="{FF2B5EF4-FFF2-40B4-BE49-F238E27FC236}">
                  <a16:creationId xmlns:a16="http://schemas.microsoft.com/office/drawing/2014/main" id="{B54760A5-0797-35E1-85E9-C5064C3E5B27}"/>
                </a:ext>
              </a:extLst>
            </p:cNvPr>
            <p:cNvSpPr txBox="1">
              <a:spLocks/>
            </p:cNvSpPr>
            <p:nvPr/>
          </p:nvSpPr>
          <p:spPr>
            <a:xfrm>
              <a:off x="4010067" y="7650121"/>
              <a:ext cx="10267864" cy="79796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s-ES" b="1" noProof="0" dirty="0"/>
                <a:t>Transparencia para todos los políticos/servidores públicos.</a:t>
              </a:r>
            </a:p>
          </p:txBody>
        </p:sp>
      </p:grpSp>
    </p:spTree>
    <p:extLst>
      <p:ext uri="{BB962C8B-B14F-4D97-AF65-F5344CB8AC3E}">
        <p14:creationId xmlns:p14="http://schemas.microsoft.com/office/powerpoint/2010/main" val="4891231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grpSp>
        <p:nvGrpSpPr>
          <p:cNvPr id="12" name="Group 12"/>
          <p:cNvGrpSpPr/>
          <p:nvPr/>
        </p:nvGrpSpPr>
        <p:grpSpPr>
          <a:xfrm>
            <a:off x="4471718" y="7962900"/>
            <a:ext cx="656528" cy="656528"/>
            <a:chOff x="0" y="0"/>
            <a:chExt cx="875371" cy="875371"/>
          </a:xfrm>
        </p:grpSpPr>
        <p:grpSp>
          <p:nvGrpSpPr>
            <p:cNvPr id="13" name="Group 13"/>
            <p:cNvGrpSpPr/>
            <p:nvPr/>
          </p:nvGrpSpPr>
          <p:grpSpPr>
            <a:xfrm>
              <a:off x="109564" y="99542"/>
              <a:ext cx="656243" cy="676288"/>
              <a:chOff x="0" y="0"/>
              <a:chExt cx="129628" cy="133588"/>
            </a:xfrm>
          </p:grpSpPr>
          <p:sp>
            <p:nvSpPr>
              <p:cNvPr id="14" name="Freeform 14"/>
              <p:cNvSpPr/>
              <p:nvPr/>
            </p:nvSpPr>
            <p:spPr>
              <a:xfrm>
                <a:off x="0" y="0"/>
                <a:ext cx="129628" cy="133588"/>
              </a:xfrm>
              <a:custGeom>
                <a:avLst/>
                <a:gdLst/>
                <a:ahLst/>
                <a:cxnLst/>
                <a:rect l="l" t="t" r="r" b="b"/>
                <a:pathLst>
                  <a:path w="129628" h="133588">
                    <a:moveTo>
                      <a:pt x="64814" y="0"/>
                    </a:moveTo>
                    <a:lnTo>
                      <a:pt x="64814" y="0"/>
                    </a:lnTo>
                    <a:cubicBezTo>
                      <a:pt x="82004" y="0"/>
                      <a:pt x="98490" y="6829"/>
                      <a:pt x="110645" y="18984"/>
                    </a:cubicBezTo>
                    <a:cubicBezTo>
                      <a:pt x="122800" y="31139"/>
                      <a:pt x="129628" y="47624"/>
                      <a:pt x="129628" y="64814"/>
                    </a:cubicBezTo>
                    <a:lnTo>
                      <a:pt x="129628" y="68774"/>
                    </a:lnTo>
                    <a:cubicBezTo>
                      <a:pt x="129628" y="104570"/>
                      <a:pt x="100610" y="133588"/>
                      <a:pt x="64814" y="133588"/>
                    </a:cubicBezTo>
                    <a:lnTo>
                      <a:pt x="64814" y="133588"/>
                    </a:lnTo>
                    <a:cubicBezTo>
                      <a:pt x="47624" y="133588"/>
                      <a:pt x="31139" y="126759"/>
                      <a:pt x="18984" y="114604"/>
                    </a:cubicBezTo>
                    <a:cubicBezTo>
                      <a:pt x="6829" y="102449"/>
                      <a:pt x="0" y="85963"/>
                      <a:pt x="0" y="68774"/>
                    </a:cubicBezTo>
                    <a:lnTo>
                      <a:pt x="0" y="64814"/>
                    </a:lnTo>
                    <a:cubicBezTo>
                      <a:pt x="0" y="29018"/>
                      <a:pt x="29018" y="0"/>
                      <a:pt x="64814" y="0"/>
                    </a:cubicBezTo>
                    <a:close/>
                  </a:path>
                </a:pathLst>
              </a:custGeom>
              <a:solidFill>
                <a:srgbClr val="FFFFFF"/>
              </a:solidFill>
            </p:spPr>
            <p:txBody>
              <a:bodyPr/>
              <a:lstStyle/>
              <a:p>
                <a:endParaRPr lang="es-ES"/>
              </a:p>
            </p:txBody>
          </p:sp>
          <p:sp>
            <p:nvSpPr>
              <p:cNvPr id="15" name="TextBox 15"/>
              <p:cNvSpPr txBox="1"/>
              <p:nvPr/>
            </p:nvSpPr>
            <p:spPr>
              <a:xfrm>
                <a:off x="0" y="57150"/>
                <a:ext cx="129628" cy="76438"/>
              </a:xfrm>
              <a:prstGeom prst="rect">
                <a:avLst/>
              </a:prstGeom>
            </p:spPr>
            <p:txBody>
              <a:bodyPr lIns="50800" tIns="50800" rIns="50800" bIns="50800" rtlCol="0" anchor="ctr"/>
              <a:lstStyle/>
              <a:p>
                <a:pPr algn="ctr">
                  <a:lnSpc>
                    <a:spcPts val="2069"/>
                  </a:lnSpc>
                </a:pPr>
                <a:endParaRPr/>
              </a:p>
            </p:txBody>
          </p:sp>
        </p:grpSp>
        <p:sp>
          <p:nvSpPr>
            <p:cNvPr id="16" name="Freeform 16"/>
            <p:cNvSpPr/>
            <p:nvPr/>
          </p:nvSpPr>
          <p:spPr>
            <a:xfrm>
              <a:off x="0" y="0"/>
              <a:ext cx="875371" cy="875371"/>
            </a:xfrm>
            <a:custGeom>
              <a:avLst/>
              <a:gdLst/>
              <a:ahLst/>
              <a:cxnLst/>
              <a:rect l="l" t="t" r="r" b="b"/>
              <a:pathLst>
                <a:path w="875371" h="875371">
                  <a:moveTo>
                    <a:pt x="0" y="0"/>
                  </a:moveTo>
                  <a:lnTo>
                    <a:pt x="875371" y="0"/>
                  </a:lnTo>
                  <a:lnTo>
                    <a:pt x="875371" y="875371"/>
                  </a:lnTo>
                  <a:lnTo>
                    <a:pt x="0" y="875371"/>
                  </a:lnTo>
                  <a:lnTo>
                    <a:pt x="0" y="0"/>
                  </a:lnTo>
                  <a:close/>
                </a:path>
              </a:pathLst>
            </a:custGeom>
            <a:blipFill>
              <a:blip r:embed="rId2"/>
              <a:stretch>
                <a:fillRect/>
              </a:stretch>
            </a:blipFill>
          </p:spPr>
          <p:txBody>
            <a:bodyPr/>
            <a:lstStyle/>
            <a:p>
              <a:endParaRPr lang="es-ES"/>
            </a:p>
          </p:txBody>
        </p:sp>
      </p:grpSp>
      <p:sp>
        <p:nvSpPr>
          <p:cNvPr id="2" name="Freeform 2"/>
          <p:cNvSpPr/>
          <p:nvPr/>
        </p:nvSpPr>
        <p:spPr>
          <a:xfrm>
            <a:off x="13665540" y="-1794526"/>
            <a:ext cx="4571512" cy="13876052"/>
          </a:xfrm>
          <a:custGeom>
            <a:avLst/>
            <a:gdLst/>
            <a:ahLst/>
            <a:cxnLst/>
            <a:rect l="l" t="t" r="r" b="b"/>
            <a:pathLst>
              <a:path w="9244920" h="13876052">
                <a:moveTo>
                  <a:pt x="0" y="0"/>
                </a:moveTo>
                <a:lnTo>
                  <a:pt x="9244920" y="0"/>
                </a:lnTo>
                <a:lnTo>
                  <a:pt x="9244920" y="13876052"/>
                </a:lnTo>
                <a:lnTo>
                  <a:pt x="0" y="13876052"/>
                </a:lnTo>
                <a:lnTo>
                  <a:pt x="0" y="0"/>
                </a:lnTo>
                <a:close/>
              </a:path>
            </a:pathLst>
          </a:custGeom>
          <a:blipFill>
            <a:blip r:embed="rId3"/>
            <a:stretch>
              <a:fillRect r="-102229"/>
            </a:stretch>
          </a:blipFill>
        </p:spPr>
        <p:txBody>
          <a:bodyPr/>
          <a:lstStyle/>
          <a:p>
            <a:endParaRPr lang="es-ES"/>
          </a:p>
        </p:txBody>
      </p:sp>
      <p:sp>
        <p:nvSpPr>
          <p:cNvPr id="4" name="TextBox 4"/>
          <p:cNvSpPr txBox="1"/>
          <p:nvPr/>
        </p:nvSpPr>
        <p:spPr>
          <a:xfrm>
            <a:off x="2184774" y="2910070"/>
            <a:ext cx="10893622" cy="3077766"/>
          </a:xfrm>
          <a:prstGeom prst="rect">
            <a:avLst/>
          </a:prstGeom>
        </p:spPr>
        <p:txBody>
          <a:bodyPr lIns="0" tIns="0" rIns="0" bIns="0" rtlCol="0" anchor="t">
            <a:spAutoFit/>
          </a:bodyPr>
          <a:lstStyle/>
          <a:p>
            <a:pPr algn="ctr">
              <a:lnSpc>
                <a:spcPts val="12038"/>
              </a:lnSpc>
            </a:pPr>
            <a:r>
              <a:rPr lang="en-US" sz="8598" dirty="0">
                <a:solidFill>
                  <a:srgbClr val="8FE3FD"/>
                </a:solidFill>
                <a:latin typeface="Pattanakarn Expanded"/>
                <a:ea typeface="Pattanakarn Expanded"/>
                <a:cs typeface="Pattanakarn Expanded"/>
                <a:sym typeface="Pattanakarn Expanded"/>
              </a:rPr>
              <a:t>Muchas Gracias</a:t>
            </a:r>
          </a:p>
          <a:p>
            <a:pPr marL="0" lvl="0" indent="0" algn="ctr">
              <a:lnSpc>
                <a:spcPts val="12038"/>
              </a:lnSpc>
              <a:spcBef>
                <a:spcPct val="0"/>
              </a:spcBef>
            </a:pPr>
            <a:endParaRPr lang="en-US" sz="8598" dirty="0">
              <a:solidFill>
                <a:srgbClr val="8FE3FD"/>
              </a:solidFill>
              <a:latin typeface="Pattanakarn Expanded"/>
              <a:ea typeface="Pattanakarn Expanded"/>
              <a:cs typeface="Pattanakarn Expanded"/>
              <a:sym typeface="Pattanakarn Expanded"/>
            </a:endParaRPr>
          </a:p>
        </p:txBody>
      </p:sp>
      <p:sp>
        <p:nvSpPr>
          <p:cNvPr id="5" name="Freeform 5"/>
          <p:cNvSpPr/>
          <p:nvPr/>
        </p:nvSpPr>
        <p:spPr>
          <a:xfrm>
            <a:off x="4306537" y="7012636"/>
            <a:ext cx="986891" cy="721664"/>
          </a:xfrm>
          <a:custGeom>
            <a:avLst/>
            <a:gdLst/>
            <a:ahLst/>
            <a:cxnLst/>
            <a:rect l="l" t="t" r="r" b="b"/>
            <a:pathLst>
              <a:path w="986891" h="721664">
                <a:moveTo>
                  <a:pt x="0" y="0"/>
                </a:moveTo>
                <a:lnTo>
                  <a:pt x="986891" y="0"/>
                </a:lnTo>
                <a:lnTo>
                  <a:pt x="986891" y="721664"/>
                </a:lnTo>
                <a:lnTo>
                  <a:pt x="0" y="721664"/>
                </a:lnTo>
                <a:lnTo>
                  <a:pt x="0" y="0"/>
                </a:lnTo>
                <a:close/>
              </a:path>
            </a:pathLst>
          </a:custGeom>
          <a:blipFill>
            <a:blip r:embed="rId4"/>
            <a:stretch>
              <a:fillRect/>
            </a:stretch>
          </a:blipFill>
        </p:spPr>
        <p:txBody>
          <a:bodyPr/>
          <a:lstStyle/>
          <a:p>
            <a:endParaRPr lang="es-ES"/>
          </a:p>
        </p:txBody>
      </p:sp>
      <p:sp>
        <p:nvSpPr>
          <p:cNvPr id="18" name="Freeform 17">
            <a:extLst>
              <a:ext uri="{FF2B5EF4-FFF2-40B4-BE49-F238E27FC236}">
                <a16:creationId xmlns:a16="http://schemas.microsoft.com/office/drawing/2014/main" id="{F46255DF-E90F-C4E4-FA66-B2C11CB02F2B}"/>
              </a:ext>
            </a:extLst>
          </p:cNvPr>
          <p:cNvSpPr/>
          <p:nvPr/>
        </p:nvSpPr>
        <p:spPr>
          <a:xfrm rot="5400000">
            <a:off x="-83036" y="5226535"/>
            <a:ext cx="5143500" cy="4977431"/>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5">
              <a:extLst>
                <a:ext uri="{96DAC541-7B7A-43D3-8B79-37D633B846F1}">
                  <asvg:svgBlip xmlns:asvg="http://schemas.microsoft.com/office/drawing/2016/SVG/main" r:embed="rId6"/>
                </a:ext>
              </a:extLst>
            </a:blip>
            <a:stretch>
              <a:fillRect r="-15830" b="-19694"/>
            </a:stretch>
          </a:blipFill>
        </p:spPr>
        <p:txBody>
          <a:bodyPr/>
          <a:lstStyle/>
          <a:p>
            <a:endParaRPr lang="es-ES"/>
          </a:p>
        </p:txBody>
      </p:sp>
      <p:sp>
        <p:nvSpPr>
          <p:cNvPr id="3" name="TextBox 3"/>
          <p:cNvSpPr txBox="1"/>
          <p:nvPr/>
        </p:nvSpPr>
        <p:spPr>
          <a:xfrm>
            <a:off x="2312916" y="4267476"/>
            <a:ext cx="10637338" cy="1023614"/>
          </a:xfrm>
          <a:prstGeom prst="rect">
            <a:avLst/>
          </a:prstGeom>
        </p:spPr>
        <p:txBody>
          <a:bodyPr lIns="0" tIns="0" rIns="0" bIns="0" rtlCol="0" anchor="t">
            <a:spAutoFit/>
          </a:bodyPr>
          <a:lstStyle/>
          <a:p>
            <a:pPr marL="0" lvl="0" indent="0" algn="ctr">
              <a:lnSpc>
                <a:spcPts val="8243"/>
              </a:lnSpc>
            </a:pPr>
            <a:r>
              <a:rPr lang="en-US" sz="6106" spc="195" dirty="0" err="1">
                <a:solidFill>
                  <a:srgbClr val="FFFFFF"/>
                </a:solidFill>
                <a:latin typeface="Saira"/>
                <a:ea typeface="Saira"/>
                <a:cs typeface="Saira"/>
                <a:sym typeface="Saira"/>
              </a:rPr>
              <a:t>por</a:t>
            </a:r>
            <a:r>
              <a:rPr lang="en-US" sz="6106" spc="195" dirty="0">
                <a:solidFill>
                  <a:srgbClr val="FFFFFF"/>
                </a:solidFill>
                <a:latin typeface="Saira"/>
                <a:ea typeface="Saira"/>
                <a:cs typeface="Saira"/>
                <a:sym typeface="Saira"/>
              </a:rPr>
              <a:t> </a:t>
            </a:r>
            <a:r>
              <a:rPr lang="en-US" sz="6106" spc="195" dirty="0" err="1">
                <a:solidFill>
                  <a:srgbClr val="FFFFFF"/>
                </a:solidFill>
                <a:latin typeface="Saira"/>
                <a:ea typeface="Saira"/>
                <a:cs typeface="Saira"/>
                <a:sym typeface="Saira"/>
              </a:rPr>
              <a:t>su</a:t>
            </a:r>
            <a:r>
              <a:rPr lang="en-US" sz="6106" spc="195" dirty="0">
                <a:solidFill>
                  <a:srgbClr val="FFFFFF"/>
                </a:solidFill>
                <a:latin typeface="Saira"/>
                <a:ea typeface="Saira"/>
                <a:cs typeface="Saira"/>
                <a:sym typeface="Saira"/>
              </a:rPr>
              <a:t> </a:t>
            </a:r>
            <a:r>
              <a:rPr lang="en-US" sz="6106" spc="195" dirty="0" err="1">
                <a:solidFill>
                  <a:srgbClr val="FFFFFF"/>
                </a:solidFill>
                <a:latin typeface="Saira"/>
                <a:ea typeface="Saira"/>
                <a:cs typeface="Saira"/>
                <a:sym typeface="Saira"/>
              </a:rPr>
              <a:t>atención</a:t>
            </a:r>
            <a:endParaRPr lang="en-US" sz="6106" u="none" strike="noStrike" spc="195" dirty="0">
              <a:solidFill>
                <a:srgbClr val="FFFFFF"/>
              </a:solidFill>
              <a:latin typeface="Saira"/>
              <a:ea typeface="Saira"/>
              <a:cs typeface="Saira"/>
              <a:sym typeface="Saira"/>
            </a:endParaRPr>
          </a:p>
        </p:txBody>
      </p:sp>
      <p:pic>
        <p:nvPicPr>
          <p:cNvPr id="17" name="Picture 16" descr="Cartoon person in a suit and glasses&#10;&#10;AI-generated content may be incorrect.">
            <a:extLst>
              <a:ext uri="{FF2B5EF4-FFF2-40B4-BE49-F238E27FC236}">
                <a16:creationId xmlns:a16="http://schemas.microsoft.com/office/drawing/2014/main" id="{599DD399-38B8-43A2-B29C-95AFD6DDB446}"/>
              </a:ext>
            </a:extLst>
          </p:cNvPr>
          <p:cNvPicPr>
            <a:picLocks noChangeAspect="1"/>
          </p:cNvPicPr>
          <p:nvPr/>
        </p:nvPicPr>
        <p:blipFill>
          <a:blip r:embed="rId7"/>
          <a:stretch>
            <a:fillRect/>
          </a:stretch>
        </p:blipFill>
        <p:spPr>
          <a:xfrm>
            <a:off x="8057891" y="6027043"/>
            <a:ext cx="3414513" cy="3414513"/>
          </a:xfrm>
          <a:prstGeom prst="rect">
            <a:avLst/>
          </a:prstGeom>
        </p:spPr>
      </p:pic>
      <p:sp>
        <p:nvSpPr>
          <p:cNvPr id="20" name="TextBox 19">
            <a:extLst>
              <a:ext uri="{FF2B5EF4-FFF2-40B4-BE49-F238E27FC236}">
                <a16:creationId xmlns:a16="http://schemas.microsoft.com/office/drawing/2014/main" id="{C21FF1C6-A1A7-D84C-449A-4C8869718918}"/>
              </a:ext>
            </a:extLst>
          </p:cNvPr>
          <p:cNvSpPr txBox="1"/>
          <p:nvPr/>
        </p:nvSpPr>
        <p:spPr>
          <a:xfrm>
            <a:off x="5556107" y="7992937"/>
            <a:ext cx="2736831" cy="523220"/>
          </a:xfrm>
          <a:prstGeom prst="rect">
            <a:avLst/>
          </a:prstGeom>
          <a:noFill/>
        </p:spPr>
        <p:txBody>
          <a:bodyPr wrap="square">
            <a:spAutoFit/>
          </a:bodyPr>
          <a:lstStyle/>
          <a:p>
            <a:r>
              <a:rPr lang="en-US" sz="2800" dirty="0" err="1">
                <a:solidFill>
                  <a:schemeClr val="bg1"/>
                </a:solidFill>
              </a:rPr>
              <a:t>pedroaovieira</a:t>
            </a:r>
            <a:endParaRPr lang="en-US" sz="2800" dirty="0">
              <a:solidFill>
                <a:schemeClr val="bg1"/>
              </a:solidFill>
            </a:endParaRPr>
          </a:p>
        </p:txBody>
      </p:sp>
      <p:sp>
        <p:nvSpPr>
          <p:cNvPr id="21" name="TextBox 20">
            <a:extLst>
              <a:ext uri="{FF2B5EF4-FFF2-40B4-BE49-F238E27FC236}">
                <a16:creationId xmlns:a16="http://schemas.microsoft.com/office/drawing/2014/main" id="{238E6252-6577-7081-45DE-A1226A074D17}"/>
              </a:ext>
            </a:extLst>
          </p:cNvPr>
          <p:cNvSpPr txBox="1"/>
          <p:nvPr/>
        </p:nvSpPr>
        <p:spPr>
          <a:xfrm>
            <a:off x="5556107" y="7111858"/>
            <a:ext cx="2736831" cy="523220"/>
          </a:xfrm>
          <a:prstGeom prst="rect">
            <a:avLst/>
          </a:prstGeom>
          <a:noFill/>
        </p:spPr>
        <p:txBody>
          <a:bodyPr wrap="square">
            <a:spAutoFit/>
          </a:bodyPr>
          <a:lstStyle/>
          <a:p>
            <a:r>
              <a:rPr lang="en-US" sz="2800" dirty="0">
                <a:solidFill>
                  <a:schemeClr val="bg1"/>
                </a:solidFill>
              </a:rPr>
              <a:t>@shell5pt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rotWithShape="1">
          <a:gsLst>
            <a:gs pos="0">
              <a:srgbClr val="2B3D59">
                <a:alpha val="100000"/>
              </a:srgbClr>
            </a:gs>
            <a:gs pos="100000">
              <a:srgbClr val="03060C">
                <a:alpha val="100000"/>
              </a:srgb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Freeform 2"/>
          <p:cNvSpPr/>
          <p:nvPr/>
        </p:nvSpPr>
        <p:spPr>
          <a:xfrm>
            <a:off x="4608485" y="57645"/>
            <a:ext cx="9071031" cy="10229355"/>
          </a:xfrm>
          <a:custGeom>
            <a:avLst/>
            <a:gdLst/>
            <a:ahLst/>
            <a:cxnLst/>
            <a:rect l="l" t="t" r="r" b="b"/>
            <a:pathLst>
              <a:path w="9071031" h="10229355">
                <a:moveTo>
                  <a:pt x="0" y="0"/>
                </a:moveTo>
                <a:lnTo>
                  <a:pt x="9071030" y="0"/>
                </a:lnTo>
                <a:lnTo>
                  <a:pt x="9071030" y="10229355"/>
                </a:lnTo>
                <a:lnTo>
                  <a:pt x="0" y="10229355"/>
                </a:lnTo>
                <a:lnTo>
                  <a:pt x="0" y="0"/>
                </a:lnTo>
                <a:close/>
              </a:path>
            </a:pathLst>
          </a:custGeom>
          <a:blipFill>
            <a:blip r:embed="rId2"/>
            <a:stretch>
              <a:fillRect/>
            </a:stretch>
          </a:blipFill>
        </p:spPr>
        <p:txBody>
          <a:bodyPr/>
          <a:lstStyle/>
          <a:p>
            <a:endParaRPr lang="es-ES"/>
          </a:p>
        </p:txBody>
      </p:sp>
      <p:sp>
        <p:nvSpPr>
          <p:cNvPr id="4" name="Freeform 4"/>
          <p:cNvSpPr/>
          <p:nvPr/>
        </p:nvSpPr>
        <p:spPr>
          <a:xfrm rot="5400000">
            <a:off x="-83037" y="5226537"/>
            <a:ext cx="5143501" cy="4977430"/>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r="-15830" b="-19694"/>
            </a:stretch>
          </a:blipFill>
        </p:spPr>
        <p:txBody>
          <a:bodyPr/>
          <a:lstStyle/>
          <a:p>
            <a:endParaRPr lang="es-ES"/>
          </a:p>
        </p:txBody>
      </p:sp>
      <p:sp>
        <p:nvSpPr>
          <p:cNvPr id="5" name="Freeform 4">
            <a:extLst>
              <a:ext uri="{FF2B5EF4-FFF2-40B4-BE49-F238E27FC236}">
                <a16:creationId xmlns:a16="http://schemas.microsoft.com/office/drawing/2014/main" id="{69671601-3D12-B943-1918-E6A3E4304A1B}"/>
              </a:ext>
            </a:extLst>
          </p:cNvPr>
          <p:cNvSpPr/>
          <p:nvPr/>
        </p:nvSpPr>
        <p:spPr>
          <a:xfrm rot="-5400000">
            <a:off x="12554237" y="223927"/>
            <a:ext cx="5957691" cy="5509835"/>
          </a:xfrm>
          <a:custGeom>
            <a:avLst/>
            <a:gdLst/>
            <a:ahLst/>
            <a:cxnLst/>
            <a:rect l="l" t="t" r="r" b="b"/>
            <a:pathLst>
              <a:path w="5957691" h="5957691">
                <a:moveTo>
                  <a:pt x="0" y="0"/>
                </a:moveTo>
                <a:lnTo>
                  <a:pt x="5957691" y="0"/>
                </a:lnTo>
                <a:lnTo>
                  <a:pt x="5957691" y="5957691"/>
                </a:lnTo>
                <a:lnTo>
                  <a:pt x="0" y="5957691"/>
                </a:lnTo>
                <a:lnTo>
                  <a:pt x="0" y="0"/>
                </a:lnTo>
                <a:close/>
              </a:path>
            </a:pathLst>
          </a:custGeom>
          <a:blipFill>
            <a:blip r:embed="rId3">
              <a:extLst>
                <a:ext uri="{96DAC541-7B7A-43D3-8B79-37D633B846F1}">
                  <asvg:svgBlip xmlns:asvg="http://schemas.microsoft.com/office/drawing/2016/SVG/main" r:embed="rId4"/>
                </a:ext>
              </a:extLst>
            </a:blip>
            <a:stretch>
              <a:fillRect b="-8128"/>
            </a:stretch>
          </a:blipFill>
        </p:spPr>
        <p:txBody>
          <a:bodyPr/>
          <a:lstStyle/>
          <a:p>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520</TotalTime>
  <Words>4379</Words>
  <Application>Microsoft Office PowerPoint</Application>
  <PresentationFormat>Custom</PresentationFormat>
  <Paragraphs>458</Paragraphs>
  <Slides>39</Slides>
  <Notes>31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39</vt:i4>
      </vt:variant>
    </vt:vector>
  </HeadingPairs>
  <TitlesOfParts>
    <vt:vector size="50" baseType="lpstr">
      <vt:lpstr>Cooper Hewitt</vt:lpstr>
      <vt:lpstr>Aptos</vt:lpstr>
      <vt:lpstr>DM Sans Bold</vt:lpstr>
      <vt:lpstr>DM Sans</vt:lpstr>
      <vt:lpstr>Cooper Hewitt Bold</vt:lpstr>
      <vt:lpstr>Saira</vt:lpstr>
      <vt:lpstr>Arial</vt:lpstr>
      <vt:lpstr>Pattanakarn Expanded</vt:lpstr>
      <vt:lpstr>Saira Light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 OsintomátiCOPS Brasil 2025</dc:title>
  <cp:lastModifiedBy>Pedro Vieira</cp:lastModifiedBy>
  <cp:revision>34</cp:revision>
  <dcterms:created xsi:type="dcterms:W3CDTF">2006-08-16T00:00:00Z</dcterms:created>
  <dcterms:modified xsi:type="dcterms:W3CDTF">2025-10-30T23:42:21Z</dcterms:modified>
  <dc:identifier>DAGuo9WZ1i0</dc:identifier>
</cp:coreProperties>
</file>